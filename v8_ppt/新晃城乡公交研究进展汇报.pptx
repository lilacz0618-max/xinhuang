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多重出行节律下县域城乡公交的供需匹配与半柔性配置优化，以新晃为例。今天主要汇报两件事：一是研究的整体架构和设计思路，二是目前的进度。需要先说明，真实的逐班次数据还没有到位，所以后面的定量结果都来自一个已知真值的模拟系统，它的作用是检验这条研究路径能不能走通。</a:t>
            </a:r>
          </a:p>
          <a:p/>
          <a:p>
            <a:r>
              <a:t>完整要点：</a:t>
            </a:r>
          </a:p>
          <a:p>
            <a:r>
              <a:t>1. 研究进展汇报</a:t>
            </a:r>
          </a:p>
          <a:p>
            <a:r>
              <a:t>2. 汇报人：［姓名］　　导师：［姓名］</a:t>
            </a:r>
          </a:p>
          <a:p>
            <a:r>
              <a:t>3. ［学院／专业］　　2026 年［月］</a:t>
            </a:r>
          </a:p>
          <a:p>
            <a:r>
              <a:t>4. 说明：汇报中的定量结果均来自已知真值的模拟系统（SYNTHETIC），用于检验研究路径，不代表新晃的实际结论。</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个部分。前三部分讲为什么做、文献里缺什么、我要回答哪几个问题；第四部分讲数据和模拟检验的设计；第五部分是核心，四个计算模型各用一页讲方法、一页讲结果；最后讲创新点、成果规划和进度。</a:t>
            </a:r>
          </a:p>
          <a:p/>
          <a:p>
            <a:r>
              <a:t>完整要点：</a:t>
            </a:r>
          </a:p>
          <a:p>
            <a:r>
              <a:t>1. 一、研究背景与问题提出</a:t>
            </a:r>
          </a:p>
          <a:p>
            <a:r>
              <a:t>2. 二、文献脉络与研究缺口</a:t>
            </a:r>
          </a:p>
          <a:p>
            <a:r>
              <a:t>3. 三、研究问题、假设与技术路线</a:t>
            </a:r>
          </a:p>
          <a:p>
            <a:r>
              <a:t>4. 四、研究区、数据与模拟检验设计</a:t>
            </a:r>
          </a:p>
          <a:p>
            <a:r>
              <a:t>5. 五、四个计算模型及其检验结果</a:t>
            </a:r>
          </a:p>
          <a:p>
            <a:r>
              <a:t>6. 六、创新点、成果规划与研究进度</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背景从三个层面说。政策上，城乡客运一体化已经推进了十多年，2024 年的服务指南明确要求按客流规律安排班次。山区县的现实是，交通劣势和相对贫困、看病难是连在一起的。理论上，这是交通与社会排斥的问题。所以问题的重心已经从“有没有车”转到“什么时候有车、有几班车”。</a:t>
            </a:r>
          </a:p>
          <a:p/>
          <a:p>
            <a:r>
              <a:t>右栏插图与第 8 页为同一张真实 GIS 底图，此处用于交代研究对象。</a:t>
            </a:r>
          </a:p>
          <a:p/>
          <a:p>
            <a:r>
              <a:t>完整要点：</a:t>
            </a:r>
          </a:p>
          <a:p>
            <a:r>
              <a:t>1. 政策要求：2011 年起推进城乡道路客运一体化，目标从“有车坐”走向“坐得上、坐得好”[1]；2024 年农村道路客运运营服务指南要求按客流规律灵活安排班次，鼓励预约响应[2]。</a:t>
            </a:r>
          </a:p>
          <a:p>
            <a:r>
              <a:t>2. 山区现实：交通劣势与相对贫困存在可测的关联[3]，医疗等公共服务的可达性明显受交通条件限制[4]。</a:t>
            </a:r>
          </a:p>
          <a:p>
            <a:r>
              <a:t>3. 理论视角：缺少公交会使农村居民难以到达就业、医疗和教育机会，属于社会排斥问题[5,6]；城乡交通融合已成为地理学的研究议题[7]。</a:t>
            </a:r>
          </a:p>
          <a:p>
            <a:r>
              <a:t>4. 研究对象：湖南省新晃侗族自治县（武陵山区），县汽车站发出的 7 条城乡公交线路。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为什么说“什么时候有车”是一个学术问题？时间地理学告诉我们，人必须在特定的时间到达特定的地点，公交可达性在一天之内是剧烈波动的。农村乘客多是老人和学生，没有别的选择。落到县级运营者身上，就是三个难题：靠什么定班次，台账能不能代表需求，固定班和机动车怎么配合。后面四个研究问题就是从这三个难题和文献缺口里来的。</a:t>
            </a:r>
          </a:p>
          <a:p/>
          <a:p>
            <a:r>
              <a:t>完整要点：</a:t>
            </a:r>
          </a:p>
          <a:p>
            <a:r>
              <a:t>1. 理论依据：人的活动受能力、组合和权威三类约束，必须在特定时间到达特定地点[8]；时空可达性是交通地理的前沿议题[9,10]；公交可达性在一天之内随时刻表剧烈波动[11]。</a:t>
            </a:r>
          </a:p>
          <a:p>
            <a:r>
              <a:t>2. 农村乘客以老人、学生和无车者为主[12]，班次时刻直接决定他们能否出行。</a:t>
            </a:r>
          </a:p>
          <a:p>
            <a:r>
              <a:t>3. 难题一（权重）：影响因子的权重多用熵权法、灰色关联给出，难以回答“客流变化由什么造成”。</a:t>
            </a:r>
          </a:p>
          <a:p>
            <a:r>
              <a:t>4. 难题二（删失）：满载班次的台账只记录“坐上车的人”，真实需求被座位数截住，形成删失。</a:t>
            </a:r>
          </a:p>
          <a:p>
            <a:r>
              <a:t>5. 难题三（分工）：固定时刻表优化与机动加班分开讨论，缺少以预测为纽带的分工。</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文献我没有按学派一条一条讲，而是按问题的逻辑连起来：先要知道需求的时间结构，再要识别各节律的权重；权重和预测都要面对删失；预测要变成概率预测才能用于排班；最后是固定层和柔性层怎么用预测衔接。沿着这条链，有四个缺口，它们是环环相扣的：没有可信的权重，固定时刻表不知道按什么编；没有删失还原，节点日一定低估；没有概率预测，柔性层只能靠经验；没有两层协同，优化和临时调度会互相抵消。</a:t>
            </a:r>
          </a:p>
          <a:p/>
          <a:p>
            <a:r>
              <a:t>完整要点：</a:t>
            </a:r>
          </a:p>
          <a:p>
            <a:r>
              <a:t>1. 需求的时间结构：个人出行在日与日之间既有习惯也有变异[13]；定期集市是中国农村社会经济结构的基本单元[14]，但集市对公交客流的影响需要用数据检验。</a:t>
            </a:r>
          </a:p>
          <a:p>
            <a:r>
              <a:t>2. 权重识别：交通影响因素分析常用熵权法、灰色关联等客观赋权方法，灰色关联模型至今仍在发展[15]；这类方法按指标的离散程度或序列相似程度赋权，不衡量对客流变化的解释力。</a:t>
            </a:r>
          </a:p>
          <a:p>
            <a:r>
              <a:t>3. 删失还原：收益管理早已指出，售罄后的销售量会低估真实需求，需要“需求还原”[16]。</a:t>
            </a:r>
          </a:p>
          <a:p>
            <a:r>
              <a:t>4. 概率预测：国内客流预测研究多针对城市地铁和公交的短时客流[17,18]，县域班次级的小计数预测较少。</a:t>
            </a:r>
          </a:p>
          <a:p>
            <a:r>
              <a:t>5. 两层供给：半柔性公交保留固定骨架、增加有限柔性[19]；国内农村需求响应公交调度刚开始受到关注[20]；“先预测、再优化”的两步法忽略了预测误差对决策的影响[21]。</a:t>
            </a:r>
          </a:p>
          <a:p>
            <a:r>
              <a:t>6. 四个缺口：①多重节律的相对权重缺少同时估计；②删失需求在城乡公交中没有被处理；③县域班次级概率预测缺位；④固定层与柔性层缺少以预测为纽带的协同设计。</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四个研究问题分两组。RQ1、RQ2 回答需求是什么：各节律占多大比重，在删失条件下怎么预测。RQ3、RQ4 回答供给怎么配：稳定节律交给固定时刻表，不规则节律交给次日柔性层。每个问题都对应可以被数据否定的假设。前两个问题构成第一篇期刊论文，后两个构成第二篇，四个合起来是学位论文。</a:t>
            </a:r>
          </a:p>
          <a:p/>
          <a:p>
            <a:r>
              <a:t>完整要点：</a:t>
            </a:r>
          </a:p>
          <a:p>
            <a:r>
              <a:t>1. RQ1 节律权重：时段、周节律、校历、节假日、春运、集日、天气、季节八个因子族对班次客流的相对影响各有多大？集日是否是主要因素？</a:t>
            </a:r>
          </a:p>
          <a:p>
            <a:r>
              <a:t>2. RQ2 删失与预测：存在满载删失时，什么样的模型能给出班次级次日预测，并在春运、节假日和天气事件日保持可靠的预测区间？</a:t>
            </a:r>
          </a:p>
          <a:p>
            <a:r>
              <a:t>3. RQ3 固定层：只承担稳定节律的固定时刻表应如何编制？各线路的固定发车数量应为多少？</a:t>
            </a:r>
          </a:p>
          <a:p>
            <a:r>
              <a:t>4. RQ4 柔性层：在固定时刻表之上，少量机动车辆按次日预测指派，能在多大程度上降低社会成本？收益集中在哪些日期？预测改进还有多大价值？</a:t>
            </a:r>
          </a:p>
          <a:p>
            <a:r>
              <a:t>5. H1 日内时段是班次层最大的因子族，春运和节假日是日层最大的因子族，集日和天气权重较小；H2 熵权法、灰色关联的权重排序与真实排序明显不一致；H3 考虑删失的模型在满载班次上的偏差更小；H4 全局共形区间在高需求情景覆盖不足，Mondrian 区间接近名义覆盖；H5 只按稳定节律编制的固定时刻表能减少总班次并降低社会成本；H6 柔性层收益集中在春运和节假日边沿，普通日接近零。</a:t>
            </a:r>
          </a:p>
          <a:p>
            <a:r>
              <a:t>6. 论文一：删失感知的多重节律识别与概率预测（RQ1—RQ2）；论文二：预测驱动的县域城乡公交半柔性配置（RQ3—RQ4）。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技术路线。四个模块不是各做各的：同一个删失负二项模型既给出权重，又作为预测的结构项；预测分布直接驱动次日柔性排班。为了避免看到结果再改方法，我在计算前做了预注册，检验期之后的数据封存不读。实际计算中有四处偏离预注册，每一处都在正文里标明并说明理由。</a:t>
            </a:r>
          </a:p>
          <a:p/>
          <a:p>
            <a:r>
              <a:t>完整要点：</a:t>
            </a:r>
          </a:p>
          <a:p>
            <a:r>
              <a:t>1. 四个模块首尾相接：删失负二项同时服务 RQ1 的权重识别和 RQ2 的预测结构项；RQ2 的预测分布驱动 RQ4 的柔性层；RQ3 只承担稳定节律。</a:t>
            </a:r>
          </a:p>
          <a:p>
            <a:r>
              <a:t>2. 预注册：计算前写下主方法、对照方法、检验期和评价指标[22]。检验期 2026-01-01 至 2026-09-30；2026-10-01 以后的台账作为封存检验期，本轮不读取。</a:t>
            </a:r>
          </a:p>
          <a:p>
            <a:r>
              <a:t>3. 训练与检验按时间顺序切分，避免把未来信息泄露给模型[23,24]。</a:t>
            </a:r>
          </a:p>
          <a:p>
            <a:r>
              <a:t>4. 计算中四处偏离预注册（改进预测方法、最少服务规则、柔性层随机规划求解方式、增加反应式对照），均在正文标注“偏离预注册”并说明理由。</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据上我坚持一个原则：只用能够可靠获取的变量。核心数据是县站台账、现行时刻表、日历校历和天气，这些都能长期稳定地拿到。问卷是辅助，用来补充乘客构成和期望出发时刻。工业园区倒班、医院排班这些拿不到可靠数据的，不进入模型。另外要说明，每趟车只有全程总人数，没有站点上下客和 OD，所以本研究不做站点层面的分析。</a:t>
            </a:r>
          </a:p>
          <a:p/>
          <a:p>
            <a:r>
              <a:t>完整要点：</a:t>
            </a:r>
          </a:p>
          <a:p>
            <a:r>
              <a:t>1. 真实可得：县汽车站逐日台账（2024-06-01 至 2026-07-27，全县客流总量锚点）；7 条线路双向现行时刻表；法定节假日与调休、农历、春运、校历与住校生离返校日；线路沿线逐日天气实况与预报存档（检验期一律用提前 1 天的预报值）；行政村点位与人口栅格。</a:t>
            </a:r>
          </a:p>
          <a:p>
            <a:r>
              <a:t>2. 需要调查：暑期跟车调查（已完成，原始问卷待录入）；寒假与春运跟车、行政村入户、线上问卷（计划）。所有问卷中，未成年人由家长回答。</a:t>
            </a:r>
          </a:p>
          <a:p>
            <a:r>
              <a:t>3. 观测口径：每趟班次只有全程总登乘人数，没有分站点上下客和 OD。</a:t>
            </a:r>
          </a:p>
          <a:p>
            <a:r>
              <a:t>4. 不纳入模型：工业园区倒班、医院门诊排班、外出务工人员个人返乡日期（无法可靠获取，其影响通过节假日、春运和周节律间接体现）。</a:t>
            </a:r>
          </a:p>
          <a:p>
            <a:r>
              <a:t>5. 集日与天气只作对照因子：县城集期按“逢农历四、九”整理，属待确认信息，需逐乡核实[14]；天气对公交客流的影响因地区和人群而异[25,26]。</a:t>
            </a:r>
          </a:p>
          <a:p>
            <a:r>
              <a:t>6. 问卷用于补充乘客群体构成与期望出发时刻；农村出行受收入、距离和公交服务水平的共同影响[27]。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因为真实的逐班次数据还没到，我先搭了一个已知真值的模拟系统。它的好处是每个班次的真实需求都知道，所以可以直接检验：方法估出来的权重对不对，删失有没有还原到位。模拟一共 852 天、11 万多个班次，用真实的时刻表、日历和天气驱动，总量和真实台账做了核对。后面的结果页都是在这个系统里得到的。</a:t>
            </a:r>
          </a:p>
          <a:p/>
          <a:p>
            <a:r>
              <a:t>模拟数据检验结果（SYNTHETIC），仅用于检验研究路径，不代表新晃实际情况</a:t>
            </a:r>
          </a:p>
          <a:p/>
          <a:p>
            <a:r>
              <a:t>完整要点：</a:t>
            </a:r>
          </a:p>
          <a:p>
            <a:r>
              <a:t>1. 为什么要模拟：真实数据中看不到潜在需求，无法判断权重识别是否正确、删失是否还原到位；模拟系统为每个班次保留“真值”（潜在需求、乘客群体构成、未满足人数）。</a:t>
            </a:r>
          </a:p>
          <a:p>
            <a:r>
              <a:t>2. 规模：852 天，116127 个班次观测；满载删失班次占 3.0%；调度员临时加班 255 次；四套模拟问卷共 808 份。</a:t>
            </a:r>
          </a:p>
          <a:p>
            <a:r>
              <a:t>3. 模拟用真实的时刻表、日历校历与天气驱动，并与真实县站台账核对总量。</a:t>
            </a:r>
          </a:p>
          <a:p>
            <a:r>
              <a:t>4. 真实数据到位后：跳过模拟的两个步骤，按同一流程重算（附录 A 操作指南）。</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模型一回答 RQ1。第一步用负二项模型描述班次客流，满载班次只知道需求不少于座位数，所以在似然里按删失处理。第二步用 Shapley 值把模型的解释力分给八个因子族：每个族的权重等于它在所有加入顺序下带来的 R² 增量的平均值。这样得到的权重加起来等于总解释力，并且不会因为因子相关而重复计算。我同时做了熵权、灰色关联和 SHAP 作为对照。</a:t>
            </a:r>
          </a:p>
          <a:p/>
          <a:p>
            <a:r>
              <a:t>完整要点：</a:t>
            </a:r>
          </a:p>
          <a:p>
            <a:r>
              <a:t>1. 计数模型：客流为非负整数且方差大于均值，用负二项分布描述过离散[28]；log μ = 线路×方向基线 + 时段 + 周节律 + 校历 + 节假日 + 春运 + 集日 + 天气 + 季节。</a:t>
            </a:r>
          </a:p>
          <a:p>
            <a:r>
              <a:t>2. 删失处理：满载班次只知道 Y* ≥ 座位数 c，似然中这类班次的贡献改写为 P(Y* ≥ c)，借用收益管理的需求还原思路[29]。</a:t>
            </a:r>
          </a:p>
          <a:p>
            <a:r>
              <a:t>3. 权重：把 R² 在 8 个因子族的所有排列上平均分配（Shapley 值），结果可加，并能处理因子之间的相关[30,31]。公式：φk = Σ［|S|!(K−|S|−1)!/K!］·［R²(S∪{k}) − R²(S)］，K = 8。</a:t>
            </a:r>
          </a:p>
          <a:p>
            <a:r>
              <a:t>4. 两个层面：班次层（同一天内班次之间的差异）与日层（日期之间的差异）；以连续 7 天为块做自助法，给出 95% 区间。</a:t>
            </a:r>
          </a:p>
          <a:p>
            <a:r>
              <a:t>5. 对照方法：熵权法、灰色关联、LightGBM-SHAP（特征相关时 SHAP 的分配受依赖结构影响[32]）、忽略删失的朴素负二项。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结果很清楚。班次层，日内时段解释了八成以上的差异，也就是说上午进城、下午返乡的差异远大于日期之间的差异。日层，春运和节假日合计超过六成，集日和天气都在 5% 以下。方法比较上，删失负二项加 Shapley 的误差不到 1 个百分点，熵权法和灰色关联的排序与真值几乎不相关。这支持了 H1 和 H2。</a:t>
            </a:r>
          </a:p>
          <a:p/>
          <a:p>
            <a:r>
              <a:t>模拟数据检验结果（SYNTHETIC），仅用于检验研究路径，不代表新晃实际情况</a:t>
            </a:r>
          </a:p>
          <a:p/>
          <a:p>
            <a:r>
              <a:t>完整要点：</a:t>
            </a:r>
          </a:p>
          <a:p>
            <a:r>
              <a:t>1. 班次层：时段族权重 83.5%（95% 区间 79.1%—85.9%），模拟真值 85.8%。</a:t>
            </a:r>
          </a:p>
          <a:p>
            <a:r>
              <a:t>2. 日层：春运 36.7%、节假日 29.1%；集日 4.5%、天气 3.8%。</a:t>
            </a:r>
          </a:p>
          <a:p>
            <a:r>
              <a:t>3. 方法比较（与真值权重的平均绝对误差，百分点）：删失负二项 0.6，灰色关联 9.0，SHAP 10.2，熵权法 10.7；与真值的秩相关：熵权法仅 0.36，灰色关联 0.29。</a:t>
            </a:r>
          </a:p>
          <a:p>
            <a:r>
              <a:t>4. 假设：H1、H2 在模拟数据中得到支持。</a:t>
            </a:r>
          </a:p>
          <a:p>
            <a:r>
              <a:t>5. 含义：固定时刻表首先要排对“一天之内的班次分布”；集日不宜作为排班的核心依据，这一点与以集市为中心的农村研究传统[14]形成对话，需用真实数据复核。</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模型二回答 RQ2。主方法由三部分组成：删失负二项给出结构项，LightGBM 学习剩下的非线性，满载班次的目标值用条件期望补上；区间用共形预测，而且按五个情景分别校准，这就是 Mondrian 共形。这样做的理由是，春运和节假日的波动比普通日大得多，用一个统一的区间宽度，高需求日一定覆盖不足。</a:t>
            </a:r>
          </a:p>
          <a:p/>
          <a:p>
            <a:r>
              <a:t>完整要点：</a:t>
            </a:r>
          </a:p>
          <a:p>
            <a:r>
              <a:t>1. 结构项：删失负二项给出每个班次的期望需求 μ̂。</a:t>
            </a:r>
          </a:p>
          <a:p>
            <a:r>
              <a:t>2. 残差修正：LightGBM 学习结构项未捕捉的非线性部分[33]；删失班次的学习目标用条件期望 E[Y* | Y* ≥ c] 插补。</a:t>
            </a:r>
          </a:p>
          <a:p>
            <a:r>
              <a:t>3. 改进方法（偏离预注册）：删失感知 LightGBM，删失班次的目标值用 EM 算法迭代插补，单独报告。</a:t>
            </a:r>
          </a:p>
          <a:p>
            <a:r>
              <a:t>4. 预测区间：训练期按月 5 折交叉拟合得到样本外残差；共形预测在很弱的假设下给出有覆盖率保证的区间[34,35]；按春运核心、节假日边沿、学生离返校日、天气事件日、普通日 5 个情景分别校准（Mondrian）。</a:t>
            </a:r>
          </a:p>
          <a:p>
            <a:r>
              <a:t>5. 评价：MAE、RMSE、WAPE 与平均偏差[36]；Diebold–Mariano 检验判断精度差异是否显著[37]；计数预测的专门评价方法[38]；区间看覆盖率与平均宽度。</a:t>
            </a:r>
          </a:p>
          <a:p>
            <a:r>
              <a:t>6. 对照方法：季节朴素、历史均值、朴素负二项、删失负二项、LightGBM（泊松）。</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预测结果有三点。第一，主方法明显好于季节朴素和负二项模型；和 LightGBM 相比，总体误差差不多，差异不显著。第二，关键在满载班次：LightGBM 的总体误差略低，但在满载班次上它平均低估 18.6 人，是主方法的两倍。第三，区间方面，全局区间在春运核心期只覆盖了 87.6%，Mondrian 区间达到 92.1%。所以实际使用时，点预测用改进方法，区间用主方法。</a:t>
            </a:r>
          </a:p>
          <a:p/>
          <a:p>
            <a:r>
              <a:t>模拟数据检验结果（SYNTHETIC），仅用于检验研究路径，不代表新晃实际情况</a:t>
            </a:r>
          </a:p>
          <a:p/>
          <a:p>
            <a:r>
              <a:t>完整要点：</a:t>
            </a:r>
          </a:p>
          <a:p>
            <a:r>
              <a:t>1. 总体 WAPE：主方法 42.1%，季节朴素 57.9%，删失负二项 51.1%，LightGBM（泊松）40.0%，改进方法 41.1%。</a:t>
            </a:r>
          </a:p>
          <a:p>
            <a:r>
              <a:t>2. 显著性：主方法在绝对误差上显著优于季节朴素、历史均值和两种负二项模型；与两种 LightGBM 模型的差异在 5% 水平上不显著（与 LightGBM（泊松）比较的 DM 检验 p = 0.067）。</a:t>
            </a:r>
          </a:p>
          <a:p>
            <a:r>
              <a:t>3. 满载删失班次：忽略删失的 LightGBM 平均低估 18.6 人，主方法 9.3 人（H3 得到支持）。</a:t>
            </a:r>
          </a:p>
          <a:p>
            <a:r>
              <a:t>4. 90% 区间：春运核心期 Mondrian 覆盖率 92.1%，全局区间 87.6%；Mondrian 区间在各情景的覆盖率为 90.0%—92.2%（H4 得到支持）。</a:t>
            </a:r>
          </a:p>
          <a:p>
            <a:r>
              <a:t>5. 使用建议：两种方法并行运行，点预测采用改进方法，区间采用主方法。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模型三回答 RQ3。核心思想是分工：固定时刻表只管稳定的节律，也就是一天之内、一周之内、学期和假期的规律。需求按学期和星期类型分成 6 层，每层是一个场景，按天数加权。目标是社会成本最小，把运营成本、乘客等待时间和没坐上车的损失放在同一个目标里。约束包括座位容量、车辆平衡、司机工作时长和最少服务要求。</a:t>
            </a:r>
          </a:p>
          <a:p/>
          <a:p>
            <a:r>
              <a:t>完整要点：</a:t>
            </a:r>
          </a:p>
          <a:p>
            <a:r>
              <a:t>1. 分工：固定时刻表只承担日内时段、周节律和学期/假期交替；春运、节假日、天气等不规则节律交给次日柔性层。</a:t>
            </a:r>
          </a:p>
          <a:p>
            <a:r>
              <a:t>2. 需求分层：学期周一至周四、学期周五、学期周六、学期周日、假期工作日、假期周末共 6 层；逐班次拟合删失负二项得到潜在需求，再用问卷中的期望出发时刻把窗口需求分摊到 15 分钟时段。</a:t>
            </a:r>
          </a:p>
          <a:p>
            <a:r>
              <a:t>3. 目标：社会成本 = 运营成本 + 时间价值 × 等待人时 + 未满足惩罚 ×（时刻表抑制损失 + 满载未满足）[39,40]。</a:t>
            </a:r>
          </a:p>
          <a:p>
            <a:r>
              <a:t>4. 决策与约束：每条线路每个方向在 10 分钟网格上是否发车；约束为乘客分配与容量、车辆平衡、驾驶时长、最少服务（偏离预注册：以现行首末班为界）、整数约束；用开源求解器 HiGHS 求解。</a:t>
            </a:r>
          </a:p>
          <a:p>
            <a:r>
              <a:t>5. 方法来源：时刻表编制与车辆排班综述[41]、资源约束下的鲁棒时刻表[42]、线网与发车频率设定综述[43]；国内多车型发车时刻与车型联合优化[44]；城乡一体化公交线路与频率联合优化[45]。</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模型四回答 RQ4。在优化后的固定时刻表之上，加 4 辆机动车，前一天晚上根据次日预测，决定每辆车上午和下午分别跑哪条线、几点发车、跑几个来回。我比较了八类方案，其中完美预知上界代表预测完全准确时柔性层能达到的最好效果。用主方案的收益除以这个上界的收益，就是预测兑现了多少理论收益，也就是信息价值。</a:t>
            </a:r>
          </a:p>
          <a:p/>
          <a:p>
            <a:r>
              <a:t>完整要点：</a:t>
            </a:r>
          </a:p>
          <a:p>
            <a:r>
              <a:t>1. 思路：半柔性公交保留固定骨架、在骨架上增加有限柔性[19]；柔性交通服务被视为公共交通的新机会[46]，但许多需求响应项目因成本过高或客流不足而停办[47]，因此柔性只用于不规则节律的日子。</a:t>
            </a:r>
          </a:p>
          <a:p>
            <a:r>
              <a:t>2. 柔性层：4 辆 19 座机动车，均以县汽车站为始末点；每车每天分上午（6:00—12:30）和下午（12:30—18:30）两个半日，前一天晚上按次日预测指派到一条线路，并确定首发时刻和往返次数。</a:t>
            </a:r>
          </a:p>
          <a:p>
            <a:r>
              <a:t>3. 求解：按“车辆—半日”逐次贪心，每一步选出预测社会成本降幅最大且为正的候选。</a:t>
            </a:r>
          </a:p>
          <a:p>
            <a:r>
              <a:t>4. 对照与变体：现行时刻表；现行加调度员临时加班；只用优化固定层；主方案（主方法预测）；改进预测方案；随机规划方案（样本平均近似，偏离预注册）[48]；反应式现场加开；完美预知上界。低需求条件下半柔性交付模式的评估见[49]。</a:t>
            </a:r>
          </a:p>
          <a:p>
            <a:r>
              <a:t>5. 信息价值：（主方案降幅 − 固定层降幅）÷（完美预知降幅 − 固定层降幅），衡量预测“兑现”了多少理论收益[21]。</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固定层的结果是：车次减少两成多，车公里减少约四分之一，服务率反而略有提高，社会成本下降 13.8%，代价是平均等待多了两分半。柔性层在此基础上再降 0.5 个百分点，看起来不大，但收益集中在节假日边沿和春运核心期，普通日几乎为零，这正好验证了“稳定节律给固定层、不规则节律给柔性层”的分工。现在的预测兑现了理论收益的 29%，说明改进预测还有空间。</a:t>
            </a:r>
          </a:p>
          <a:p/>
          <a:p>
            <a:r>
              <a:t>模拟数据检验结果（SYNTHETIC），仅用于检验研究路径，不代表新晃实际情况</a:t>
            </a:r>
          </a:p>
          <a:p/>
          <a:p>
            <a:r>
              <a:t>甘特图样例（fig/图_次日柔性排班甘特图样例.png，宽高比 3.0）未放入页面，答问时可展示：它给出某一天 4 辆机动车上午、下午两个半日的线路指派与发车时刻。</a:t>
            </a:r>
          </a:p>
          <a:p/>
          <a:p>
            <a:r>
              <a:t>完整要点：</a:t>
            </a:r>
          </a:p>
          <a:p>
            <a:r>
              <a:t>1. 固定层（RQ3）：检验期车次 36803 → 28648 班（减少 22.2%），车公里减少 24.9%，服务率 81.6% → 83.8%，社会成本降低 13.8%（H5 得到支持）。</a:t>
            </a:r>
          </a:p>
          <a:p>
            <a:r>
              <a:t>2. 代价：人均等待时间增加 2.5 分钟，满载班次率 3.0% → 4.8%。</a:t>
            </a:r>
          </a:p>
          <a:p>
            <a:r>
              <a:t>3. 柔性层（RQ4）：主方案社会成本降低 14.3%，比只优化固定层多 0.5 个百分点；节假日边沿多 3.4 个百分点，春运核心期多 2.1 个百分点，普通日为 -0.2 个百分点，接近零（H6 得到支持）。</a:t>
            </a:r>
          </a:p>
          <a:p>
            <a:r>
              <a:t>4. 信息价值：主方案兑现了完美预知收益的 29.0%，改进预测方案为 35.1%；完美预知上界的社会成本降幅为 15.4%。</a:t>
            </a:r>
          </a:p>
          <a:p>
            <a:r>
              <a:t>5. 运营建议：正式方案中把“服务率不低于现行”作为一条硬约束。</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创新点我表述为“可能的创新”，有三项：对象上是多重节律同时估计权重；方法上是把删失需求还原引入城乡公交，并用已知真值的模拟系统证明它比常用方法更准确；应用上是固定层和柔性层的分工，以及用信息价值衡量预测改进值多少。成果上，前两个问题写第一篇期刊论文，后两个问题写第二篇，四个问题合起来是学位论文。</a:t>
            </a:r>
          </a:p>
          <a:p/>
          <a:p>
            <a:r>
              <a:t>完整要点：</a:t>
            </a:r>
          </a:p>
          <a:p>
            <a:r>
              <a:t>1. 创新一（研究对象）：把城乡公交客流放在“多重节律叠加”的框架下，在县域尺度上同时估计八个因子族的权重，为“集日是否重要”等地方经验提供可检验的定量证据。</a:t>
            </a:r>
          </a:p>
          <a:p>
            <a:r>
              <a:t>2. 创新二（方法）：把收益管理中的删失需求还原[16]引入城乡公交，构建“删失负二项—因子族 Shapley 分解—按情景 Mondrian 共形”的分析链条，并在已知真值的模拟系统中检验其相对熵权法、灰色关联和 SHAP 的优势。</a:t>
            </a:r>
          </a:p>
          <a:p>
            <a:r>
              <a:t>3. 创新三（应用）：提出“固定层承担稳定节律、次日柔性层承担不规则节律”的半柔性配置[19]，用信息价值量化预测改进的边际收益，形成县级运营单位可操作的排班流程。</a:t>
            </a:r>
          </a:p>
          <a:p>
            <a:r>
              <a:t>4. 论文一（RQ1—RQ2）：删失感知的多重节律识别与班次级概率预测，面向交通需求建模与预测方向的国际期刊。</a:t>
            </a:r>
          </a:p>
          <a:p>
            <a:r>
              <a:t>5. 论文二（RQ3—RQ4）：预测驱动的县域城乡公交半柔性配置，面向公共交通运营与规划方向的国际期刊。</a:t>
            </a:r>
          </a:p>
          <a:p>
            <a:r>
              <a:t>6. 学位论文：四个研究问题合成一篇完整的中文学位论文（样稿已形成，见 04_综合研究报告）。</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汇报进度。研究框架、全部代码和模拟检验已经完成，四份文档也已形成，暑期跟车的现场工作已经做完。接下来最关键的是两件事：一是拿到逐班次台账，二是完成寒假春运跟车、入户和线上问卷。数据到位后，按附录里的操作步骤替换模拟数据，就能得到新晃的实际结论。几个待确认事项，包括集期、天气阈值、运行时间和座位数，需要在实地调查中逐项核实。我的汇报就到这里，请各位老师批评指正。</a:t>
            </a:r>
          </a:p>
          <a:p/>
          <a:p>
            <a:r>
              <a:t>完整要点：</a:t>
            </a:r>
          </a:p>
          <a:p>
            <a:r>
              <a:t>1. 已完成：文献综述（206 条参考文献，含中文核心期刊）；研究问题、假设与预注册；模拟系统、四个模型的全部代码与回测；四份研究文档（研究方案、文献综述、计算模型研究报告、学位论文样稿）；暑期跟车调查的现场工作。</a:t>
            </a:r>
          </a:p>
          <a:p>
            <a:r>
              <a:t>2. 进行中：暑期跟车原始问卷录入；与运营单位对接逐班次台账。［请汇报人按实际情况确认］</a:t>
            </a:r>
          </a:p>
          <a:p>
            <a:r>
              <a:t>3. 待开展：寒假与春运跟车调查；行政村入户调查；线上问卷；用真实数据替换模拟数据并重算全部结果。</a:t>
            </a:r>
          </a:p>
          <a:p>
            <a:r>
              <a:t>4. 待确认事项：各乡镇集期；天气阈值；线路运行时间与配车、各车型核定座位数（目前为假设值）。</a:t>
            </a:r>
          </a:p>
          <a:p>
            <a:r>
              <a:t>5. 研究局限：结果全部来自模拟数据；只有全程总登乘人数，无站点上下客和 OD；训练期只含两个春运；两处偏离预注册的方案未计算预注册版本；集期与天气阈值待核实。</a:t>
            </a:r>
          </a:p>
          <a:p>
            <a:r>
              <a:t>6. 时间安排（研究方案中的六个阶段）：第 1—2 月 文献综述与数据对接 → 第 3 月 暑期跟车问卷与集期核实 → 第 4—5 月 RQ1、RQ2 与论文一初稿 → 第 6—7 月 寒假（春运）跟车、入户与网络问卷 → 第 8—9 月 RQ3、RQ4 与论文二初稿 → 第 10—12 月 学位论文撰写、修改与答辩。</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0116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 name="TextBox 2"/>
          <p:cNvSpPr txBox="1"/>
          <p:nvPr/>
        </p:nvSpPr>
        <p:spPr>
          <a:xfrm>
            <a:off x="822960" y="1005840"/>
            <a:ext cx="10515600" cy="2377440"/>
          </a:xfrm>
          <a:prstGeom prst="rect">
            <a:avLst/>
          </a:prstGeom>
          <a:noFill/>
        </p:spPr>
        <p:txBody>
          <a:bodyPr wrap="square" lIns="73152" rIns="73152" tIns="73152" bIns="73152" anchor="b">
            <a:noAutofit/>
          </a:bodyPr>
          <a:lstStyle/>
          <a:p>
            <a:pPr algn="l">
              <a:lnSpc>
                <a:spcPct val="112000"/>
              </a:lnSpc>
              <a:spcAft>
                <a:spcPts val="340"/>
              </a:spcAft>
            </a:pPr>
            <a:r>
              <a:rPr sz="3400" b="1" i="0">
                <a:solidFill>
                  <a:srgbClr val="1F3A5F"/>
                </a:solidFill>
                <a:latin typeface="Arial"/>
                <a:ea typeface="微软雅黑"/>
                <a:cs typeface="Arial"/>
              </a:rPr>
              <a:t>多重出行节律下武陵山区县域城乡公交的</a:t>
            </a:r>
          </a:p>
          <a:p>
            <a:pPr algn="l">
              <a:lnSpc>
                <a:spcPct val="112000"/>
              </a:lnSpc>
              <a:spcAft>
                <a:spcPts val="340"/>
              </a:spcAft>
            </a:pPr>
            <a:r>
              <a:rPr sz="3400" b="1" i="0">
                <a:solidFill>
                  <a:srgbClr val="1F3A5F"/>
                </a:solidFill>
                <a:latin typeface="Arial"/>
                <a:ea typeface="微软雅黑"/>
                <a:cs typeface="Arial"/>
              </a:rPr>
              <a:t>供需匹配与半柔性配置优化研究</a:t>
            </a:r>
          </a:p>
          <a:p>
            <a:pPr algn="l">
              <a:lnSpc>
                <a:spcPct val="112000"/>
              </a:lnSpc>
              <a:spcAft>
                <a:spcPts val="0"/>
              </a:spcAft>
            </a:pPr>
            <a:r>
              <a:rPr sz="3400" b="1" i="0">
                <a:solidFill>
                  <a:srgbClr val="1F3A5F"/>
                </a:solidFill>
                <a:latin typeface="Arial"/>
                <a:ea typeface="微软雅黑"/>
                <a:cs typeface="Arial"/>
              </a:rPr>
              <a:t>——以新晃侗族自治县为例</a:t>
            </a:r>
          </a:p>
        </p:txBody>
      </p:sp>
      <p:sp>
        <p:nvSpPr>
          <p:cNvPr id="4" name="Rectangle 3"/>
          <p:cNvSpPr/>
          <p:nvPr/>
        </p:nvSpPr>
        <p:spPr>
          <a:xfrm>
            <a:off x="822960" y="3493008"/>
            <a:ext cx="1097280" cy="457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 name="TextBox 4"/>
          <p:cNvSpPr txBox="1"/>
          <p:nvPr/>
        </p:nvSpPr>
        <p:spPr>
          <a:xfrm>
            <a:off x="822960" y="3611880"/>
            <a:ext cx="10515600" cy="594360"/>
          </a:xfrm>
          <a:prstGeom prst="rect">
            <a:avLst/>
          </a:prstGeom>
          <a:noFill/>
        </p:spPr>
        <p:txBody>
          <a:bodyPr wrap="square" lIns="73152" rIns="73152" tIns="73152" bIns="73152" anchor="t">
            <a:noAutofit/>
          </a:bodyPr>
          <a:lstStyle/>
          <a:p>
            <a:pPr algn="l">
              <a:lnSpc>
                <a:spcPct val="112000"/>
              </a:lnSpc>
              <a:spcAft>
                <a:spcPts val="0"/>
              </a:spcAft>
            </a:pPr>
            <a:r>
              <a:rPr sz="2200" b="1" i="0">
                <a:solidFill>
                  <a:srgbClr val="2A9D8F"/>
                </a:solidFill>
                <a:latin typeface="Arial"/>
                <a:ea typeface="微软雅黑"/>
                <a:cs typeface="Arial"/>
              </a:rPr>
              <a:t>研究进展汇报</a:t>
            </a:r>
          </a:p>
        </p:txBody>
      </p:sp>
      <p:sp>
        <p:nvSpPr>
          <p:cNvPr id="6" name="TextBox 5"/>
          <p:cNvSpPr txBox="1"/>
          <p:nvPr/>
        </p:nvSpPr>
        <p:spPr>
          <a:xfrm>
            <a:off x="822960" y="4251960"/>
            <a:ext cx="10515600" cy="1097280"/>
          </a:xfrm>
          <a:prstGeom prst="rect">
            <a:avLst/>
          </a:prstGeom>
          <a:noFill/>
        </p:spPr>
        <p:txBody>
          <a:bodyPr wrap="square" lIns="73152" rIns="73152" tIns="73152" bIns="73152" anchor="t">
            <a:noAutofit/>
          </a:bodyPr>
          <a:lstStyle/>
          <a:p>
            <a:pPr algn="l">
              <a:lnSpc>
                <a:spcPct val="112000"/>
              </a:lnSpc>
              <a:spcAft>
                <a:spcPts val="560"/>
              </a:spcAft>
            </a:pPr>
            <a:r>
              <a:rPr sz="1600" b="0" i="0">
                <a:solidFill>
                  <a:srgbClr val="6C757D"/>
                </a:solidFill>
                <a:latin typeface="Arial"/>
                <a:ea typeface="微软雅黑"/>
                <a:cs typeface="Arial"/>
              </a:rPr>
              <a:t>汇报人：［姓名］　　导师：［姓名］</a:t>
            </a:r>
          </a:p>
          <a:p>
            <a:pPr algn="l">
              <a:lnSpc>
                <a:spcPct val="112000"/>
              </a:lnSpc>
              <a:spcAft>
                <a:spcPts val="0"/>
              </a:spcAft>
            </a:pPr>
            <a:r>
              <a:rPr sz="1600" b="0" i="0">
                <a:solidFill>
                  <a:srgbClr val="6C757D"/>
                </a:solidFill>
                <a:latin typeface="Arial"/>
                <a:ea typeface="微软雅黑"/>
                <a:cs typeface="Arial"/>
              </a:rPr>
              <a:t>［学院／专业］　　2026 年［月］</a:t>
            </a:r>
          </a:p>
        </p:txBody>
      </p:sp>
      <p:sp>
        <p:nvSpPr>
          <p:cNvPr id="7" name="Rectangle 6"/>
          <p:cNvSpPr/>
          <p:nvPr/>
        </p:nvSpPr>
        <p:spPr>
          <a:xfrm>
            <a:off x="822960" y="5897880"/>
            <a:ext cx="10515600" cy="45720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822960" y="5897880"/>
            <a:ext cx="10515600" cy="457200"/>
          </a:xfrm>
          <a:prstGeom prst="rect">
            <a:avLst/>
          </a:prstGeom>
          <a:noFill/>
        </p:spPr>
        <p:txBody>
          <a:bodyPr wrap="square" lIns="73152" rIns="73152" tIns="73152" bIns="73152" anchor="ctr">
            <a:noAutofit/>
          </a:bodyPr>
          <a:lstStyle/>
          <a:p>
            <a:pPr algn="l">
              <a:lnSpc>
                <a:spcPct val="112000"/>
              </a:lnSpc>
              <a:spcAft>
                <a:spcPts val="0"/>
              </a:spcAft>
            </a:pPr>
            <a:r>
              <a:rPr sz="1100" b="0" i="0">
                <a:solidFill>
                  <a:srgbClr val="E76F51"/>
                </a:solidFill>
                <a:latin typeface="Arial"/>
                <a:ea typeface="微软雅黑"/>
                <a:cs typeface="Arial"/>
              </a:rPr>
              <a:t>说明：汇报中的定量结果均来自已知真值的模拟系统（SYNTHETIC），用于检验研究路径，不代表新晃的实际结论。</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提纲</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汇报提纲</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2 / 20</a:t>
            </a:r>
          </a:p>
        </p:txBody>
      </p:sp>
      <p:sp>
        <p:nvSpPr>
          <p:cNvPr id="6" name="Rectangle 5"/>
          <p:cNvSpPr/>
          <p:nvPr/>
        </p:nvSpPr>
        <p:spPr>
          <a:xfrm>
            <a:off x="1463040" y="1554480"/>
            <a:ext cx="685800" cy="6629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2000" b="1" i="0">
                <a:solidFill>
                  <a:srgbClr val="FFFFFF"/>
                </a:solidFill>
                <a:latin typeface="Arial"/>
                <a:ea typeface="微软雅黑"/>
                <a:cs typeface="Arial"/>
              </a:rPr>
              <a:t>1</a:t>
            </a:r>
          </a:p>
        </p:txBody>
      </p:sp>
      <p:sp>
        <p:nvSpPr>
          <p:cNvPr id="7" name="Rectangle 6"/>
          <p:cNvSpPr/>
          <p:nvPr/>
        </p:nvSpPr>
        <p:spPr>
          <a:xfrm>
            <a:off x="2240280" y="1554480"/>
            <a:ext cx="8458200" cy="6629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TextBox 7"/>
          <p:cNvSpPr txBox="1"/>
          <p:nvPr/>
        </p:nvSpPr>
        <p:spPr>
          <a:xfrm>
            <a:off x="2331720" y="1554480"/>
            <a:ext cx="8275320" cy="662940"/>
          </a:xfrm>
          <a:prstGeom prst="rect">
            <a:avLst/>
          </a:prstGeom>
          <a:noFill/>
        </p:spPr>
        <p:txBody>
          <a:bodyPr wrap="square" lIns="73152" rIns="73152" tIns="73152" bIns="73152" anchor="ctr">
            <a:noAutofit/>
          </a:bodyPr>
          <a:lstStyle/>
          <a:p>
            <a:pPr algn="l">
              <a:lnSpc>
                <a:spcPct val="112000"/>
              </a:lnSpc>
              <a:spcAft>
                <a:spcPts val="0"/>
              </a:spcAft>
            </a:pPr>
            <a:r>
              <a:rPr sz="2000" b="1" i="0">
                <a:solidFill>
                  <a:srgbClr val="1F3A5F"/>
                </a:solidFill>
                <a:latin typeface="Arial"/>
                <a:ea typeface="微软雅黑"/>
                <a:cs typeface="Arial"/>
              </a:rPr>
              <a:t>一、研究背景与问题提出</a:t>
            </a:r>
          </a:p>
        </p:txBody>
      </p:sp>
      <p:sp>
        <p:nvSpPr>
          <p:cNvPr id="9" name="TextBox 8"/>
          <p:cNvSpPr txBox="1"/>
          <p:nvPr/>
        </p:nvSpPr>
        <p:spPr>
          <a:xfrm>
            <a:off x="8686800" y="1554480"/>
            <a:ext cx="1920240" cy="662940"/>
          </a:xfrm>
          <a:prstGeom prst="rect">
            <a:avLst/>
          </a:prstGeom>
          <a:noFill/>
        </p:spPr>
        <p:txBody>
          <a:bodyPr wrap="square" lIns="73152" rIns="73152" tIns="73152" bIns="73152" anchor="ctr">
            <a:noAutofit/>
          </a:bodyPr>
          <a:lstStyle/>
          <a:p>
            <a:pPr algn="r">
              <a:lnSpc>
                <a:spcPct val="112000"/>
              </a:lnSpc>
              <a:spcAft>
                <a:spcPts val="0"/>
              </a:spcAft>
            </a:pPr>
            <a:r>
              <a:rPr sz="1200" b="0" i="0">
                <a:solidFill>
                  <a:srgbClr val="6C757D"/>
                </a:solidFill>
                <a:latin typeface="Arial"/>
                <a:ea typeface="微软雅黑"/>
                <a:cs typeface="Arial"/>
              </a:rPr>
              <a:t>第 3—4 页</a:t>
            </a:r>
          </a:p>
        </p:txBody>
      </p:sp>
      <p:sp>
        <p:nvSpPr>
          <p:cNvPr id="10" name="Rectangle 9"/>
          <p:cNvSpPr/>
          <p:nvPr/>
        </p:nvSpPr>
        <p:spPr>
          <a:xfrm>
            <a:off x="1463040" y="2354580"/>
            <a:ext cx="685800" cy="6629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2000" b="1" i="0">
                <a:solidFill>
                  <a:srgbClr val="FFFFFF"/>
                </a:solidFill>
                <a:latin typeface="Arial"/>
                <a:ea typeface="微软雅黑"/>
                <a:cs typeface="Arial"/>
              </a:rPr>
              <a:t>2</a:t>
            </a:r>
          </a:p>
        </p:txBody>
      </p:sp>
      <p:sp>
        <p:nvSpPr>
          <p:cNvPr id="11" name="Rectangle 10"/>
          <p:cNvSpPr/>
          <p:nvPr/>
        </p:nvSpPr>
        <p:spPr>
          <a:xfrm>
            <a:off x="2240280" y="2354580"/>
            <a:ext cx="8458200" cy="6629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2" name="TextBox 11"/>
          <p:cNvSpPr txBox="1"/>
          <p:nvPr/>
        </p:nvSpPr>
        <p:spPr>
          <a:xfrm>
            <a:off x="2331720" y="2354580"/>
            <a:ext cx="8275320" cy="662940"/>
          </a:xfrm>
          <a:prstGeom prst="rect">
            <a:avLst/>
          </a:prstGeom>
          <a:noFill/>
        </p:spPr>
        <p:txBody>
          <a:bodyPr wrap="square" lIns="73152" rIns="73152" tIns="73152" bIns="73152" anchor="ctr">
            <a:noAutofit/>
          </a:bodyPr>
          <a:lstStyle/>
          <a:p>
            <a:pPr algn="l">
              <a:lnSpc>
                <a:spcPct val="112000"/>
              </a:lnSpc>
              <a:spcAft>
                <a:spcPts val="0"/>
              </a:spcAft>
            </a:pPr>
            <a:r>
              <a:rPr sz="2000" b="1" i="0">
                <a:solidFill>
                  <a:srgbClr val="1F3A5F"/>
                </a:solidFill>
                <a:latin typeface="Arial"/>
                <a:ea typeface="微软雅黑"/>
                <a:cs typeface="Arial"/>
              </a:rPr>
              <a:t>二、文献脉络与研究缺口</a:t>
            </a:r>
          </a:p>
        </p:txBody>
      </p:sp>
      <p:sp>
        <p:nvSpPr>
          <p:cNvPr id="13" name="TextBox 12"/>
          <p:cNvSpPr txBox="1"/>
          <p:nvPr/>
        </p:nvSpPr>
        <p:spPr>
          <a:xfrm>
            <a:off x="8686800" y="2354580"/>
            <a:ext cx="1920240" cy="662940"/>
          </a:xfrm>
          <a:prstGeom prst="rect">
            <a:avLst/>
          </a:prstGeom>
          <a:noFill/>
        </p:spPr>
        <p:txBody>
          <a:bodyPr wrap="square" lIns="73152" rIns="73152" tIns="73152" bIns="73152" anchor="ctr">
            <a:noAutofit/>
          </a:bodyPr>
          <a:lstStyle/>
          <a:p>
            <a:pPr algn="r">
              <a:lnSpc>
                <a:spcPct val="112000"/>
              </a:lnSpc>
              <a:spcAft>
                <a:spcPts val="0"/>
              </a:spcAft>
            </a:pPr>
            <a:r>
              <a:rPr sz="1200" b="0" i="0">
                <a:solidFill>
                  <a:srgbClr val="6C757D"/>
                </a:solidFill>
                <a:latin typeface="Arial"/>
                <a:ea typeface="微软雅黑"/>
                <a:cs typeface="Arial"/>
              </a:rPr>
              <a:t>第 5 页</a:t>
            </a:r>
          </a:p>
        </p:txBody>
      </p:sp>
      <p:sp>
        <p:nvSpPr>
          <p:cNvPr id="14" name="Rectangle 13"/>
          <p:cNvSpPr/>
          <p:nvPr/>
        </p:nvSpPr>
        <p:spPr>
          <a:xfrm>
            <a:off x="1463040" y="3154680"/>
            <a:ext cx="685800" cy="6629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2000" b="1" i="0">
                <a:solidFill>
                  <a:srgbClr val="FFFFFF"/>
                </a:solidFill>
                <a:latin typeface="Arial"/>
                <a:ea typeface="微软雅黑"/>
                <a:cs typeface="Arial"/>
              </a:rPr>
              <a:t>3</a:t>
            </a:r>
          </a:p>
        </p:txBody>
      </p:sp>
      <p:sp>
        <p:nvSpPr>
          <p:cNvPr id="15" name="Rectangle 14"/>
          <p:cNvSpPr/>
          <p:nvPr/>
        </p:nvSpPr>
        <p:spPr>
          <a:xfrm>
            <a:off x="2240280" y="3154680"/>
            <a:ext cx="8458200" cy="6629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TextBox 15"/>
          <p:cNvSpPr txBox="1"/>
          <p:nvPr/>
        </p:nvSpPr>
        <p:spPr>
          <a:xfrm>
            <a:off x="2331720" y="3154680"/>
            <a:ext cx="8275320" cy="662940"/>
          </a:xfrm>
          <a:prstGeom prst="rect">
            <a:avLst/>
          </a:prstGeom>
          <a:noFill/>
        </p:spPr>
        <p:txBody>
          <a:bodyPr wrap="square" lIns="73152" rIns="73152" tIns="73152" bIns="73152" anchor="ctr">
            <a:noAutofit/>
          </a:bodyPr>
          <a:lstStyle/>
          <a:p>
            <a:pPr algn="l">
              <a:lnSpc>
                <a:spcPct val="112000"/>
              </a:lnSpc>
              <a:spcAft>
                <a:spcPts val="0"/>
              </a:spcAft>
            </a:pPr>
            <a:r>
              <a:rPr sz="2000" b="1" i="0">
                <a:solidFill>
                  <a:srgbClr val="1F3A5F"/>
                </a:solidFill>
                <a:latin typeface="Arial"/>
                <a:ea typeface="微软雅黑"/>
                <a:cs typeface="Arial"/>
              </a:rPr>
              <a:t>三、研究问题、假设与技术路线</a:t>
            </a:r>
          </a:p>
        </p:txBody>
      </p:sp>
      <p:sp>
        <p:nvSpPr>
          <p:cNvPr id="17" name="TextBox 16"/>
          <p:cNvSpPr txBox="1"/>
          <p:nvPr/>
        </p:nvSpPr>
        <p:spPr>
          <a:xfrm>
            <a:off x="8686800" y="3154680"/>
            <a:ext cx="1920240" cy="662940"/>
          </a:xfrm>
          <a:prstGeom prst="rect">
            <a:avLst/>
          </a:prstGeom>
          <a:noFill/>
        </p:spPr>
        <p:txBody>
          <a:bodyPr wrap="square" lIns="73152" rIns="73152" tIns="73152" bIns="73152" anchor="ctr">
            <a:noAutofit/>
          </a:bodyPr>
          <a:lstStyle/>
          <a:p>
            <a:pPr algn="r">
              <a:lnSpc>
                <a:spcPct val="112000"/>
              </a:lnSpc>
              <a:spcAft>
                <a:spcPts val="0"/>
              </a:spcAft>
            </a:pPr>
            <a:r>
              <a:rPr sz="1200" b="0" i="0">
                <a:solidFill>
                  <a:srgbClr val="6C757D"/>
                </a:solidFill>
                <a:latin typeface="Arial"/>
                <a:ea typeface="微软雅黑"/>
                <a:cs typeface="Arial"/>
              </a:rPr>
              <a:t>第 6—7 页</a:t>
            </a:r>
          </a:p>
        </p:txBody>
      </p:sp>
      <p:sp>
        <p:nvSpPr>
          <p:cNvPr id="18" name="Rectangle 17"/>
          <p:cNvSpPr/>
          <p:nvPr/>
        </p:nvSpPr>
        <p:spPr>
          <a:xfrm>
            <a:off x="1463040" y="3954780"/>
            <a:ext cx="685800" cy="6629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2000" b="1" i="0">
                <a:solidFill>
                  <a:srgbClr val="FFFFFF"/>
                </a:solidFill>
                <a:latin typeface="Arial"/>
                <a:ea typeface="微软雅黑"/>
                <a:cs typeface="Arial"/>
              </a:rPr>
              <a:t>4</a:t>
            </a:r>
          </a:p>
        </p:txBody>
      </p:sp>
      <p:sp>
        <p:nvSpPr>
          <p:cNvPr id="19" name="Rectangle 18"/>
          <p:cNvSpPr/>
          <p:nvPr/>
        </p:nvSpPr>
        <p:spPr>
          <a:xfrm>
            <a:off x="2240280" y="3954780"/>
            <a:ext cx="8458200" cy="6629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2331720" y="3954780"/>
            <a:ext cx="8275320" cy="662940"/>
          </a:xfrm>
          <a:prstGeom prst="rect">
            <a:avLst/>
          </a:prstGeom>
          <a:noFill/>
        </p:spPr>
        <p:txBody>
          <a:bodyPr wrap="square" lIns="73152" rIns="73152" tIns="73152" bIns="73152" anchor="ctr">
            <a:noAutofit/>
          </a:bodyPr>
          <a:lstStyle/>
          <a:p>
            <a:pPr algn="l">
              <a:lnSpc>
                <a:spcPct val="112000"/>
              </a:lnSpc>
              <a:spcAft>
                <a:spcPts val="0"/>
              </a:spcAft>
            </a:pPr>
            <a:r>
              <a:rPr sz="2000" b="1" i="0">
                <a:solidFill>
                  <a:srgbClr val="1F3A5F"/>
                </a:solidFill>
                <a:latin typeface="Arial"/>
                <a:ea typeface="微软雅黑"/>
                <a:cs typeface="Arial"/>
              </a:rPr>
              <a:t>四、研究区、数据与模拟检验设计</a:t>
            </a:r>
          </a:p>
        </p:txBody>
      </p:sp>
      <p:sp>
        <p:nvSpPr>
          <p:cNvPr id="21" name="TextBox 20"/>
          <p:cNvSpPr txBox="1"/>
          <p:nvPr/>
        </p:nvSpPr>
        <p:spPr>
          <a:xfrm>
            <a:off x="8686800" y="3954780"/>
            <a:ext cx="1920240" cy="662940"/>
          </a:xfrm>
          <a:prstGeom prst="rect">
            <a:avLst/>
          </a:prstGeom>
          <a:noFill/>
        </p:spPr>
        <p:txBody>
          <a:bodyPr wrap="square" lIns="73152" rIns="73152" tIns="73152" bIns="73152" anchor="ctr">
            <a:noAutofit/>
          </a:bodyPr>
          <a:lstStyle/>
          <a:p>
            <a:pPr algn="r">
              <a:lnSpc>
                <a:spcPct val="112000"/>
              </a:lnSpc>
              <a:spcAft>
                <a:spcPts val="0"/>
              </a:spcAft>
            </a:pPr>
            <a:r>
              <a:rPr sz="1200" b="0" i="0">
                <a:solidFill>
                  <a:srgbClr val="6C757D"/>
                </a:solidFill>
                <a:latin typeface="Arial"/>
                <a:ea typeface="微软雅黑"/>
                <a:cs typeface="Arial"/>
              </a:rPr>
              <a:t>第 8—9 页</a:t>
            </a:r>
          </a:p>
        </p:txBody>
      </p:sp>
      <p:sp>
        <p:nvSpPr>
          <p:cNvPr id="22" name="Rectangle 21"/>
          <p:cNvSpPr/>
          <p:nvPr/>
        </p:nvSpPr>
        <p:spPr>
          <a:xfrm>
            <a:off x="1463040" y="4754880"/>
            <a:ext cx="685800" cy="66294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2000" b="1" i="0">
                <a:solidFill>
                  <a:srgbClr val="FFFFFF"/>
                </a:solidFill>
                <a:latin typeface="Arial"/>
                <a:ea typeface="微软雅黑"/>
                <a:cs typeface="Arial"/>
              </a:rPr>
              <a:t>5</a:t>
            </a:r>
          </a:p>
        </p:txBody>
      </p:sp>
      <p:sp>
        <p:nvSpPr>
          <p:cNvPr id="23" name="Rectangle 22"/>
          <p:cNvSpPr/>
          <p:nvPr/>
        </p:nvSpPr>
        <p:spPr>
          <a:xfrm>
            <a:off x="2240280" y="4754880"/>
            <a:ext cx="8458200" cy="6629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TextBox 23"/>
          <p:cNvSpPr txBox="1"/>
          <p:nvPr/>
        </p:nvSpPr>
        <p:spPr>
          <a:xfrm>
            <a:off x="2331720" y="4754880"/>
            <a:ext cx="8275320" cy="662940"/>
          </a:xfrm>
          <a:prstGeom prst="rect">
            <a:avLst/>
          </a:prstGeom>
          <a:noFill/>
        </p:spPr>
        <p:txBody>
          <a:bodyPr wrap="square" lIns="73152" rIns="73152" tIns="73152" bIns="73152" anchor="ctr">
            <a:noAutofit/>
          </a:bodyPr>
          <a:lstStyle/>
          <a:p>
            <a:pPr algn="l">
              <a:lnSpc>
                <a:spcPct val="112000"/>
              </a:lnSpc>
              <a:spcAft>
                <a:spcPts val="0"/>
              </a:spcAft>
            </a:pPr>
            <a:r>
              <a:rPr sz="2000" b="1" i="0">
                <a:solidFill>
                  <a:srgbClr val="1F3A5F"/>
                </a:solidFill>
                <a:latin typeface="Arial"/>
                <a:ea typeface="微软雅黑"/>
                <a:cs typeface="Arial"/>
              </a:rPr>
              <a:t>五、四个计算模型及其检验结果</a:t>
            </a:r>
          </a:p>
        </p:txBody>
      </p:sp>
      <p:sp>
        <p:nvSpPr>
          <p:cNvPr id="25" name="TextBox 24"/>
          <p:cNvSpPr txBox="1"/>
          <p:nvPr/>
        </p:nvSpPr>
        <p:spPr>
          <a:xfrm>
            <a:off x="8686800" y="4754880"/>
            <a:ext cx="1920240" cy="662940"/>
          </a:xfrm>
          <a:prstGeom prst="rect">
            <a:avLst/>
          </a:prstGeom>
          <a:noFill/>
        </p:spPr>
        <p:txBody>
          <a:bodyPr wrap="square" lIns="73152" rIns="73152" tIns="73152" bIns="73152" anchor="ctr">
            <a:noAutofit/>
          </a:bodyPr>
          <a:lstStyle/>
          <a:p>
            <a:pPr algn="r">
              <a:lnSpc>
                <a:spcPct val="112000"/>
              </a:lnSpc>
              <a:spcAft>
                <a:spcPts val="0"/>
              </a:spcAft>
            </a:pPr>
            <a:r>
              <a:rPr sz="1200" b="0" i="0">
                <a:solidFill>
                  <a:srgbClr val="6C757D"/>
                </a:solidFill>
                <a:latin typeface="Arial"/>
                <a:ea typeface="微软雅黑"/>
                <a:cs typeface="Arial"/>
              </a:rPr>
              <a:t>第 10—16 页</a:t>
            </a:r>
          </a:p>
        </p:txBody>
      </p:sp>
      <p:sp>
        <p:nvSpPr>
          <p:cNvPr id="26" name="Rectangle 25"/>
          <p:cNvSpPr/>
          <p:nvPr/>
        </p:nvSpPr>
        <p:spPr>
          <a:xfrm>
            <a:off x="1463040" y="5554980"/>
            <a:ext cx="685800" cy="6629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2000" b="1" i="0">
                <a:solidFill>
                  <a:srgbClr val="FFFFFF"/>
                </a:solidFill>
                <a:latin typeface="Arial"/>
                <a:ea typeface="微软雅黑"/>
                <a:cs typeface="Arial"/>
              </a:rPr>
              <a:t>6</a:t>
            </a:r>
          </a:p>
        </p:txBody>
      </p:sp>
      <p:sp>
        <p:nvSpPr>
          <p:cNvPr id="27" name="Rectangle 26"/>
          <p:cNvSpPr/>
          <p:nvPr/>
        </p:nvSpPr>
        <p:spPr>
          <a:xfrm>
            <a:off x="2240280" y="5554980"/>
            <a:ext cx="8458200" cy="6629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8" name="TextBox 27"/>
          <p:cNvSpPr txBox="1"/>
          <p:nvPr/>
        </p:nvSpPr>
        <p:spPr>
          <a:xfrm>
            <a:off x="2331720" y="5554980"/>
            <a:ext cx="8275320" cy="662940"/>
          </a:xfrm>
          <a:prstGeom prst="rect">
            <a:avLst/>
          </a:prstGeom>
          <a:noFill/>
        </p:spPr>
        <p:txBody>
          <a:bodyPr wrap="square" lIns="73152" rIns="73152" tIns="73152" bIns="73152" anchor="ctr">
            <a:noAutofit/>
          </a:bodyPr>
          <a:lstStyle/>
          <a:p>
            <a:pPr algn="l">
              <a:lnSpc>
                <a:spcPct val="112000"/>
              </a:lnSpc>
              <a:spcAft>
                <a:spcPts val="0"/>
              </a:spcAft>
            </a:pPr>
            <a:r>
              <a:rPr sz="2000" b="1" i="0">
                <a:solidFill>
                  <a:srgbClr val="1F3A5F"/>
                </a:solidFill>
                <a:latin typeface="Arial"/>
                <a:ea typeface="微软雅黑"/>
                <a:cs typeface="Arial"/>
              </a:rPr>
              <a:t>六、创新点、成果规划与研究进度</a:t>
            </a:r>
          </a:p>
        </p:txBody>
      </p:sp>
      <p:sp>
        <p:nvSpPr>
          <p:cNvPr id="29" name="TextBox 28"/>
          <p:cNvSpPr txBox="1"/>
          <p:nvPr/>
        </p:nvSpPr>
        <p:spPr>
          <a:xfrm>
            <a:off x="8686800" y="5554980"/>
            <a:ext cx="1920240" cy="662940"/>
          </a:xfrm>
          <a:prstGeom prst="rect">
            <a:avLst/>
          </a:prstGeom>
          <a:noFill/>
        </p:spPr>
        <p:txBody>
          <a:bodyPr wrap="square" lIns="73152" rIns="73152" tIns="73152" bIns="73152" anchor="ctr">
            <a:noAutofit/>
          </a:bodyPr>
          <a:lstStyle/>
          <a:p>
            <a:pPr algn="r">
              <a:lnSpc>
                <a:spcPct val="112000"/>
              </a:lnSpc>
              <a:spcAft>
                <a:spcPts val="0"/>
              </a:spcAft>
            </a:pPr>
            <a:r>
              <a:rPr sz="1200" b="0" i="0">
                <a:solidFill>
                  <a:srgbClr val="6C757D"/>
                </a:solidFill>
                <a:latin typeface="Arial"/>
                <a:ea typeface="微软雅黑"/>
                <a:cs typeface="Arial"/>
              </a:rPr>
              <a:t>第 17—18 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一、研究背景与问题提出</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县域城乡公交的政策重心正在从“通不通车”转向“什么时候有车”</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3 / 20</a:t>
            </a:r>
          </a:p>
        </p:txBody>
      </p:sp>
      <p:sp>
        <p:nvSpPr>
          <p:cNvPr id="6" name="Rectangle 5"/>
          <p:cNvSpPr/>
          <p:nvPr/>
        </p:nvSpPr>
        <p:spPr>
          <a:xfrm>
            <a:off x="457200" y="1463040"/>
            <a:ext cx="5532120" cy="1542287"/>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457200" y="1463040"/>
            <a:ext cx="1188720" cy="1542287"/>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700" b="1" i="0">
                <a:solidFill>
                  <a:srgbClr val="FFFFFF"/>
                </a:solidFill>
                <a:latin typeface="Arial"/>
                <a:ea typeface="微软雅黑"/>
                <a:cs typeface="Arial"/>
              </a:rPr>
              <a:t>政策要求</a:t>
            </a:r>
          </a:p>
        </p:txBody>
      </p:sp>
      <p:sp>
        <p:nvSpPr>
          <p:cNvPr id="8" name="TextBox 7"/>
          <p:cNvSpPr txBox="1"/>
          <p:nvPr/>
        </p:nvSpPr>
        <p:spPr>
          <a:xfrm>
            <a:off x="1737360" y="1499616"/>
            <a:ext cx="4206240" cy="1469135"/>
          </a:xfrm>
          <a:prstGeom prst="rect">
            <a:avLst/>
          </a:prstGeom>
          <a:noFill/>
        </p:spPr>
        <p:txBody>
          <a:bodyPr wrap="square" lIns="73152" rIns="73152" tIns="73152" bIns="73152" anchor="ctr">
            <a:noAutofit/>
          </a:bodyPr>
          <a:lstStyle/>
          <a:p>
            <a:pPr algn="l">
              <a:lnSpc>
                <a:spcPct val="112000"/>
              </a:lnSpc>
              <a:spcAft>
                <a:spcPts val="0"/>
              </a:spcAft>
            </a:pPr>
            <a:r>
              <a:rPr sz="1600" b="0" i="0">
                <a:solidFill>
                  <a:srgbClr val="222222"/>
                </a:solidFill>
                <a:latin typeface="Arial"/>
                <a:ea typeface="微软雅黑"/>
                <a:cs typeface="Arial"/>
              </a:rPr>
              <a:t>2011 年起推进城乡道路客运一体化，目标从“有车坐”走向“坐得上、坐得好”</a:t>
            </a:r>
            <a:r>
              <a:rPr sz="1600" b="0" i="0" baseline="30000">
                <a:solidFill>
                  <a:srgbClr val="222222"/>
                </a:solidFill>
                <a:latin typeface="Arial"/>
                <a:ea typeface="微软雅黑"/>
                <a:cs typeface="Arial"/>
              </a:rPr>
              <a:t>[1]</a:t>
            </a:r>
            <a:r>
              <a:rPr sz="1600" b="0" i="0">
                <a:solidFill>
                  <a:srgbClr val="222222"/>
                </a:solidFill>
                <a:latin typeface="Arial"/>
                <a:ea typeface="微软雅黑"/>
                <a:cs typeface="Arial"/>
              </a:rPr>
              <a:t>；2024 年服务指南要求按客流规律灵活安排班次，鼓励预约响应</a:t>
            </a:r>
            <a:r>
              <a:rPr sz="1600" b="0" i="0" baseline="30000">
                <a:solidFill>
                  <a:srgbClr val="222222"/>
                </a:solidFill>
                <a:latin typeface="Arial"/>
                <a:ea typeface="微软雅黑"/>
                <a:cs typeface="Arial"/>
              </a:rPr>
              <a:t>[2]</a:t>
            </a:r>
          </a:p>
        </p:txBody>
      </p:sp>
      <p:sp>
        <p:nvSpPr>
          <p:cNvPr id="9" name="Rectangle 8"/>
          <p:cNvSpPr/>
          <p:nvPr/>
        </p:nvSpPr>
        <p:spPr>
          <a:xfrm>
            <a:off x="457200" y="3115056"/>
            <a:ext cx="5532120" cy="1542287"/>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Rectangle 9"/>
          <p:cNvSpPr/>
          <p:nvPr/>
        </p:nvSpPr>
        <p:spPr>
          <a:xfrm>
            <a:off x="457200" y="3115056"/>
            <a:ext cx="1188720" cy="1542287"/>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700" b="1" i="0">
                <a:solidFill>
                  <a:srgbClr val="FFFFFF"/>
                </a:solidFill>
                <a:latin typeface="Arial"/>
                <a:ea typeface="微软雅黑"/>
                <a:cs typeface="Arial"/>
              </a:rPr>
              <a:t>山区现实</a:t>
            </a:r>
          </a:p>
        </p:txBody>
      </p:sp>
      <p:sp>
        <p:nvSpPr>
          <p:cNvPr id="11" name="TextBox 10"/>
          <p:cNvSpPr txBox="1"/>
          <p:nvPr/>
        </p:nvSpPr>
        <p:spPr>
          <a:xfrm>
            <a:off x="1737360" y="3151632"/>
            <a:ext cx="4206240" cy="1469135"/>
          </a:xfrm>
          <a:prstGeom prst="rect">
            <a:avLst/>
          </a:prstGeom>
          <a:noFill/>
        </p:spPr>
        <p:txBody>
          <a:bodyPr wrap="square" lIns="73152" rIns="73152" tIns="73152" bIns="73152" anchor="ctr">
            <a:noAutofit/>
          </a:bodyPr>
          <a:lstStyle/>
          <a:p>
            <a:pPr algn="l">
              <a:lnSpc>
                <a:spcPct val="112000"/>
              </a:lnSpc>
              <a:spcAft>
                <a:spcPts val="0"/>
              </a:spcAft>
            </a:pPr>
            <a:r>
              <a:rPr sz="1600" b="0" i="0">
                <a:solidFill>
                  <a:srgbClr val="222222"/>
                </a:solidFill>
                <a:latin typeface="Arial"/>
                <a:ea typeface="微软雅黑"/>
                <a:cs typeface="Arial"/>
              </a:rPr>
              <a:t>交通劣势与相对贫困存在可测的关联</a:t>
            </a:r>
            <a:r>
              <a:rPr sz="1600" b="0" i="0" baseline="30000">
                <a:solidFill>
                  <a:srgbClr val="222222"/>
                </a:solidFill>
                <a:latin typeface="Arial"/>
                <a:ea typeface="微软雅黑"/>
                <a:cs typeface="Arial"/>
              </a:rPr>
              <a:t>[3]</a:t>
            </a:r>
            <a:r>
              <a:rPr sz="1600" b="0" i="0">
                <a:solidFill>
                  <a:srgbClr val="222222"/>
                </a:solidFill>
                <a:latin typeface="Arial"/>
                <a:ea typeface="微软雅黑"/>
                <a:cs typeface="Arial"/>
              </a:rPr>
              <a:t>；医疗等公共服务的可达性明显受交通条件限制</a:t>
            </a:r>
            <a:r>
              <a:rPr sz="1600" b="0" i="0" baseline="30000">
                <a:solidFill>
                  <a:srgbClr val="222222"/>
                </a:solidFill>
                <a:latin typeface="Arial"/>
                <a:ea typeface="微软雅黑"/>
                <a:cs typeface="Arial"/>
              </a:rPr>
              <a:t>[4]</a:t>
            </a:r>
          </a:p>
        </p:txBody>
      </p:sp>
      <p:sp>
        <p:nvSpPr>
          <p:cNvPr id="12" name="Rectangle 11"/>
          <p:cNvSpPr/>
          <p:nvPr/>
        </p:nvSpPr>
        <p:spPr>
          <a:xfrm>
            <a:off x="457200" y="4767072"/>
            <a:ext cx="5532120" cy="1542287"/>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Rectangle 12"/>
          <p:cNvSpPr/>
          <p:nvPr/>
        </p:nvSpPr>
        <p:spPr>
          <a:xfrm>
            <a:off x="457200" y="4767072"/>
            <a:ext cx="1188720" cy="1542287"/>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700" b="1" i="0">
                <a:solidFill>
                  <a:srgbClr val="FFFFFF"/>
                </a:solidFill>
                <a:latin typeface="Arial"/>
                <a:ea typeface="微软雅黑"/>
                <a:cs typeface="Arial"/>
              </a:rPr>
              <a:t>理论视角</a:t>
            </a:r>
          </a:p>
        </p:txBody>
      </p:sp>
      <p:sp>
        <p:nvSpPr>
          <p:cNvPr id="14" name="TextBox 13"/>
          <p:cNvSpPr txBox="1"/>
          <p:nvPr/>
        </p:nvSpPr>
        <p:spPr>
          <a:xfrm>
            <a:off x="1737360" y="4803648"/>
            <a:ext cx="4206240" cy="1469135"/>
          </a:xfrm>
          <a:prstGeom prst="rect">
            <a:avLst/>
          </a:prstGeom>
          <a:noFill/>
        </p:spPr>
        <p:txBody>
          <a:bodyPr wrap="square" lIns="73152" rIns="73152" tIns="73152" bIns="73152" anchor="ctr">
            <a:noAutofit/>
          </a:bodyPr>
          <a:lstStyle/>
          <a:p>
            <a:pPr algn="l">
              <a:lnSpc>
                <a:spcPct val="112000"/>
              </a:lnSpc>
              <a:spcAft>
                <a:spcPts val="0"/>
              </a:spcAft>
            </a:pPr>
            <a:r>
              <a:rPr sz="1600" b="0" i="0">
                <a:solidFill>
                  <a:srgbClr val="222222"/>
                </a:solidFill>
                <a:latin typeface="Arial"/>
                <a:ea typeface="微软雅黑"/>
                <a:cs typeface="Arial"/>
              </a:rPr>
              <a:t>缺少公交使农村居民难以到达就业、医疗和教育机会，属于社会排斥问题</a:t>
            </a:r>
            <a:r>
              <a:rPr sz="1600" b="0" i="0" baseline="30000">
                <a:solidFill>
                  <a:srgbClr val="222222"/>
                </a:solidFill>
                <a:latin typeface="Arial"/>
                <a:ea typeface="微软雅黑"/>
                <a:cs typeface="Arial"/>
              </a:rPr>
              <a:t>[5,6]</a:t>
            </a:r>
            <a:r>
              <a:rPr sz="1600" b="0" i="0">
                <a:solidFill>
                  <a:srgbClr val="222222"/>
                </a:solidFill>
                <a:latin typeface="Arial"/>
                <a:ea typeface="微软雅黑"/>
                <a:cs typeface="Arial"/>
              </a:rPr>
              <a:t>；城乡交通融合已成为地理学研究议题</a:t>
            </a:r>
            <a:r>
              <a:rPr sz="1600" b="0" i="0" baseline="30000">
                <a:solidFill>
                  <a:srgbClr val="222222"/>
                </a:solidFill>
                <a:latin typeface="Arial"/>
                <a:ea typeface="微软雅黑"/>
                <a:cs typeface="Arial"/>
              </a:rPr>
              <a:t>[7]</a:t>
            </a:r>
          </a:p>
        </p:txBody>
      </p:sp>
      <p:sp>
        <p:nvSpPr>
          <p:cNvPr id="15" name="Rectangle 14"/>
          <p:cNvSpPr/>
          <p:nvPr/>
        </p:nvSpPr>
        <p:spPr>
          <a:xfrm>
            <a:off x="6199632" y="1463040"/>
            <a:ext cx="5532120" cy="48463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Rectangle 15"/>
          <p:cNvSpPr/>
          <p:nvPr/>
        </p:nvSpPr>
        <p:spPr>
          <a:xfrm>
            <a:off x="6199632" y="1463040"/>
            <a:ext cx="5532120" cy="4114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研究对象</a:t>
            </a:r>
          </a:p>
        </p:txBody>
      </p:sp>
      <p:sp>
        <p:nvSpPr>
          <p:cNvPr id="17" name="TextBox 16"/>
          <p:cNvSpPr txBox="1"/>
          <p:nvPr/>
        </p:nvSpPr>
        <p:spPr>
          <a:xfrm>
            <a:off x="6336792" y="1938528"/>
            <a:ext cx="5257800" cy="512064"/>
          </a:xfrm>
          <a:prstGeom prst="rect">
            <a:avLst/>
          </a:prstGeom>
          <a:noFill/>
        </p:spPr>
        <p:txBody>
          <a:bodyPr wrap="square" lIns="73152" rIns="73152" tIns="73152" bIns="73152" anchor="t">
            <a:noAutofit/>
          </a:bodyPr>
          <a:lstStyle/>
          <a:p>
            <a:pPr algn="l">
              <a:lnSpc>
                <a:spcPct val="112000"/>
              </a:lnSpc>
              <a:spcAft>
                <a:spcPts val="0"/>
              </a:spcAft>
            </a:pPr>
            <a:r>
              <a:rPr sz="1950" b="1" i="0">
                <a:solidFill>
                  <a:srgbClr val="1F3A5F"/>
                </a:solidFill>
                <a:latin typeface="Arial"/>
                <a:ea typeface="微软雅黑"/>
                <a:cs typeface="Arial"/>
              </a:rPr>
              <a:t>湖南省新晃侗族自治县（武陵山区）</a:t>
            </a:r>
          </a:p>
        </p:txBody>
      </p:sp>
      <p:sp>
        <p:nvSpPr>
          <p:cNvPr id="18" name="TextBox 17"/>
          <p:cNvSpPr txBox="1"/>
          <p:nvPr/>
        </p:nvSpPr>
        <p:spPr>
          <a:xfrm>
            <a:off x="6336792" y="2450592"/>
            <a:ext cx="5257800" cy="384048"/>
          </a:xfrm>
          <a:prstGeom prst="rect">
            <a:avLst/>
          </a:prstGeom>
          <a:noFill/>
        </p:spPr>
        <p:txBody>
          <a:bodyPr wrap="square" lIns="73152" rIns="73152" tIns="18288" bIns="18288" anchor="t">
            <a:noAutofit/>
          </a:bodyPr>
          <a:lstStyle/>
          <a:p>
            <a:pPr algn="l">
              <a:lnSpc>
                <a:spcPct val="112000"/>
              </a:lnSpc>
              <a:spcAft>
                <a:spcPts val="0"/>
              </a:spcAft>
            </a:pPr>
            <a:r>
              <a:rPr sz="1600" b="1" i="0">
                <a:solidFill>
                  <a:srgbClr val="2A9D8F"/>
                </a:solidFill>
                <a:latin typeface="Arial"/>
                <a:ea typeface="微软雅黑"/>
                <a:cs typeface="Arial"/>
              </a:rPr>
              <a:t>县汽车站发出的 7 条城乡公交线路</a:t>
            </a:r>
          </a:p>
        </p:txBody>
      </p:sp>
      <p:pic>
        <p:nvPicPr>
          <p:cNvPr id="19" name="Picture 18" descr="图_研究区与城乡公交线网.png"/>
          <p:cNvPicPr>
            <a:picLocks noChangeAspect="1"/>
          </p:cNvPicPr>
          <p:nvPr/>
        </p:nvPicPr>
        <p:blipFill>
          <a:blip r:embed="rId2"/>
          <a:stretch>
            <a:fillRect/>
          </a:stretch>
        </p:blipFill>
        <p:spPr>
          <a:xfrm>
            <a:off x="6336792" y="2880360"/>
            <a:ext cx="5257800" cy="3016904"/>
          </a:xfrm>
          <a:prstGeom prst="rect">
            <a:avLst/>
          </a:prstGeom>
        </p:spPr>
      </p:pic>
      <p:sp>
        <p:nvSpPr>
          <p:cNvPr id="20" name="TextBox 19"/>
          <p:cNvSpPr txBox="1"/>
          <p:nvPr/>
        </p:nvSpPr>
        <p:spPr>
          <a:xfrm>
            <a:off x="6336792" y="5915552"/>
            <a:ext cx="5257800" cy="256032"/>
          </a:xfrm>
          <a:prstGeom prst="rect">
            <a:avLst/>
          </a:prstGeom>
          <a:noFill/>
        </p:spPr>
        <p:txBody>
          <a:bodyPr wrap="square" lIns="73152" rIns="73152" tIns="18288" bIns="18288" anchor="t">
            <a:noAutofit/>
          </a:bodyPr>
          <a:lstStyle/>
          <a:p>
            <a:pPr algn="l">
              <a:lnSpc>
                <a:spcPct val="112000"/>
              </a:lnSpc>
              <a:spcAft>
                <a:spcPts val="0"/>
              </a:spcAft>
            </a:pPr>
            <a:r>
              <a:rPr sz="1050" b="0" i="0">
                <a:solidFill>
                  <a:srgbClr val="6C757D"/>
                </a:solidFill>
                <a:latin typeface="Arial"/>
                <a:ea typeface="微软雅黑"/>
                <a:cs typeface="Arial"/>
              </a:rPr>
              <a:t>图：研究区与城乡公交线网（真实 GIS 底图与现行线路，详见第 8 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一、研究背景与问题提出</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县级运营者面临三个难题：班次依据什么、台账能否代表需求、固定班与机动车如何分工</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4 / 20</a:t>
            </a:r>
          </a:p>
        </p:txBody>
      </p:sp>
      <p:sp>
        <p:nvSpPr>
          <p:cNvPr id="6" name="Rectangle 5"/>
          <p:cNvSpPr/>
          <p:nvPr/>
        </p:nvSpPr>
        <p:spPr>
          <a:xfrm>
            <a:off x="457200" y="1463040"/>
            <a:ext cx="11274552" cy="11430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457200" y="1463040"/>
            <a:ext cx="1828800"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500" b="1" i="0">
                <a:solidFill>
                  <a:srgbClr val="FFFFFF"/>
                </a:solidFill>
                <a:latin typeface="Arial"/>
                <a:ea typeface="微软雅黑"/>
                <a:cs typeface="Arial"/>
              </a:rPr>
              <a:t>理论依据</a:t>
            </a:r>
          </a:p>
          <a:p>
            <a:pPr algn="ctr">
              <a:lnSpc>
                <a:spcPct val="112000"/>
              </a:lnSpc>
            </a:pPr>
            <a:r>
              <a:rPr sz="1500" b="1" i="0">
                <a:solidFill>
                  <a:srgbClr val="FFFFFF"/>
                </a:solidFill>
                <a:latin typeface="Arial"/>
                <a:ea typeface="微软雅黑"/>
                <a:cs typeface="Arial"/>
              </a:rPr>
              <a:t>时间维度的可达性</a:t>
            </a:r>
          </a:p>
        </p:txBody>
      </p:sp>
      <p:sp>
        <p:nvSpPr>
          <p:cNvPr id="8" name="TextBox 7"/>
          <p:cNvSpPr txBox="1"/>
          <p:nvPr/>
        </p:nvSpPr>
        <p:spPr>
          <a:xfrm>
            <a:off x="2377440" y="1463040"/>
            <a:ext cx="9281160" cy="1143000"/>
          </a:xfrm>
          <a:prstGeom prst="rect">
            <a:avLst/>
          </a:prstGeom>
          <a:noFill/>
        </p:spPr>
        <p:txBody>
          <a:bodyPr wrap="square" lIns="73152" rIns="73152" tIns="73152" bIns="73152" anchor="ctr">
            <a:noAutofit/>
          </a:bodyPr>
          <a:lstStyle/>
          <a:p>
            <a:pPr algn="l">
              <a:lnSpc>
                <a:spcPct val="112000"/>
              </a:lnSpc>
              <a:spcAft>
                <a:spcPts val="0"/>
              </a:spcAft>
            </a:pPr>
            <a:r>
              <a:rPr sz="1600" b="0" i="0">
                <a:solidFill>
                  <a:srgbClr val="222222"/>
                </a:solidFill>
                <a:latin typeface="Arial"/>
                <a:ea typeface="微软雅黑"/>
                <a:cs typeface="Arial"/>
              </a:rPr>
              <a:t>人的活动受能力、组合和权威三类约束，必须在特定时间到达特定地点</a:t>
            </a:r>
            <a:r>
              <a:rPr sz="1600" b="0" i="0" baseline="30000">
                <a:solidFill>
                  <a:srgbClr val="222222"/>
                </a:solidFill>
                <a:latin typeface="Arial"/>
                <a:ea typeface="微软雅黑"/>
                <a:cs typeface="Arial"/>
              </a:rPr>
              <a:t>[8]</a:t>
            </a:r>
            <a:r>
              <a:rPr sz="1600" b="0" i="0">
                <a:solidFill>
                  <a:srgbClr val="222222"/>
                </a:solidFill>
                <a:latin typeface="Arial"/>
                <a:ea typeface="微软雅黑"/>
                <a:cs typeface="Arial"/>
              </a:rPr>
              <a:t>；时空可达性是交通地理的前沿议题</a:t>
            </a:r>
            <a:r>
              <a:rPr sz="1600" b="0" i="0" baseline="30000">
                <a:solidFill>
                  <a:srgbClr val="222222"/>
                </a:solidFill>
                <a:latin typeface="Arial"/>
                <a:ea typeface="微软雅黑"/>
                <a:cs typeface="Arial"/>
              </a:rPr>
              <a:t>[9,10]</a:t>
            </a:r>
            <a:r>
              <a:rPr sz="1600" b="0" i="0">
                <a:solidFill>
                  <a:srgbClr val="222222"/>
                </a:solidFill>
                <a:latin typeface="Arial"/>
                <a:ea typeface="微软雅黑"/>
                <a:cs typeface="Arial"/>
              </a:rPr>
              <a:t>；公交可达性在一天之内随时刻表剧烈波动</a:t>
            </a:r>
            <a:r>
              <a:rPr sz="1600" b="0" i="0" baseline="30000">
                <a:solidFill>
                  <a:srgbClr val="222222"/>
                </a:solidFill>
                <a:latin typeface="Arial"/>
                <a:ea typeface="微软雅黑"/>
                <a:cs typeface="Arial"/>
              </a:rPr>
              <a:t>[11]</a:t>
            </a:r>
            <a:r>
              <a:rPr sz="1600" b="0" i="0">
                <a:solidFill>
                  <a:srgbClr val="222222"/>
                </a:solidFill>
                <a:latin typeface="Arial"/>
                <a:ea typeface="微软雅黑"/>
                <a:cs typeface="Arial"/>
              </a:rPr>
              <a:t>。农村乘客以老人、学生和无车者为主</a:t>
            </a:r>
            <a:r>
              <a:rPr sz="1600" b="0" i="0" baseline="30000">
                <a:solidFill>
                  <a:srgbClr val="222222"/>
                </a:solidFill>
                <a:latin typeface="Arial"/>
                <a:ea typeface="微软雅黑"/>
                <a:cs typeface="Arial"/>
              </a:rPr>
              <a:t>[12]</a:t>
            </a:r>
            <a:r>
              <a:rPr sz="1600" b="0" i="0">
                <a:solidFill>
                  <a:srgbClr val="222222"/>
                </a:solidFill>
                <a:latin typeface="Arial"/>
                <a:ea typeface="微软雅黑"/>
                <a:cs typeface="Arial"/>
              </a:rPr>
              <a:t>，班次时刻直接决定其能否出行。</a:t>
            </a:r>
          </a:p>
        </p:txBody>
      </p:sp>
      <p:sp>
        <p:nvSpPr>
          <p:cNvPr id="9" name="Rectangle 8"/>
          <p:cNvSpPr/>
          <p:nvPr/>
        </p:nvSpPr>
        <p:spPr>
          <a:xfrm>
            <a:off x="457200" y="2788920"/>
            <a:ext cx="3639312" cy="3520440"/>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Rectangle 9"/>
          <p:cNvSpPr/>
          <p:nvPr/>
        </p:nvSpPr>
        <p:spPr>
          <a:xfrm>
            <a:off x="457200" y="2788920"/>
            <a:ext cx="3639312" cy="7315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1" name="TextBox 10"/>
          <p:cNvSpPr txBox="1"/>
          <p:nvPr/>
        </p:nvSpPr>
        <p:spPr>
          <a:xfrm>
            <a:off x="640080" y="2990088"/>
            <a:ext cx="1097280" cy="274320"/>
          </a:xfrm>
          <a:prstGeom prst="rect">
            <a:avLst/>
          </a:prstGeom>
          <a:noFill/>
        </p:spPr>
        <p:txBody>
          <a:bodyPr wrap="square" lIns="73152" rIns="73152" tIns="18288" bIns="18288" anchor="t">
            <a:noAutofit/>
          </a:bodyPr>
          <a:lstStyle/>
          <a:p>
            <a:pPr algn="l">
              <a:lnSpc>
                <a:spcPct val="112000"/>
              </a:lnSpc>
              <a:spcAft>
                <a:spcPts val="0"/>
              </a:spcAft>
            </a:pPr>
            <a:r>
              <a:rPr sz="1200" b="0" i="0">
                <a:solidFill>
                  <a:srgbClr val="6C757D"/>
                </a:solidFill>
                <a:latin typeface="Arial"/>
                <a:ea typeface="微软雅黑"/>
                <a:cs typeface="Arial"/>
              </a:rPr>
              <a:t>难题一</a:t>
            </a:r>
          </a:p>
        </p:txBody>
      </p:sp>
      <p:sp>
        <p:nvSpPr>
          <p:cNvPr id="12" name="TextBox 11"/>
          <p:cNvSpPr txBox="1"/>
          <p:nvPr/>
        </p:nvSpPr>
        <p:spPr>
          <a:xfrm>
            <a:off x="640080" y="3172968"/>
            <a:ext cx="3273552" cy="731520"/>
          </a:xfrm>
          <a:prstGeom prst="rect">
            <a:avLst/>
          </a:prstGeom>
          <a:noFill/>
        </p:spPr>
        <p:txBody>
          <a:bodyPr wrap="square" lIns="73152" rIns="73152" tIns="73152" bIns="73152" anchor="t">
            <a:noAutofit/>
          </a:bodyPr>
          <a:lstStyle/>
          <a:p>
            <a:pPr algn="l">
              <a:lnSpc>
                <a:spcPct val="112000"/>
              </a:lnSpc>
              <a:spcAft>
                <a:spcPts val="0"/>
              </a:spcAft>
            </a:pPr>
            <a:r>
              <a:rPr sz="3000" b="1" i="0">
                <a:solidFill>
                  <a:srgbClr val="2A9D8F"/>
                </a:solidFill>
                <a:latin typeface="Arial"/>
                <a:ea typeface="微软雅黑"/>
                <a:cs typeface="Arial"/>
              </a:rPr>
              <a:t>权重</a:t>
            </a:r>
          </a:p>
        </p:txBody>
      </p:sp>
      <p:sp>
        <p:nvSpPr>
          <p:cNvPr id="13" name="TextBox 12"/>
          <p:cNvSpPr txBox="1"/>
          <p:nvPr/>
        </p:nvSpPr>
        <p:spPr>
          <a:xfrm>
            <a:off x="640080" y="3904487"/>
            <a:ext cx="3273552" cy="411480"/>
          </a:xfrm>
          <a:prstGeom prst="rect">
            <a:avLst/>
          </a:prstGeom>
          <a:noFill/>
        </p:spPr>
        <p:txBody>
          <a:bodyPr wrap="square" lIns="73152" rIns="73152" tIns="18288" bIns="18288" anchor="t">
            <a:noAutofit/>
          </a:bodyPr>
          <a:lstStyle/>
          <a:p>
            <a:pPr algn="l">
              <a:lnSpc>
                <a:spcPct val="112000"/>
              </a:lnSpc>
              <a:spcAft>
                <a:spcPts val="0"/>
              </a:spcAft>
            </a:pPr>
            <a:r>
              <a:rPr sz="1700" b="1" i="0">
                <a:solidFill>
                  <a:srgbClr val="1F3A5F"/>
                </a:solidFill>
                <a:latin typeface="Arial"/>
                <a:ea typeface="微软雅黑"/>
                <a:cs typeface="Arial"/>
              </a:rPr>
              <a:t>班次依据什么？</a:t>
            </a:r>
          </a:p>
        </p:txBody>
      </p:sp>
      <p:sp>
        <p:nvSpPr>
          <p:cNvPr id="14" name="Rectangle 13"/>
          <p:cNvSpPr/>
          <p:nvPr/>
        </p:nvSpPr>
        <p:spPr>
          <a:xfrm>
            <a:off x="640080" y="4361688"/>
            <a:ext cx="3273552" cy="18288"/>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5" name="TextBox 14"/>
          <p:cNvSpPr txBox="1"/>
          <p:nvPr/>
        </p:nvSpPr>
        <p:spPr>
          <a:xfrm>
            <a:off x="640080" y="4453128"/>
            <a:ext cx="3273552" cy="1188720"/>
          </a:xfrm>
          <a:prstGeom prst="rect">
            <a:avLst/>
          </a:prstGeom>
          <a:noFill/>
        </p:spPr>
        <p:txBody>
          <a:bodyPr wrap="square" lIns="73152" rIns="73152" tIns="73152" bIns="73152" anchor="t">
            <a:noAutofit/>
          </a:bodyPr>
          <a:lstStyle/>
          <a:p>
            <a:pPr algn="l">
              <a:lnSpc>
                <a:spcPct val="112000"/>
              </a:lnSpc>
              <a:spcAft>
                <a:spcPts val="0"/>
              </a:spcAft>
            </a:pPr>
            <a:r>
              <a:rPr sz="1600" b="0" i="0">
                <a:solidFill>
                  <a:srgbClr val="222222"/>
                </a:solidFill>
                <a:latin typeface="Arial"/>
                <a:ea typeface="微软雅黑"/>
                <a:cs typeface="Arial"/>
              </a:rPr>
              <a:t>影响因子的权重多用熵权法、灰色关联给出，难以回答“客流变化由什么造成”</a:t>
            </a:r>
          </a:p>
        </p:txBody>
      </p:sp>
      <p:sp>
        <p:nvSpPr>
          <p:cNvPr id="16" name="Rectangle 15"/>
          <p:cNvSpPr/>
          <p:nvPr/>
        </p:nvSpPr>
        <p:spPr>
          <a:xfrm>
            <a:off x="640080" y="5760720"/>
            <a:ext cx="2194560" cy="36576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7" name="TextBox 16"/>
          <p:cNvSpPr txBox="1"/>
          <p:nvPr/>
        </p:nvSpPr>
        <p:spPr>
          <a:xfrm>
            <a:off x="640080" y="5760720"/>
            <a:ext cx="2194560" cy="365760"/>
          </a:xfrm>
          <a:prstGeom prst="rect">
            <a:avLst/>
          </a:prstGeom>
          <a:noFill/>
        </p:spPr>
        <p:txBody>
          <a:bodyPr wrap="square" lIns="73152" rIns="73152" tIns="18288" bIns="18288" anchor="ctr">
            <a:noAutofit/>
          </a:bodyPr>
          <a:lstStyle/>
          <a:p>
            <a:pPr algn="ctr">
              <a:lnSpc>
                <a:spcPct val="112000"/>
              </a:lnSpc>
              <a:spcAft>
                <a:spcPts val="0"/>
              </a:spcAft>
            </a:pPr>
            <a:r>
              <a:rPr sz="1300" b="1" i="0">
                <a:solidFill>
                  <a:srgbClr val="2A9D8F"/>
                </a:solidFill>
                <a:latin typeface="Arial"/>
                <a:ea typeface="微软雅黑"/>
                <a:cs typeface="Arial"/>
              </a:rPr>
              <a:t>→ 对应 RQ1</a:t>
            </a:r>
          </a:p>
        </p:txBody>
      </p:sp>
      <p:sp>
        <p:nvSpPr>
          <p:cNvPr id="18" name="Rectangle 17"/>
          <p:cNvSpPr/>
          <p:nvPr/>
        </p:nvSpPr>
        <p:spPr>
          <a:xfrm>
            <a:off x="4274820" y="2788920"/>
            <a:ext cx="3639312" cy="3520440"/>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Rectangle 18"/>
          <p:cNvSpPr/>
          <p:nvPr/>
        </p:nvSpPr>
        <p:spPr>
          <a:xfrm>
            <a:off x="4274820" y="2788920"/>
            <a:ext cx="3639312" cy="7315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0" name="TextBox 19"/>
          <p:cNvSpPr txBox="1"/>
          <p:nvPr/>
        </p:nvSpPr>
        <p:spPr>
          <a:xfrm>
            <a:off x="4457700" y="2990088"/>
            <a:ext cx="1097280" cy="274320"/>
          </a:xfrm>
          <a:prstGeom prst="rect">
            <a:avLst/>
          </a:prstGeom>
          <a:noFill/>
        </p:spPr>
        <p:txBody>
          <a:bodyPr wrap="square" lIns="73152" rIns="73152" tIns="18288" bIns="18288" anchor="t">
            <a:noAutofit/>
          </a:bodyPr>
          <a:lstStyle/>
          <a:p>
            <a:pPr algn="l">
              <a:lnSpc>
                <a:spcPct val="112000"/>
              </a:lnSpc>
              <a:spcAft>
                <a:spcPts val="0"/>
              </a:spcAft>
            </a:pPr>
            <a:r>
              <a:rPr sz="1200" b="0" i="0">
                <a:solidFill>
                  <a:srgbClr val="6C757D"/>
                </a:solidFill>
                <a:latin typeface="Arial"/>
                <a:ea typeface="微软雅黑"/>
                <a:cs typeface="Arial"/>
              </a:rPr>
              <a:t>难题二</a:t>
            </a:r>
          </a:p>
        </p:txBody>
      </p:sp>
      <p:sp>
        <p:nvSpPr>
          <p:cNvPr id="21" name="TextBox 20"/>
          <p:cNvSpPr txBox="1"/>
          <p:nvPr/>
        </p:nvSpPr>
        <p:spPr>
          <a:xfrm>
            <a:off x="4457700" y="3172968"/>
            <a:ext cx="3273552" cy="731520"/>
          </a:xfrm>
          <a:prstGeom prst="rect">
            <a:avLst/>
          </a:prstGeom>
          <a:noFill/>
        </p:spPr>
        <p:txBody>
          <a:bodyPr wrap="square" lIns="73152" rIns="73152" tIns="73152" bIns="73152" anchor="t">
            <a:noAutofit/>
          </a:bodyPr>
          <a:lstStyle/>
          <a:p>
            <a:pPr algn="l">
              <a:lnSpc>
                <a:spcPct val="112000"/>
              </a:lnSpc>
              <a:spcAft>
                <a:spcPts val="0"/>
              </a:spcAft>
            </a:pPr>
            <a:r>
              <a:rPr sz="3000" b="1" i="0">
                <a:solidFill>
                  <a:srgbClr val="2A9D8F"/>
                </a:solidFill>
                <a:latin typeface="Arial"/>
                <a:ea typeface="微软雅黑"/>
                <a:cs typeface="Arial"/>
              </a:rPr>
              <a:t>删失</a:t>
            </a:r>
          </a:p>
        </p:txBody>
      </p:sp>
      <p:sp>
        <p:nvSpPr>
          <p:cNvPr id="22" name="TextBox 21"/>
          <p:cNvSpPr txBox="1"/>
          <p:nvPr/>
        </p:nvSpPr>
        <p:spPr>
          <a:xfrm>
            <a:off x="4457700" y="3904487"/>
            <a:ext cx="3273552" cy="411480"/>
          </a:xfrm>
          <a:prstGeom prst="rect">
            <a:avLst/>
          </a:prstGeom>
          <a:noFill/>
        </p:spPr>
        <p:txBody>
          <a:bodyPr wrap="square" lIns="73152" rIns="73152" tIns="18288" bIns="18288" anchor="t">
            <a:noAutofit/>
          </a:bodyPr>
          <a:lstStyle/>
          <a:p>
            <a:pPr algn="l">
              <a:lnSpc>
                <a:spcPct val="112000"/>
              </a:lnSpc>
              <a:spcAft>
                <a:spcPts val="0"/>
              </a:spcAft>
            </a:pPr>
            <a:r>
              <a:rPr sz="1700" b="1" i="0">
                <a:solidFill>
                  <a:srgbClr val="1F3A5F"/>
                </a:solidFill>
                <a:latin typeface="Arial"/>
                <a:ea typeface="微软雅黑"/>
                <a:cs typeface="Arial"/>
              </a:rPr>
              <a:t>台账能否代表需求？</a:t>
            </a:r>
          </a:p>
        </p:txBody>
      </p:sp>
      <p:sp>
        <p:nvSpPr>
          <p:cNvPr id="23" name="Rectangle 22"/>
          <p:cNvSpPr/>
          <p:nvPr/>
        </p:nvSpPr>
        <p:spPr>
          <a:xfrm>
            <a:off x="4457700" y="4361688"/>
            <a:ext cx="3273552" cy="18288"/>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4" name="TextBox 23"/>
          <p:cNvSpPr txBox="1"/>
          <p:nvPr/>
        </p:nvSpPr>
        <p:spPr>
          <a:xfrm>
            <a:off x="4457700" y="4453128"/>
            <a:ext cx="3273552" cy="1188720"/>
          </a:xfrm>
          <a:prstGeom prst="rect">
            <a:avLst/>
          </a:prstGeom>
          <a:noFill/>
        </p:spPr>
        <p:txBody>
          <a:bodyPr wrap="square" lIns="73152" rIns="73152" tIns="73152" bIns="73152" anchor="t">
            <a:noAutofit/>
          </a:bodyPr>
          <a:lstStyle/>
          <a:p>
            <a:pPr algn="l">
              <a:lnSpc>
                <a:spcPct val="112000"/>
              </a:lnSpc>
              <a:spcAft>
                <a:spcPts val="0"/>
              </a:spcAft>
            </a:pPr>
            <a:r>
              <a:rPr sz="1600" b="0" i="0">
                <a:solidFill>
                  <a:srgbClr val="222222"/>
                </a:solidFill>
                <a:latin typeface="Arial"/>
                <a:ea typeface="微软雅黑"/>
                <a:cs typeface="Arial"/>
              </a:rPr>
              <a:t>满载班次的台账只记录“坐上车的人”，真实需求被座位数截住，形成删失</a:t>
            </a:r>
          </a:p>
        </p:txBody>
      </p:sp>
      <p:sp>
        <p:nvSpPr>
          <p:cNvPr id="25" name="Rectangle 24"/>
          <p:cNvSpPr/>
          <p:nvPr/>
        </p:nvSpPr>
        <p:spPr>
          <a:xfrm>
            <a:off x="4457700" y="5760720"/>
            <a:ext cx="2194560" cy="36576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6" name="TextBox 25"/>
          <p:cNvSpPr txBox="1"/>
          <p:nvPr/>
        </p:nvSpPr>
        <p:spPr>
          <a:xfrm>
            <a:off x="4457700" y="5760720"/>
            <a:ext cx="2194560" cy="365760"/>
          </a:xfrm>
          <a:prstGeom prst="rect">
            <a:avLst/>
          </a:prstGeom>
          <a:noFill/>
        </p:spPr>
        <p:txBody>
          <a:bodyPr wrap="square" lIns="73152" rIns="73152" tIns="18288" bIns="18288" anchor="ctr">
            <a:noAutofit/>
          </a:bodyPr>
          <a:lstStyle/>
          <a:p>
            <a:pPr algn="ctr">
              <a:lnSpc>
                <a:spcPct val="112000"/>
              </a:lnSpc>
              <a:spcAft>
                <a:spcPts val="0"/>
              </a:spcAft>
            </a:pPr>
            <a:r>
              <a:rPr sz="1300" b="1" i="0">
                <a:solidFill>
                  <a:srgbClr val="2A9D8F"/>
                </a:solidFill>
                <a:latin typeface="Arial"/>
                <a:ea typeface="微软雅黑"/>
                <a:cs typeface="Arial"/>
              </a:rPr>
              <a:t>→ 对应 RQ1、RQ2</a:t>
            </a:r>
          </a:p>
        </p:txBody>
      </p:sp>
      <p:sp>
        <p:nvSpPr>
          <p:cNvPr id="27" name="Rectangle 26"/>
          <p:cNvSpPr/>
          <p:nvPr/>
        </p:nvSpPr>
        <p:spPr>
          <a:xfrm>
            <a:off x="8092440" y="2788920"/>
            <a:ext cx="3639312" cy="3520440"/>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8" name="Rectangle 27"/>
          <p:cNvSpPr/>
          <p:nvPr/>
        </p:nvSpPr>
        <p:spPr>
          <a:xfrm>
            <a:off x="8092440" y="2788920"/>
            <a:ext cx="3639312" cy="7315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9" name="TextBox 28"/>
          <p:cNvSpPr txBox="1"/>
          <p:nvPr/>
        </p:nvSpPr>
        <p:spPr>
          <a:xfrm>
            <a:off x="8275320" y="2990088"/>
            <a:ext cx="1097280" cy="274320"/>
          </a:xfrm>
          <a:prstGeom prst="rect">
            <a:avLst/>
          </a:prstGeom>
          <a:noFill/>
        </p:spPr>
        <p:txBody>
          <a:bodyPr wrap="square" lIns="73152" rIns="73152" tIns="18288" bIns="18288" anchor="t">
            <a:noAutofit/>
          </a:bodyPr>
          <a:lstStyle/>
          <a:p>
            <a:pPr algn="l">
              <a:lnSpc>
                <a:spcPct val="112000"/>
              </a:lnSpc>
              <a:spcAft>
                <a:spcPts val="0"/>
              </a:spcAft>
            </a:pPr>
            <a:r>
              <a:rPr sz="1200" b="0" i="0">
                <a:solidFill>
                  <a:srgbClr val="6C757D"/>
                </a:solidFill>
                <a:latin typeface="Arial"/>
                <a:ea typeface="微软雅黑"/>
                <a:cs typeface="Arial"/>
              </a:rPr>
              <a:t>难题三</a:t>
            </a:r>
          </a:p>
        </p:txBody>
      </p:sp>
      <p:sp>
        <p:nvSpPr>
          <p:cNvPr id="30" name="TextBox 29"/>
          <p:cNvSpPr txBox="1"/>
          <p:nvPr/>
        </p:nvSpPr>
        <p:spPr>
          <a:xfrm>
            <a:off x="8275320" y="3172968"/>
            <a:ext cx="3273552" cy="731520"/>
          </a:xfrm>
          <a:prstGeom prst="rect">
            <a:avLst/>
          </a:prstGeom>
          <a:noFill/>
        </p:spPr>
        <p:txBody>
          <a:bodyPr wrap="square" lIns="73152" rIns="73152" tIns="73152" bIns="73152" anchor="t">
            <a:noAutofit/>
          </a:bodyPr>
          <a:lstStyle/>
          <a:p>
            <a:pPr algn="l">
              <a:lnSpc>
                <a:spcPct val="112000"/>
              </a:lnSpc>
              <a:spcAft>
                <a:spcPts val="0"/>
              </a:spcAft>
            </a:pPr>
            <a:r>
              <a:rPr sz="3000" b="1" i="0">
                <a:solidFill>
                  <a:srgbClr val="E76F51"/>
                </a:solidFill>
                <a:latin typeface="Arial"/>
                <a:ea typeface="微软雅黑"/>
                <a:cs typeface="Arial"/>
              </a:rPr>
              <a:t>分工</a:t>
            </a:r>
          </a:p>
        </p:txBody>
      </p:sp>
      <p:sp>
        <p:nvSpPr>
          <p:cNvPr id="31" name="TextBox 30"/>
          <p:cNvSpPr txBox="1"/>
          <p:nvPr/>
        </p:nvSpPr>
        <p:spPr>
          <a:xfrm>
            <a:off x="8275320" y="3904487"/>
            <a:ext cx="3273552" cy="411480"/>
          </a:xfrm>
          <a:prstGeom prst="rect">
            <a:avLst/>
          </a:prstGeom>
          <a:noFill/>
        </p:spPr>
        <p:txBody>
          <a:bodyPr wrap="square" lIns="73152" rIns="73152" tIns="18288" bIns="18288" anchor="t">
            <a:noAutofit/>
          </a:bodyPr>
          <a:lstStyle/>
          <a:p>
            <a:pPr algn="l">
              <a:lnSpc>
                <a:spcPct val="112000"/>
              </a:lnSpc>
              <a:spcAft>
                <a:spcPts val="0"/>
              </a:spcAft>
            </a:pPr>
            <a:r>
              <a:rPr sz="1700" b="1" i="0">
                <a:solidFill>
                  <a:srgbClr val="1F3A5F"/>
                </a:solidFill>
                <a:latin typeface="Arial"/>
                <a:ea typeface="微软雅黑"/>
                <a:cs typeface="Arial"/>
              </a:rPr>
              <a:t>固定班与机动车如何分工？</a:t>
            </a:r>
          </a:p>
        </p:txBody>
      </p:sp>
      <p:sp>
        <p:nvSpPr>
          <p:cNvPr id="32" name="Rectangle 31"/>
          <p:cNvSpPr/>
          <p:nvPr/>
        </p:nvSpPr>
        <p:spPr>
          <a:xfrm>
            <a:off x="8275320" y="4361688"/>
            <a:ext cx="3273552" cy="18288"/>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3" name="TextBox 32"/>
          <p:cNvSpPr txBox="1"/>
          <p:nvPr/>
        </p:nvSpPr>
        <p:spPr>
          <a:xfrm>
            <a:off x="8275320" y="4453128"/>
            <a:ext cx="3273552" cy="1188720"/>
          </a:xfrm>
          <a:prstGeom prst="rect">
            <a:avLst/>
          </a:prstGeom>
          <a:noFill/>
        </p:spPr>
        <p:txBody>
          <a:bodyPr wrap="square" lIns="73152" rIns="73152" tIns="73152" bIns="73152" anchor="t">
            <a:noAutofit/>
          </a:bodyPr>
          <a:lstStyle/>
          <a:p>
            <a:pPr algn="l">
              <a:lnSpc>
                <a:spcPct val="112000"/>
              </a:lnSpc>
              <a:spcAft>
                <a:spcPts val="0"/>
              </a:spcAft>
            </a:pPr>
            <a:r>
              <a:rPr sz="1600" b="0" i="0">
                <a:solidFill>
                  <a:srgbClr val="222222"/>
                </a:solidFill>
                <a:latin typeface="Arial"/>
                <a:ea typeface="微软雅黑"/>
                <a:cs typeface="Arial"/>
              </a:rPr>
              <a:t>固定时刻表优化与机动加班分开讨论，缺少以预测为纽带的分工</a:t>
            </a:r>
          </a:p>
        </p:txBody>
      </p:sp>
      <p:sp>
        <p:nvSpPr>
          <p:cNvPr id="34" name="Rectangle 33"/>
          <p:cNvSpPr/>
          <p:nvPr/>
        </p:nvSpPr>
        <p:spPr>
          <a:xfrm>
            <a:off x="8275320" y="5760720"/>
            <a:ext cx="2194560" cy="36576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5" name="TextBox 34"/>
          <p:cNvSpPr txBox="1"/>
          <p:nvPr/>
        </p:nvSpPr>
        <p:spPr>
          <a:xfrm>
            <a:off x="8275320" y="5760720"/>
            <a:ext cx="2194560" cy="365760"/>
          </a:xfrm>
          <a:prstGeom prst="rect">
            <a:avLst/>
          </a:prstGeom>
          <a:noFill/>
        </p:spPr>
        <p:txBody>
          <a:bodyPr wrap="square" lIns="73152" rIns="73152" tIns="18288" bIns="18288" anchor="ctr">
            <a:noAutofit/>
          </a:bodyPr>
          <a:lstStyle/>
          <a:p>
            <a:pPr algn="ctr">
              <a:lnSpc>
                <a:spcPct val="112000"/>
              </a:lnSpc>
              <a:spcAft>
                <a:spcPts val="0"/>
              </a:spcAft>
            </a:pPr>
            <a:r>
              <a:rPr sz="1300" b="1" i="0">
                <a:solidFill>
                  <a:srgbClr val="E76F51"/>
                </a:solidFill>
                <a:latin typeface="Arial"/>
                <a:ea typeface="微软雅黑"/>
                <a:cs typeface="Arial"/>
              </a:rPr>
              <a:t>→ 对应 RQ3、RQ4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二、文献脉络与研究缺口</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文献沿一条连贯的逻辑链展开，并留下四个相互关联的缺口</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5 / 20</a:t>
            </a:r>
          </a:p>
        </p:txBody>
      </p:sp>
      <p:sp>
        <p:nvSpPr>
          <p:cNvPr id="6" name="Pentagon 5"/>
          <p:cNvSpPr/>
          <p:nvPr/>
        </p:nvSpPr>
        <p:spPr>
          <a:xfrm>
            <a:off x="457200" y="1463040"/>
            <a:ext cx="2211019" cy="685800"/>
          </a:xfrm>
          <a:prstGeom prst="homePlat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500" b="1" i="0">
                <a:solidFill>
                  <a:srgbClr val="FFFFFF"/>
                </a:solidFill>
                <a:latin typeface="Arial"/>
                <a:ea typeface="微软雅黑"/>
                <a:cs typeface="Arial"/>
              </a:rPr>
              <a:t>需求的时间结构</a:t>
            </a:r>
          </a:p>
        </p:txBody>
      </p:sp>
      <p:sp>
        <p:nvSpPr>
          <p:cNvPr id="7" name="Chevron 6"/>
          <p:cNvSpPr/>
          <p:nvPr/>
        </p:nvSpPr>
        <p:spPr>
          <a:xfrm>
            <a:off x="2723083" y="1463040"/>
            <a:ext cx="2211019" cy="685800"/>
          </a:xfrm>
          <a:prstGeom prst="chevron">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500" b="1" i="0">
                <a:solidFill>
                  <a:srgbClr val="FFFFFF"/>
                </a:solidFill>
                <a:latin typeface="Arial"/>
                <a:ea typeface="微软雅黑"/>
                <a:cs typeface="Arial"/>
              </a:rPr>
              <a:t>权重识别</a:t>
            </a:r>
          </a:p>
        </p:txBody>
      </p:sp>
      <p:sp>
        <p:nvSpPr>
          <p:cNvPr id="8" name="Chevron 7"/>
          <p:cNvSpPr/>
          <p:nvPr/>
        </p:nvSpPr>
        <p:spPr>
          <a:xfrm>
            <a:off x="4988966" y="1463040"/>
            <a:ext cx="2211019" cy="685800"/>
          </a:xfrm>
          <a:prstGeom prst="chevron">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500" b="1" i="0">
                <a:solidFill>
                  <a:srgbClr val="FFFFFF"/>
                </a:solidFill>
                <a:latin typeface="Arial"/>
                <a:ea typeface="微软雅黑"/>
                <a:cs typeface="Arial"/>
              </a:rPr>
              <a:t>删失还原</a:t>
            </a:r>
          </a:p>
        </p:txBody>
      </p:sp>
      <p:sp>
        <p:nvSpPr>
          <p:cNvPr id="9" name="Chevron 8"/>
          <p:cNvSpPr/>
          <p:nvPr/>
        </p:nvSpPr>
        <p:spPr>
          <a:xfrm>
            <a:off x="7254849" y="1463040"/>
            <a:ext cx="2211019" cy="685800"/>
          </a:xfrm>
          <a:prstGeom prst="chevron">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500" b="1" i="0">
                <a:solidFill>
                  <a:srgbClr val="FFFFFF"/>
                </a:solidFill>
                <a:latin typeface="Arial"/>
                <a:ea typeface="微软雅黑"/>
                <a:cs typeface="Arial"/>
              </a:rPr>
              <a:t>概率预测</a:t>
            </a:r>
          </a:p>
        </p:txBody>
      </p:sp>
      <p:sp>
        <p:nvSpPr>
          <p:cNvPr id="10" name="Chevron 9"/>
          <p:cNvSpPr/>
          <p:nvPr/>
        </p:nvSpPr>
        <p:spPr>
          <a:xfrm>
            <a:off x="9520732" y="1463040"/>
            <a:ext cx="2211019" cy="685800"/>
          </a:xfrm>
          <a:prstGeom prst="chevron">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500" b="1" i="0">
                <a:solidFill>
                  <a:srgbClr val="FFFFFF"/>
                </a:solidFill>
                <a:latin typeface="Arial"/>
                <a:ea typeface="微软雅黑"/>
                <a:cs typeface="Arial"/>
              </a:rPr>
              <a:t>两层供给与预测衔接</a:t>
            </a:r>
          </a:p>
        </p:txBody>
      </p:sp>
      <p:sp>
        <p:nvSpPr>
          <p:cNvPr id="11" name="TextBox 10"/>
          <p:cNvSpPr txBox="1"/>
          <p:nvPr/>
        </p:nvSpPr>
        <p:spPr>
          <a:xfrm>
            <a:off x="475488" y="2240280"/>
            <a:ext cx="2174443" cy="182880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个人出行在日与日之间既有习惯也有变异</a:t>
            </a:r>
            <a:r>
              <a:rPr sz="1400" b="0" i="0" baseline="30000">
                <a:solidFill>
                  <a:srgbClr val="222222"/>
                </a:solidFill>
                <a:latin typeface="Arial"/>
                <a:ea typeface="微软雅黑"/>
                <a:cs typeface="Arial"/>
              </a:rPr>
              <a:t>[13]</a:t>
            </a:r>
            <a:r>
              <a:rPr sz="1400" b="0" i="0">
                <a:solidFill>
                  <a:srgbClr val="222222"/>
                </a:solidFill>
                <a:latin typeface="Arial"/>
                <a:ea typeface="微软雅黑"/>
                <a:cs typeface="Arial"/>
              </a:rPr>
              <a:t>；定期集市是农村社会经济结构的基本单元</a:t>
            </a:r>
            <a:r>
              <a:rPr sz="1400" b="0" i="0" baseline="30000">
                <a:solidFill>
                  <a:srgbClr val="222222"/>
                </a:solidFill>
                <a:latin typeface="Arial"/>
                <a:ea typeface="微软雅黑"/>
                <a:cs typeface="Arial"/>
              </a:rPr>
              <a:t>[14]</a:t>
            </a:r>
            <a:r>
              <a:rPr sz="1400" b="0" i="0">
                <a:solidFill>
                  <a:srgbClr val="222222"/>
                </a:solidFill>
                <a:latin typeface="Arial"/>
                <a:ea typeface="微软雅黑"/>
                <a:cs typeface="Arial"/>
              </a:rPr>
              <a:t>，其对公交客流的影响需数据检验</a:t>
            </a:r>
          </a:p>
        </p:txBody>
      </p:sp>
      <p:sp>
        <p:nvSpPr>
          <p:cNvPr id="12" name="TextBox 11"/>
          <p:cNvSpPr txBox="1"/>
          <p:nvPr/>
        </p:nvSpPr>
        <p:spPr>
          <a:xfrm>
            <a:off x="2741371" y="2240280"/>
            <a:ext cx="2174443" cy="182880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常用熵权法、灰色关联等客观赋权</a:t>
            </a:r>
            <a:r>
              <a:rPr sz="1400" b="0" i="0" baseline="30000">
                <a:solidFill>
                  <a:srgbClr val="222222"/>
                </a:solidFill>
                <a:latin typeface="Arial"/>
                <a:ea typeface="微软雅黑"/>
                <a:cs typeface="Arial"/>
              </a:rPr>
              <a:t>[15]</a:t>
            </a:r>
            <a:r>
              <a:rPr sz="1400" b="0" i="0">
                <a:solidFill>
                  <a:srgbClr val="222222"/>
                </a:solidFill>
                <a:latin typeface="Arial"/>
                <a:ea typeface="微软雅黑"/>
                <a:cs typeface="Arial"/>
              </a:rPr>
              <a:t>，按离散程度或序列相似程度赋权，不衡量对客流变化的解释力</a:t>
            </a:r>
          </a:p>
        </p:txBody>
      </p:sp>
      <p:sp>
        <p:nvSpPr>
          <p:cNvPr id="13" name="TextBox 12"/>
          <p:cNvSpPr txBox="1"/>
          <p:nvPr/>
        </p:nvSpPr>
        <p:spPr>
          <a:xfrm>
            <a:off x="5007254" y="2240280"/>
            <a:ext cx="2174443" cy="182880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收益管理早已指出：售罄后的销售量会低估真实需求，需要“需求还原”</a:t>
            </a:r>
            <a:r>
              <a:rPr sz="1400" b="0" i="0" baseline="30000">
                <a:solidFill>
                  <a:srgbClr val="222222"/>
                </a:solidFill>
                <a:latin typeface="Arial"/>
                <a:ea typeface="微软雅黑"/>
                <a:cs typeface="Arial"/>
              </a:rPr>
              <a:t>[16]</a:t>
            </a:r>
          </a:p>
        </p:txBody>
      </p:sp>
      <p:sp>
        <p:nvSpPr>
          <p:cNvPr id="14" name="TextBox 13"/>
          <p:cNvSpPr txBox="1"/>
          <p:nvPr/>
        </p:nvSpPr>
        <p:spPr>
          <a:xfrm>
            <a:off x="7273137" y="2240280"/>
            <a:ext cx="2174443" cy="182880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国内研究多针对城市地铁和公交的短时客流</a:t>
            </a:r>
            <a:r>
              <a:rPr sz="1400" b="0" i="0" baseline="30000">
                <a:solidFill>
                  <a:srgbClr val="222222"/>
                </a:solidFill>
                <a:latin typeface="Arial"/>
                <a:ea typeface="微软雅黑"/>
                <a:cs typeface="Arial"/>
              </a:rPr>
              <a:t>[17,18]</a:t>
            </a:r>
            <a:r>
              <a:rPr sz="1400" b="0" i="0">
                <a:solidFill>
                  <a:srgbClr val="222222"/>
                </a:solidFill>
                <a:latin typeface="Arial"/>
                <a:ea typeface="微软雅黑"/>
                <a:cs typeface="Arial"/>
              </a:rPr>
              <a:t>，县域班次级的小计数预测较少</a:t>
            </a:r>
          </a:p>
        </p:txBody>
      </p:sp>
      <p:sp>
        <p:nvSpPr>
          <p:cNvPr id="15" name="TextBox 14"/>
          <p:cNvSpPr txBox="1"/>
          <p:nvPr/>
        </p:nvSpPr>
        <p:spPr>
          <a:xfrm>
            <a:off x="9539020" y="2240280"/>
            <a:ext cx="2174443" cy="182880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222222"/>
                </a:solidFill>
                <a:latin typeface="Arial"/>
                <a:ea typeface="微软雅黑"/>
                <a:cs typeface="Arial"/>
              </a:rPr>
              <a:t>半柔性公交：固定骨架 + 有限柔性</a:t>
            </a:r>
            <a:r>
              <a:rPr sz="1400" b="0" i="0" baseline="30000">
                <a:solidFill>
                  <a:srgbClr val="222222"/>
                </a:solidFill>
                <a:latin typeface="Arial"/>
                <a:ea typeface="微软雅黑"/>
                <a:cs typeface="Arial"/>
              </a:rPr>
              <a:t>[19]</a:t>
            </a:r>
            <a:r>
              <a:rPr sz="1400" b="0" i="0">
                <a:solidFill>
                  <a:srgbClr val="222222"/>
                </a:solidFill>
                <a:latin typeface="Arial"/>
                <a:ea typeface="微软雅黑"/>
                <a:cs typeface="Arial"/>
              </a:rPr>
              <a:t>；农村需求响应调度刚受关注</a:t>
            </a:r>
            <a:r>
              <a:rPr sz="1400" b="0" i="0" baseline="30000">
                <a:solidFill>
                  <a:srgbClr val="222222"/>
                </a:solidFill>
                <a:latin typeface="Arial"/>
                <a:ea typeface="微软雅黑"/>
                <a:cs typeface="Arial"/>
              </a:rPr>
              <a:t>[20]</a:t>
            </a:r>
            <a:r>
              <a:rPr sz="1400" b="0" i="0">
                <a:solidFill>
                  <a:srgbClr val="222222"/>
                </a:solidFill>
                <a:latin typeface="Arial"/>
                <a:ea typeface="微软雅黑"/>
                <a:cs typeface="Arial"/>
              </a:rPr>
              <a:t>；两步法忽略预测误差</a:t>
            </a:r>
            <a:r>
              <a:rPr sz="1400" b="0" i="0" baseline="30000">
                <a:solidFill>
                  <a:srgbClr val="222222"/>
                </a:solidFill>
                <a:latin typeface="Arial"/>
                <a:ea typeface="微软雅黑"/>
                <a:cs typeface="Arial"/>
              </a:rPr>
              <a:t>[21]</a:t>
            </a:r>
          </a:p>
        </p:txBody>
      </p:sp>
      <p:sp>
        <p:nvSpPr>
          <p:cNvPr id="16" name="TextBox 15"/>
          <p:cNvSpPr txBox="1"/>
          <p:nvPr/>
        </p:nvSpPr>
        <p:spPr>
          <a:xfrm>
            <a:off x="457200" y="4160520"/>
            <a:ext cx="5486400" cy="365760"/>
          </a:xfrm>
          <a:prstGeom prst="rect">
            <a:avLst/>
          </a:prstGeom>
          <a:noFill/>
        </p:spPr>
        <p:txBody>
          <a:bodyPr wrap="square" lIns="73152" rIns="73152" tIns="18288" bIns="18288" anchor="t">
            <a:noAutofit/>
          </a:bodyPr>
          <a:lstStyle/>
          <a:p>
            <a:pPr algn="l">
              <a:lnSpc>
                <a:spcPct val="112000"/>
              </a:lnSpc>
              <a:spcAft>
                <a:spcPts val="0"/>
              </a:spcAft>
            </a:pPr>
            <a:r>
              <a:rPr sz="1600" b="1" i="0">
                <a:solidFill>
                  <a:srgbClr val="1F3A5F"/>
                </a:solidFill>
                <a:latin typeface="Arial"/>
                <a:ea typeface="微软雅黑"/>
                <a:cs typeface="Arial"/>
              </a:rPr>
              <a:t>四个相互关联的缺口</a:t>
            </a:r>
          </a:p>
        </p:txBody>
      </p:sp>
      <p:sp>
        <p:nvSpPr>
          <p:cNvPr id="17" name="Rectangle 16"/>
          <p:cNvSpPr/>
          <p:nvPr/>
        </p:nvSpPr>
        <p:spPr>
          <a:xfrm>
            <a:off x="457200" y="4553712"/>
            <a:ext cx="2578608" cy="960120"/>
          </a:xfrm>
          <a:prstGeom prst="rect">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8" name="TextBox 17"/>
          <p:cNvSpPr txBox="1"/>
          <p:nvPr/>
        </p:nvSpPr>
        <p:spPr>
          <a:xfrm>
            <a:off x="502920" y="4553712"/>
            <a:ext cx="2487168" cy="960120"/>
          </a:xfrm>
          <a:prstGeom prst="rect">
            <a:avLst/>
          </a:prstGeom>
          <a:noFill/>
        </p:spPr>
        <p:txBody>
          <a:bodyPr wrap="square" lIns="73152" rIns="73152" tIns="73152" bIns="73152" anchor="ctr">
            <a:noAutofit/>
          </a:bodyPr>
          <a:lstStyle/>
          <a:p>
            <a:pPr algn="ctr">
              <a:lnSpc>
                <a:spcPct val="112000"/>
              </a:lnSpc>
              <a:spcAft>
                <a:spcPts val="0"/>
              </a:spcAft>
            </a:pPr>
            <a:r>
              <a:rPr sz="1500" b="1" i="0">
                <a:solidFill>
                  <a:srgbClr val="1F3A5F"/>
                </a:solidFill>
                <a:latin typeface="Arial"/>
                <a:ea typeface="微软雅黑"/>
                <a:cs typeface="Arial"/>
              </a:rPr>
              <a:t>① 多重节律的相对权重缺少同时估计</a:t>
            </a:r>
          </a:p>
        </p:txBody>
      </p:sp>
      <p:cxnSp>
        <p:nvCxnSpPr>
          <p:cNvPr id="19" name="Connector 18"/>
          <p:cNvCxnSpPr/>
          <p:nvPr/>
        </p:nvCxnSpPr>
        <p:spPr>
          <a:xfrm>
            <a:off x="3072384" y="5029200"/>
            <a:ext cx="246888" cy="0"/>
          </a:xfrm>
          <a:prstGeom prst="line">
            <a:avLst/>
          </a:prstGeom>
          <a:ln w="1905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746504" y="5532120"/>
            <a:ext cx="0" cy="301752"/>
          </a:xfrm>
          <a:prstGeom prst="line">
            <a:avLst/>
          </a:prstGeom>
          <a:ln w="19050">
            <a:solidFill>
              <a:srgbClr val="2A9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1014984" y="5870448"/>
            <a:ext cx="1463040" cy="41148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2" name="TextBox 21"/>
          <p:cNvSpPr txBox="1"/>
          <p:nvPr/>
        </p:nvSpPr>
        <p:spPr>
          <a:xfrm>
            <a:off x="1014984" y="5870448"/>
            <a:ext cx="1463040" cy="411480"/>
          </a:xfrm>
          <a:prstGeom prst="rect">
            <a:avLst/>
          </a:prstGeom>
          <a:noFill/>
        </p:spPr>
        <p:txBody>
          <a:bodyPr wrap="square" lIns="73152" rIns="73152" tIns="18288" bIns="18288" anchor="ctr">
            <a:noAutofit/>
          </a:bodyPr>
          <a:lstStyle/>
          <a:p>
            <a:pPr algn="ctr">
              <a:lnSpc>
                <a:spcPct val="112000"/>
              </a:lnSpc>
              <a:spcAft>
                <a:spcPts val="0"/>
              </a:spcAft>
            </a:pPr>
            <a:r>
              <a:rPr sz="1400" b="1" i="0">
                <a:solidFill>
                  <a:srgbClr val="FFFFFF"/>
                </a:solidFill>
                <a:latin typeface="Arial"/>
                <a:ea typeface="微软雅黑"/>
                <a:cs typeface="Arial"/>
              </a:rPr>
              <a:t>RQ1</a:t>
            </a:r>
          </a:p>
        </p:txBody>
      </p:sp>
      <p:sp>
        <p:nvSpPr>
          <p:cNvPr id="23" name="Rectangle 22"/>
          <p:cNvSpPr/>
          <p:nvPr/>
        </p:nvSpPr>
        <p:spPr>
          <a:xfrm>
            <a:off x="3355848" y="4553712"/>
            <a:ext cx="2578608" cy="960120"/>
          </a:xfrm>
          <a:prstGeom prst="rect">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TextBox 23"/>
          <p:cNvSpPr txBox="1"/>
          <p:nvPr/>
        </p:nvSpPr>
        <p:spPr>
          <a:xfrm>
            <a:off x="3401568" y="4553712"/>
            <a:ext cx="2487168" cy="960120"/>
          </a:xfrm>
          <a:prstGeom prst="rect">
            <a:avLst/>
          </a:prstGeom>
          <a:noFill/>
        </p:spPr>
        <p:txBody>
          <a:bodyPr wrap="square" lIns="73152" rIns="73152" tIns="73152" bIns="73152" anchor="ctr">
            <a:noAutofit/>
          </a:bodyPr>
          <a:lstStyle/>
          <a:p>
            <a:pPr algn="ctr">
              <a:lnSpc>
                <a:spcPct val="112000"/>
              </a:lnSpc>
              <a:spcAft>
                <a:spcPts val="0"/>
              </a:spcAft>
            </a:pPr>
            <a:r>
              <a:rPr sz="1500" b="1" i="0">
                <a:solidFill>
                  <a:srgbClr val="1F3A5F"/>
                </a:solidFill>
                <a:latin typeface="Arial"/>
                <a:ea typeface="微软雅黑"/>
                <a:cs typeface="Arial"/>
              </a:rPr>
              <a:t>② 删失需求在城乡公交中没有被处理</a:t>
            </a:r>
          </a:p>
        </p:txBody>
      </p:sp>
      <p:cxnSp>
        <p:nvCxnSpPr>
          <p:cNvPr id="25" name="Connector 24"/>
          <p:cNvCxnSpPr/>
          <p:nvPr/>
        </p:nvCxnSpPr>
        <p:spPr>
          <a:xfrm>
            <a:off x="5971032" y="5029200"/>
            <a:ext cx="246888" cy="0"/>
          </a:xfrm>
          <a:prstGeom prst="line">
            <a:avLst/>
          </a:prstGeom>
          <a:ln w="1905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4645152" y="5532120"/>
            <a:ext cx="0" cy="301752"/>
          </a:xfrm>
          <a:prstGeom prst="line">
            <a:avLst/>
          </a:prstGeom>
          <a:ln w="19050">
            <a:solidFill>
              <a:srgbClr val="2A9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913632" y="5870448"/>
            <a:ext cx="1463040" cy="41148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8" name="TextBox 27"/>
          <p:cNvSpPr txBox="1"/>
          <p:nvPr/>
        </p:nvSpPr>
        <p:spPr>
          <a:xfrm>
            <a:off x="3913632" y="5870448"/>
            <a:ext cx="1463040" cy="411480"/>
          </a:xfrm>
          <a:prstGeom prst="rect">
            <a:avLst/>
          </a:prstGeom>
          <a:noFill/>
        </p:spPr>
        <p:txBody>
          <a:bodyPr wrap="square" lIns="73152" rIns="73152" tIns="18288" bIns="18288" anchor="ctr">
            <a:noAutofit/>
          </a:bodyPr>
          <a:lstStyle/>
          <a:p>
            <a:pPr algn="ctr">
              <a:lnSpc>
                <a:spcPct val="112000"/>
              </a:lnSpc>
              <a:spcAft>
                <a:spcPts val="0"/>
              </a:spcAft>
            </a:pPr>
            <a:r>
              <a:rPr sz="1400" b="1" i="0">
                <a:solidFill>
                  <a:srgbClr val="FFFFFF"/>
                </a:solidFill>
                <a:latin typeface="Arial"/>
                <a:ea typeface="微软雅黑"/>
                <a:cs typeface="Arial"/>
              </a:rPr>
              <a:t>RQ1、RQ2</a:t>
            </a:r>
          </a:p>
        </p:txBody>
      </p:sp>
      <p:sp>
        <p:nvSpPr>
          <p:cNvPr id="29" name="Rectangle 28"/>
          <p:cNvSpPr/>
          <p:nvPr/>
        </p:nvSpPr>
        <p:spPr>
          <a:xfrm>
            <a:off x="6254496" y="4553712"/>
            <a:ext cx="2578608" cy="960120"/>
          </a:xfrm>
          <a:prstGeom prst="rect">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0" name="TextBox 29"/>
          <p:cNvSpPr txBox="1"/>
          <p:nvPr/>
        </p:nvSpPr>
        <p:spPr>
          <a:xfrm>
            <a:off x="6300216" y="4553712"/>
            <a:ext cx="2487168" cy="960120"/>
          </a:xfrm>
          <a:prstGeom prst="rect">
            <a:avLst/>
          </a:prstGeom>
          <a:noFill/>
        </p:spPr>
        <p:txBody>
          <a:bodyPr wrap="square" lIns="73152" rIns="73152" tIns="73152" bIns="73152" anchor="ctr">
            <a:noAutofit/>
          </a:bodyPr>
          <a:lstStyle/>
          <a:p>
            <a:pPr algn="ctr">
              <a:lnSpc>
                <a:spcPct val="112000"/>
              </a:lnSpc>
              <a:spcAft>
                <a:spcPts val="0"/>
              </a:spcAft>
            </a:pPr>
            <a:r>
              <a:rPr sz="1500" b="1" i="0">
                <a:solidFill>
                  <a:srgbClr val="1F3A5F"/>
                </a:solidFill>
                <a:latin typeface="Arial"/>
                <a:ea typeface="微软雅黑"/>
                <a:cs typeface="Arial"/>
              </a:rPr>
              <a:t>③ 县域班次级概率预测缺位</a:t>
            </a:r>
          </a:p>
        </p:txBody>
      </p:sp>
      <p:cxnSp>
        <p:nvCxnSpPr>
          <p:cNvPr id="31" name="Connector 30"/>
          <p:cNvCxnSpPr/>
          <p:nvPr/>
        </p:nvCxnSpPr>
        <p:spPr>
          <a:xfrm>
            <a:off x="8869680" y="5029200"/>
            <a:ext cx="246888" cy="0"/>
          </a:xfrm>
          <a:prstGeom prst="line">
            <a:avLst/>
          </a:prstGeom>
          <a:ln w="1905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543800" y="5532120"/>
            <a:ext cx="0" cy="301752"/>
          </a:xfrm>
          <a:prstGeom prst="line">
            <a:avLst/>
          </a:prstGeom>
          <a:ln w="19050">
            <a:solidFill>
              <a:srgbClr val="2A9D8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6812280" y="5870448"/>
            <a:ext cx="1463040" cy="411480"/>
          </a:xfrm>
          <a:prstGeom prst="roundRect">
            <a:avLst>
              <a:gd name="adj" fmla="val 8000"/>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4" name="TextBox 33"/>
          <p:cNvSpPr txBox="1"/>
          <p:nvPr/>
        </p:nvSpPr>
        <p:spPr>
          <a:xfrm>
            <a:off x="6812280" y="5870448"/>
            <a:ext cx="1463040" cy="411480"/>
          </a:xfrm>
          <a:prstGeom prst="rect">
            <a:avLst/>
          </a:prstGeom>
          <a:noFill/>
        </p:spPr>
        <p:txBody>
          <a:bodyPr wrap="square" lIns="73152" rIns="73152" tIns="18288" bIns="18288" anchor="ctr">
            <a:noAutofit/>
          </a:bodyPr>
          <a:lstStyle/>
          <a:p>
            <a:pPr algn="ctr">
              <a:lnSpc>
                <a:spcPct val="112000"/>
              </a:lnSpc>
              <a:spcAft>
                <a:spcPts val="0"/>
              </a:spcAft>
            </a:pPr>
            <a:r>
              <a:rPr sz="1400" b="1" i="0">
                <a:solidFill>
                  <a:srgbClr val="FFFFFF"/>
                </a:solidFill>
                <a:latin typeface="Arial"/>
                <a:ea typeface="微软雅黑"/>
                <a:cs typeface="Arial"/>
              </a:rPr>
              <a:t>RQ2</a:t>
            </a:r>
          </a:p>
        </p:txBody>
      </p:sp>
      <p:sp>
        <p:nvSpPr>
          <p:cNvPr id="35" name="Rectangle 34"/>
          <p:cNvSpPr/>
          <p:nvPr/>
        </p:nvSpPr>
        <p:spPr>
          <a:xfrm>
            <a:off x="9153144" y="4553712"/>
            <a:ext cx="2578608" cy="960120"/>
          </a:xfrm>
          <a:prstGeom prst="rect">
            <a:avLst/>
          </a:prstGeom>
          <a:solidFill>
            <a:srgbClr val="FFFFFF"/>
          </a:solidFill>
          <a:ln w="12700">
            <a:solidFill>
              <a:srgbClr val="1F3A5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6" name="TextBox 35"/>
          <p:cNvSpPr txBox="1"/>
          <p:nvPr/>
        </p:nvSpPr>
        <p:spPr>
          <a:xfrm>
            <a:off x="9198864" y="4553712"/>
            <a:ext cx="2487168" cy="960120"/>
          </a:xfrm>
          <a:prstGeom prst="rect">
            <a:avLst/>
          </a:prstGeom>
          <a:noFill/>
        </p:spPr>
        <p:txBody>
          <a:bodyPr wrap="square" lIns="73152" rIns="73152" tIns="73152" bIns="73152" anchor="ctr">
            <a:noAutofit/>
          </a:bodyPr>
          <a:lstStyle/>
          <a:p>
            <a:pPr algn="ctr">
              <a:lnSpc>
                <a:spcPct val="112000"/>
              </a:lnSpc>
              <a:spcAft>
                <a:spcPts val="0"/>
              </a:spcAft>
            </a:pPr>
            <a:r>
              <a:rPr sz="1500" b="1" i="0">
                <a:solidFill>
                  <a:srgbClr val="1F3A5F"/>
                </a:solidFill>
                <a:latin typeface="Arial"/>
                <a:ea typeface="微软雅黑"/>
                <a:cs typeface="Arial"/>
              </a:rPr>
              <a:t>④ 固定层与柔性层缺少以预测为纽带的协同设计</a:t>
            </a:r>
          </a:p>
        </p:txBody>
      </p:sp>
      <p:cxnSp>
        <p:nvCxnSpPr>
          <p:cNvPr id="37" name="Connector 36"/>
          <p:cNvCxnSpPr/>
          <p:nvPr/>
        </p:nvCxnSpPr>
        <p:spPr>
          <a:xfrm>
            <a:off x="10442448" y="5532120"/>
            <a:ext cx="0" cy="301752"/>
          </a:xfrm>
          <a:prstGeom prst="line">
            <a:avLst/>
          </a:prstGeom>
          <a:ln w="19050">
            <a:solidFill>
              <a:srgbClr val="E76F5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9710928" y="5870448"/>
            <a:ext cx="1463040" cy="411480"/>
          </a:xfrm>
          <a:prstGeom prst="roundRect">
            <a:avLst>
              <a:gd name="adj" fmla="val 8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9" name="TextBox 38"/>
          <p:cNvSpPr txBox="1"/>
          <p:nvPr/>
        </p:nvSpPr>
        <p:spPr>
          <a:xfrm>
            <a:off x="9710928" y="5870448"/>
            <a:ext cx="1463040" cy="411480"/>
          </a:xfrm>
          <a:prstGeom prst="rect">
            <a:avLst/>
          </a:prstGeom>
          <a:noFill/>
        </p:spPr>
        <p:txBody>
          <a:bodyPr wrap="square" lIns="73152" rIns="73152" tIns="18288" bIns="18288" anchor="ctr">
            <a:noAutofit/>
          </a:bodyPr>
          <a:lstStyle/>
          <a:p>
            <a:pPr algn="ctr">
              <a:lnSpc>
                <a:spcPct val="112000"/>
              </a:lnSpc>
              <a:spcAft>
                <a:spcPts val="0"/>
              </a:spcAft>
            </a:pPr>
            <a:r>
              <a:rPr sz="1400" b="1" i="0">
                <a:solidFill>
                  <a:srgbClr val="FFFFFF"/>
                </a:solidFill>
                <a:latin typeface="Arial"/>
                <a:ea typeface="微软雅黑"/>
                <a:cs typeface="Arial"/>
              </a:rPr>
              <a:t>RQ3、RQ4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三、研究问题、假设与技术路线</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700" b="1" i="0">
                <a:solidFill>
                  <a:srgbClr val="1F3A5F"/>
                </a:solidFill>
                <a:latin typeface="Arial"/>
                <a:ea typeface="微软雅黑"/>
                <a:cs typeface="Arial"/>
              </a:rPr>
              <a:t>四个研究问题：前两个回答“需求是什么”，后两个回答“供给怎么配”</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6 / 20</a:t>
            </a:r>
          </a:p>
        </p:txBody>
      </p:sp>
      <p:sp>
        <p:nvSpPr>
          <p:cNvPr id="6" name="Rectangle 5"/>
          <p:cNvSpPr/>
          <p:nvPr/>
        </p:nvSpPr>
        <p:spPr>
          <a:xfrm>
            <a:off x="457200" y="1463040"/>
            <a:ext cx="502920" cy="1805939"/>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800" b="1" i="0">
                <a:solidFill>
                  <a:srgbClr val="FFFFFF"/>
                </a:solidFill>
                <a:latin typeface="Arial"/>
                <a:ea typeface="微软雅黑"/>
                <a:cs typeface="Arial"/>
              </a:rPr>
              <a:t>需</a:t>
            </a:r>
          </a:p>
          <a:p>
            <a:pPr algn="ctr">
              <a:lnSpc>
                <a:spcPct val="112000"/>
              </a:lnSpc>
            </a:pPr>
            <a:r>
              <a:rPr sz="1800" b="1" i="0">
                <a:solidFill>
                  <a:srgbClr val="FFFFFF"/>
                </a:solidFill>
                <a:latin typeface="Arial"/>
                <a:ea typeface="微软雅黑"/>
                <a:cs typeface="Arial"/>
              </a:rPr>
              <a:t>求</a:t>
            </a:r>
          </a:p>
        </p:txBody>
      </p:sp>
      <p:sp>
        <p:nvSpPr>
          <p:cNvPr id="7" name="Rectangle 6"/>
          <p:cNvSpPr/>
          <p:nvPr/>
        </p:nvSpPr>
        <p:spPr>
          <a:xfrm>
            <a:off x="1051560" y="1463040"/>
            <a:ext cx="3177540" cy="1805939"/>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 name="Rectangle 7"/>
          <p:cNvSpPr/>
          <p:nvPr/>
        </p:nvSpPr>
        <p:spPr>
          <a:xfrm>
            <a:off x="1051560" y="1463040"/>
            <a:ext cx="3177540" cy="4114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RQ1　节律权重</a:t>
            </a:r>
          </a:p>
        </p:txBody>
      </p:sp>
      <p:sp>
        <p:nvSpPr>
          <p:cNvPr id="9" name="TextBox 8"/>
          <p:cNvSpPr txBox="1"/>
          <p:nvPr/>
        </p:nvSpPr>
        <p:spPr>
          <a:xfrm>
            <a:off x="1106424" y="1929384"/>
            <a:ext cx="3067812" cy="1303019"/>
          </a:xfrm>
          <a:prstGeom prst="rect">
            <a:avLst/>
          </a:prstGeom>
          <a:noFill/>
        </p:spPr>
        <p:txBody>
          <a:bodyPr wrap="square" lIns="73152" rIns="73152" tIns="73152" bIns="73152" anchor="t">
            <a:noAutofit/>
          </a:bodyPr>
          <a:lstStyle/>
          <a:p>
            <a:pPr algn="l">
              <a:lnSpc>
                <a:spcPct val="112000"/>
              </a:lnSpc>
              <a:spcAft>
                <a:spcPts val="0"/>
              </a:spcAft>
            </a:pPr>
            <a:r>
              <a:rPr sz="1550" b="0" i="0">
                <a:solidFill>
                  <a:srgbClr val="222222"/>
                </a:solidFill>
                <a:latin typeface="Arial"/>
                <a:ea typeface="微软雅黑"/>
                <a:cs typeface="Arial"/>
              </a:rPr>
              <a:t>时段、周节律、校历、节假日、春运、集日、天气、季节八个因子族对班次客流的相对影响各有多大？集日是否是主要因素？</a:t>
            </a:r>
          </a:p>
        </p:txBody>
      </p:sp>
      <p:sp>
        <p:nvSpPr>
          <p:cNvPr id="10" name="Rectangle 9"/>
          <p:cNvSpPr/>
          <p:nvPr/>
        </p:nvSpPr>
        <p:spPr>
          <a:xfrm>
            <a:off x="4320540" y="1463040"/>
            <a:ext cx="3177540" cy="1805939"/>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Rectangle 10"/>
          <p:cNvSpPr/>
          <p:nvPr/>
        </p:nvSpPr>
        <p:spPr>
          <a:xfrm>
            <a:off x="4320540" y="1463040"/>
            <a:ext cx="3177540" cy="4114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RQ2　删失与预测</a:t>
            </a:r>
          </a:p>
        </p:txBody>
      </p:sp>
      <p:sp>
        <p:nvSpPr>
          <p:cNvPr id="12" name="TextBox 11"/>
          <p:cNvSpPr txBox="1"/>
          <p:nvPr/>
        </p:nvSpPr>
        <p:spPr>
          <a:xfrm>
            <a:off x="4375404" y="1929384"/>
            <a:ext cx="3067812" cy="1303019"/>
          </a:xfrm>
          <a:prstGeom prst="rect">
            <a:avLst/>
          </a:prstGeom>
          <a:noFill/>
        </p:spPr>
        <p:txBody>
          <a:bodyPr wrap="square" lIns="73152" rIns="73152" tIns="73152" bIns="73152" anchor="t">
            <a:noAutofit/>
          </a:bodyPr>
          <a:lstStyle/>
          <a:p>
            <a:pPr algn="l">
              <a:lnSpc>
                <a:spcPct val="112000"/>
              </a:lnSpc>
              <a:spcAft>
                <a:spcPts val="0"/>
              </a:spcAft>
            </a:pPr>
            <a:r>
              <a:rPr sz="1550" b="0" i="0">
                <a:solidFill>
                  <a:srgbClr val="222222"/>
                </a:solidFill>
                <a:latin typeface="Arial"/>
                <a:ea typeface="微软雅黑"/>
                <a:cs typeface="Arial"/>
              </a:rPr>
              <a:t>存在满载删失时，什么模型能给出班次级次日预测，并在春运、节假日和天气事件日保持可靠的预测区间？</a:t>
            </a:r>
          </a:p>
        </p:txBody>
      </p:sp>
      <p:sp>
        <p:nvSpPr>
          <p:cNvPr id="13" name="Rectangle 12"/>
          <p:cNvSpPr/>
          <p:nvPr/>
        </p:nvSpPr>
        <p:spPr>
          <a:xfrm>
            <a:off x="457200" y="3360420"/>
            <a:ext cx="502920" cy="1805939"/>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800" b="1" i="0">
                <a:solidFill>
                  <a:srgbClr val="FFFFFF"/>
                </a:solidFill>
                <a:latin typeface="Arial"/>
                <a:ea typeface="微软雅黑"/>
                <a:cs typeface="Arial"/>
              </a:rPr>
              <a:t>供</a:t>
            </a:r>
          </a:p>
          <a:p>
            <a:pPr algn="ctr">
              <a:lnSpc>
                <a:spcPct val="112000"/>
              </a:lnSpc>
            </a:pPr>
            <a:r>
              <a:rPr sz="1800" b="1" i="0">
                <a:solidFill>
                  <a:srgbClr val="FFFFFF"/>
                </a:solidFill>
                <a:latin typeface="Arial"/>
                <a:ea typeface="微软雅黑"/>
                <a:cs typeface="Arial"/>
              </a:rPr>
              <a:t>给</a:t>
            </a:r>
          </a:p>
        </p:txBody>
      </p:sp>
      <p:sp>
        <p:nvSpPr>
          <p:cNvPr id="14" name="Rectangle 13"/>
          <p:cNvSpPr/>
          <p:nvPr/>
        </p:nvSpPr>
        <p:spPr>
          <a:xfrm>
            <a:off x="1051560" y="3360420"/>
            <a:ext cx="3177540" cy="1805939"/>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 name="Rectangle 14"/>
          <p:cNvSpPr/>
          <p:nvPr/>
        </p:nvSpPr>
        <p:spPr>
          <a:xfrm>
            <a:off x="1051560" y="3360420"/>
            <a:ext cx="3177540" cy="4114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RQ3　固定层</a:t>
            </a:r>
          </a:p>
        </p:txBody>
      </p:sp>
      <p:sp>
        <p:nvSpPr>
          <p:cNvPr id="16" name="TextBox 15"/>
          <p:cNvSpPr txBox="1"/>
          <p:nvPr/>
        </p:nvSpPr>
        <p:spPr>
          <a:xfrm>
            <a:off x="1106424" y="3826763"/>
            <a:ext cx="3067812" cy="1303019"/>
          </a:xfrm>
          <a:prstGeom prst="rect">
            <a:avLst/>
          </a:prstGeom>
          <a:noFill/>
        </p:spPr>
        <p:txBody>
          <a:bodyPr wrap="square" lIns="73152" rIns="73152" tIns="73152" bIns="73152" anchor="t">
            <a:noAutofit/>
          </a:bodyPr>
          <a:lstStyle/>
          <a:p>
            <a:pPr algn="l">
              <a:lnSpc>
                <a:spcPct val="112000"/>
              </a:lnSpc>
              <a:spcAft>
                <a:spcPts val="0"/>
              </a:spcAft>
            </a:pPr>
            <a:r>
              <a:rPr sz="1600" b="0" i="0">
                <a:solidFill>
                  <a:srgbClr val="222222"/>
                </a:solidFill>
                <a:latin typeface="Arial"/>
                <a:ea typeface="微软雅黑"/>
                <a:cs typeface="Arial"/>
              </a:rPr>
              <a:t>只承担稳定节律的固定时刻表应如何编制？各线路的固定发车数量应为多少？</a:t>
            </a:r>
          </a:p>
        </p:txBody>
      </p:sp>
      <p:sp>
        <p:nvSpPr>
          <p:cNvPr id="17" name="Rectangle 16"/>
          <p:cNvSpPr/>
          <p:nvPr/>
        </p:nvSpPr>
        <p:spPr>
          <a:xfrm>
            <a:off x="4320540" y="3360420"/>
            <a:ext cx="3177540" cy="1805939"/>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8" name="Rectangle 17"/>
          <p:cNvSpPr/>
          <p:nvPr/>
        </p:nvSpPr>
        <p:spPr>
          <a:xfrm>
            <a:off x="4320540" y="3360420"/>
            <a:ext cx="3177540" cy="4114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RQ4　柔性层</a:t>
            </a:r>
          </a:p>
        </p:txBody>
      </p:sp>
      <p:sp>
        <p:nvSpPr>
          <p:cNvPr id="19" name="TextBox 18"/>
          <p:cNvSpPr txBox="1"/>
          <p:nvPr/>
        </p:nvSpPr>
        <p:spPr>
          <a:xfrm>
            <a:off x="4375404" y="3826763"/>
            <a:ext cx="3067812" cy="1303019"/>
          </a:xfrm>
          <a:prstGeom prst="rect">
            <a:avLst/>
          </a:prstGeom>
          <a:noFill/>
        </p:spPr>
        <p:txBody>
          <a:bodyPr wrap="square" lIns="73152" rIns="73152" tIns="73152" bIns="73152" anchor="t">
            <a:noAutofit/>
          </a:bodyPr>
          <a:lstStyle/>
          <a:p>
            <a:pPr algn="l">
              <a:lnSpc>
                <a:spcPct val="112000"/>
              </a:lnSpc>
              <a:spcAft>
                <a:spcPts val="0"/>
              </a:spcAft>
            </a:pPr>
            <a:r>
              <a:rPr sz="1550" b="0" i="0">
                <a:solidFill>
                  <a:srgbClr val="222222"/>
                </a:solidFill>
                <a:latin typeface="Arial"/>
                <a:ea typeface="微软雅黑"/>
                <a:cs typeface="Arial"/>
              </a:rPr>
              <a:t>少量机动车按次日预测指派，能在多大程度上降低社会成本？收益集中在哪些日期？预测改进还有多大价值？</a:t>
            </a:r>
          </a:p>
        </p:txBody>
      </p:sp>
      <p:sp>
        <p:nvSpPr>
          <p:cNvPr id="20" name="Rectangle 19"/>
          <p:cNvSpPr/>
          <p:nvPr/>
        </p:nvSpPr>
        <p:spPr>
          <a:xfrm>
            <a:off x="7726679" y="1463040"/>
            <a:ext cx="4005072" cy="75438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1" name="Rectangle 20"/>
          <p:cNvSpPr/>
          <p:nvPr/>
        </p:nvSpPr>
        <p:spPr>
          <a:xfrm>
            <a:off x="7726679" y="1463040"/>
            <a:ext cx="566928" cy="7543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200" b="1" i="0">
                <a:solidFill>
                  <a:srgbClr val="FFFFFF"/>
                </a:solidFill>
                <a:latin typeface="Arial"/>
                <a:ea typeface="微软雅黑"/>
                <a:cs typeface="Arial"/>
              </a:rPr>
              <a:t>H1</a:t>
            </a:r>
          </a:p>
          <a:p>
            <a:pPr algn="ctr">
              <a:lnSpc>
                <a:spcPct val="112000"/>
              </a:lnSpc>
            </a:pPr>
            <a:r>
              <a:rPr sz="1200" b="1" i="0">
                <a:solidFill>
                  <a:srgbClr val="FFFFFF"/>
                </a:solidFill>
                <a:latin typeface="Arial"/>
                <a:ea typeface="微软雅黑"/>
                <a:cs typeface="Arial"/>
              </a:rPr>
              <a:t>RQ1</a:t>
            </a:r>
          </a:p>
        </p:txBody>
      </p:sp>
      <p:sp>
        <p:nvSpPr>
          <p:cNvPr id="22" name="TextBox 21"/>
          <p:cNvSpPr txBox="1"/>
          <p:nvPr/>
        </p:nvSpPr>
        <p:spPr>
          <a:xfrm>
            <a:off x="8330183" y="1463040"/>
            <a:ext cx="3364991" cy="754380"/>
          </a:xfrm>
          <a:prstGeom prst="rect">
            <a:avLst/>
          </a:prstGeom>
          <a:noFill/>
        </p:spPr>
        <p:txBody>
          <a:bodyPr wrap="square" lIns="73152" rIns="73152" tIns="73152" bIns="73152" anchor="ctr">
            <a:noAutofit/>
          </a:bodyPr>
          <a:lstStyle/>
          <a:p>
            <a:pPr algn="l">
              <a:lnSpc>
                <a:spcPct val="112000"/>
              </a:lnSpc>
              <a:spcAft>
                <a:spcPts val="0"/>
              </a:spcAft>
            </a:pPr>
            <a:r>
              <a:rPr sz="1250" b="0" i="0">
                <a:solidFill>
                  <a:srgbClr val="222222"/>
                </a:solidFill>
                <a:latin typeface="Arial"/>
                <a:ea typeface="微软雅黑"/>
                <a:cs typeface="Arial"/>
              </a:rPr>
              <a:t>日内时段是班次层最大的因子族，春运和节假日是日层最大的因子族，集日和天气权重较小</a:t>
            </a:r>
          </a:p>
        </p:txBody>
      </p:sp>
      <p:sp>
        <p:nvSpPr>
          <p:cNvPr id="23" name="Rectangle 22"/>
          <p:cNvSpPr/>
          <p:nvPr/>
        </p:nvSpPr>
        <p:spPr>
          <a:xfrm>
            <a:off x="7726679" y="2281428"/>
            <a:ext cx="4005072" cy="75438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Rectangle 23"/>
          <p:cNvSpPr/>
          <p:nvPr/>
        </p:nvSpPr>
        <p:spPr>
          <a:xfrm>
            <a:off x="7726679" y="2281428"/>
            <a:ext cx="566928" cy="7543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200" b="1" i="0">
                <a:solidFill>
                  <a:srgbClr val="FFFFFF"/>
                </a:solidFill>
                <a:latin typeface="Arial"/>
                <a:ea typeface="微软雅黑"/>
                <a:cs typeface="Arial"/>
              </a:rPr>
              <a:t>H2</a:t>
            </a:r>
          </a:p>
          <a:p>
            <a:pPr algn="ctr">
              <a:lnSpc>
                <a:spcPct val="112000"/>
              </a:lnSpc>
            </a:pPr>
            <a:r>
              <a:rPr sz="1200" b="1" i="0">
                <a:solidFill>
                  <a:srgbClr val="FFFFFF"/>
                </a:solidFill>
                <a:latin typeface="Arial"/>
                <a:ea typeface="微软雅黑"/>
                <a:cs typeface="Arial"/>
              </a:rPr>
              <a:t>RQ1</a:t>
            </a:r>
          </a:p>
        </p:txBody>
      </p:sp>
      <p:sp>
        <p:nvSpPr>
          <p:cNvPr id="25" name="TextBox 24"/>
          <p:cNvSpPr txBox="1"/>
          <p:nvPr/>
        </p:nvSpPr>
        <p:spPr>
          <a:xfrm>
            <a:off x="8330183" y="2281428"/>
            <a:ext cx="3364991" cy="754380"/>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熵权法、灰色关联的权重排序与真实排序明显不一致</a:t>
            </a:r>
          </a:p>
        </p:txBody>
      </p:sp>
      <p:sp>
        <p:nvSpPr>
          <p:cNvPr id="26" name="Rectangle 25"/>
          <p:cNvSpPr/>
          <p:nvPr/>
        </p:nvSpPr>
        <p:spPr>
          <a:xfrm>
            <a:off x="7726679" y="3099816"/>
            <a:ext cx="4005072" cy="75438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7" name="Rectangle 26"/>
          <p:cNvSpPr/>
          <p:nvPr/>
        </p:nvSpPr>
        <p:spPr>
          <a:xfrm>
            <a:off x="7726679" y="3099816"/>
            <a:ext cx="566928" cy="7543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200" b="1" i="0">
                <a:solidFill>
                  <a:srgbClr val="FFFFFF"/>
                </a:solidFill>
                <a:latin typeface="Arial"/>
                <a:ea typeface="微软雅黑"/>
                <a:cs typeface="Arial"/>
              </a:rPr>
              <a:t>H3</a:t>
            </a:r>
          </a:p>
          <a:p>
            <a:pPr algn="ctr">
              <a:lnSpc>
                <a:spcPct val="112000"/>
              </a:lnSpc>
            </a:pPr>
            <a:r>
              <a:rPr sz="1200" b="1" i="0">
                <a:solidFill>
                  <a:srgbClr val="FFFFFF"/>
                </a:solidFill>
                <a:latin typeface="Arial"/>
                <a:ea typeface="微软雅黑"/>
                <a:cs typeface="Arial"/>
              </a:rPr>
              <a:t>RQ2</a:t>
            </a:r>
          </a:p>
        </p:txBody>
      </p:sp>
      <p:sp>
        <p:nvSpPr>
          <p:cNvPr id="28" name="TextBox 27"/>
          <p:cNvSpPr txBox="1"/>
          <p:nvPr/>
        </p:nvSpPr>
        <p:spPr>
          <a:xfrm>
            <a:off x="8330183" y="3099816"/>
            <a:ext cx="3364991" cy="754380"/>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考虑删失的模型在满载班次上的偏差更小</a:t>
            </a:r>
          </a:p>
        </p:txBody>
      </p:sp>
      <p:sp>
        <p:nvSpPr>
          <p:cNvPr id="29" name="Rectangle 28"/>
          <p:cNvSpPr/>
          <p:nvPr/>
        </p:nvSpPr>
        <p:spPr>
          <a:xfrm>
            <a:off x="7726679" y="3918204"/>
            <a:ext cx="4005072" cy="75438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0" name="Rectangle 29"/>
          <p:cNvSpPr/>
          <p:nvPr/>
        </p:nvSpPr>
        <p:spPr>
          <a:xfrm>
            <a:off x="7726679" y="3918204"/>
            <a:ext cx="566928" cy="75438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200" b="1" i="0">
                <a:solidFill>
                  <a:srgbClr val="FFFFFF"/>
                </a:solidFill>
                <a:latin typeface="Arial"/>
                <a:ea typeface="微软雅黑"/>
                <a:cs typeface="Arial"/>
              </a:rPr>
              <a:t>H4</a:t>
            </a:r>
          </a:p>
          <a:p>
            <a:pPr algn="ctr">
              <a:lnSpc>
                <a:spcPct val="112000"/>
              </a:lnSpc>
            </a:pPr>
            <a:r>
              <a:rPr sz="1200" b="1" i="0">
                <a:solidFill>
                  <a:srgbClr val="FFFFFF"/>
                </a:solidFill>
                <a:latin typeface="Arial"/>
                <a:ea typeface="微软雅黑"/>
                <a:cs typeface="Arial"/>
              </a:rPr>
              <a:t>RQ2</a:t>
            </a:r>
          </a:p>
        </p:txBody>
      </p:sp>
      <p:sp>
        <p:nvSpPr>
          <p:cNvPr id="31" name="TextBox 30"/>
          <p:cNvSpPr txBox="1"/>
          <p:nvPr/>
        </p:nvSpPr>
        <p:spPr>
          <a:xfrm>
            <a:off x="8330183" y="3918204"/>
            <a:ext cx="3364991" cy="754380"/>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全局共形区间在高需求情景覆盖不足，Mondrian 区间接近名义覆盖</a:t>
            </a:r>
          </a:p>
        </p:txBody>
      </p:sp>
      <p:sp>
        <p:nvSpPr>
          <p:cNvPr id="32" name="Rectangle 31"/>
          <p:cNvSpPr/>
          <p:nvPr/>
        </p:nvSpPr>
        <p:spPr>
          <a:xfrm>
            <a:off x="7726679" y="4736592"/>
            <a:ext cx="4005072" cy="75438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3" name="Rectangle 32"/>
          <p:cNvSpPr/>
          <p:nvPr/>
        </p:nvSpPr>
        <p:spPr>
          <a:xfrm>
            <a:off x="7726679" y="4736592"/>
            <a:ext cx="566928" cy="7543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200" b="1" i="0">
                <a:solidFill>
                  <a:srgbClr val="FFFFFF"/>
                </a:solidFill>
                <a:latin typeface="Arial"/>
                <a:ea typeface="微软雅黑"/>
                <a:cs typeface="Arial"/>
              </a:rPr>
              <a:t>H5</a:t>
            </a:r>
          </a:p>
          <a:p>
            <a:pPr algn="ctr">
              <a:lnSpc>
                <a:spcPct val="112000"/>
              </a:lnSpc>
            </a:pPr>
            <a:r>
              <a:rPr sz="1200" b="1" i="0">
                <a:solidFill>
                  <a:srgbClr val="FFFFFF"/>
                </a:solidFill>
                <a:latin typeface="Arial"/>
                <a:ea typeface="微软雅黑"/>
                <a:cs typeface="Arial"/>
              </a:rPr>
              <a:t>RQ3</a:t>
            </a:r>
          </a:p>
        </p:txBody>
      </p:sp>
      <p:sp>
        <p:nvSpPr>
          <p:cNvPr id="34" name="TextBox 33"/>
          <p:cNvSpPr txBox="1"/>
          <p:nvPr/>
        </p:nvSpPr>
        <p:spPr>
          <a:xfrm>
            <a:off x="8330183" y="4736592"/>
            <a:ext cx="3364991" cy="754380"/>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只按稳定节律编制的固定时刻表能减少总班次并降低社会成本</a:t>
            </a:r>
          </a:p>
        </p:txBody>
      </p:sp>
      <p:sp>
        <p:nvSpPr>
          <p:cNvPr id="35" name="Rectangle 34"/>
          <p:cNvSpPr/>
          <p:nvPr/>
        </p:nvSpPr>
        <p:spPr>
          <a:xfrm>
            <a:off x="7726679" y="5554979"/>
            <a:ext cx="4005072" cy="75438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6" name="Rectangle 35"/>
          <p:cNvSpPr/>
          <p:nvPr/>
        </p:nvSpPr>
        <p:spPr>
          <a:xfrm>
            <a:off x="7726679" y="5554979"/>
            <a:ext cx="566928" cy="75438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200" b="1" i="0">
                <a:solidFill>
                  <a:srgbClr val="FFFFFF"/>
                </a:solidFill>
                <a:latin typeface="Arial"/>
                <a:ea typeface="微软雅黑"/>
                <a:cs typeface="Arial"/>
              </a:rPr>
              <a:t>H6</a:t>
            </a:r>
          </a:p>
          <a:p>
            <a:pPr algn="ctr">
              <a:lnSpc>
                <a:spcPct val="112000"/>
              </a:lnSpc>
            </a:pPr>
            <a:r>
              <a:rPr sz="1200" b="1" i="0">
                <a:solidFill>
                  <a:srgbClr val="FFFFFF"/>
                </a:solidFill>
                <a:latin typeface="Arial"/>
                <a:ea typeface="微软雅黑"/>
                <a:cs typeface="Arial"/>
              </a:rPr>
              <a:t>RQ4</a:t>
            </a:r>
          </a:p>
        </p:txBody>
      </p:sp>
      <p:sp>
        <p:nvSpPr>
          <p:cNvPr id="37" name="TextBox 36"/>
          <p:cNvSpPr txBox="1"/>
          <p:nvPr/>
        </p:nvSpPr>
        <p:spPr>
          <a:xfrm>
            <a:off x="8330183" y="5554979"/>
            <a:ext cx="3364991" cy="754380"/>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柔性层收益集中在春运和节假日边沿，普通日接近零</a:t>
            </a:r>
          </a:p>
        </p:txBody>
      </p:sp>
      <p:sp>
        <p:nvSpPr>
          <p:cNvPr id="38" name="TextBox 37"/>
          <p:cNvSpPr txBox="1"/>
          <p:nvPr/>
        </p:nvSpPr>
        <p:spPr>
          <a:xfrm>
            <a:off x="457200" y="5212080"/>
            <a:ext cx="7040880" cy="274320"/>
          </a:xfrm>
          <a:prstGeom prst="rect">
            <a:avLst/>
          </a:prstGeom>
          <a:noFill/>
        </p:spPr>
        <p:txBody>
          <a:bodyPr wrap="square" lIns="73152" rIns="73152" tIns="18288" bIns="18288" anchor="t">
            <a:noAutofit/>
          </a:bodyPr>
          <a:lstStyle/>
          <a:p>
            <a:pPr algn="ctr">
              <a:lnSpc>
                <a:spcPct val="112000"/>
              </a:lnSpc>
              <a:spcAft>
                <a:spcPts val="0"/>
              </a:spcAft>
            </a:pPr>
            <a:r>
              <a:rPr sz="1200" b="1" i="0">
                <a:solidFill>
                  <a:srgbClr val="1F3A5F"/>
                </a:solidFill>
                <a:latin typeface="Arial"/>
                <a:ea typeface="微软雅黑"/>
                <a:cs typeface="Arial"/>
              </a:rPr>
              <a:t>两篇论文合起来构成学位论文</a:t>
            </a:r>
          </a:p>
        </p:txBody>
      </p:sp>
      <p:sp>
        <p:nvSpPr>
          <p:cNvPr id="39" name="Rectangle 38"/>
          <p:cNvSpPr/>
          <p:nvPr/>
        </p:nvSpPr>
        <p:spPr>
          <a:xfrm>
            <a:off x="457200" y="5486400"/>
            <a:ext cx="7040880" cy="2743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0" name="Rectangle 39"/>
          <p:cNvSpPr/>
          <p:nvPr/>
        </p:nvSpPr>
        <p:spPr>
          <a:xfrm>
            <a:off x="457200" y="5559552"/>
            <a:ext cx="3474720" cy="7498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1" name="TextBox 40"/>
          <p:cNvSpPr txBox="1"/>
          <p:nvPr/>
        </p:nvSpPr>
        <p:spPr>
          <a:xfrm>
            <a:off x="457200" y="5559552"/>
            <a:ext cx="3474720" cy="749808"/>
          </a:xfrm>
          <a:prstGeom prst="rect">
            <a:avLst/>
          </a:prstGeom>
          <a:noFill/>
        </p:spPr>
        <p:txBody>
          <a:bodyPr wrap="square" lIns="73152" rIns="73152" tIns="73152" bIns="73152" anchor="ctr">
            <a:noAutofit/>
          </a:bodyPr>
          <a:lstStyle/>
          <a:p>
            <a:pPr algn="ctr">
              <a:lnSpc>
                <a:spcPct val="112000"/>
              </a:lnSpc>
              <a:spcAft>
                <a:spcPts val="455"/>
              </a:spcAft>
            </a:pPr>
            <a:r>
              <a:rPr sz="1300" b="1" i="0">
                <a:solidFill>
                  <a:srgbClr val="FFFFFF"/>
                </a:solidFill>
                <a:latin typeface="Arial"/>
                <a:ea typeface="微软雅黑"/>
                <a:cs typeface="Arial"/>
              </a:rPr>
              <a:t>论文一（RQ1—RQ2）</a:t>
            </a:r>
          </a:p>
          <a:p>
            <a:pPr algn="ctr">
              <a:lnSpc>
                <a:spcPct val="112000"/>
              </a:lnSpc>
              <a:spcAft>
                <a:spcPts val="0"/>
              </a:spcAft>
            </a:pPr>
            <a:r>
              <a:rPr sz="1300" b="1" i="0">
                <a:solidFill>
                  <a:srgbClr val="FFFFFF"/>
                </a:solidFill>
                <a:latin typeface="Arial"/>
                <a:ea typeface="微软雅黑"/>
                <a:cs typeface="Arial"/>
              </a:rPr>
              <a:t>删失感知的多重节律识别与概率预测</a:t>
            </a:r>
          </a:p>
        </p:txBody>
      </p:sp>
      <p:sp>
        <p:nvSpPr>
          <p:cNvPr id="42" name="Rectangle 41"/>
          <p:cNvSpPr/>
          <p:nvPr/>
        </p:nvSpPr>
        <p:spPr>
          <a:xfrm>
            <a:off x="4023360" y="5559552"/>
            <a:ext cx="3474720" cy="74980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3" name="TextBox 42"/>
          <p:cNvSpPr txBox="1"/>
          <p:nvPr/>
        </p:nvSpPr>
        <p:spPr>
          <a:xfrm>
            <a:off x="4023360" y="5559552"/>
            <a:ext cx="3474720" cy="749808"/>
          </a:xfrm>
          <a:prstGeom prst="rect">
            <a:avLst/>
          </a:prstGeom>
          <a:noFill/>
        </p:spPr>
        <p:txBody>
          <a:bodyPr wrap="square" lIns="73152" rIns="73152" tIns="73152" bIns="73152" anchor="ctr">
            <a:noAutofit/>
          </a:bodyPr>
          <a:lstStyle/>
          <a:p>
            <a:pPr algn="ctr">
              <a:lnSpc>
                <a:spcPct val="112000"/>
              </a:lnSpc>
              <a:spcAft>
                <a:spcPts val="455"/>
              </a:spcAft>
            </a:pPr>
            <a:r>
              <a:rPr sz="1300" b="1" i="0">
                <a:solidFill>
                  <a:srgbClr val="FFFFFF"/>
                </a:solidFill>
                <a:latin typeface="Arial"/>
                <a:ea typeface="微软雅黑"/>
                <a:cs typeface="Arial"/>
              </a:rPr>
              <a:t>论文二（RQ3—RQ4）</a:t>
            </a:r>
          </a:p>
          <a:p>
            <a:pPr algn="ctr">
              <a:lnSpc>
                <a:spcPct val="112000"/>
              </a:lnSpc>
              <a:spcAft>
                <a:spcPts val="0"/>
              </a:spcAft>
            </a:pPr>
            <a:r>
              <a:rPr sz="1300" b="1" i="0">
                <a:solidFill>
                  <a:srgbClr val="FFFFFF"/>
                </a:solidFill>
                <a:latin typeface="Arial"/>
                <a:ea typeface="微软雅黑"/>
                <a:cs typeface="Arial"/>
              </a:rPr>
              <a:t>预测驱动的县域城乡公交半柔性配置</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三、研究问题、假设与技术路线</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技术路线：因子识别 → 删失条件下的班次预测 → 固定时刻表优化 → 次日柔性配置</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7 / 20</a:t>
            </a:r>
          </a:p>
        </p:txBody>
      </p:sp>
      <p:pic>
        <p:nvPicPr>
          <p:cNvPr id="6" name="Picture 5" descr="图_技术路线.png"/>
          <p:cNvPicPr>
            <a:picLocks noChangeAspect="1"/>
          </p:cNvPicPr>
          <p:nvPr/>
        </p:nvPicPr>
        <p:blipFill>
          <a:blip r:embed="rId2"/>
          <a:stretch>
            <a:fillRect/>
          </a:stretch>
        </p:blipFill>
        <p:spPr>
          <a:xfrm>
            <a:off x="457200" y="1371600"/>
            <a:ext cx="4115523" cy="4709160"/>
          </a:xfrm>
          <a:prstGeom prst="rect">
            <a:avLst/>
          </a:prstGeom>
        </p:spPr>
      </p:pic>
      <p:sp>
        <p:nvSpPr>
          <p:cNvPr id="7" name="TextBox 6"/>
          <p:cNvSpPr txBox="1"/>
          <p:nvPr/>
        </p:nvSpPr>
        <p:spPr>
          <a:xfrm>
            <a:off x="457200" y="6099048"/>
            <a:ext cx="4115523" cy="256032"/>
          </a:xfrm>
          <a:prstGeom prst="rect">
            <a:avLst/>
          </a:prstGeom>
          <a:noFill/>
        </p:spPr>
        <p:txBody>
          <a:bodyPr wrap="square" lIns="73152" rIns="73152" tIns="18288" bIns="18288" anchor="t">
            <a:noAutofit/>
          </a:bodyPr>
          <a:lstStyle/>
          <a:p>
            <a:pPr algn="l">
              <a:lnSpc>
                <a:spcPct val="112000"/>
              </a:lnSpc>
              <a:spcAft>
                <a:spcPts val="0"/>
              </a:spcAft>
            </a:pPr>
            <a:r>
              <a:rPr sz="1050" b="0" i="0">
                <a:solidFill>
                  <a:srgbClr val="6C757D"/>
                </a:solidFill>
                <a:latin typeface="Arial"/>
                <a:ea typeface="微软雅黑"/>
                <a:cs typeface="Arial"/>
              </a:rPr>
              <a:t>图：技术路线</a:t>
            </a:r>
          </a:p>
        </p:txBody>
      </p:sp>
      <p:sp>
        <p:nvSpPr>
          <p:cNvPr id="8" name="Rectangle 7"/>
          <p:cNvSpPr/>
          <p:nvPr/>
        </p:nvSpPr>
        <p:spPr>
          <a:xfrm>
            <a:off x="4892763" y="1371600"/>
            <a:ext cx="2206510" cy="5486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TextBox 8"/>
          <p:cNvSpPr txBox="1"/>
          <p:nvPr/>
        </p:nvSpPr>
        <p:spPr>
          <a:xfrm>
            <a:off x="4892763" y="1371600"/>
            <a:ext cx="2206510" cy="548640"/>
          </a:xfrm>
          <a:prstGeom prst="rect">
            <a:avLst/>
          </a:prstGeom>
          <a:noFill/>
        </p:spPr>
        <p:txBody>
          <a:bodyPr wrap="square" lIns="73152" rIns="73152" tIns="73152" bIns="73152" anchor="ctr">
            <a:noAutofit/>
          </a:bodyPr>
          <a:lstStyle/>
          <a:p>
            <a:pPr algn="ctr">
              <a:lnSpc>
                <a:spcPct val="112000"/>
              </a:lnSpc>
              <a:spcAft>
                <a:spcPts val="0"/>
              </a:spcAft>
            </a:pPr>
            <a:r>
              <a:rPr sz="1400" b="1" i="0">
                <a:solidFill>
                  <a:srgbClr val="FFFFFF"/>
                </a:solidFill>
                <a:latin typeface="Arial"/>
                <a:ea typeface="微软雅黑"/>
                <a:cs typeface="Arial"/>
              </a:rPr>
              <a:t>预注册</a:t>
            </a:r>
          </a:p>
        </p:txBody>
      </p:sp>
      <p:sp>
        <p:nvSpPr>
          <p:cNvPr id="10" name="Rectangle 9"/>
          <p:cNvSpPr/>
          <p:nvPr/>
        </p:nvSpPr>
        <p:spPr>
          <a:xfrm>
            <a:off x="7209002" y="1371600"/>
            <a:ext cx="2206510" cy="5486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7209002" y="1371600"/>
            <a:ext cx="2206510" cy="548640"/>
          </a:xfrm>
          <a:prstGeom prst="rect">
            <a:avLst/>
          </a:prstGeom>
          <a:noFill/>
        </p:spPr>
        <p:txBody>
          <a:bodyPr wrap="square" lIns="73152" rIns="73152" tIns="73152" bIns="73152" anchor="ctr">
            <a:noAutofit/>
          </a:bodyPr>
          <a:lstStyle/>
          <a:p>
            <a:pPr algn="ctr">
              <a:lnSpc>
                <a:spcPct val="112000"/>
              </a:lnSpc>
              <a:spcAft>
                <a:spcPts val="0"/>
              </a:spcAft>
            </a:pPr>
            <a:r>
              <a:rPr sz="1400" b="1" i="0">
                <a:solidFill>
                  <a:srgbClr val="FFFFFF"/>
                </a:solidFill>
                <a:latin typeface="Arial"/>
                <a:ea typeface="微软雅黑"/>
                <a:cs typeface="Arial"/>
              </a:rPr>
              <a:t>时间顺序切分</a:t>
            </a:r>
          </a:p>
        </p:txBody>
      </p:sp>
      <p:sp>
        <p:nvSpPr>
          <p:cNvPr id="12" name="Rectangle 11"/>
          <p:cNvSpPr/>
          <p:nvPr/>
        </p:nvSpPr>
        <p:spPr>
          <a:xfrm>
            <a:off x="9525241" y="1371600"/>
            <a:ext cx="2206510" cy="54864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9525241" y="1371600"/>
            <a:ext cx="2206510" cy="548640"/>
          </a:xfrm>
          <a:prstGeom prst="rect">
            <a:avLst/>
          </a:prstGeom>
          <a:noFill/>
        </p:spPr>
        <p:txBody>
          <a:bodyPr wrap="square" lIns="73152" rIns="73152" tIns="73152" bIns="73152" anchor="ctr">
            <a:noAutofit/>
          </a:bodyPr>
          <a:lstStyle/>
          <a:p>
            <a:pPr algn="ctr">
              <a:lnSpc>
                <a:spcPct val="112000"/>
              </a:lnSpc>
              <a:spcAft>
                <a:spcPts val="0"/>
              </a:spcAft>
            </a:pPr>
            <a:r>
              <a:rPr sz="1400" b="1" i="0">
                <a:solidFill>
                  <a:srgbClr val="FFFFFF"/>
                </a:solidFill>
                <a:latin typeface="Arial"/>
                <a:ea typeface="微软雅黑"/>
                <a:cs typeface="Arial"/>
              </a:rPr>
              <a:t>偏离预注册逐处标注</a:t>
            </a:r>
          </a:p>
        </p:txBody>
      </p:sp>
      <p:sp>
        <p:nvSpPr>
          <p:cNvPr id="14" name="TextBox 13"/>
          <p:cNvSpPr txBox="1"/>
          <p:nvPr/>
        </p:nvSpPr>
        <p:spPr>
          <a:xfrm>
            <a:off x="4892763" y="2103120"/>
            <a:ext cx="6838988" cy="4206240"/>
          </a:xfrm>
          <a:prstGeom prst="rect">
            <a:avLst/>
          </a:prstGeom>
          <a:noFill/>
        </p:spPr>
        <p:txBody>
          <a:bodyPr wrap="square" lIns="73152" rIns="73152" tIns="73152" bIns="73152" anchor="t">
            <a:noAutofit/>
          </a:bodyPr>
          <a:lstStyle/>
          <a:p>
            <a:pPr algn="l" marL="226695" indent="-226695">
              <a:lnSpc>
                <a:spcPct val="112000"/>
              </a:lnSpc>
              <a:spcAft>
                <a:spcPts val="594"/>
              </a:spcAft>
              <a:buClr>
                <a:srgbClr val="1F3A5F"/>
              </a:buClr>
              <a:buChar char="•"/>
            </a:pPr>
            <a:r>
              <a:rPr sz="1700" b="0" i="0">
                <a:solidFill>
                  <a:srgbClr val="222222"/>
                </a:solidFill>
                <a:latin typeface="Arial"/>
                <a:ea typeface="微软雅黑"/>
                <a:cs typeface="Arial"/>
              </a:rPr>
              <a:t>四个模块首尾相接：删失负二项同时服务 RQ1 的权重识别和 RQ2 的预测结构项；RQ2 的预测分布驱动 RQ4 的柔性层；RQ3 只承担稳定节律</a:t>
            </a:r>
          </a:p>
          <a:p>
            <a:pPr algn="l" marL="226695" indent="-226695">
              <a:lnSpc>
                <a:spcPct val="112000"/>
              </a:lnSpc>
              <a:spcAft>
                <a:spcPts val="594"/>
              </a:spcAft>
              <a:buClr>
                <a:srgbClr val="1F3A5F"/>
              </a:buClr>
              <a:buChar char="•"/>
            </a:pPr>
            <a:r>
              <a:rPr sz="1700" b="0" i="0">
                <a:solidFill>
                  <a:srgbClr val="222222"/>
                </a:solidFill>
                <a:latin typeface="Arial"/>
                <a:ea typeface="微软雅黑"/>
                <a:cs typeface="Arial"/>
              </a:rPr>
              <a:t>预注册：计算前写下主方法、对照方法、检验期和评价指标</a:t>
            </a:r>
            <a:r>
              <a:rPr sz="1700" b="0" i="0" baseline="30000">
                <a:solidFill>
                  <a:srgbClr val="222222"/>
                </a:solidFill>
                <a:latin typeface="Arial"/>
                <a:ea typeface="微软雅黑"/>
                <a:cs typeface="Arial"/>
              </a:rPr>
              <a:t>[22]</a:t>
            </a:r>
            <a:r>
              <a:rPr sz="1700" b="0" i="0">
                <a:solidFill>
                  <a:srgbClr val="222222"/>
                </a:solidFill>
                <a:latin typeface="Arial"/>
                <a:ea typeface="微软雅黑"/>
                <a:cs typeface="Arial"/>
              </a:rPr>
              <a:t>；检验期 2026-01-01 至 2026-09-30，2026-10-01 以后的台账封存，本轮不读取</a:t>
            </a:r>
          </a:p>
          <a:p>
            <a:pPr algn="l" marL="226695" indent="-226695">
              <a:lnSpc>
                <a:spcPct val="112000"/>
              </a:lnSpc>
              <a:spcAft>
                <a:spcPts val="594"/>
              </a:spcAft>
              <a:buClr>
                <a:srgbClr val="1F3A5F"/>
              </a:buClr>
              <a:buChar char="•"/>
            </a:pPr>
            <a:r>
              <a:rPr sz="1700" b="0" i="0">
                <a:solidFill>
                  <a:srgbClr val="222222"/>
                </a:solidFill>
                <a:latin typeface="Arial"/>
                <a:ea typeface="微软雅黑"/>
                <a:cs typeface="Arial"/>
              </a:rPr>
              <a:t>训练与检验按时间顺序切分，避免把未来信息泄露给模型</a:t>
            </a:r>
            <a:r>
              <a:rPr sz="1700" b="0" i="0" baseline="30000">
                <a:solidFill>
                  <a:srgbClr val="222222"/>
                </a:solidFill>
                <a:latin typeface="Arial"/>
                <a:ea typeface="微软雅黑"/>
                <a:cs typeface="Arial"/>
              </a:rPr>
              <a:t>[23,24]</a:t>
            </a:r>
          </a:p>
          <a:p>
            <a:pPr algn="l" marL="226695" indent="-226695">
              <a:lnSpc>
                <a:spcPct val="112000"/>
              </a:lnSpc>
              <a:spcAft>
                <a:spcPts val="0"/>
              </a:spcAft>
              <a:buClr>
                <a:srgbClr val="1F3A5F"/>
              </a:buClr>
              <a:buChar char="•"/>
            </a:pPr>
            <a:r>
              <a:rPr sz="1700" b="0" i="0">
                <a:solidFill>
                  <a:srgbClr val="222222"/>
                </a:solidFill>
                <a:latin typeface="Arial"/>
                <a:ea typeface="微软雅黑"/>
                <a:cs typeface="Arial"/>
              </a:rPr>
              <a:t>四处偏离预注册（改进预测方法、最少服务规则、柔性层随机规划求解方式、增加反应式对照），均在正文标注“偏离预注册”并说明理由</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四、研究区、数据与模拟检验设计</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只使用能够可靠获取的变量：台账、时刻表、日历校历与天气为主，问卷为辅</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8 / 20</a:t>
            </a:r>
          </a:p>
        </p:txBody>
      </p:sp>
      <p:pic>
        <p:nvPicPr>
          <p:cNvPr id="6" name="Picture 5" descr="图_研究区与城乡公交线网.png"/>
          <p:cNvPicPr>
            <a:picLocks noChangeAspect="1"/>
          </p:cNvPicPr>
          <p:nvPr/>
        </p:nvPicPr>
        <p:blipFill>
          <a:blip r:embed="rId2"/>
          <a:stretch>
            <a:fillRect/>
          </a:stretch>
        </p:blipFill>
        <p:spPr>
          <a:xfrm>
            <a:off x="457200" y="1371600"/>
            <a:ext cx="5736952" cy="3291840"/>
          </a:xfrm>
          <a:prstGeom prst="rect">
            <a:avLst/>
          </a:prstGeom>
        </p:spPr>
      </p:pic>
      <p:sp>
        <p:nvSpPr>
          <p:cNvPr id="7" name="TextBox 6"/>
          <p:cNvSpPr txBox="1"/>
          <p:nvPr/>
        </p:nvSpPr>
        <p:spPr>
          <a:xfrm>
            <a:off x="457200" y="4681727"/>
            <a:ext cx="5736952" cy="256032"/>
          </a:xfrm>
          <a:prstGeom prst="rect">
            <a:avLst/>
          </a:prstGeom>
          <a:noFill/>
        </p:spPr>
        <p:txBody>
          <a:bodyPr wrap="square" lIns="73152" rIns="73152" tIns="18288" bIns="18288" anchor="t">
            <a:noAutofit/>
          </a:bodyPr>
          <a:lstStyle/>
          <a:p>
            <a:pPr algn="l">
              <a:lnSpc>
                <a:spcPct val="112000"/>
              </a:lnSpc>
              <a:spcAft>
                <a:spcPts val="0"/>
              </a:spcAft>
            </a:pPr>
            <a:r>
              <a:rPr sz="1050" b="0" i="0">
                <a:solidFill>
                  <a:srgbClr val="6C757D"/>
                </a:solidFill>
                <a:latin typeface="Arial"/>
                <a:ea typeface="微软雅黑"/>
                <a:cs typeface="Arial"/>
              </a:rPr>
              <a:t>图：研究区与城乡公交线网（真实 GIS 底图与现行线路）</a:t>
            </a:r>
          </a:p>
        </p:txBody>
      </p:sp>
      <p:sp>
        <p:nvSpPr>
          <p:cNvPr id="8" name="Rectangle 7"/>
          <p:cNvSpPr/>
          <p:nvPr/>
        </p:nvSpPr>
        <p:spPr>
          <a:xfrm>
            <a:off x="457200" y="5029199"/>
            <a:ext cx="5736952" cy="132588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TextBox 8"/>
          <p:cNvSpPr txBox="1"/>
          <p:nvPr/>
        </p:nvSpPr>
        <p:spPr>
          <a:xfrm>
            <a:off x="512064" y="5029199"/>
            <a:ext cx="5627224" cy="1325880"/>
          </a:xfrm>
          <a:prstGeom prst="rect">
            <a:avLst/>
          </a:prstGeom>
          <a:noFill/>
        </p:spPr>
        <p:txBody>
          <a:bodyPr wrap="square" lIns="73152" rIns="73152" tIns="73152" bIns="73152" anchor="ctr">
            <a:noAutofit/>
          </a:bodyPr>
          <a:lstStyle/>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集日与天气只作对照因子：县城集期“逢农历四、九”属待确认信息，需逐乡核实</a:t>
            </a:r>
            <a:r>
              <a:rPr sz="1400" b="0" i="0" baseline="30000">
                <a:solidFill>
                  <a:srgbClr val="222222"/>
                </a:solidFill>
                <a:latin typeface="Arial"/>
                <a:ea typeface="微软雅黑"/>
                <a:cs typeface="Arial"/>
              </a:rPr>
              <a:t>[14]</a:t>
            </a:r>
            <a:r>
              <a:rPr sz="1400" b="0" i="0">
                <a:solidFill>
                  <a:srgbClr val="222222"/>
                </a:solidFill>
                <a:latin typeface="Arial"/>
                <a:ea typeface="微软雅黑"/>
                <a:cs typeface="Arial"/>
              </a:rPr>
              <a:t>；天气对公交客流的影响因地区和人群而异</a:t>
            </a:r>
            <a:r>
              <a:rPr sz="1400" b="0" i="0" baseline="30000">
                <a:solidFill>
                  <a:srgbClr val="222222"/>
                </a:solidFill>
                <a:latin typeface="Arial"/>
                <a:ea typeface="微软雅黑"/>
                <a:cs typeface="Arial"/>
              </a:rPr>
              <a:t>[25,26]</a:t>
            </a:r>
          </a:p>
          <a:p>
            <a:pPr algn="l" marL="186690" indent="-186690">
              <a:lnSpc>
                <a:spcPct val="112000"/>
              </a:lnSpc>
              <a:spcAft>
                <a:spcPts val="0"/>
              </a:spcAft>
              <a:buClr>
                <a:srgbClr val="1F3A5F"/>
              </a:buClr>
              <a:buChar char="•"/>
            </a:pPr>
            <a:r>
              <a:rPr sz="1400" b="0" i="0">
                <a:solidFill>
                  <a:srgbClr val="222222"/>
                </a:solidFill>
                <a:latin typeface="Arial"/>
                <a:ea typeface="微软雅黑"/>
                <a:cs typeface="Arial"/>
              </a:rPr>
              <a:t>不纳入模型：工业园区倒班、医院门诊排班、务工人员个人返乡日期（无法可靠获取，影响经节假日、春运和周节律间接体现）</a:t>
            </a:r>
          </a:p>
        </p:txBody>
      </p:sp>
      <p:sp>
        <p:nvSpPr>
          <p:cNvPr id="10" name="Rectangle 9"/>
          <p:cNvSpPr/>
          <p:nvPr/>
        </p:nvSpPr>
        <p:spPr>
          <a:xfrm>
            <a:off x="6422752" y="1371600"/>
            <a:ext cx="5308999" cy="228600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Rectangle 10"/>
          <p:cNvSpPr/>
          <p:nvPr/>
        </p:nvSpPr>
        <p:spPr>
          <a:xfrm>
            <a:off x="6422752" y="1371600"/>
            <a:ext cx="5308999" cy="3657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真实可得的数据</a:t>
            </a:r>
          </a:p>
        </p:txBody>
      </p:sp>
      <p:sp>
        <p:nvSpPr>
          <p:cNvPr id="12" name="TextBox 11"/>
          <p:cNvSpPr txBox="1"/>
          <p:nvPr/>
        </p:nvSpPr>
        <p:spPr>
          <a:xfrm>
            <a:off x="6477616" y="1792224"/>
            <a:ext cx="5199271" cy="1828800"/>
          </a:xfrm>
          <a:prstGeom prst="rect">
            <a:avLst/>
          </a:prstGeom>
          <a:noFill/>
        </p:spPr>
        <p:txBody>
          <a:bodyPr wrap="square" lIns="73152" rIns="73152" tIns="73152" bIns="73152" anchor="t">
            <a:noAutofit/>
          </a:bodyPr>
          <a:lstStyle/>
          <a:p>
            <a:pPr algn="l" marL="173355" indent="-173355">
              <a:lnSpc>
                <a:spcPct val="112000"/>
              </a:lnSpc>
              <a:spcAft>
                <a:spcPts val="455"/>
              </a:spcAft>
              <a:buClr>
                <a:srgbClr val="1F3A5F"/>
              </a:buClr>
              <a:buChar char="•"/>
            </a:pPr>
            <a:r>
              <a:rPr sz="1300" b="0" i="0">
                <a:solidFill>
                  <a:srgbClr val="222222"/>
                </a:solidFill>
                <a:latin typeface="Arial"/>
                <a:ea typeface="微软雅黑"/>
                <a:cs typeface="Arial"/>
              </a:rPr>
              <a:t>县汽车站逐日台账（2024-06-01 至 2026-07-27，全县客流总量锚点）</a:t>
            </a:r>
          </a:p>
          <a:p>
            <a:pPr algn="l" marL="173355" indent="-173355">
              <a:lnSpc>
                <a:spcPct val="112000"/>
              </a:lnSpc>
              <a:spcAft>
                <a:spcPts val="455"/>
              </a:spcAft>
              <a:buClr>
                <a:srgbClr val="1F3A5F"/>
              </a:buClr>
              <a:buChar char="•"/>
            </a:pPr>
            <a:r>
              <a:rPr sz="1300" b="0" i="0">
                <a:solidFill>
                  <a:srgbClr val="222222"/>
                </a:solidFill>
                <a:latin typeface="Arial"/>
                <a:ea typeface="微软雅黑"/>
                <a:cs typeface="Arial"/>
              </a:rPr>
              <a:t>7 条线路双向现行时刻表</a:t>
            </a:r>
          </a:p>
          <a:p>
            <a:pPr algn="l" marL="173355" indent="-173355">
              <a:lnSpc>
                <a:spcPct val="112000"/>
              </a:lnSpc>
              <a:spcAft>
                <a:spcPts val="455"/>
              </a:spcAft>
              <a:buClr>
                <a:srgbClr val="1F3A5F"/>
              </a:buClr>
              <a:buChar char="•"/>
            </a:pPr>
            <a:r>
              <a:rPr sz="1300" b="0" i="0">
                <a:solidFill>
                  <a:srgbClr val="222222"/>
                </a:solidFill>
                <a:latin typeface="Arial"/>
                <a:ea typeface="微软雅黑"/>
                <a:cs typeface="Arial"/>
              </a:rPr>
              <a:t>法定节假日与调休、农历、春运、校历与住校生离返校日</a:t>
            </a:r>
          </a:p>
          <a:p>
            <a:pPr algn="l" marL="173355" indent="-173355">
              <a:lnSpc>
                <a:spcPct val="112000"/>
              </a:lnSpc>
              <a:spcAft>
                <a:spcPts val="455"/>
              </a:spcAft>
              <a:buClr>
                <a:srgbClr val="1F3A5F"/>
              </a:buClr>
              <a:buChar char="•"/>
            </a:pPr>
            <a:r>
              <a:rPr sz="1300" b="0" i="0">
                <a:solidFill>
                  <a:srgbClr val="222222"/>
                </a:solidFill>
                <a:latin typeface="Arial"/>
                <a:ea typeface="微软雅黑"/>
                <a:cs typeface="Arial"/>
              </a:rPr>
              <a:t>沿线逐日天气实况与预报存档（检验期用提前 1 天的预报值）</a:t>
            </a:r>
          </a:p>
          <a:p>
            <a:pPr algn="l" marL="173355" indent="-173355">
              <a:lnSpc>
                <a:spcPct val="112000"/>
              </a:lnSpc>
              <a:spcAft>
                <a:spcPts val="0"/>
              </a:spcAft>
              <a:buClr>
                <a:srgbClr val="1F3A5F"/>
              </a:buClr>
              <a:buChar char="•"/>
            </a:pPr>
            <a:r>
              <a:rPr sz="1300" b="0" i="0">
                <a:solidFill>
                  <a:srgbClr val="222222"/>
                </a:solidFill>
                <a:latin typeface="Arial"/>
                <a:ea typeface="微软雅黑"/>
                <a:cs typeface="Arial"/>
              </a:rPr>
              <a:t>行政村点位与人口栅格</a:t>
            </a:r>
          </a:p>
        </p:txBody>
      </p:sp>
      <p:sp>
        <p:nvSpPr>
          <p:cNvPr id="13" name="Rectangle 12"/>
          <p:cNvSpPr/>
          <p:nvPr/>
        </p:nvSpPr>
        <p:spPr>
          <a:xfrm>
            <a:off x="6422752" y="3749039"/>
            <a:ext cx="5308999" cy="201168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Rectangle 13"/>
          <p:cNvSpPr/>
          <p:nvPr/>
        </p:nvSpPr>
        <p:spPr>
          <a:xfrm>
            <a:off x="6422752" y="3749039"/>
            <a:ext cx="5308999" cy="36576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需要调查的数据</a:t>
            </a:r>
          </a:p>
        </p:txBody>
      </p:sp>
      <p:sp>
        <p:nvSpPr>
          <p:cNvPr id="15" name="TextBox 14"/>
          <p:cNvSpPr txBox="1"/>
          <p:nvPr/>
        </p:nvSpPr>
        <p:spPr>
          <a:xfrm>
            <a:off x="6477616" y="4169663"/>
            <a:ext cx="5199271" cy="1554480"/>
          </a:xfrm>
          <a:prstGeom prst="rect">
            <a:avLst/>
          </a:prstGeom>
          <a:noFill/>
        </p:spPr>
        <p:txBody>
          <a:bodyPr wrap="square" lIns="73152" rIns="73152" tIns="73152" bIns="73152" anchor="t">
            <a:noAutofit/>
          </a:bodyPr>
          <a:lstStyle/>
          <a:p>
            <a:pPr algn="l" marL="180022" indent="-180022">
              <a:lnSpc>
                <a:spcPct val="112000"/>
              </a:lnSpc>
              <a:spcAft>
                <a:spcPts val="472"/>
              </a:spcAft>
              <a:buClr>
                <a:srgbClr val="1F3A5F"/>
              </a:buClr>
              <a:buChar char="•"/>
            </a:pPr>
            <a:r>
              <a:rPr sz="1350" b="0" i="0">
                <a:solidFill>
                  <a:srgbClr val="222222"/>
                </a:solidFill>
                <a:latin typeface="Arial"/>
                <a:ea typeface="微软雅黑"/>
                <a:cs typeface="Arial"/>
              </a:rPr>
              <a:t>暑期跟车调查（已完成，原始问卷待录入）</a:t>
            </a:r>
          </a:p>
          <a:p>
            <a:pPr algn="l" marL="180022" indent="-180022">
              <a:lnSpc>
                <a:spcPct val="112000"/>
              </a:lnSpc>
              <a:spcAft>
                <a:spcPts val="472"/>
              </a:spcAft>
              <a:buClr>
                <a:srgbClr val="1F3A5F"/>
              </a:buClr>
              <a:buChar char="•"/>
            </a:pPr>
            <a:r>
              <a:rPr sz="1350" b="0" i="0">
                <a:solidFill>
                  <a:srgbClr val="222222"/>
                </a:solidFill>
                <a:latin typeface="Arial"/>
                <a:ea typeface="微软雅黑"/>
                <a:cs typeface="Arial"/>
              </a:rPr>
              <a:t>寒假与春运跟车、行政村入户、线上问卷（计划），未成年人由家长回答</a:t>
            </a:r>
          </a:p>
          <a:p>
            <a:pPr algn="l" marL="180022" indent="-180022">
              <a:lnSpc>
                <a:spcPct val="112000"/>
              </a:lnSpc>
              <a:spcAft>
                <a:spcPts val="0"/>
              </a:spcAft>
              <a:buClr>
                <a:srgbClr val="1F3A5F"/>
              </a:buClr>
              <a:buChar char="•"/>
            </a:pPr>
            <a:r>
              <a:rPr sz="1350" b="0" i="0">
                <a:solidFill>
                  <a:srgbClr val="222222"/>
                </a:solidFill>
                <a:latin typeface="Arial"/>
                <a:ea typeface="微软雅黑"/>
                <a:cs typeface="Arial"/>
              </a:rPr>
              <a:t>问卷补充乘客群体构成与期望出发时刻；农村出行受收入、距离和服务水平共同影响</a:t>
            </a:r>
            <a:r>
              <a:rPr sz="1350" b="0" i="0" baseline="30000">
                <a:solidFill>
                  <a:srgbClr val="222222"/>
                </a:solidFill>
                <a:latin typeface="Arial"/>
                <a:ea typeface="微软雅黑"/>
                <a:cs typeface="Arial"/>
              </a:rPr>
              <a:t>[27]</a:t>
            </a:r>
          </a:p>
        </p:txBody>
      </p:sp>
      <p:sp>
        <p:nvSpPr>
          <p:cNvPr id="16" name="Rectangle 15"/>
          <p:cNvSpPr/>
          <p:nvPr/>
        </p:nvSpPr>
        <p:spPr>
          <a:xfrm>
            <a:off x="6422752" y="5852160"/>
            <a:ext cx="5308999" cy="502920"/>
          </a:xfrm>
          <a:prstGeom prst="rect">
            <a:avLst/>
          </a:prstGeom>
          <a:solidFill>
            <a:srgbClr val="E9EC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TextBox 16"/>
          <p:cNvSpPr txBox="1"/>
          <p:nvPr/>
        </p:nvSpPr>
        <p:spPr>
          <a:xfrm>
            <a:off x="6495904" y="5852160"/>
            <a:ext cx="5162695" cy="502920"/>
          </a:xfrm>
          <a:prstGeom prst="rect">
            <a:avLst/>
          </a:prstGeom>
          <a:noFill/>
        </p:spPr>
        <p:txBody>
          <a:bodyPr wrap="square" lIns="73152" rIns="73152" tIns="73152" bIns="73152" anchor="ctr">
            <a:noAutofit/>
          </a:bodyPr>
          <a:lstStyle/>
          <a:p>
            <a:pPr algn="l">
              <a:lnSpc>
                <a:spcPct val="112000"/>
              </a:lnSpc>
              <a:spcAft>
                <a:spcPts val="0"/>
              </a:spcAft>
            </a:pPr>
            <a:r>
              <a:rPr sz="1400" b="1" i="0">
                <a:solidFill>
                  <a:srgbClr val="1F3A5F"/>
                </a:solidFill>
                <a:latin typeface="Arial"/>
                <a:ea typeface="微软雅黑"/>
                <a:cs typeface="Arial"/>
              </a:rPr>
              <a:t>观测口径：每趟班次只有全程总登乘人数，无站点上下客和 OD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四、研究区、数据与模拟检验设计</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650" b="1" i="0">
                <a:solidFill>
                  <a:srgbClr val="1F3A5F"/>
                </a:solidFill>
                <a:latin typeface="Arial"/>
                <a:ea typeface="微软雅黑"/>
                <a:cs typeface="Arial"/>
              </a:rPr>
              <a:t>真实逐班次数据到位前，先在“已知真值”的模拟系统中检验整条研究路径</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9 / 20</a:t>
            </a:r>
          </a:p>
        </p:txBody>
      </p:sp>
      <p:sp>
        <p:nvSpPr>
          <p:cNvPr id="6" name="Rectangle 5"/>
          <p:cNvSpPr/>
          <p:nvPr/>
        </p:nvSpPr>
        <p:spPr>
          <a:xfrm>
            <a:off x="457200" y="6446520"/>
            <a:ext cx="9966960" cy="292608"/>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lnSpc>
                <a:spcPct val="112000"/>
              </a:lnSpc>
            </a:pPr>
            <a:r>
              <a:rPr sz="1000" b="0" i="0">
                <a:solidFill>
                  <a:srgbClr val="E76F51"/>
                </a:solidFill>
                <a:latin typeface="Arial"/>
                <a:ea typeface="微软雅黑"/>
                <a:cs typeface="Arial"/>
              </a:rPr>
              <a:t>模拟数据检验结果（SYNTHETIC），仅用于检验研究路径，不代表新晃实际情况</a:t>
            </a:r>
          </a:p>
        </p:txBody>
      </p:sp>
      <p:pic>
        <p:nvPicPr>
          <p:cNvPr id="7" name="Picture 6" descr="图_模拟数据核对.png"/>
          <p:cNvPicPr>
            <a:picLocks noChangeAspect="1"/>
          </p:cNvPicPr>
          <p:nvPr/>
        </p:nvPicPr>
        <p:blipFill>
          <a:blip r:embed="rId2"/>
          <a:stretch>
            <a:fillRect/>
          </a:stretch>
        </p:blipFill>
        <p:spPr>
          <a:xfrm>
            <a:off x="457200" y="1371600"/>
            <a:ext cx="5168986" cy="4709160"/>
          </a:xfrm>
          <a:prstGeom prst="rect">
            <a:avLst/>
          </a:prstGeom>
        </p:spPr>
      </p:pic>
      <p:sp>
        <p:nvSpPr>
          <p:cNvPr id="8" name="TextBox 7"/>
          <p:cNvSpPr txBox="1"/>
          <p:nvPr/>
        </p:nvSpPr>
        <p:spPr>
          <a:xfrm>
            <a:off x="457200" y="6099048"/>
            <a:ext cx="5168986" cy="256032"/>
          </a:xfrm>
          <a:prstGeom prst="rect">
            <a:avLst/>
          </a:prstGeom>
          <a:noFill/>
        </p:spPr>
        <p:txBody>
          <a:bodyPr wrap="square" lIns="73152" rIns="73152" tIns="18288" bIns="18288" anchor="t">
            <a:noAutofit/>
          </a:bodyPr>
          <a:lstStyle/>
          <a:p>
            <a:pPr algn="l">
              <a:lnSpc>
                <a:spcPct val="112000"/>
              </a:lnSpc>
              <a:spcAft>
                <a:spcPts val="0"/>
              </a:spcAft>
            </a:pPr>
            <a:r>
              <a:rPr sz="1050" b="0" i="0">
                <a:solidFill>
                  <a:srgbClr val="6C757D"/>
                </a:solidFill>
                <a:latin typeface="Arial"/>
                <a:ea typeface="微软雅黑"/>
                <a:cs typeface="Arial"/>
              </a:rPr>
              <a:t>图：模拟数据核对（模拟数据，SYNTHETIC）</a:t>
            </a:r>
          </a:p>
        </p:txBody>
      </p:sp>
      <p:sp>
        <p:nvSpPr>
          <p:cNvPr id="9" name="TextBox 8"/>
          <p:cNvSpPr txBox="1"/>
          <p:nvPr/>
        </p:nvSpPr>
        <p:spPr>
          <a:xfrm>
            <a:off x="5946226" y="1371600"/>
            <a:ext cx="5785525" cy="3520440"/>
          </a:xfrm>
          <a:prstGeom prst="rect">
            <a:avLst/>
          </a:prstGeom>
          <a:noFill/>
        </p:spPr>
        <p:txBody>
          <a:bodyPr wrap="square" lIns="73152" rIns="73152" tIns="73152" bIns="73152" anchor="t">
            <a:noAutofit/>
          </a:bodyPr>
          <a:lstStyle/>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为什么要模拟：真实数据中看不到潜在需求，无法判断权重是否识别正确、删失是否还原到位；模拟系统为每个班次保留“真值”（潜在需求、群体构成、未满足人数）</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规模：</a:t>
            </a:r>
            <a:r>
              <a:rPr sz="1600" b="1" i="0">
                <a:solidFill>
                  <a:srgbClr val="E76F51"/>
                </a:solidFill>
                <a:latin typeface="Arial"/>
                <a:ea typeface="微软雅黑"/>
                <a:cs typeface="Arial"/>
              </a:rPr>
              <a:t>852</a:t>
            </a:r>
            <a:r>
              <a:rPr sz="1600" b="0" i="0">
                <a:solidFill>
                  <a:srgbClr val="222222"/>
                </a:solidFill>
                <a:latin typeface="Arial"/>
                <a:ea typeface="微软雅黑"/>
                <a:cs typeface="Arial"/>
              </a:rPr>
              <a:t> 天，</a:t>
            </a:r>
            <a:r>
              <a:rPr sz="1600" b="1" i="0">
                <a:solidFill>
                  <a:srgbClr val="E76F51"/>
                </a:solidFill>
                <a:latin typeface="Arial"/>
                <a:ea typeface="微软雅黑"/>
                <a:cs typeface="Arial"/>
              </a:rPr>
              <a:t>116127</a:t>
            </a:r>
            <a:r>
              <a:rPr sz="1600" b="0" i="0">
                <a:solidFill>
                  <a:srgbClr val="222222"/>
                </a:solidFill>
                <a:latin typeface="Arial"/>
                <a:ea typeface="微软雅黑"/>
                <a:cs typeface="Arial"/>
              </a:rPr>
              <a:t> 个班次观测；满载删失班次占 </a:t>
            </a:r>
            <a:r>
              <a:rPr sz="1600" b="1" i="0">
                <a:solidFill>
                  <a:srgbClr val="E76F51"/>
                </a:solidFill>
                <a:latin typeface="Arial"/>
                <a:ea typeface="微软雅黑"/>
                <a:cs typeface="Arial"/>
              </a:rPr>
              <a:t>3.0%</a:t>
            </a:r>
            <a:r>
              <a:rPr sz="1600" b="0" i="0">
                <a:solidFill>
                  <a:srgbClr val="222222"/>
                </a:solidFill>
                <a:latin typeface="Arial"/>
                <a:ea typeface="微软雅黑"/>
                <a:cs typeface="Arial"/>
              </a:rPr>
              <a:t>；调度员临时加班 </a:t>
            </a:r>
            <a:r>
              <a:rPr sz="1600" b="1" i="0">
                <a:solidFill>
                  <a:srgbClr val="E76F51"/>
                </a:solidFill>
                <a:latin typeface="Arial"/>
                <a:ea typeface="微软雅黑"/>
                <a:cs typeface="Arial"/>
              </a:rPr>
              <a:t>255</a:t>
            </a:r>
            <a:r>
              <a:rPr sz="1600" b="0" i="0">
                <a:solidFill>
                  <a:srgbClr val="222222"/>
                </a:solidFill>
                <a:latin typeface="Arial"/>
                <a:ea typeface="微软雅黑"/>
                <a:cs typeface="Arial"/>
              </a:rPr>
              <a:t> 次；四套模拟问卷共 </a:t>
            </a:r>
            <a:r>
              <a:rPr sz="1600" b="1" i="0">
                <a:solidFill>
                  <a:srgbClr val="E76F51"/>
                </a:solidFill>
                <a:latin typeface="Arial"/>
                <a:ea typeface="微软雅黑"/>
                <a:cs typeface="Arial"/>
              </a:rPr>
              <a:t>808</a:t>
            </a:r>
            <a:r>
              <a:rPr sz="1600" b="0" i="0">
                <a:solidFill>
                  <a:srgbClr val="222222"/>
                </a:solidFill>
                <a:latin typeface="Arial"/>
                <a:ea typeface="微软雅黑"/>
                <a:cs typeface="Arial"/>
              </a:rPr>
              <a:t> 份</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用真实的时刻表、日历校历与天气驱动，并与真实县站台账核对总量</a:t>
            </a:r>
          </a:p>
          <a:p>
            <a:pPr algn="l" marL="213360" indent="-213360">
              <a:lnSpc>
                <a:spcPct val="112000"/>
              </a:lnSpc>
              <a:spcAft>
                <a:spcPts val="0"/>
              </a:spcAft>
              <a:buClr>
                <a:srgbClr val="1F3A5F"/>
              </a:buClr>
              <a:buChar char="•"/>
            </a:pPr>
            <a:r>
              <a:rPr sz="1600" b="0" i="0">
                <a:solidFill>
                  <a:srgbClr val="222222"/>
                </a:solidFill>
                <a:latin typeface="Arial"/>
                <a:ea typeface="微软雅黑"/>
                <a:cs typeface="Arial"/>
              </a:rPr>
              <a:t>真实数据到位后：跳过模拟的两个步骤，按同一流程重算（附录 A 操作指南）</a:t>
            </a:r>
          </a:p>
        </p:txBody>
      </p:sp>
      <p:sp>
        <p:nvSpPr>
          <p:cNvPr id="10" name="Rectangle 9"/>
          <p:cNvSpPr/>
          <p:nvPr/>
        </p:nvSpPr>
        <p:spPr>
          <a:xfrm>
            <a:off x="5946226" y="5029200"/>
            <a:ext cx="1377801" cy="12801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5946226" y="5074920"/>
            <a:ext cx="1377801" cy="685800"/>
          </a:xfrm>
          <a:prstGeom prst="rect">
            <a:avLst/>
          </a:prstGeom>
          <a:noFill/>
        </p:spPr>
        <p:txBody>
          <a:bodyPr wrap="square" lIns="73152" rIns="73152" tIns="73152" bIns="73152" anchor="ctr">
            <a:noAutofit/>
          </a:bodyPr>
          <a:lstStyle/>
          <a:p>
            <a:pPr algn="ctr">
              <a:lnSpc>
                <a:spcPct val="112000"/>
              </a:lnSpc>
              <a:spcAft>
                <a:spcPts val="0"/>
              </a:spcAft>
            </a:pPr>
            <a:r>
              <a:rPr sz="2200" b="1" i="0">
                <a:solidFill>
                  <a:srgbClr val="E76F51"/>
                </a:solidFill>
                <a:latin typeface="Arial"/>
                <a:ea typeface="微软雅黑"/>
                <a:cs typeface="Arial"/>
              </a:rPr>
              <a:t>852天</a:t>
            </a:r>
          </a:p>
        </p:txBody>
      </p:sp>
      <p:sp>
        <p:nvSpPr>
          <p:cNvPr id="12" name="TextBox 11"/>
          <p:cNvSpPr txBox="1"/>
          <p:nvPr/>
        </p:nvSpPr>
        <p:spPr>
          <a:xfrm>
            <a:off x="5946226" y="5760720"/>
            <a:ext cx="1377801" cy="502920"/>
          </a:xfrm>
          <a:prstGeom prst="rect">
            <a:avLst/>
          </a:prstGeom>
          <a:noFill/>
        </p:spPr>
        <p:txBody>
          <a:bodyPr wrap="square" lIns="73152" rIns="73152" tIns="73152" bIns="73152" anchor="t">
            <a:noAutofit/>
          </a:bodyPr>
          <a:lstStyle/>
          <a:p>
            <a:pPr algn="ctr">
              <a:lnSpc>
                <a:spcPct val="112000"/>
              </a:lnSpc>
              <a:spcAft>
                <a:spcPts val="0"/>
              </a:spcAft>
            </a:pPr>
            <a:r>
              <a:rPr sz="1100" b="0" i="0">
                <a:solidFill>
                  <a:srgbClr val="6C757D"/>
                </a:solidFill>
                <a:latin typeface="Arial"/>
                <a:ea typeface="微软雅黑"/>
                <a:cs typeface="Arial"/>
              </a:rPr>
              <a:t>模拟天数</a:t>
            </a:r>
          </a:p>
        </p:txBody>
      </p:sp>
      <p:sp>
        <p:nvSpPr>
          <p:cNvPr id="13" name="Rectangle 12"/>
          <p:cNvSpPr/>
          <p:nvPr/>
        </p:nvSpPr>
        <p:spPr>
          <a:xfrm>
            <a:off x="7415467" y="5029200"/>
            <a:ext cx="1377801" cy="12801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7415467" y="5074920"/>
            <a:ext cx="1377801" cy="685800"/>
          </a:xfrm>
          <a:prstGeom prst="rect">
            <a:avLst/>
          </a:prstGeom>
          <a:noFill/>
        </p:spPr>
        <p:txBody>
          <a:bodyPr wrap="square" lIns="73152" rIns="73152" tIns="73152" bIns="73152" anchor="ctr">
            <a:noAutofit/>
          </a:bodyPr>
          <a:lstStyle/>
          <a:p>
            <a:pPr algn="ctr">
              <a:lnSpc>
                <a:spcPct val="112000"/>
              </a:lnSpc>
              <a:spcAft>
                <a:spcPts val="0"/>
              </a:spcAft>
            </a:pPr>
            <a:r>
              <a:rPr sz="2100" b="1" i="0">
                <a:solidFill>
                  <a:srgbClr val="E76F51"/>
                </a:solidFill>
                <a:latin typeface="Arial"/>
                <a:ea typeface="微软雅黑"/>
                <a:cs typeface="Arial"/>
              </a:rPr>
              <a:t>116127个</a:t>
            </a:r>
          </a:p>
        </p:txBody>
      </p:sp>
      <p:sp>
        <p:nvSpPr>
          <p:cNvPr id="15" name="TextBox 14"/>
          <p:cNvSpPr txBox="1"/>
          <p:nvPr/>
        </p:nvSpPr>
        <p:spPr>
          <a:xfrm>
            <a:off x="7415467" y="5760720"/>
            <a:ext cx="1377801" cy="502920"/>
          </a:xfrm>
          <a:prstGeom prst="rect">
            <a:avLst/>
          </a:prstGeom>
          <a:noFill/>
        </p:spPr>
        <p:txBody>
          <a:bodyPr wrap="square" lIns="73152" rIns="73152" tIns="73152" bIns="73152" anchor="t">
            <a:noAutofit/>
          </a:bodyPr>
          <a:lstStyle/>
          <a:p>
            <a:pPr algn="ctr">
              <a:lnSpc>
                <a:spcPct val="112000"/>
              </a:lnSpc>
              <a:spcAft>
                <a:spcPts val="0"/>
              </a:spcAft>
            </a:pPr>
            <a:r>
              <a:rPr sz="1100" b="0" i="0">
                <a:solidFill>
                  <a:srgbClr val="6C757D"/>
                </a:solidFill>
                <a:latin typeface="Arial"/>
                <a:ea typeface="微软雅黑"/>
                <a:cs typeface="Arial"/>
              </a:rPr>
              <a:t>班次观测</a:t>
            </a:r>
          </a:p>
        </p:txBody>
      </p:sp>
      <p:sp>
        <p:nvSpPr>
          <p:cNvPr id="16" name="Rectangle 15"/>
          <p:cNvSpPr/>
          <p:nvPr/>
        </p:nvSpPr>
        <p:spPr>
          <a:xfrm>
            <a:off x="8884709" y="5029200"/>
            <a:ext cx="1377801" cy="12801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TextBox 16"/>
          <p:cNvSpPr txBox="1"/>
          <p:nvPr/>
        </p:nvSpPr>
        <p:spPr>
          <a:xfrm>
            <a:off x="8884709" y="5074920"/>
            <a:ext cx="1377801" cy="685800"/>
          </a:xfrm>
          <a:prstGeom prst="rect">
            <a:avLst/>
          </a:prstGeom>
          <a:noFill/>
        </p:spPr>
        <p:txBody>
          <a:bodyPr wrap="square" lIns="73152" rIns="73152" tIns="73152" bIns="73152" anchor="ctr">
            <a:noAutofit/>
          </a:bodyPr>
          <a:lstStyle/>
          <a:p>
            <a:pPr algn="ctr">
              <a:lnSpc>
                <a:spcPct val="112000"/>
              </a:lnSpc>
              <a:spcAft>
                <a:spcPts val="0"/>
              </a:spcAft>
            </a:pPr>
            <a:r>
              <a:rPr sz="2200" b="1" i="0">
                <a:solidFill>
                  <a:srgbClr val="E76F51"/>
                </a:solidFill>
                <a:latin typeface="Arial"/>
                <a:ea typeface="微软雅黑"/>
                <a:cs typeface="Arial"/>
              </a:rPr>
              <a:t>3.0%</a:t>
            </a:r>
          </a:p>
        </p:txBody>
      </p:sp>
      <p:sp>
        <p:nvSpPr>
          <p:cNvPr id="18" name="TextBox 17"/>
          <p:cNvSpPr txBox="1"/>
          <p:nvPr/>
        </p:nvSpPr>
        <p:spPr>
          <a:xfrm>
            <a:off x="8884709" y="5760720"/>
            <a:ext cx="1377801" cy="502920"/>
          </a:xfrm>
          <a:prstGeom prst="rect">
            <a:avLst/>
          </a:prstGeom>
          <a:noFill/>
        </p:spPr>
        <p:txBody>
          <a:bodyPr wrap="square" lIns="73152" rIns="73152" tIns="73152" bIns="73152" anchor="t">
            <a:noAutofit/>
          </a:bodyPr>
          <a:lstStyle/>
          <a:p>
            <a:pPr algn="ctr">
              <a:lnSpc>
                <a:spcPct val="112000"/>
              </a:lnSpc>
              <a:spcAft>
                <a:spcPts val="0"/>
              </a:spcAft>
            </a:pPr>
            <a:r>
              <a:rPr sz="1100" b="0" i="0">
                <a:solidFill>
                  <a:srgbClr val="6C757D"/>
                </a:solidFill>
                <a:latin typeface="Arial"/>
                <a:ea typeface="微软雅黑"/>
                <a:cs typeface="Arial"/>
              </a:rPr>
              <a:t>满载删失班次占比</a:t>
            </a:r>
          </a:p>
        </p:txBody>
      </p:sp>
      <p:sp>
        <p:nvSpPr>
          <p:cNvPr id="19" name="Rectangle 18"/>
          <p:cNvSpPr/>
          <p:nvPr/>
        </p:nvSpPr>
        <p:spPr>
          <a:xfrm>
            <a:off x="10353950" y="5029200"/>
            <a:ext cx="1377801" cy="12801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10353950" y="5074920"/>
            <a:ext cx="1377801" cy="685800"/>
          </a:xfrm>
          <a:prstGeom prst="rect">
            <a:avLst/>
          </a:prstGeom>
          <a:noFill/>
        </p:spPr>
        <p:txBody>
          <a:bodyPr wrap="square" lIns="73152" rIns="73152" tIns="73152" bIns="73152" anchor="ctr">
            <a:noAutofit/>
          </a:bodyPr>
          <a:lstStyle/>
          <a:p>
            <a:pPr algn="ctr">
              <a:lnSpc>
                <a:spcPct val="112000"/>
              </a:lnSpc>
              <a:spcAft>
                <a:spcPts val="0"/>
              </a:spcAft>
            </a:pPr>
            <a:r>
              <a:rPr sz="2200" b="1" i="0">
                <a:solidFill>
                  <a:srgbClr val="E76F51"/>
                </a:solidFill>
                <a:latin typeface="Arial"/>
                <a:ea typeface="微软雅黑"/>
                <a:cs typeface="Arial"/>
              </a:rPr>
              <a:t>808份</a:t>
            </a:r>
          </a:p>
        </p:txBody>
      </p:sp>
      <p:sp>
        <p:nvSpPr>
          <p:cNvPr id="21" name="TextBox 20"/>
          <p:cNvSpPr txBox="1"/>
          <p:nvPr/>
        </p:nvSpPr>
        <p:spPr>
          <a:xfrm>
            <a:off x="10353950" y="5760720"/>
            <a:ext cx="1377801" cy="502920"/>
          </a:xfrm>
          <a:prstGeom prst="rect">
            <a:avLst/>
          </a:prstGeom>
          <a:noFill/>
        </p:spPr>
        <p:txBody>
          <a:bodyPr wrap="square" lIns="73152" rIns="73152" tIns="73152" bIns="73152" anchor="t">
            <a:noAutofit/>
          </a:bodyPr>
          <a:lstStyle/>
          <a:p>
            <a:pPr algn="ctr">
              <a:lnSpc>
                <a:spcPct val="112000"/>
              </a:lnSpc>
              <a:spcAft>
                <a:spcPts val="0"/>
              </a:spcAft>
            </a:pPr>
            <a:r>
              <a:rPr sz="1100" b="0" i="0">
                <a:solidFill>
                  <a:srgbClr val="6C757D"/>
                </a:solidFill>
                <a:latin typeface="Arial"/>
                <a:ea typeface="微软雅黑"/>
                <a:cs typeface="Arial"/>
              </a:rPr>
              <a:t>四套模拟问卷</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五、四个计算模型及其检验结果</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模型一（RQ1）：删失负二项还原潜在需求，因子族 Shapley 分解给出八类节律的权重</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10 / 20</a:t>
            </a:r>
          </a:p>
        </p:txBody>
      </p:sp>
      <p:sp>
        <p:nvSpPr>
          <p:cNvPr id="6" name="Rectangle 5"/>
          <p:cNvSpPr/>
          <p:nvPr/>
        </p:nvSpPr>
        <p:spPr>
          <a:xfrm>
            <a:off x="457200" y="1463040"/>
            <a:ext cx="3429000" cy="713232"/>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457200" y="1463040"/>
            <a:ext cx="3429000" cy="713232"/>
          </a:xfrm>
          <a:prstGeom prst="rect">
            <a:avLst/>
          </a:prstGeom>
          <a:noFill/>
        </p:spPr>
        <p:txBody>
          <a:bodyPr wrap="square" lIns="73152" rIns="73152" tIns="73152" bIns="73152" anchor="ctr">
            <a:noAutofit/>
          </a:bodyPr>
          <a:lstStyle/>
          <a:p>
            <a:pPr algn="ctr">
              <a:lnSpc>
                <a:spcPct val="112000"/>
              </a:lnSpc>
              <a:spcAft>
                <a:spcPts val="472"/>
              </a:spcAft>
            </a:pPr>
            <a:r>
              <a:rPr sz="1350" b="1" i="0">
                <a:solidFill>
                  <a:srgbClr val="1F3A5F"/>
                </a:solidFill>
                <a:latin typeface="Arial"/>
                <a:ea typeface="微软雅黑"/>
                <a:cs typeface="Arial"/>
              </a:rPr>
              <a:t>逐班次台账</a:t>
            </a:r>
          </a:p>
          <a:p>
            <a:pPr algn="ctr">
              <a:lnSpc>
                <a:spcPct val="112000"/>
              </a:lnSpc>
              <a:spcAft>
                <a:spcPts val="0"/>
              </a:spcAft>
            </a:pPr>
            <a:r>
              <a:rPr sz="1350" b="1" i="0">
                <a:solidFill>
                  <a:srgbClr val="1F3A5F"/>
                </a:solidFill>
                <a:latin typeface="Arial"/>
                <a:ea typeface="微软雅黑"/>
                <a:cs typeface="Arial"/>
              </a:rPr>
              <a:t>每趟班次的全程总登乘人数</a:t>
            </a:r>
          </a:p>
        </p:txBody>
      </p:sp>
      <p:cxnSp>
        <p:nvCxnSpPr>
          <p:cNvPr id="8" name="Connector 7"/>
          <p:cNvCxnSpPr/>
          <p:nvPr/>
        </p:nvCxnSpPr>
        <p:spPr>
          <a:xfrm>
            <a:off x="2171700" y="2194560"/>
            <a:ext cx="0" cy="283464"/>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57200" y="2496312"/>
            <a:ext cx="3429000" cy="7132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TextBox 9"/>
          <p:cNvSpPr txBox="1"/>
          <p:nvPr/>
        </p:nvSpPr>
        <p:spPr>
          <a:xfrm>
            <a:off x="457200" y="2496312"/>
            <a:ext cx="3429000" cy="713232"/>
          </a:xfrm>
          <a:prstGeom prst="rect">
            <a:avLst/>
          </a:prstGeom>
          <a:noFill/>
        </p:spPr>
        <p:txBody>
          <a:bodyPr wrap="square" lIns="73152" rIns="73152" tIns="73152" bIns="73152" anchor="ctr">
            <a:noAutofit/>
          </a:bodyPr>
          <a:lstStyle/>
          <a:p>
            <a:pPr algn="ctr">
              <a:lnSpc>
                <a:spcPct val="112000"/>
              </a:lnSpc>
              <a:spcAft>
                <a:spcPts val="472"/>
              </a:spcAft>
            </a:pPr>
            <a:r>
              <a:rPr sz="1350" b="1" i="0">
                <a:solidFill>
                  <a:srgbClr val="FFFFFF"/>
                </a:solidFill>
                <a:latin typeface="Arial"/>
                <a:ea typeface="微软雅黑"/>
                <a:cs typeface="Arial"/>
              </a:rPr>
              <a:t>删失负二项</a:t>
            </a:r>
          </a:p>
          <a:p>
            <a:pPr algn="ctr">
              <a:lnSpc>
                <a:spcPct val="112000"/>
              </a:lnSpc>
              <a:spcAft>
                <a:spcPts val="0"/>
              </a:spcAft>
            </a:pPr>
            <a:r>
              <a:rPr sz="1350" b="1" i="0">
                <a:solidFill>
                  <a:srgbClr val="FFFFFF"/>
                </a:solidFill>
                <a:latin typeface="Arial"/>
                <a:ea typeface="微软雅黑"/>
                <a:cs typeface="Arial"/>
              </a:rPr>
              <a:t>满载班次只知 Y* ≥ 座位数 c</a:t>
            </a:r>
          </a:p>
        </p:txBody>
      </p:sp>
      <p:cxnSp>
        <p:nvCxnSpPr>
          <p:cNvPr id="11" name="Connector 10"/>
          <p:cNvCxnSpPr/>
          <p:nvPr/>
        </p:nvCxnSpPr>
        <p:spPr>
          <a:xfrm>
            <a:off x="2171700" y="3227832"/>
            <a:ext cx="0" cy="283464"/>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995928" y="2587752"/>
            <a:ext cx="27432" cy="530352"/>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TextBox 12"/>
          <p:cNvSpPr txBox="1"/>
          <p:nvPr/>
        </p:nvSpPr>
        <p:spPr>
          <a:xfrm>
            <a:off x="4069080" y="2386584"/>
            <a:ext cx="1874519" cy="932688"/>
          </a:xfrm>
          <a:prstGeom prst="rect">
            <a:avLst/>
          </a:prstGeom>
          <a:noFill/>
        </p:spPr>
        <p:txBody>
          <a:bodyPr wrap="square" lIns="73152" rIns="73152" tIns="73152" bIns="73152" anchor="ctr">
            <a:noAutofit/>
          </a:bodyPr>
          <a:lstStyle/>
          <a:p>
            <a:pPr algn="l">
              <a:lnSpc>
                <a:spcPct val="112000"/>
              </a:lnSpc>
              <a:spcAft>
                <a:spcPts val="0"/>
              </a:spcAft>
            </a:pPr>
            <a:r>
              <a:rPr sz="1300" b="0" i="0">
                <a:solidFill>
                  <a:srgbClr val="6C757D"/>
                </a:solidFill>
                <a:latin typeface="Arial"/>
                <a:ea typeface="微软雅黑"/>
                <a:cs typeface="Arial"/>
              </a:rPr>
              <a:t>负二项描述过离散的计数</a:t>
            </a:r>
            <a:r>
              <a:rPr sz="1300" b="0" i="0" baseline="30000">
                <a:solidFill>
                  <a:srgbClr val="6C757D"/>
                </a:solidFill>
                <a:latin typeface="Arial"/>
                <a:ea typeface="微软雅黑"/>
                <a:cs typeface="Arial"/>
              </a:rPr>
              <a:t>[28]</a:t>
            </a:r>
            <a:r>
              <a:rPr sz="1300" b="0" i="0">
                <a:solidFill>
                  <a:srgbClr val="6C757D"/>
                </a:solidFill>
                <a:latin typeface="Arial"/>
                <a:ea typeface="微软雅黑"/>
                <a:cs typeface="Arial"/>
              </a:rPr>
              <a:t>；删失借用收益管理的需求还原思路</a:t>
            </a:r>
            <a:r>
              <a:rPr sz="1300" b="0" i="0" baseline="30000">
                <a:solidFill>
                  <a:srgbClr val="6C757D"/>
                </a:solidFill>
                <a:latin typeface="Arial"/>
                <a:ea typeface="微软雅黑"/>
                <a:cs typeface="Arial"/>
              </a:rPr>
              <a:t>[29]</a:t>
            </a:r>
          </a:p>
        </p:txBody>
      </p:sp>
      <p:sp>
        <p:nvSpPr>
          <p:cNvPr id="14" name="Rectangle 13"/>
          <p:cNvSpPr/>
          <p:nvPr/>
        </p:nvSpPr>
        <p:spPr>
          <a:xfrm>
            <a:off x="457200" y="3529584"/>
            <a:ext cx="3429000" cy="713232"/>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 name="TextBox 14"/>
          <p:cNvSpPr txBox="1"/>
          <p:nvPr/>
        </p:nvSpPr>
        <p:spPr>
          <a:xfrm>
            <a:off x="457200" y="3529584"/>
            <a:ext cx="3429000" cy="713232"/>
          </a:xfrm>
          <a:prstGeom prst="rect">
            <a:avLst/>
          </a:prstGeom>
          <a:noFill/>
        </p:spPr>
        <p:txBody>
          <a:bodyPr wrap="square" lIns="73152" rIns="73152" tIns="73152" bIns="73152" anchor="ctr">
            <a:noAutofit/>
          </a:bodyPr>
          <a:lstStyle/>
          <a:p>
            <a:pPr algn="ctr">
              <a:lnSpc>
                <a:spcPct val="112000"/>
              </a:lnSpc>
              <a:spcAft>
                <a:spcPts val="472"/>
              </a:spcAft>
            </a:pPr>
            <a:r>
              <a:rPr sz="1350" b="1" i="0">
                <a:solidFill>
                  <a:srgbClr val="1F3A5F"/>
                </a:solidFill>
                <a:latin typeface="Arial"/>
                <a:ea typeface="微软雅黑"/>
                <a:cs typeface="Arial"/>
              </a:rPr>
              <a:t>期望需求 log μ̂</a:t>
            </a:r>
          </a:p>
          <a:p>
            <a:pPr algn="ctr">
              <a:lnSpc>
                <a:spcPct val="112000"/>
              </a:lnSpc>
              <a:spcAft>
                <a:spcPts val="0"/>
              </a:spcAft>
            </a:pPr>
            <a:r>
              <a:rPr sz="1350" b="1" i="0">
                <a:solidFill>
                  <a:srgbClr val="1F3A5F"/>
                </a:solidFill>
                <a:latin typeface="Arial"/>
                <a:ea typeface="微软雅黑"/>
                <a:cs typeface="Arial"/>
              </a:rPr>
              <a:t>线路×方向基线 + 八个因子族</a:t>
            </a:r>
          </a:p>
        </p:txBody>
      </p:sp>
      <p:cxnSp>
        <p:nvCxnSpPr>
          <p:cNvPr id="16" name="Connector 15"/>
          <p:cNvCxnSpPr/>
          <p:nvPr/>
        </p:nvCxnSpPr>
        <p:spPr>
          <a:xfrm>
            <a:off x="2171700" y="4261103"/>
            <a:ext cx="0" cy="283465"/>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57200" y="4562856"/>
            <a:ext cx="3429000" cy="71323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8" name="TextBox 17"/>
          <p:cNvSpPr txBox="1"/>
          <p:nvPr/>
        </p:nvSpPr>
        <p:spPr>
          <a:xfrm>
            <a:off x="457200" y="4562856"/>
            <a:ext cx="3429000" cy="713232"/>
          </a:xfrm>
          <a:prstGeom prst="rect">
            <a:avLst/>
          </a:prstGeom>
          <a:noFill/>
        </p:spPr>
        <p:txBody>
          <a:bodyPr wrap="square" lIns="73152" rIns="73152" tIns="73152" bIns="73152" anchor="ctr">
            <a:noAutofit/>
          </a:bodyPr>
          <a:lstStyle/>
          <a:p>
            <a:pPr algn="ctr">
              <a:lnSpc>
                <a:spcPct val="112000"/>
              </a:lnSpc>
              <a:spcAft>
                <a:spcPts val="472"/>
              </a:spcAft>
            </a:pPr>
            <a:r>
              <a:rPr sz="1350" b="1" i="0">
                <a:solidFill>
                  <a:srgbClr val="FFFFFF"/>
                </a:solidFill>
                <a:latin typeface="Arial"/>
                <a:ea typeface="微软雅黑"/>
                <a:cs typeface="Arial"/>
              </a:rPr>
              <a:t>因子族 Shapley 分解</a:t>
            </a:r>
          </a:p>
          <a:p>
            <a:pPr algn="ctr">
              <a:lnSpc>
                <a:spcPct val="112000"/>
              </a:lnSpc>
              <a:spcAft>
                <a:spcPts val="0"/>
              </a:spcAft>
            </a:pPr>
            <a:r>
              <a:rPr sz="1350" b="1" i="0">
                <a:solidFill>
                  <a:srgbClr val="FFFFFF"/>
                </a:solidFill>
                <a:latin typeface="Arial"/>
                <a:ea typeface="微软雅黑"/>
                <a:cs typeface="Arial"/>
              </a:rPr>
              <a:t>R² 在 8 个因子族的全部排列上平均分配</a:t>
            </a:r>
          </a:p>
        </p:txBody>
      </p:sp>
      <p:cxnSp>
        <p:nvCxnSpPr>
          <p:cNvPr id="19" name="Connector 18"/>
          <p:cNvCxnSpPr/>
          <p:nvPr/>
        </p:nvCxnSpPr>
        <p:spPr>
          <a:xfrm>
            <a:off x="2171700" y="5294376"/>
            <a:ext cx="0" cy="283464"/>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3995928" y="4654296"/>
            <a:ext cx="27432" cy="530352"/>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1" name="TextBox 20"/>
          <p:cNvSpPr txBox="1"/>
          <p:nvPr/>
        </p:nvSpPr>
        <p:spPr>
          <a:xfrm>
            <a:off x="4069080" y="4453128"/>
            <a:ext cx="1874519" cy="932688"/>
          </a:xfrm>
          <a:prstGeom prst="rect">
            <a:avLst/>
          </a:prstGeom>
          <a:noFill/>
        </p:spPr>
        <p:txBody>
          <a:bodyPr wrap="square" lIns="73152" rIns="73152" tIns="73152" bIns="73152" anchor="ctr">
            <a:noAutofit/>
          </a:bodyPr>
          <a:lstStyle/>
          <a:p>
            <a:pPr algn="l">
              <a:lnSpc>
                <a:spcPct val="112000"/>
              </a:lnSpc>
              <a:spcAft>
                <a:spcPts val="0"/>
              </a:spcAft>
            </a:pPr>
            <a:r>
              <a:rPr sz="1300" b="0" i="0">
                <a:solidFill>
                  <a:srgbClr val="6C757D"/>
                </a:solidFill>
                <a:latin typeface="Arial"/>
                <a:ea typeface="微软雅黑"/>
                <a:cs typeface="Arial"/>
              </a:rPr>
              <a:t>结果可加，并能处理因子之间的相关</a:t>
            </a:r>
            <a:r>
              <a:rPr sz="1300" b="0" i="0" baseline="30000">
                <a:solidFill>
                  <a:srgbClr val="6C757D"/>
                </a:solidFill>
                <a:latin typeface="Arial"/>
                <a:ea typeface="微软雅黑"/>
                <a:cs typeface="Arial"/>
              </a:rPr>
              <a:t>[30,31]</a:t>
            </a:r>
          </a:p>
        </p:txBody>
      </p:sp>
      <p:sp>
        <p:nvSpPr>
          <p:cNvPr id="22" name="Rectangle 21"/>
          <p:cNvSpPr/>
          <p:nvPr/>
        </p:nvSpPr>
        <p:spPr>
          <a:xfrm>
            <a:off x="457200" y="5596127"/>
            <a:ext cx="3429000" cy="71323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457200" y="5596127"/>
            <a:ext cx="3429000" cy="713232"/>
          </a:xfrm>
          <a:prstGeom prst="rect">
            <a:avLst/>
          </a:prstGeom>
          <a:noFill/>
        </p:spPr>
        <p:txBody>
          <a:bodyPr wrap="square" lIns="73152" rIns="73152" tIns="73152" bIns="73152" anchor="ctr">
            <a:noAutofit/>
          </a:bodyPr>
          <a:lstStyle/>
          <a:p>
            <a:pPr algn="ctr">
              <a:lnSpc>
                <a:spcPct val="112000"/>
              </a:lnSpc>
              <a:spcAft>
                <a:spcPts val="472"/>
              </a:spcAft>
            </a:pPr>
            <a:r>
              <a:rPr sz="1350" b="1" i="0">
                <a:solidFill>
                  <a:srgbClr val="FFFFFF"/>
                </a:solidFill>
                <a:latin typeface="Arial"/>
                <a:ea typeface="微软雅黑"/>
                <a:cs typeface="Arial"/>
              </a:rPr>
              <a:t>权重与 95% 区间</a:t>
            </a:r>
          </a:p>
          <a:p>
            <a:pPr algn="ctr">
              <a:lnSpc>
                <a:spcPct val="112000"/>
              </a:lnSpc>
              <a:spcAft>
                <a:spcPts val="0"/>
              </a:spcAft>
            </a:pPr>
            <a:r>
              <a:rPr sz="1350" b="1" i="0">
                <a:solidFill>
                  <a:srgbClr val="FFFFFF"/>
                </a:solidFill>
                <a:latin typeface="Arial"/>
                <a:ea typeface="微软雅黑"/>
                <a:cs typeface="Arial"/>
              </a:rPr>
              <a:t>以连续 7 天为块的自助法</a:t>
            </a:r>
          </a:p>
        </p:txBody>
      </p:sp>
      <p:sp>
        <p:nvSpPr>
          <p:cNvPr id="24" name="Rectangle 23"/>
          <p:cNvSpPr/>
          <p:nvPr/>
        </p:nvSpPr>
        <p:spPr>
          <a:xfrm>
            <a:off x="3995928" y="5687567"/>
            <a:ext cx="27432" cy="530352"/>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5" name="TextBox 24"/>
          <p:cNvSpPr txBox="1"/>
          <p:nvPr/>
        </p:nvSpPr>
        <p:spPr>
          <a:xfrm>
            <a:off x="4069080" y="5486399"/>
            <a:ext cx="1874519" cy="932688"/>
          </a:xfrm>
          <a:prstGeom prst="rect">
            <a:avLst/>
          </a:prstGeom>
          <a:noFill/>
        </p:spPr>
        <p:txBody>
          <a:bodyPr wrap="square" lIns="73152" rIns="73152" tIns="73152" bIns="73152" anchor="ctr">
            <a:noAutofit/>
          </a:bodyPr>
          <a:lstStyle/>
          <a:p>
            <a:pPr algn="l">
              <a:lnSpc>
                <a:spcPct val="112000"/>
              </a:lnSpc>
              <a:spcAft>
                <a:spcPts val="0"/>
              </a:spcAft>
            </a:pPr>
            <a:r>
              <a:rPr sz="1300" b="0" i="0">
                <a:solidFill>
                  <a:srgbClr val="6C757D"/>
                </a:solidFill>
                <a:latin typeface="Arial"/>
                <a:ea typeface="微软雅黑"/>
                <a:cs typeface="Arial"/>
              </a:rPr>
              <a:t>两个层面：班次层（同一天内班次之间）与日层（日期之间）</a:t>
            </a:r>
          </a:p>
        </p:txBody>
      </p:sp>
      <p:sp>
        <p:nvSpPr>
          <p:cNvPr id="26" name="Rectangle 25"/>
          <p:cNvSpPr/>
          <p:nvPr/>
        </p:nvSpPr>
        <p:spPr>
          <a:xfrm>
            <a:off x="6172200" y="1463040"/>
            <a:ext cx="5559552" cy="15087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7" name="Rectangle 26"/>
          <p:cNvSpPr/>
          <p:nvPr/>
        </p:nvSpPr>
        <p:spPr>
          <a:xfrm>
            <a:off x="6172200" y="1463040"/>
            <a:ext cx="5559552" cy="3657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① 计数模型与删失似然</a:t>
            </a:r>
          </a:p>
        </p:txBody>
      </p:sp>
      <p:sp>
        <p:nvSpPr>
          <p:cNvPr id="28" name="TextBox 27"/>
          <p:cNvSpPr txBox="1"/>
          <p:nvPr/>
        </p:nvSpPr>
        <p:spPr>
          <a:xfrm>
            <a:off x="6227064" y="1883664"/>
            <a:ext cx="5449824" cy="1051560"/>
          </a:xfrm>
          <a:prstGeom prst="rect">
            <a:avLst/>
          </a:prstGeom>
          <a:noFill/>
        </p:spPr>
        <p:txBody>
          <a:bodyPr wrap="square" lIns="73152" rIns="73152" tIns="73152" bIns="73152" anchor="t">
            <a:noAutofit/>
          </a:bodyPr>
          <a:lstStyle/>
          <a:p>
            <a:pPr algn="l">
              <a:lnSpc>
                <a:spcPct val="112000"/>
              </a:lnSpc>
              <a:spcAft>
                <a:spcPts val="525"/>
              </a:spcAft>
            </a:pPr>
            <a:r>
              <a:rPr sz="1500" b="0" i="0">
                <a:solidFill>
                  <a:srgbClr val="222222"/>
                </a:solidFill>
                <a:latin typeface="Arial"/>
                <a:ea typeface="微软雅黑"/>
                <a:cs typeface="Arial"/>
              </a:rPr>
              <a:t>log μ = 线路×方向基线 + 时段 + 周节律 + 校历 + 节假日 + 春运 + 集日 + 天气 + 季节</a:t>
            </a:r>
          </a:p>
          <a:p>
            <a:pPr algn="l">
              <a:lnSpc>
                <a:spcPct val="112000"/>
              </a:lnSpc>
              <a:spcAft>
                <a:spcPts val="0"/>
              </a:spcAft>
            </a:pPr>
            <a:r>
              <a:rPr sz="1500" b="0" i="0">
                <a:solidFill>
                  <a:srgbClr val="222222"/>
                </a:solidFill>
                <a:latin typeface="Arial"/>
                <a:ea typeface="微软雅黑"/>
                <a:cs typeface="Arial"/>
              </a:rPr>
              <a:t>满载班次：Y* ≥ c，似然贡献改写为 P(Y* ≥ c)</a:t>
            </a:r>
          </a:p>
        </p:txBody>
      </p:sp>
      <p:sp>
        <p:nvSpPr>
          <p:cNvPr id="29" name="Rectangle 28"/>
          <p:cNvSpPr/>
          <p:nvPr/>
        </p:nvSpPr>
        <p:spPr>
          <a:xfrm>
            <a:off x="6172200" y="3081528"/>
            <a:ext cx="5559552" cy="109728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0" name="Rectangle 29"/>
          <p:cNvSpPr/>
          <p:nvPr/>
        </p:nvSpPr>
        <p:spPr>
          <a:xfrm>
            <a:off x="6172200" y="3081528"/>
            <a:ext cx="5559552" cy="3657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② 因子族 Shapley 权重（K = 8）</a:t>
            </a:r>
          </a:p>
        </p:txBody>
      </p:sp>
      <p:sp>
        <p:nvSpPr>
          <p:cNvPr id="31" name="TextBox 30"/>
          <p:cNvSpPr txBox="1"/>
          <p:nvPr/>
        </p:nvSpPr>
        <p:spPr>
          <a:xfrm>
            <a:off x="6227064" y="3502152"/>
            <a:ext cx="5449824" cy="640080"/>
          </a:xfrm>
          <a:prstGeom prst="rect">
            <a:avLst/>
          </a:prstGeom>
          <a:noFill/>
        </p:spPr>
        <p:txBody>
          <a:bodyPr wrap="square" lIns="73152" rIns="73152" tIns="73152" bIns="73152" anchor="ctr">
            <a:noAutofit/>
          </a:bodyPr>
          <a:lstStyle/>
          <a:p>
            <a:pPr algn="l">
              <a:lnSpc>
                <a:spcPct val="112000"/>
              </a:lnSpc>
              <a:spcAft>
                <a:spcPts val="0"/>
              </a:spcAft>
            </a:pPr>
            <a:r>
              <a:rPr sz="1600" b="0" i="0">
                <a:solidFill>
                  <a:srgbClr val="222222"/>
                </a:solidFill>
                <a:latin typeface="Arial"/>
                <a:ea typeface="微软雅黑"/>
                <a:cs typeface="Arial"/>
              </a:rPr>
              <a:t>φk = Σ［|S|!(K−|S|−1)!/K!］·［R²(S∪{k}) − R²(S)］</a:t>
            </a:r>
          </a:p>
        </p:txBody>
      </p:sp>
      <p:sp>
        <p:nvSpPr>
          <p:cNvPr id="32" name="Rectangle 31"/>
          <p:cNvSpPr/>
          <p:nvPr/>
        </p:nvSpPr>
        <p:spPr>
          <a:xfrm>
            <a:off x="6172200" y="4297680"/>
            <a:ext cx="5559552" cy="201168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3" name="Rectangle 32"/>
          <p:cNvSpPr/>
          <p:nvPr/>
        </p:nvSpPr>
        <p:spPr>
          <a:xfrm>
            <a:off x="6172200" y="4297680"/>
            <a:ext cx="5559552" cy="365760"/>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对照方法</a:t>
            </a:r>
          </a:p>
        </p:txBody>
      </p:sp>
      <p:sp>
        <p:nvSpPr>
          <p:cNvPr id="34" name="TextBox 33"/>
          <p:cNvSpPr txBox="1"/>
          <p:nvPr/>
        </p:nvSpPr>
        <p:spPr>
          <a:xfrm>
            <a:off x="6227064" y="4718304"/>
            <a:ext cx="5449824" cy="1554480"/>
          </a:xfrm>
          <a:prstGeom prst="rect">
            <a:avLst/>
          </a:prstGeom>
          <a:noFill/>
        </p:spPr>
        <p:txBody>
          <a:bodyPr wrap="square" lIns="73152" rIns="73152" tIns="73152" bIns="73152" anchor="t">
            <a:noAutofit/>
          </a:bodyPr>
          <a:lstStyle/>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熵权法、灰色关联（客观赋权）</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LightGBM-SHAP：特征相关时，SHAP 的分配受依赖结构影响</a:t>
            </a:r>
            <a:r>
              <a:rPr sz="1600" b="0" i="0" baseline="30000">
                <a:solidFill>
                  <a:srgbClr val="222222"/>
                </a:solidFill>
                <a:latin typeface="Arial"/>
                <a:ea typeface="微软雅黑"/>
                <a:cs typeface="Arial"/>
              </a:rPr>
              <a:t>[32]</a:t>
            </a:r>
          </a:p>
          <a:p>
            <a:pPr algn="l" marL="213360" indent="-213360">
              <a:lnSpc>
                <a:spcPct val="112000"/>
              </a:lnSpc>
              <a:spcAft>
                <a:spcPts val="0"/>
              </a:spcAft>
              <a:buClr>
                <a:srgbClr val="1F3A5F"/>
              </a:buClr>
              <a:buChar char="•"/>
            </a:pPr>
            <a:r>
              <a:rPr sz="1600" b="0" i="0">
                <a:solidFill>
                  <a:srgbClr val="222222"/>
                </a:solidFill>
                <a:latin typeface="Arial"/>
                <a:ea typeface="微软雅黑"/>
                <a:cs typeface="Arial"/>
              </a:rPr>
              <a:t>忽略删失的朴素负二项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五、四个计算模型及其检验结果</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RQ1 结果：班次层由日内时段主导，日层由春运和节假日主导，集日与天气权重较小</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11 / 20</a:t>
            </a:r>
          </a:p>
        </p:txBody>
      </p:sp>
      <p:sp>
        <p:nvSpPr>
          <p:cNvPr id="6" name="Rectangle 5"/>
          <p:cNvSpPr/>
          <p:nvPr/>
        </p:nvSpPr>
        <p:spPr>
          <a:xfrm>
            <a:off x="457200" y="6446520"/>
            <a:ext cx="9966960" cy="292608"/>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lnSpc>
                <a:spcPct val="112000"/>
              </a:lnSpc>
            </a:pPr>
            <a:r>
              <a:rPr sz="1000" b="0" i="0">
                <a:solidFill>
                  <a:srgbClr val="E76F51"/>
                </a:solidFill>
                <a:latin typeface="Arial"/>
                <a:ea typeface="微软雅黑"/>
                <a:cs typeface="Arial"/>
              </a:rPr>
              <a:t>模拟数据检验结果（SYNTHETIC），仅用于检验研究路径，不代表新晃实际情况</a:t>
            </a:r>
          </a:p>
        </p:txBody>
      </p:sp>
      <p:pic>
        <p:nvPicPr>
          <p:cNvPr id="7" name="Picture 6" descr="图_影响因子权重.png"/>
          <p:cNvPicPr>
            <a:picLocks noChangeAspect="1"/>
          </p:cNvPicPr>
          <p:nvPr/>
        </p:nvPicPr>
        <p:blipFill>
          <a:blip r:embed="rId2"/>
          <a:stretch>
            <a:fillRect/>
          </a:stretch>
        </p:blipFill>
        <p:spPr>
          <a:xfrm>
            <a:off x="457200" y="1371600"/>
            <a:ext cx="4555976" cy="4709160"/>
          </a:xfrm>
          <a:prstGeom prst="rect">
            <a:avLst/>
          </a:prstGeom>
        </p:spPr>
      </p:pic>
      <p:sp>
        <p:nvSpPr>
          <p:cNvPr id="8" name="TextBox 7"/>
          <p:cNvSpPr txBox="1"/>
          <p:nvPr/>
        </p:nvSpPr>
        <p:spPr>
          <a:xfrm>
            <a:off x="457200" y="6099048"/>
            <a:ext cx="4555976" cy="256032"/>
          </a:xfrm>
          <a:prstGeom prst="rect">
            <a:avLst/>
          </a:prstGeom>
          <a:noFill/>
        </p:spPr>
        <p:txBody>
          <a:bodyPr wrap="square" lIns="73152" rIns="73152" tIns="18288" bIns="18288" anchor="t">
            <a:noAutofit/>
          </a:bodyPr>
          <a:lstStyle/>
          <a:p>
            <a:pPr algn="l">
              <a:lnSpc>
                <a:spcPct val="112000"/>
              </a:lnSpc>
              <a:spcAft>
                <a:spcPts val="0"/>
              </a:spcAft>
            </a:pPr>
            <a:r>
              <a:rPr sz="1050" b="0" i="0">
                <a:solidFill>
                  <a:srgbClr val="6C757D"/>
                </a:solidFill>
                <a:latin typeface="Arial"/>
                <a:ea typeface="微软雅黑"/>
                <a:cs typeface="Arial"/>
              </a:rPr>
              <a:t>图：影响因子权重（模拟数据，SYNTHETIC）</a:t>
            </a:r>
          </a:p>
        </p:txBody>
      </p:sp>
      <p:sp>
        <p:nvSpPr>
          <p:cNvPr id="9" name="TextBox 8"/>
          <p:cNvSpPr txBox="1"/>
          <p:nvPr/>
        </p:nvSpPr>
        <p:spPr>
          <a:xfrm>
            <a:off x="5333216" y="1371600"/>
            <a:ext cx="6398535" cy="3840480"/>
          </a:xfrm>
          <a:prstGeom prst="rect">
            <a:avLst/>
          </a:prstGeom>
          <a:noFill/>
        </p:spPr>
        <p:txBody>
          <a:bodyPr wrap="square" lIns="73152" rIns="73152" tIns="73152" bIns="73152" anchor="t">
            <a:noAutofit/>
          </a:bodyPr>
          <a:lstStyle/>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班次层：时段族权重 </a:t>
            </a:r>
            <a:r>
              <a:rPr sz="1600" b="1" i="0">
                <a:solidFill>
                  <a:srgbClr val="E76F51"/>
                </a:solidFill>
                <a:latin typeface="Arial"/>
                <a:ea typeface="微软雅黑"/>
                <a:cs typeface="Arial"/>
              </a:rPr>
              <a:t>83.5%</a:t>
            </a:r>
            <a:r>
              <a:rPr sz="1600" b="0" i="0">
                <a:solidFill>
                  <a:srgbClr val="222222"/>
                </a:solidFill>
                <a:latin typeface="Arial"/>
                <a:ea typeface="微软雅黑"/>
                <a:cs typeface="Arial"/>
              </a:rPr>
              <a:t>（95% 区间 79.1%—85.9%），模拟真值 85.8%</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日层：春运 </a:t>
            </a:r>
            <a:r>
              <a:rPr sz="1600" b="1" i="0">
                <a:solidFill>
                  <a:srgbClr val="E76F51"/>
                </a:solidFill>
                <a:latin typeface="Arial"/>
                <a:ea typeface="微软雅黑"/>
                <a:cs typeface="Arial"/>
              </a:rPr>
              <a:t>36.7%</a:t>
            </a:r>
            <a:r>
              <a:rPr sz="1600" b="0" i="0">
                <a:solidFill>
                  <a:srgbClr val="222222"/>
                </a:solidFill>
                <a:latin typeface="Arial"/>
                <a:ea typeface="微软雅黑"/>
                <a:cs typeface="Arial"/>
              </a:rPr>
              <a:t>、节假日 </a:t>
            </a:r>
            <a:r>
              <a:rPr sz="1600" b="1" i="0">
                <a:solidFill>
                  <a:srgbClr val="E76F51"/>
                </a:solidFill>
                <a:latin typeface="Arial"/>
                <a:ea typeface="微软雅黑"/>
                <a:cs typeface="Arial"/>
              </a:rPr>
              <a:t>29.1%</a:t>
            </a:r>
            <a:r>
              <a:rPr sz="1600" b="0" i="0">
                <a:solidFill>
                  <a:srgbClr val="222222"/>
                </a:solidFill>
                <a:latin typeface="Arial"/>
                <a:ea typeface="微软雅黑"/>
                <a:cs typeface="Arial"/>
              </a:rPr>
              <a:t>；集日 4.5%、天气 3.8%</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方法比较（与真值权重的平均绝对误差，百分点）：删失负二项 </a:t>
            </a:r>
            <a:r>
              <a:rPr sz="1600" b="1" i="0">
                <a:solidFill>
                  <a:srgbClr val="E76F51"/>
                </a:solidFill>
                <a:latin typeface="Arial"/>
                <a:ea typeface="微软雅黑"/>
                <a:cs typeface="Arial"/>
              </a:rPr>
              <a:t>0.6</a:t>
            </a:r>
            <a:r>
              <a:rPr sz="1600" b="0" i="0">
                <a:solidFill>
                  <a:srgbClr val="222222"/>
                </a:solidFill>
                <a:latin typeface="Arial"/>
                <a:ea typeface="微软雅黑"/>
                <a:cs typeface="Arial"/>
              </a:rPr>
              <a:t>，灰色关联 9.0，SHAP 10.2，熵权法 10.7；与真值的秩相关：熵权法仅 0.36，灰色关联 0.29</a:t>
            </a:r>
          </a:p>
          <a:p>
            <a:pPr algn="l" marL="213360" indent="-213360">
              <a:lnSpc>
                <a:spcPct val="112000"/>
              </a:lnSpc>
              <a:spcAft>
                <a:spcPts val="0"/>
              </a:spcAft>
              <a:buClr>
                <a:srgbClr val="1F3A5F"/>
              </a:buClr>
              <a:buChar char="•"/>
            </a:pPr>
            <a:r>
              <a:rPr sz="1600" b="0" i="0">
                <a:solidFill>
                  <a:srgbClr val="222222"/>
                </a:solidFill>
                <a:latin typeface="Arial"/>
                <a:ea typeface="微软雅黑"/>
                <a:cs typeface="Arial"/>
              </a:rPr>
              <a:t>含义：固定时刻表首先要排对“一天之内的班次分布”；集日不宜作为排班的核心依据，这与以集市为中心的农村研究传统</a:t>
            </a:r>
            <a:r>
              <a:rPr sz="1600" b="0" i="0" baseline="30000">
                <a:solidFill>
                  <a:srgbClr val="222222"/>
                </a:solidFill>
                <a:latin typeface="Arial"/>
                <a:ea typeface="微软雅黑"/>
                <a:cs typeface="Arial"/>
              </a:rPr>
              <a:t>[14]</a:t>
            </a:r>
            <a:r>
              <a:rPr sz="1600" b="0" i="0">
                <a:solidFill>
                  <a:srgbClr val="222222"/>
                </a:solidFill>
                <a:latin typeface="Arial"/>
                <a:ea typeface="微软雅黑"/>
                <a:cs typeface="Arial"/>
              </a:rPr>
              <a:t>形成对话，需用真实数据复核</a:t>
            </a:r>
          </a:p>
        </p:txBody>
      </p:sp>
      <p:sp>
        <p:nvSpPr>
          <p:cNvPr id="10" name="Rectangle 9"/>
          <p:cNvSpPr/>
          <p:nvPr/>
        </p:nvSpPr>
        <p:spPr>
          <a:xfrm>
            <a:off x="5333216" y="5349240"/>
            <a:ext cx="6398535" cy="960120"/>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5333216" y="5349240"/>
            <a:ext cx="6398535" cy="960120"/>
          </a:xfrm>
          <a:prstGeom prst="rect">
            <a:avLst/>
          </a:prstGeom>
          <a:noFill/>
        </p:spPr>
        <p:txBody>
          <a:bodyPr wrap="square" lIns="73152" rIns="73152" tIns="73152" bIns="73152" anchor="ctr">
            <a:noAutofit/>
          </a:bodyPr>
          <a:lstStyle/>
          <a:p>
            <a:pPr algn="ctr">
              <a:lnSpc>
                <a:spcPct val="112000"/>
              </a:lnSpc>
              <a:spcAft>
                <a:spcPts val="0"/>
              </a:spcAft>
            </a:pPr>
            <a:r>
              <a:rPr sz="1600" b="1" i="0">
                <a:solidFill>
                  <a:srgbClr val="2A9D8F"/>
                </a:solidFill>
                <a:latin typeface="Arial"/>
                <a:ea typeface="微软雅黑"/>
                <a:cs typeface="Arial"/>
              </a:rPr>
              <a:t>假设检验（模拟数据）：H1 支持、H2 支持</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五、四个计算模型及其检验结果</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模型二（RQ2）：删失负二项结构项 + LightGBM 残差修正，配合按情景分组的 Mondrian 共形区间</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12 / 20</a:t>
            </a:r>
          </a:p>
        </p:txBody>
      </p:sp>
      <p:sp>
        <p:nvSpPr>
          <p:cNvPr id="6" name="Rectangle 5"/>
          <p:cNvSpPr/>
          <p:nvPr/>
        </p:nvSpPr>
        <p:spPr>
          <a:xfrm>
            <a:off x="457200" y="1463040"/>
            <a:ext cx="3483864" cy="16459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457200" y="1463040"/>
            <a:ext cx="3483864" cy="3840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① 结构项</a:t>
            </a:r>
          </a:p>
        </p:txBody>
      </p:sp>
      <p:sp>
        <p:nvSpPr>
          <p:cNvPr id="8" name="TextBox 7"/>
          <p:cNvSpPr txBox="1"/>
          <p:nvPr/>
        </p:nvSpPr>
        <p:spPr>
          <a:xfrm>
            <a:off x="512064" y="1901952"/>
            <a:ext cx="3374136" cy="1170432"/>
          </a:xfrm>
          <a:prstGeom prst="rect">
            <a:avLst/>
          </a:prstGeom>
          <a:noFill/>
        </p:spPr>
        <p:txBody>
          <a:bodyPr wrap="square" lIns="73152" rIns="73152" tIns="73152" bIns="73152" anchor="t">
            <a:noAutofit/>
          </a:bodyPr>
          <a:lstStyle/>
          <a:p>
            <a:pPr algn="l">
              <a:lnSpc>
                <a:spcPct val="112000"/>
              </a:lnSpc>
              <a:spcAft>
                <a:spcPts val="0"/>
              </a:spcAft>
            </a:pPr>
            <a:r>
              <a:rPr sz="1500" b="0" i="0">
                <a:solidFill>
                  <a:srgbClr val="222222"/>
                </a:solidFill>
                <a:latin typeface="Arial"/>
                <a:ea typeface="微软雅黑"/>
                <a:cs typeface="Arial"/>
              </a:rPr>
              <a:t>删失负二项给出每个班次的期望需求 μ̂</a:t>
            </a:r>
          </a:p>
        </p:txBody>
      </p:sp>
      <p:cxnSp>
        <p:nvCxnSpPr>
          <p:cNvPr id="9" name="Connector 8"/>
          <p:cNvCxnSpPr/>
          <p:nvPr/>
        </p:nvCxnSpPr>
        <p:spPr>
          <a:xfrm>
            <a:off x="3986784" y="2286000"/>
            <a:ext cx="320040" cy="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352544" y="1463040"/>
            <a:ext cx="3483864" cy="16459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Rectangle 10"/>
          <p:cNvSpPr/>
          <p:nvPr/>
        </p:nvSpPr>
        <p:spPr>
          <a:xfrm>
            <a:off x="4352544" y="1463040"/>
            <a:ext cx="3483864" cy="38404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② 残差修正</a:t>
            </a:r>
          </a:p>
        </p:txBody>
      </p:sp>
      <p:sp>
        <p:nvSpPr>
          <p:cNvPr id="12" name="TextBox 11"/>
          <p:cNvSpPr txBox="1"/>
          <p:nvPr/>
        </p:nvSpPr>
        <p:spPr>
          <a:xfrm>
            <a:off x="4407407" y="1901952"/>
            <a:ext cx="3374136" cy="1170432"/>
          </a:xfrm>
          <a:prstGeom prst="rect">
            <a:avLst/>
          </a:prstGeom>
          <a:noFill/>
        </p:spPr>
        <p:txBody>
          <a:bodyPr wrap="square" lIns="73152" rIns="73152" tIns="73152" bIns="73152" anchor="t">
            <a:noAutofit/>
          </a:bodyPr>
          <a:lstStyle/>
          <a:p>
            <a:pPr algn="l">
              <a:lnSpc>
                <a:spcPct val="112000"/>
              </a:lnSpc>
              <a:spcAft>
                <a:spcPts val="0"/>
              </a:spcAft>
            </a:pPr>
            <a:r>
              <a:rPr sz="1500" b="0" i="0">
                <a:solidFill>
                  <a:srgbClr val="222222"/>
                </a:solidFill>
                <a:latin typeface="Arial"/>
                <a:ea typeface="微软雅黑"/>
                <a:cs typeface="Arial"/>
              </a:rPr>
              <a:t>LightGBM 学习结构项未捕捉的非线性部分</a:t>
            </a:r>
            <a:r>
              <a:rPr sz="1500" b="0" i="0" baseline="30000">
                <a:solidFill>
                  <a:srgbClr val="222222"/>
                </a:solidFill>
                <a:latin typeface="Arial"/>
                <a:ea typeface="微软雅黑"/>
                <a:cs typeface="Arial"/>
              </a:rPr>
              <a:t>[33]</a:t>
            </a:r>
            <a:r>
              <a:rPr sz="1500" b="0" i="0">
                <a:solidFill>
                  <a:srgbClr val="222222"/>
                </a:solidFill>
                <a:latin typeface="Arial"/>
                <a:ea typeface="微软雅黑"/>
                <a:cs typeface="Arial"/>
              </a:rPr>
              <a:t>；删失班次的学习目标用 E[Y* | Y* ≥ c] 插补</a:t>
            </a:r>
          </a:p>
        </p:txBody>
      </p:sp>
      <p:cxnSp>
        <p:nvCxnSpPr>
          <p:cNvPr id="13" name="Connector 12"/>
          <p:cNvCxnSpPr/>
          <p:nvPr/>
        </p:nvCxnSpPr>
        <p:spPr>
          <a:xfrm>
            <a:off x="7882128" y="2286000"/>
            <a:ext cx="320040" cy="0"/>
          </a:xfrm>
          <a:prstGeom prst="line">
            <a:avLst/>
          </a:prstGeom>
          <a:ln w="28575">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247888" y="1463040"/>
            <a:ext cx="3483864" cy="164592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5" name="Rectangle 14"/>
          <p:cNvSpPr/>
          <p:nvPr/>
        </p:nvSpPr>
        <p:spPr>
          <a:xfrm>
            <a:off x="8247888" y="1463040"/>
            <a:ext cx="3483864"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③ 预测区间</a:t>
            </a:r>
          </a:p>
        </p:txBody>
      </p:sp>
      <p:sp>
        <p:nvSpPr>
          <p:cNvPr id="16" name="TextBox 15"/>
          <p:cNvSpPr txBox="1"/>
          <p:nvPr/>
        </p:nvSpPr>
        <p:spPr>
          <a:xfrm>
            <a:off x="8302752" y="1901952"/>
            <a:ext cx="3374136" cy="1170432"/>
          </a:xfrm>
          <a:prstGeom prst="rect">
            <a:avLst/>
          </a:prstGeom>
          <a:noFill/>
        </p:spPr>
        <p:txBody>
          <a:bodyPr wrap="square" lIns="73152" rIns="73152" tIns="73152" bIns="73152" anchor="t">
            <a:noAutofit/>
          </a:bodyPr>
          <a:lstStyle/>
          <a:p>
            <a:pPr algn="l">
              <a:lnSpc>
                <a:spcPct val="112000"/>
              </a:lnSpc>
              <a:spcAft>
                <a:spcPts val="0"/>
              </a:spcAft>
            </a:pPr>
            <a:r>
              <a:rPr sz="1500" b="0" i="0">
                <a:solidFill>
                  <a:srgbClr val="222222"/>
                </a:solidFill>
                <a:latin typeface="Arial"/>
                <a:ea typeface="微软雅黑"/>
                <a:cs typeface="Arial"/>
              </a:rPr>
              <a:t>训练期按月 5 折交叉拟合得样本外残差；共形预测在很弱的假设下给出有覆盖率保证的区间</a:t>
            </a:r>
            <a:r>
              <a:rPr sz="1500" b="0" i="0" baseline="30000">
                <a:solidFill>
                  <a:srgbClr val="222222"/>
                </a:solidFill>
                <a:latin typeface="Arial"/>
                <a:ea typeface="微软雅黑"/>
                <a:cs typeface="Arial"/>
              </a:rPr>
              <a:t>[34,35]</a:t>
            </a:r>
          </a:p>
        </p:txBody>
      </p:sp>
      <p:sp>
        <p:nvSpPr>
          <p:cNvPr id="17" name="TextBox 16"/>
          <p:cNvSpPr txBox="1"/>
          <p:nvPr/>
        </p:nvSpPr>
        <p:spPr>
          <a:xfrm>
            <a:off x="457200" y="3291840"/>
            <a:ext cx="5532120" cy="365760"/>
          </a:xfrm>
          <a:prstGeom prst="rect">
            <a:avLst/>
          </a:prstGeom>
          <a:noFill/>
        </p:spPr>
        <p:txBody>
          <a:bodyPr wrap="square" lIns="73152" rIns="73152" tIns="18288" bIns="18288" anchor="t">
            <a:noAutofit/>
          </a:bodyPr>
          <a:lstStyle/>
          <a:p>
            <a:pPr algn="l">
              <a:lnSpc>
                <a:spcPct val="112000"/>
              </a:lnSpc>
              <a:spcAft>
                <a:spcPts val="0"/>
              </a:spcAft>
            </a:pPr>
            <a:r>
              <a:rPr sz="1600" b="1" i="0">
                <a:solidFill>
                  <a:srgbClr val="1F3A5F"/>
                </a:solidFill>
                <a:latin typeface="Arial"/>
                <a:ea typeface="微软雅黑"/>
                <a:cs typeface="Arial"/>
              </a:rPr>
              <a:t>情景划分：按 5 个情景分别校准区间（Mondrian）</a:t>
            </a:r>
          </a:p>
        </p:txBody>
      </p:sp>
      <p:sp>
        <p:nvSpPr>
          <p:cNvPr id="18" name="Rectangle 17"/>
          <p:cNvSpPr/>
          <p:nvPr/>
        </p:nvSpPr>
        <p:spPr>
          <a:xfrm>
            <a:off x="457200" y="3730752"/>
            <a:ext cx="1047902" cy="82296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TextBox 18"/>
          <p:cNvSpPr txBox="1"/>
          <p:nvPr/>
        </p:nvSpPr>
        <p:spPr>
          <a:xfrm>
            <a:off x="484632" y="3730752"/>
            <a:ext cx="993038" cy="822960"/>
          </a:xfrm>
          <a:prstGeom prst="rect">
            <a:avLst/>
          </a:prstGeom>
          <a:noFill/>
        </p:spPr>
        <p:txBody>
          <a:bodyPr wrap="square" lIns="73152" rIns="73152" tIns="73152" bIns="73152" anchor="ctr">
            <a:noAutofit/>
          </a:bodyPr>
          <a:lstStyle/>
          <a:p>
            <a:pPr algn="ctr">
              <a:lnSpc>
                <a:spcPct val="112000"/>
              </a:lnSpc>
              <a:spcAft>
                <a:spcPts val="525"/>
              </a:spcAft>
            </a:pPr>
            <a:r>
              <a:rPr sz="1500" b="1" i="0">
                <a:solidFill>
                  <a:srgbClr val="FFFFFF"/>
                </a:solidFill>
                <a:latin typeface="Arial"/>
                <a:ea typeface="微软雅黑"/>
                <a:cs typeface="Arial"/>
              </a:rPr>
              <a:t>春运</a:t>
            </a:r>
          </a:p>
          <a:p>
            <a:pPr algn="ctr">
              <a:lnSpc>
                <a:spcPct val="112000"/>
              </a:lnSpc>
              <a:spcAft>
                <a:spcPts val="0"/>
              </a:spcAft>
            </a:pPr>
            <a:r>
              <a:rPr sz="1500" b="1" i="0">
                <a:solidFill>
                  <a:srgbClr val="FFFFFF"/>
                </a:solidFill>
                <a:latin typeface="Arial"/>
                <a:ea typeface="微软雅黑"/>
                <a:cs typeface="Arial"/>
              </a:rPr>
              <a:t>核心</a:t>
            </a:r>
          </a:p>
        </p:txBody>
      </p:sp>
      <p:sp>
        <p:nvSpPr>
          <p:cNvPr id="20" name="Rectangle 19"/>
          <p:cNvSpPr/>
          <p:nvPr/>
        </p:nvSpPr>
        <p:spPr>
          <a:xfrm>
            <a:off x="1578254" y="3730752"/>
            <a:ext cx="1047902" cy="82296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1" name="TextBox 20"/>
          <p:cNvSpPr txBox="1"/>
          <p:nvPr/>
        </p:nvSpPr>
        <p:spPr>
          <a:xfrm>
            <a:off x="1605686" y="3730752"/>
            <a:ext cx="993038" cy="822960"/>
          </a:xfrm>
          <a:prstGeom prst="rect">
            <a:avLst/>
          </a:prstGeom>
          <a:noFill/>
        </p:spPr>
        <p:txBody>
          <a:bodyPr wrap="square" lIns="73152" rIns="73152" tIns="73152" bIns="73152" anchor="ctr">
            <a:noAutofit/>
          </a:bodyPr>
          <a:lstStyle/>
          <a:p>
            <a:pPr algn="ctr">
              <a:lnSpc>
                <a:spcPct val="112000"/>
              </a:lnSpc>
              <a:spcAft>
                <a:spcPts val="525"/>
              </a:spcAft>
            </a:pPr>
            <a:r>
              <a:rPr sz="1500" b="1" i="0">
                <a:solidFill>
                  <a:srgbClr val="FFFFFF"/>
                </a:solidFill>
                <a:latin typeface="Arial"/>
                <a:ea typeface="微软雅黑"/>
                <a:cs typeface="Arial"/>
              </a:rPr>
              <a:t>节假日</a:t>
            </a:r>
          </a:p>
          <a:p>
            <a:pPr algn="ctr">
              <a:lnSpc>
                <a:spcPct val="112000"/>
              </a:lnSpc>
              <a:spcAft>
                <a:spcPts val="0"/>
              </a:spcAft>
            </a:pPr>
            <a:r>
              <a:rPr sz="1500" b="1" i="0">
                <a:solidFill>
                  <a:srgbClr val="FFFFFF"/>
                </a:solidFill>
                <a:latin typeface="Arial"/>
                <a:ea typeface="微软雅黑"/>
                <a:cs typeface="Arial"/>
              </a:rPr>
              <a:t>边沿</a:t>
            </a:r>
          </a:p>
        </p:txBody>
      </p:sp>
      <p:sp>
        <p:nvSpPr>
          <p:cNvPr id="22" name="Rectangle 21"/>
          <p:cNvSpPr/>
          <p:nvPr/>
        </p:nvSpPr>
        <p:spPr>
          <a:xfrm>
            <a:off x="2699308" y="3730752"/>
            <a:ext cx="1047902" cy="82296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2726740" y="3730752"/>
            <a:ext cx="993038" cy="822960"/>
          </a:xfrm>
          <a:prstGeom prst="rect">
            <a:avLst/>
          </a:prstGeom>
          <a:noFill/>
        </p:spPr>
        <p:txBody>
          <a:bodyPr wrap="square" lIns="73152" rIns="73152" tIns="73152" bIns="73152" anchor="ctr">
            <a:noAutofit/>
          </a:bodyPr>
          <a:lstStyle/>
          <a:p>
            <a:pPr algn="ctr">
              <a:lnSpc>
                <a:spcPct val="112000"/>
              </a:lnSpc>
              <a:spcAft>
                <a:spcPts val="525"/>
              </a:spcAft>
            </a:pPr>
            <a:r>
              <a:rPr sz="1500" b="1" i="0">
                <a:solidFill>
                  <a:srgbClr val="FFFFFF"/>
                </a:solidFill>
                <a:latin typeface="Arial"/>
                <a:ea typeface="微软雅黑"/>
                <a:cs typeface="Arial"/>
              </a:rPr>
              <a:t>学生</a:t>
            </a:r>
          </a:p>
          <a:p>
            <a:pPr algn="ctr">
              <a:lnSpc>
                <a:spcPct val="112000"/>
              </a:lnSpc>
              <a:spcAft>
                <a:spcPts val="0"/>
              </a:spcAft>
            </a:pPr>
            <a:r>
              <a:rPr sz="1500" b="1" i="0">
                <a:solidFill>
                  <a:srgbClr val="FFFFFF"/>
                </a:solidFill>
                <a:latin typeface="Arial"/>
                <a:ea typeface="微软雅黑"/>
                <a:cs typeface="Arial"/>
              </a:rPr>
              <a:t>离返校日</a:t>
            </a:r>
          </a:p>
        </p:txBody>
      </p:sp>
      <p:sp>
        <p:nvSpPr>
          <p:cNvPr id="24" name="Rectangle 23"/>
          <p:cNvSpPr/>
          <p:nvPr/>
        </p:nvSpPr>
        <p:spPr>
          <a:xfrm>
            <a:off x="3820363" y="3730752"/>
            <a:ext cx="1047902" cy="822960"/>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5" name="TextBox 24"/>
          <p:cNvSpPr txBox="1"/>
          <p:nvPr/>
        </p:nvSpPr>
        <p:spPr>
          <a:xfrm>
            <a:off x="3847795" y="3730752"/>
            <a:ext cx="993038" cy="822960"/>
          </a:xfrm>
          <a:prstGeom prst="rect">
            <a:avLst/>
          </a:prstGeom>
          <a:noFill/>
        </p:spPr>
        <p:txBody>
          <a:bodyPr wrap="square" lIns="73152" rIns="73152" tIns="73152" bIns="73152" anchor="ctr">
            <a:noAutofit/>
          </a:bodyPr>
          <a:lstStyle/>
          <a:p>
            <a:pPr algn="ctr">
              <a:lnSpc>
                <a:spcPct val="112000"/>
              </a:lnSpc>
              <a:spcAft>
                <a:spcPts val="525"/>
              </a:spcAft>
            </a:pPr>
            <a:r>
              <a:rPr sz="1500" b="1" i="0">
                <a:solidFill>
                  <a:srgbClr val="FFFFFF"/>
                </a:solidFill>
                <a:latin typeface="Arial"/>
                <a:ea typeface="微软雅黑"/>
                <a:cs typeface="Arial"/>
              </a:rPr>
              <a:t>天气</a:t>
            </a:r>
          </a:p>
          <a:p>
            <a:pPr algn="ctr">
              <a:lnSpc>
                <a:spcPct val="112000"/>
              </a:lnSpc>
              <a:spcAft>
                <a:spcPts val="0"/>
              </a:spcAft>
            </a:pPr>
            <a:r>
              <a:rPr sz="1500" b="1" i="0">
                <a:solidFill>
                  <a:srgbClr val="FFFFFF"/>
                </a:solidFill>
                <a:latin typeface="Arial"/>
                <a:ea typeface="微软雅黑"/>
                <a:cs typeface="Arial"/>
              </a:rPr>
              <a:t>事件日</a:t>
            </a:r>
          </a:p>
        </p:txBody>
      </p:sp>
      <p:sp>
        <p:nvSpPr>
          <p:cNvPr id="26" name="Rectangle 25"/>
          <p:cNvSpPr/>
          <p:nvPr/>
        </p:nvSpPr>
        <p:spPr>
          <a:xfrm>
            <a:off x="4941417" y="3730752"/>
            <a:ext cx="1047902" cy="8229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7" name="TextBox 26"/>
          <p:cNvSpPr txBox="1"/>
          <p:nvPr/>
        </p:nvSpPr>
        <p:spPr>
          <a:xfrm>
            <a:off x="4968849" y="3730752"/>
            <a:ext cx="993038" cy="822960"/>
          </a:xfrm>
          <a:prstGeom prst="rect">
            <a:avLst/>
          </a:prstGeom>
          <a:noFill/>
        </p:spPr>
        <p:txBody>
          <a:bodyPr wrap="square" lIns="73152" rIns="73152" tIns="73152" bIns="73152" anchor="ctr">
            <a:noAutofit/>
          </a:bodyPr>
          <a:lstStyle/>
          <a:p>
            <a:pPr algn="ctr">
              <a:lnSpc>
                <a:spcPct val="112000"/>
              </a:lnSpc>
              <a:spcAft>
                <a:spcPts val="0"/>
              </a:spcAft>
            </a:pPr>
            <a:r>
              <a:rPr sz="1500" b="1" i="0">
                <a:solidFill>
                  <a:srgbClr val="FFFFFF"/>
                </a:solidFill>
                <a:latin typeface="Arial"/>
                <a:ea typeface="微软雅黑"/>
                <a:cs typeface="Arial"/>
              </a:rPr>
              <a:t>普通日</a:t>
            </a:r>
          </a:p>
        </p:txBody>
      </p:sp>
      <p:sp>
        <p:nvSpPr>
          <p:cNvPr id="28" name="TextBox 27"/>
          <p:cNvSpPr txBox="1"/>
          <p:nvPr/>
        </p:nvSpPr>
        <p:spPr>
          <a:xfrm>
            <a:off x="457200" y="4617720"/>
            <a:ext cx="5532120" cy="68580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6C757D"/>
                </a:solidFill>
                <a:latin typeface="Arial"/>
                <a:ea typeface="微软雅黑"/>
                <a:cs typeface="Arial"/>
              </a:rPr>
              <a:t>春运和节假日的波动远大于普通日，统一的区间宽度会使高需求日覆盖不足，因此分情景校准</a:t>
            </a:r>
          </a:p>
        </p:txBody>
      </p:sp>
      <p:sp>
        <p:nvSpPr>
          <p:cNvPr id="29" name="Rectangle 28"/>
          <p:cNvSpPr/>
          <p:nvPr/>
        </p:nvSpPr>
        <p:spPr>
          <a:xfrm>
            <a:off x="457200" y="5349240"/>
            <a:ext cx="5532120" cy="960120"/>
          </a:xfrm>
          <a:prstGeom prst="rect">
            <a:avLst/>
          </a:prstGeom>
          <a:solidFill>
            <a:srgbClr val="FFFFFF"/>
          </a:solidFill>
          <a:ln w="12700">
            <a:solidFill>
              <a:srgbClr val="E76F51"/>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0" name="TextBox 29"/>
          <p:cNvSpPr txBox="1"/>
          <p:nvPr/>
        </p:nvSpPr>
        <p:spPr>
          <a:xfrm>
            <a:off x="566928" y="5349240"/>
            <a:ext cx="5312664" cy="960120"/>
          </a:xfrm>
          <a:prstGeom prst="rect">
            <a:avLst/>
          </a:prstGeom>
          <a:noFill/>
        </p:spPr>
        <p:txBody>
          <a:bodyPr wrap="square" lIns="73152" rIns="73152" tIns="73152" bIns="73152" anchor="ctr">
            <a:noAutofit/>
          </a:bodyPr>
          <a:lstStyle/>
          <a:p>
            <a:pPr algn="l">
              <a:lnSpc>
                <a:spcPct val="112000"/>
              </a:lnSpc>
              <a:spcAft>
                <a:spcPts val="0"/>
              </a:spcAft>
            </a:pPr>
            <a:r>
              <a:rPr sz="1600" b="0" i="0">
                <a:solidFill>
                  <a:srgbClr val="222222"/>
                </a:solidFill>
                <a:latin typeface="Arial"/>
                <a:ea typeface="微软雅黑"/>
                <a:cs typeface="Arial"/>
              </a:rPr>
              <a:t>改进方法（偏离预注册）：删失感知 LightGBM，删失班次的目标值用 EM 算法迭代插补，单独报告</a:t>
            </a:r>
          </a:p>
        </p:txBody>
      </p:sp>
      <p:sp>
        <p:nvSpPr>
          <p:cNvPr id="31" name="Rectangle 30"/>
          <p:cNvSpPr/>
          <p:nvPr/>
        </p:nvSpPr>
        <p:spPr>
          <a:xfrm>
            <a:off x="6199632" y="3291840"/>
            <a:ext cx="5532120" cy="17373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2" name="Rectangle 31"/>
          <p:cNvSpPr/>
          <p:nvPr/>
        </p:nvSpPr>
        <p:spPr>
          <a:xfrm>
            <a:off x="6199632" y="3291840"/>
            <a:ext cx="5532120" cy="36576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评价指标</a:t>
            </a:r>
          </a:p>
        </p:txBody>
      </p:sp>
      <p:sp>
        <p:nvSpPr>
          <p:cNvPr id="33" name="TextBox 32"/>
          <p:cNvSpPr txBox="1"/>
          <p:nvPr/>
        </p:nvSpPr>
        <p:spPr>
          <a:xfrm>
            <a:off x="6254496" y="3712463"/>
            <a:ext cx="5422392" cy="1280160"/>
          </a:xfrm>
          <a:prstGeom prst="rect">
            <a:avLst/>
          </a:prstGeom>
          <a:noFill/>
        </p:spPr>
        <p:txBody>
          <a:bodyPr wrap="square" lIns="73152" rIns="73152" tIns="73152" bIns="73152" anchor="t">
            <a:noAutofit/>
          </a:bodyPr>
          <a:lstStyle/>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MAE、RMSE、WAPE 与平均偏差</a:t>
            </a:r>
            <a:r>
              <a:rPr sz="1400" b="0" i="0" baseline="30000">
                <a:solidFill>
                  <a:srgbClr val="222222"/>
                </a:solidFill>
                <a:latin typeface="Arial"/>
                <a:ea typeface="微软雅黑"/>
                <a:cs typeface="Arial"/>
              </a:rPr>
              <a:t>[36]</a:t>
            </a:r>
            <a:r>
              <a:rPr sz="1400" b="0" i="0">
                <a:solidFill>
                  <a:srgbClr val="222222"/>
                </a:solidFill>
                <a:latin typeface="Arial"/>
                <a:ea typeface="微软雅黑"/>
                <a:cs typeface="Arial"/>
              </a:rPr>
              <a:t>；区间看覆盖率与平均宽度</a:t>
            </a:r>
          </a:p>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Diebold–Mariano 检验判断精度差异是否显著</a:t>
            </a:r>
            <a:r>
              <a:rPr sz="1400" b="0" i="0" baseline="30000">
                <a:solidFill>
                  <a:srgbClr val="222222"/>
                </a:solidFill>
                <a:latin typeface="Arial"/>
                <a:ea typeface="微软雅黑"/>
                <a:cs typeface="Arial"/>
              </a:rPr>
              <a:t>[37]</a:t>
            </a:r>
          </a:p>
          <a:p>
            <a:pPr algn="l" marL="186690" indent="-186690">
              <a:lnSpc>
                <a:spcPct val="112000"/>
              </a:lnSpc>
              <a:spcAft>
                <a:spcPts val="0"/>
              </a:spcAft>
              <a:buClr>
                <a:srgbClr val="1F3A5F"/>
              </a:buClr>
              <a:buChar char="•"/>
            </a:pPr>
            <a:r>
              <a:rPr sz="1400" b="0" i="0">
                <a:solidFill>
                  <a:srgbClr val="222222"/>
                </a:solidFill>
                <a:latin typeface="Arial"/>
                <a:ea typeface="微软雅黑"/>
                <a:cs typeface="Arial"/>
              </a:rPr>
              <a:t>计数预测的专门评价方法</a:t>
            </a:r>
            <a:r>
              <a:rPr sz="1400" b="0" i="0" baseline="30000">
                <a:solidFill>
                  <a:srgbClr val="222222"/>
                </a:solidFill>
                <a:latin typeface="Arial"/>
                <a:ea typeface="微软雅黑"/>
                <a:cs typeface="Arial"/>
              </a:rPr>
              <a:t>[38]</a:t>
            </a:r>
          </a:p>
        </p:txBody>
      </p:sp>
      <p:sp>
        <p:nvSpPr>
          <p:cNvPr id="34" name="Rectangle 33"/>
          <p:cNvSpPr/>
          <p:nvPr/>
        </p:nvSpPr>
        <p:spPr>
          <a:xfrm>
            <a:off x="6199632" y="5102352"/>
            <a:ext cx="5532120" cy="120700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5" name="Rectangle 34"/>
          <p:cNvSpPr/>
          <p:nvPr/>
        </p:nvSpPr>
        <p:spPr>
          <a:xfrm>
            <a:off x="6199632" y="5102352"/>
            <a:ext cx="5532120" cy="365760"/>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对照方法</a:t>
            </a:r>
          </a:p>
        </p:txBody>
      </p:sp>
      <p:sp>
        <p:nvSpPr>
          <p:cNvPr id="36" name="TextBox 35"/>
          <p:cNvSpPr txBox="1"/>
          <p:nvPr/>
        </p:nvSpPr>
        <p:spPr>
          <a:xfrm>
            <a:off x="6254496" y="5522976"/>
            <a:ext cx="5422392" cy="749808"/>
          </a:xfrm>
          <a:prstGeom prst="rect">
            <a:avLst/>
          </a:prstGeom>
          <a:noFill/>
        </p:spPr>
        <p:txBody>
          <a:bodyPr wrap="square" lIns="73152" rIns="73152" tIns="73152" bIns="73152" anchor="t">
            <a:noAutofit/>
          </a:bodyPr>
          <a:lstStyle/>
          <a:p>
            <a:pPr algn="l">
              <a:lnSpc>
                <a:spcPct val="112000"/>
              </a:lnSpc>
              <a:spcAft>
                <a:spcPts val="0"/>
              </a:spcAft>
            </a:pPr>
            <a:r>
              <a:rPr sz="1600" b="0" i="0">
                <a:solidFill>
                  <a:srgbClr val="222222"/>
                </a:solidFill>
                <a:latin typeface="Arial"/>
                <a:ea typeface="微软雅黑"/>
                <a:cs typeface="Arial"/>
              </a:rPr>
              <a:t>季节朴素、历史均值、朴素负二项、删失负二项、LightGBM（泊松）</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五、四个计算模型及其检验结果</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RQ2 结果：主方法显著优于传统方法，满载班次低估减半，Mondrian 区间在高需求情景接近名义覆盖</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13 / 20</a:t>
            </a:r>
          </a:p>
        </p:txBody>
      </p:sp>
      <p:sp>
        <p:nvSpPr>
          <p:cNvPr id="6" name="Rectangle 5"/>
          <p:cNvSpPr/>
          <p:nvPr/>
        </p:nvSpPr>
        <p:spPr>
          <a:xfrm>
            <a:off x="457200" y="6446520"/>
            <a:ext cx="9966960" cy="292608"/>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lnSpc>
                <a:spcPct val="112000"/>
              </a:lnSpc>
            </a:pPr>
            <a:r>
              <a:rPr sz="1000" b="0" i="0">
                <a:solidFill>
                  <a:srgbClr val="E76F51"/>
                </a:solidFill>
                <a:latin typeface="Arial"/>
                <a:ea typeface="微软雅黑"/>
                <a:cs typeface="Arial"/>
              </a:rPr>
              <a:t>模拟数据检验结果（SYNTHETIC），仅用于检验研究路径，不代表新晃实际情况</a:t>
            </a:r>
          </a:p>
        </p:txBody>
      </p:sp>
      <p:pic>
        <p:nvPicPr>
          <p:cNvPr id="7" name="Picture 6" descr="图_客流预测回测.png"/>
          <p:cNvPicPr>
            <a:picLocks noChangeAspect="1"/>
          </p:cNvPicPr>
          <p:nvPr/>
        </p:nvPicPr>
        <p:blipFill>
          <a:blip r:embed="rId2"/>
          <a:stretch>
            <a:fillRect/>
          </a:stretch>
        </p:blipFill>
        <p:spPr>
          <a:xfrm>
            <a:off x="457200" y="1371600"/>
            <a:ext cx="5297805" cy="4709160"/>
          </a:xfrm>
          <a:prstGeom prst="rect">
            <a:avLst/>
          </a:prstGeom>
        </p:spPr>
      </p:pic>
      <p:sp>
        <p:nvSpPr>
          <p:cNvPr id="8" name="TextBox 7"/>
          <p:cNvSpPr txBox="1"/>
          <p:nvPr/>
        </p:nvSpPr>
        <p:spPr>
          <a:xfrm>
            <a:off x="457200" y="6099048"/>
            <a:ext cx="5297805" cy="256032"/>
          </a:xfrm>
          <a:prstGeom prst="rect">
            <a:avLst/>
          </a:prstGeom>
          <a:noFill/>
        </p:spPr>
        <p:txBody>
          <a:bodyPr wrap="square" lIns="73152" rIns="73152" tIns="18288" bIns="18288" anchor="t">
            <a:noAutofit/>
          </a:bodyPr>
          <a:lstStyle/>
          <a:p>
            <a:pPr algn="l">
              <a:lnSpc>
                <a:spcPct val="112000"/>
              </a:lnSpc>
              <a:spcAft>
                <a:spcPts val="0"/>
              </a:spcAft>
            </a:pPr>
            <a:r>
              <a:rPr sz="1050" b="0" i="0">
                <a:solidFill>
                  <a:srgbClr val="6C757D"/>
                </a:solidFill>
                <a:latin typeface="Arial"/>
                <a:ea typeface="微软雅黑"/>
                <a:cs typeface="Arial"/>
              </a:rPr>
              <a:t>图：客流预测回测（模拟数据，SYNTHETIC）</a:t>
            </a:r>
          </a:p>
        </p:txBody>
      </p:sp>
      <p:sp>
        <p:nvSpPr>
          <p:cNvPr id="9" name="TextBox 8"/>
          <p:cNvSpPr txBox="1"/>
          <p:nvPr/>
        </p:nvSpPr>
        <p:spPr>
          <a:xfrm>
            <a:off x="6029325" y="1371600"/>
            <a:ext cx="5702427" cy="3931920"/>
          </a:xfrm>
          <a:prstGeom prst="rect">
            <a:avLst/>
          </a:prstGeom>
          <a:noFill/>
        </p:spPr>
        <p:txBody>
          <a:bodyPr wrap="square" lIns="73152" rIns="73152" tIns="73152" bIns="73152" anchor="t">
            <a:noAutofit/>
          </a:bodyPr>
          <a:lstStyle/>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总体 WAPE：主方法 </a:t>
            </a:r>
            <a:r>
              <a:rPr sz="1600" b="1" i="0">
                <a:solidFill>
                  <a:srgbClr val="E76F51"/>
                </a:solidFill>
                <a:latin typeface="Arial"/>
                <a:ea typeface="微软雅黑"/>
                <a:cs typeface="Arial"/>
              </a:rPr>
              <a:t>42.1%</a:t>
            </a:r>
            <a:r>
              <a:rPr sz="1600" b="0" i="0">
                <a:solidFill>
                  <a:srgbClr val="222222"/>
                </a:solidFill>
                <a:latin typeface="Arial"/>
                <a:ea typeface="微软雅黑"/>
                <a:cs typeface="Arial"/>
              </a:rPr>
              <a:t>，季节朴素 57.9%，删失负二项 51.1%，LightGBM（泊松）40.0%，改进方法 41.1%</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显著性：主方法显著优于季节朴素、历史均值和两种负二项；与两种 LightGBM 差异在 5% 水平上不显著（DM 检验 p = 0.067）</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满载删失班次：忽略删失的 LightGBM 平均低估 </a:t>
            </a:r>
            <a:r>
              <a:rPr sz="1600" b="1" i="0">
                <a:solidFill>
                  <a:srgbClr val="E76F51"/>
                </a:solidFill>
                <a:latin typeface="Arial"/>
                <a:ea typeface="微软雅黑"/>
                <a:cs typeface="Arial"/>
              </a:rPr>
              <a:t>18.6</a:t>
            </a:r>
            <a:r>
              <a:rPr sz="1600" b="0" i="0">
                <a:solidFill>
                  <a:srgbClr val="222222"/>
                </a:solidFill>
                <a:latin typeface="Arial"/>
                <a:ea typeface="微软雅黑"/>
                <a:cs typeface="Arial"/>
              </a:rPr>
              <a:t> 人，主方法 </a:t>
            </a:r>
            <a:r>
              <a:rPr sz="1600" b="1" i="0">
                <a:solidFill>
                  <a:srgbClr val="E76F51"/>
                </a:solidFill>
                <a:latin typeface="Arial"/>
                <a:ea typeface="微软雅黑"/>
                <a:cs typeface="Arial"/>
              </a:rPr>
              <a:t>9.3</a:t>
            </a:r>
            <a:r>
              <a:rPr sz="1600" b="0" i="0">
                <a:solidFill>
                  <a:srgbClr val="222222"/>
                </a:solidFill>
                <a:latin typeface="Arial"/>
                <a:ea typeface="微软雅黑"/>
                <a:cs typeface="Arial"/>
              </a:rPr>
              <a:t> 人</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90% 区间：春运核心期 Mondrian 覆盖率 </a:t>
            </a:r>
            <a:r>
              <a:rPr sz="1600" b="1" i="0">
                <a:solidFill>
                  <a:srgbClr val="E76F51"/>
                </a:solidFill>
                <a:latin typeface="Arial"/>
                <a:ea typeface="微软雅黑"/>
                <a:cs typeface="Arial"/>
              </a:rPr>
              <a:t>92.1%</a:t>
            </a:r>
            <a:r>
              <a:rPr sz="1600" b="0" i="0">
                <a:solidFill>
                  <a:srgbClr val="222222"/>
                </a:solidFill>
                <a:latin typeface="Arial"/>
                <a:ea typeface="微软雅黑"/>
                <a:cs typeface="Arial"/>
              </a:rPr>
              <a:t>，全局区间 </a:t>
            </a:r>
            <a:r>
              <a:rPr sz="1600" b="1" i="0">
                <a:solidFill>
                  <a:srgbClr val="E76F51"/>
                </a:solidFill>
                <a:latin typeface="Arial"/>
                <a:ea typeface="微软雅黑"/>
                <a:cs typeface="Arial"/>
              </a:rPr>
              <a:t>87.6%</a:t>
            </a:r>
            <a:r>
              <a:rPr sz="1600" b="0" i="0">
                <a:solidFill>
                  <a:srgbClr val="222222"/>
                </a:solidFill>
                <a:latin typeface="Arial"/>
                <a:ea typeface="微软雅黑"/>
                <a:cs typeface="Arial"/>
              </a:rPr>
              <a:t>；Mondrian 各情景覆盖率 90.0%—92.2%</a:t>
            </a:r>
          </a:p>
          <a:p>
            <a:pPr algn="l" marL="213360" indent="-213360">
              <a:lnSpc>
                <a:spcPct val="112000"/>
              </a:lnSpc>
              <a:spcAft>
                <a:spcPts val="0"/>
              </a:spcAft>
              <a:buClr>
                <a:srgbClr val="1F3A5F"/>
              </a:buClr>
              <a:buChar char="•"/>
            </a:pPr>
            <a:r>
              <a:rPr sz="1600" b="0" i="0">
                <a:solidFill>
                  <a:srgbClr val="222222"/>
                </a:solidFill>
                <a:latin typeface="Arial"/>
                <a:ea typeface="微软雅黑"/>
                <a:cs typeface="Arial"/>
              </a:rPr>
              <a:t>使用建议：两种方法并行，点预测用改进方法，区间用主方法</a:t>
            </a:r>
          </a:p>
        </p:txBody>
      </p:sp>
      <p:sp>
        <p:nvSpPr>
          <p:cNvPr id="10" name="Rectangle 9"/>
          <p:cNvSpPr/>
          <p:nvPr/>
        </p:nvSpPr>
        <p:spPr>
          <a:xfrm>
            <a:off x="6029325" y="5440680"/>
            <a:ext cx="5702427" cy="868680"/>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1" name="TextBox 10"/>
          <p:cNvSpPr txBox="1"/>
          <p:nvPr/>
        </p:nvSpPr>
        <p:spPr>
          <a:xfrm>
            <a:off x="6029325" y="5440680"/>
            <a:ext cx="5702427" cy="868680"/>
          </a:xfrm>
          <a:prstGeom prst="rect">
            <a:avLst/>
          </a:prstGeom>
          <a:noFill/>
        </p:spPr>
        <p:txBody>
          <a:bodyPr wrap="square" lIns="73152" rIns="73152" tIns="73152" bIns="73152" anchor="ctr">
            <a:noAutofit/>
          </a:bodyPr>
          <a:lstStyle/>
          <a:p>
            <a:pPr algn="ctr">
              <a:lnSpc>
                <a:spcPct val="112000"/>
              </a:lnSpc>
              <a:spcAft>
                <a:spcPts val="0"/>
              </a:spcAft>
            </a:pPr>
            <a:r>
              <a:rPr sz="1600" b="1" i="0">
                <a:solidFill>
                  <a:srgbClr val="2A9D8F"/>
                </a:solidFill>
                <a:latin typeface="Arial"/>
                <a:ea typeface="微软雅黑"/>
                <a:cs typeface="Arial"/>
              </a:rPr>
              <a:t>假设检验（模拟数据）：H3 支持、H4 支持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五、四个计算模型及其检验结果</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模型三（RQ3）：只承担稳定节律的固定时刻表——以社会成本最小为目标的场景整数规划</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14 / 20</a:t>
            </a:r>
          </a:p>
        </p:txBody>
      </p:sp>
      <p:sp>
        <p:nvSpPr>
          <p:cNvPr id="6" name="Rectangle 5"/>
          <p:cNvSpPr/>
          <p:nvPr/>
        </p:nvSpPr>
        <p:spPr>
          <a:xfrm>
            <a:off x="457200" y="1463040"/>
            <a:ext cx="2720340" cy="8686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TextBox 6"/>
          <p:cNvSpPr txBox="1"/>
          <p:nvPr/>
        </p:nvSpPr>
        <p:spPr>
          <a:xfrm>
            <a:off x="512064" y="1463040"/>
            <a:ext cx="2610612" cy="868680"/>
          </a:xfrm>
          <a:prstGeom prst="rect">
            <a:avLst/>
          </a:prstGeom>
          <a:noFill/>
        </p:spPr>
        <p:txBody>
          <a:bodyPr wrap="square" lIns="73152" rIns="73152" tIns="73152" bIns="73152" anchor="ctr">
            <a:noAutofit/>
          </a:bodyPr>
          <a:lstStyle/>
          <a:p>
            <a:pPr algn="ctr">
              <a:lnSpc>
                <a:spcPct val="112000"/>
              </a:lnSpc>
              <a:spcAft>
                <a:spcPts val="0"/>
              </a:spcAft>
            </a:pPr>
            <a:r>
              <a:rPr sz="1400" b="1" i="0">
                <a:solidFill>
                  <a:srgbClr val="FFFFFF"/>
                </a:solidFill>
                <a:latin typeface="Arial"/>
                <a:ea typeface="微软雅黑"/>
                <a:cs typeface="Arial"/>
              </a:rPr>
              <a:t>固定时刻表：日内时段、周节律、学期/假期交替</a:t>
            </a:r>
          </a:p>
        </p:txBody>
      </p:sp>
      <p:sp>
        <p:nvSpPr>
          <p:cNvPr id="8" name="Rectangle 7"/>
          <p:cNvSpPr/>
          <p:nvPr/>
        </p:nvSpPr>
        <p:spPr>
          <a:xfrm>
            <a:off x="3268979" y="1463040"/>
            <a:ext cx="2720340" cy="868680"/>
          </a:xfrm>
          <a:prstGeom prst="rect">
            <a:avLst/>
          </a:prstGeom>
          <a:solidFill>
            <a:srgbClr val="FCEBE5"/>
          </a:solidFill>
          <a:ln w="1270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9" name="TextBox 8"/>
          <p:cNvSpPr txBox="1"/>
          <p:nvPr/>
        </p:nvSpPr>
        <p:spPr>
          <a:xfrm>
            <a:off x="3323844" y="1463040"/>
            <a:ext cx="2610612" cy="868680"/>
          </a:xfrm>
          <a:prstGeom prst="rect">
            <a:avLst/>
          </a:prstGeom>
          <a:noFill/>
        </p:spPr>
        <p:txBody>
          <a:bodyPr wrap="square" lIns="73152" rIns="73152" tIns="73152" bIns="73152" anchor="ctr">
            <a:noAutofit/>
          </a:bodyPr>
          <a:lstStyle/>
          <a:p>
            <a:pPr algn="ctr">
              <a:lnSpc>
                <a:spcPct val="112000"/>
              </a:lnSpc>
              <a:spcAft>
                <a:spcPts val="0"/>
              </a:spcAft>
            </a:pPr>
            <a:r>
              <a:rPr sz="1400" b="1" i="0">
                <a:solidFill>
                  <a:srgbClr val="E76F51"/>
                </a:solidFill>
                <a:latin typeface="Arial"/>
                <a:ea typeface="微软雅黑"/>
                <a:cs typeface="Arial"/>
              </a:rPr>
              <a:t>次日柔性层：春运、节假日、天气等不规则节律</a:t>
            </a:r>
          </a:p>
        </p:txBody>
      </p:sp>
      <p:sp>
        <p:nvSpPr>
          <p:cNvPr id="10" name="TextBox 9"/>
          <p:cNvSpPr txBox="1"/>
          <p:nvPr/>
        </p:nvSpPr>
        <p:spPr>
          <a:xfrm>
            <a:off x="457200" y="2423160"/>
            <a:ext cx="5532120" cy="347472"/>
          </a:xfrm>
          <a:prstGeom prst="rect">
            <a:avLst/>
          </a:prstGeom>
          <a:noFill/>
        </p:spPr>
        <p:txBody>
          <a:bodyPr wrap="square" lIns="73152" rIns="73152" tIns="18288" bIns="18288" anchor="t">
            <a:noAutofit/>
          </a:bodyPr>
          <a:lstStyle/>
          <a:p>
            <a:pPr algn="l">
              <a:lnSpc>
                <a:spcPct val="112000"/>
              </a:lnSpc>
              <a:spcAft>
                <a:spcPts val="0"/>
              </a:spcAft>
            </a:pPr>
            <a:r>
              <a:rPr sz="1500" b="1" i="0">
                <a:solidFill>
                  <a:srgbClr val="1F3A5F"/>
                </a:solidFill>
                <a:latin typeface="Arial"/>
                <a:ea typeface="微软雅黑"/>
                <a:cs typeface="Arial"/>
              </a:rPr>
              <a:t>需求分层：6 层场景</a:t>
            </a:r>
          </a:p>
        </p:txBody>
      </p:sp>
      <p:sp>
        <p:nvSpPr>
          <p:cNvPr id="11" name="Rectangle 10"/>
          <p:cNvSpPr/>
          <p:nvPr/>
        </p:nvSpPr>
        <p:spPr>
          <a:xfrm>
            <a:off x="457200" y="2788920"/>
            <a:ext cx="1795271" cy="411480"/>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2" name="TextBox 11"/>
          <p:cNvSpPr txBox="1"/>
          <p:nvPr/>
        </p:nvSpPr>
        <p:spPr>
          <a:xfrm>
            <a:off x="457200" y="2788920"/>
            <a:ext cx="1795271" cy="411480"/>
          </a:xfrm>
          <a:prstGeom prst="rect">
            <a:avLst/>
          </a:prstGeom>
          <a:noFill/>
        </p:spPr>
        <p:txBody>
          <a:bodyPr wrap="square" lIns="73152" rIns="73152" tIns="18288" bIns="18288" anchor="ctr">
            <a:noAutofit/>
          </a:bodyPr>
          <a:lstStyle/>
          <a:p>
            <a:pPr algn="ctr">
              <a:lnSpc>
                <a:spcPct val="112000"/>
              </a:lnSpc>
              <a:spcAft>
                <a:spcPts val="0"/>
              </a:spcAft>
            </a:pPr>
            <a:r>
              <a:rPr sz="1400" b="0" i="0">
                <a:solidFill>
                  <a:srgbClr val="1F3A5F"/>
                </a:solidFill>
                <a:latin typeface="Arial"/>
                <a:ea typeface="微软雅黑"/>
                <a:cs typeface="Arial"/>
              </a:rPr>
              <a:t>学期周一至周四</a:t>
            </a:r>
          </a:p>
        </p:txBody>
      </p:sp>
      <p:sp>
        <p:nvSpPr>
          <p:cNvPr id="13" name="Rectangle 12"/>
          <p:cNvSpPr/>
          <p:nvPr/>
        </p:nvSpPr>
        <p:spPr>
          <a:xfrm>
            <a:off x="2325623" y="2788920"/>
            <a:ext cx="1795271" cy="411480"/>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4" name="TextBox 13"/>
          <p:cNvSpPr txBox="1"/>
          <p:nvPr/>
        </p:nvSpPr>
        <p:spPr>
          <a:xfrm>
            <a:off x="2325623" y="2788920"/>
            <a:ext cx="1795271" cy="411480"/>
          </a:xfrm>
          <a:prstGeom prst="rect">
            <a:avLst/>
          </a:prstGeom>
          <a:noFill/>
        </p:spPr>
        <p:txBody>
          <a:bodyPr wrap="square" lIns="73152" rIns="73152" tIns="18288" bIns="18288" anchor="ctr">
            <a:noAutofit/>
          </a:bodyPr>
          <a:lstStyle/>
          <a:p>
            <a:pPr algn="ctr">
              <a:lnSpc>
                <a:spcPct val="112000"/>
              </a:lnSpc>
              <a:spcAft>
                <a:spcPts val="0"/>
              </a:spcAft>
            </a:pPr>
            <a:r>
              <a:rPr sz="1400" b="0" i="0">
                <a:solidFill>
                  <a:srgbClr val="1F3A5F"/>
                </a:solidFill>
                <a:latin typeface="Arial"/>
                <a:ea typeface="微软雅黑"/>
                <a:cs typeface="Arial"/>
              </a:rPr>
              <a:t>学期周五</a:t>
            </a:r>
          </a:p>
        </p:txBody>
      </p:sp>
      <p:sp>
        <p:nvSpPr>
          <p:cNvPr id="15" name="Rectangle 14"/>
          <p:cNvSpPr/>
          <p:nvPr/>
        </p:nvSpPr>
        <p:spPr>
          <a:xfrm>
            <a:off x="4194047" y="2788920"/>
            <a:ext cx="1795271" cy="411480"/>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6" name="TextBox 15"/>
          <p:cNvSpPr txBox="1"/>
          <p:nvPr/>
        </p:nvSpPr>
        <p:spPr>
          <a:xfrm>
            <a:off x="4194047" y="2788920"/>
            <a:ext cx="1795271" cy="411480"/>
          </a:xfrm>
          <a:prstGeom prst="rect">
            <a:avLst/>
          </a:prstGeom>
          <a:noFill/>
        </p:spPr>
        <p:txBody>
          <a:bodyPr wrap="square" lIns="73152" rIns="73152" tIns="18288" bIns="18288" anchor="ctr">
            <a:noAutofit/>
          </a:bodyPr>
          <a:lstStyle/>
          <a:p>
            <a:pPr algn="ctr">
              <a:lnSpc>
                <a:spcPct val="112000"/>
              </a:lnSpc>
              <a:spcAft>
                <a:spcPts val="0"/>
              </a:spcAft>
            </a:pPr>
            <a:r>
              <a:rPr sz="1400" b="0" i="0">
                <a:solidFill>
                  <a:srgbClr val="1F3A5F"/>
                </a:solidFill>
                <a:latin typeface="Arial"/>
                <a:ea typeface="微软雅黑"/>
                <a:cs typeface="Arial"/>
              </a:rPr>
              <a:t>学期周六</a:t>
            </a:r>
          </a:p>
        </p:txBody>
      </p:sp>
      <p:sp>
        <p:nvSpPr>
          <p:cNvPr id="17" name="Rectangle 16"/>
          <p:cNvSpPr/>
          <p:nvPr/>
        </p:nvSpPr>
        <p:spPr>
          <a:xfrm>
            <a:off x="457200" y="3264408"/>
            <a:ext cx="1795271" cy="411480"/>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8" name="TextBox 17"/>
          <p:cNvSpPr txBox="1"/>
          <p:nvPr/>
        </p:nvSpPr>
        <p:spPr>
          <a:xfrm>
            <a:off x="457200" y="3264408"/>
            <a:ext cx="1795271" cy="411480"/>
          </a:xfrm>
          <a:prstGeom prst="rect">
            <a:avLst/>
          </a:prstGeom>
          <a:noFill/>
        </p:spPr>
        <p:txBody>
          <a:bodyPr wrap="square" lIns="73152" rIns="73152" tIns="18288" bIns="18288" anchor="ctr">
            <a:noAutofit/>
          </a:bodyPr>
          <a:lstStyle/>
          <a:p>
            <a:pPr algn="ctr">
              <a:lnSpc>
                <a:spcPct val="112000"/>
              </a:lnSpc>
              <a:spcAft>
                <a:spcPts val="0"/>
              </a:spcAft>
            </a:pPr>
            <a:r>
              <a:rPr sz="1400" b="0" i="0">
                <a:solidFill>
                  <a:srgbClr val="1F3A5F"/>
                </a:solidFill>
                <a:latin typeface="Arial"/>
                <a:ea typeface="微软雅黑"/>
                <a:cs typeface="Arial"/>
              </a:rPr>
              <a:t>学期周日</a:t>
            </a:r>
          </a:p>
        </p:txBody>
      </p:sp>
      <p:sp>
        <p:nvSpPr>
          <p:cNvPr id="19" name="Rectangle 18"/>
          <p:cNvSpPr/>
          <p:nvPr/>
        </p:nvSpPr>
        <p:spPr>
          <a:xfrm>
            <a:off x="2325623" y="3264408"/>
            <a:ext cx="1795271" cy="411480"/>
          </a:xfrm>
          <a:prstGeom prst="rect">
            <a:avLst/>
          </a:prstGeom>
          <a:solidFill>
            <a:srgbClr val="F1F4F8"/>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0" name="TextBox 19"/>
          <p:cNvSpPr txBox="1"/>
          <p:nvPr/>
        </p:nvSpPr>
        <p:spPr>
          <a:xfrm>
            <a:off x="2325623" y="3264408"/>
            <a:ext cx="1795271" cy="411480"/>
          </a:xfrm>
          <a:prstGeom prst="rect">
            <a:avLst/>
          </a:prstGeom>
          <a:noFill/>
        </p:spPr>
        <p:txBody>
          <a:bodyPr wrap="square" lIns="73152" rIns="73152" tIns="18288" bIns="18288" anchor="ctr">
            <a:noAutofit/>
          </a:bodyPr>
          <a:lstStyle/>
          <a:p>
            <a:pPr algn="ctr">
              <a:lnSpc>
                <a:spcPct val="112000"/>
              </a:lnSpc>
              <a:spcAft>
                <a:spcPts val="0"/>
              </a:spcAft>
            </a:pPr>
            <a:r>
              <a:rPr sz="1400" b="0" i="0">
                <a:solidFill>
                  <a:srgbClr val="1F3A5F"/>
                </a:solidFill>
                <a:latin typeface="Arial"/>
                <a:ea typeface="微软雅黑"/>
                <a:cs typeface="Arial"/>
              </a:rPr>
              <a:t>假期工作日</a:t>
            </a:r>
          </a:p>
        </p:txBody>
      </p:sp>
      <p:sp>
        <p:nvSpPr>
          <p:cNvPr id="21" name="Rectangle 20"/>
          <p:cNvSpPr/>
          <p:nvPr/>
        </p:nvSpPr>
        <p:spPr>
          <a:xfrm>
            <a:off x="4194047" y="3264408"/>
            <a:ext cx="1795271" cy="411480"/>
          </a:xfrm>
          <a:prstGeom prst="rect">
            <a:avLst/>
          </a:prstGeom>
          <a:solidFill>
            <a:srgbClr val="F1F4F8"/>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2" name="TextBox 21"/>
          <p:cNvSpPr txBox="1"/>
          <p:nvPr/>
        </p:nvSpPr>
        <p:spPr>
          <a:xfrm>
            <a:off x="4194047" y="3264408"/>
            <a:ext cx="1795271" cy="411480"/>
          </a:xfrm>
          <a:prstGeom prst="rect">
            <a:avLst/>
          </a:prstGeom>
          <a:noFill/>
        </p:spPr>
        <p:txBody>
          <a:bodyPr wrap="square" lIns="73152" rIns="73152" tIns="18288" bIns="18288" anchor="ctr">
            <a:noAutofit/>
          </a:bodyPr>
          <a:lstStyle/>
          <a:p>
            <a:pPr algn="ctr">
              <a:lnSpc>
                <a:spcPct val="112000"/>
              </a:lnSpc>
              <a:spcAft>
                <a:spcPts val="0"/>
              </a:spcAft>
            </a:pPr>
            <a:r>
              <a:rPr sz="1400" b="0" i="0">
                <a:solidFill>
                  <a:srgbClr val="1F3A5F"/>
                </a:solidFill>
                <a:latin typeface="Arial"/>
                <a:ea typeface="微软雅黑"/>
                <a:cs typeface="Arial"/>
              </a:rPr>
              <a:t>假期周末</a:t>
            </a:r>
          </a:p>
        </p:txBody>
      </p:sp>
      <p:sp>
        <p:nvSpPr>
          <p:cNvPr id="23" name="Rectangle 22"/>
          <p:cNvSpPr/>
          <p:nvPr/>
        </p:nvSpPr>
        <p:spPr>
          <a:xfrm>
            <a:off x="457200" y="3794760"/>
            <a:ext cx="2583179" cy="7315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TextBox 23"/>
          <p:cNvSpPr txBox="1"/>
          <p:nvPr/>
        </p:nvSpPr>
        <p:spPr>
          <a:xfrm>
            <a:off x="457200" y="3794760"/>
            <a:ext cx="2583179" cy="731520"/>
          </a:xfrm>
          <a:prstGeom prst="rect">
            <a:avLst/>
          </a:prstGeom>
          <a:noFill/>
        </p:spPr>
        <p:txBody>
          <a:bodyPr wrap="square" lIns="73152" rIns="73152" tIns="73152" bIns="73152" anchor="ctr">
            <a:noAutofit/>
          </a:bodyPr>
          <a:lstStyle/>
          <a:p>
            <a:pPr algn="ctr">
              <a:lnSpc>
                <a:spcPct val="112000"/>
              </a:lnSpc>
              <a:spcAft>
                <a:spcPts val="455"/>
              </a:spcAft>
            </a:pPr>
            <a:r>
              <a:rPr sz="1300" b="1" i="0">
                <a:solidFill>
                  <a:srgbClr val="FFFFFF"/>
                </a:solidFill>
                <a:latin typeface="Arial"/>
                <a:ea typeface="微软雅黑"/>
                <a:cs typeface="Arial"/>
              </a:rPr>
              <a:t>逐班次拟合删失负二项</a:t>
            </a:r>
          </a:p>
          <a:p>
            <a:pPr algn="ctr">
              <a:lnSpc>
                <a:spcPct val="112000"/>
              </a:lnSpc>
              <a:spcAft>
                <a:spcPts val="0"/>
              </a:spcAft>
            </a:pPr>
            <a:r>
              <a:rPr sz="1300" b="1" i="0">
                <a:solidFill>
                  <a:srgbClr val="FFFFFF"/>
                </a:solidFill>
                <a:latin typeface="Arial"/>
                <a:ea typeface="微软雅黑"/>
                <a:cs typeface="Arial"/>
              </a:rPr>
              <a:t>→ 潜在需求</a:t>
            </a:r>
          </a:p>
        </p:txBody>
      </p:sp>
      <p:cxnSp>
        <p:nvCxnSpPr>
          <p:cNvPr id="25" name="Connector 24"/>
          <p:cNvCxnSpPr/>
          <p:nvPr/>
        </p:nvCxnSpPr>
        <p:spPr>
          <a:xfrm>
            <a:off x="3086099" y="4169663"/>
            <a:ext cx="274321" cy="0"/>
          </a:xfrm>
          <a:prstGeom prst="line">
            <a:avLst/>
          </a:prstGeom>
          <a:ln w="25400">
            <a:solidFill>
              <a:srgbClr val="1F3A5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3406139" y="3794760"/>
            <a:ext cx="2583179" cy="73152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7" name="TextBox 26"/>
          <p:cNvSpPr txBox="1"/>
          <p:nvPr/>
        </p:nvSpPr>
        <p:spPr>
          <a:xfrm>
            <a:off x="3406139" y="3794760"/>
            <a:ext cx="2583179" cy="731520"/>
          </a:xfrm>
          <a:prstGeom prst="rect">
            <a:avLst/>
          </a:prstGeom>
          <a:noFill/>
        </p:spPr>
        <p:txBody>
          <a:bodyPr wrap="square" lIns="73152" rIns="73152" tIns="73152" bIns="73152" anchor="ctr">
            <a:noAutofit/>
          </a:bodyPr>
          <a:lstStyle/>
          <a:p>
            <a:pPr algn="ctr">
              <a:lnSpc>
                <a:spcPct val="112000"/>
              </a:lnSpc>
              <a:spcAft>
                <a:spcPts val="455"/>
              </a:spcAft>
            </a:pPr>
            <a:r>
              <a:rPr sz="1300" b="1" i="0">
                <a:solidFill>
                  <a:srgbClr val="FFFFFF"/>
                </a:solidFill>
                <a:latin typeface="Arial"/>
                <a:ea typeface="微软雅黑"/>
                <a:cs typeface="Arial"/>
              </a:rPr>
              <a:t>问卷期望出发时刻</a:t>
            </a:r>
          </a:p>
          <a:p>
            <a:pPr algn="ctr">
              <a:lnSpc>
                <a:spcPct val="112000"/>
              </a:lnSpc>
              <a:spcAft>
                <a:spcPts val="0"/>
              </a:spcAft>
            </a:pPr>
            <a:r>
              <a:rPr sz="1300" b="1" i="0">
                <a:solidFill>
                  <a:srgbClr val="FFFFFF"/>
                </a:solidFill>
                <a:latin typeface="Arial"/>
                <a:ea typeface="微软雅黑"/>
                <a:cs typeface="Arial"/>
              </a:rPr>
              <a:t>→ 分摊到 15 分钟时段</a:t>
            </a:r>
          </a:p>
        </p:txBody>
      </p:sp>
      <p:sp>
        <p:nvSpPr>
          <p:cNvPr id="28" name="Rectangle 27"/>
          <p:cNvSpPr/>
          <p:nvPr/>
        </p:nvSpPr>
        <p:spPr>
          <a:xfrm>
            <a:off x="457200" y="4617720"/>
            <a:ext cx="5532120" cy="16916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9" name="Rectangle 28"/>
          <p:cNvSpPr/>
          <p:nvPr/>
        </p:nvSpPr>
        <p:spPr>
          <a:xfrm>
            <a:off x="640080" y="5702895"/>
            <a:ext cx="86106" cy="240704"/>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0" name="Rectangle 29"/>
          <p:cNvSpPr/>
          <p:nvPr/>
        </p:nvSpPr>
        <p:spPr>
          <a:xfrm>
            <a:off x="747712" y="5614865"/>
            <a:ext cx="86106" cy="328734"/>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1" name="Rectangle 30"/>
          <p:cNvSpPr/>
          <p:nvPr/>
        </p:nvSpPr>
        <p:spPr>
          <a:xfrm>
            <a:off x="855344" y="5449918"/>
            <a:ext cx="86106" cy="493681"/>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2" name="Rectangle 31"/>
          <p:cNvSpPr/>
          <p:nvPr/>
        </p:nvSpPr>
        <p:spPr>
          <a:xfrm>
            <a:off x="962977" y="5207311"/>
            <a:ext cx="86106" cy="736288"/>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3" name="Rectangle 32"/>
          <p:cNvSpPr/>
          <p:nvPr/>
        </p:nvSpPr>
        <p:spPr>
          <a:xfrm>
            <a:off x="1070609" y="4940017"/>
            <a:ext cx="86106" cy="100358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4" name="Rectangle 33"/>
          <p:cNvSpPr/>
          <p:nvPr/>
        </p:nvSpPr>
        <p:spPr>
          <a:xfrm>
            <a:off x="1178242" y="4748124"/>
            <a:ext cx="86106" cy="1195475"/>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5" name="Rectangle 34"/>
          <p:cNvSpPr/>
          <p:nvPr/>
        </p:nvSpPr>
        <p:spPr>
          <a:xfrm>
            <a:off x="1285875" y="4721648"/>
            <a:ext cx="86106" cy="1221951"/>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6" name="Rectangle 35"/>
          <p:cNvSpPr/>
          <p:nvPr/>
        </p:nvSpPr>
        <p:spPr>
          <a:xfrm>
            <a:off x="1393507" y="4873975"/>
            <a:ext cx="86106" cy="106962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7" name="Rectangle 36"/>
          <p:cNvSpPr/>
          <p:nvPr/>
        </p:nvSpPr>
        <p:spPr>
          <a:xfrm>
            <a:off x="1501140" y="5131212"/>
            <a:ext cx="86106" cy="812387"/>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8" name="Rectangle 37"/>
          <p:cNvSpPr/>
          <p:nvPr/>
        </p:nvSpPr>
        <p:spPr>
          <a:xfrm>
            <a:off x="1608772" y="5388674"/>
            <a:ext cx="86106" cy="554925"/>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39" name="Rectangle 38"/>
          <p:cNvSpPr/>
          <p:nvPr/>
        </p:nvSpPr>
        <p:spPr>
          <a:xfrm>
            <a:off x="1716405" y="5577223"/>
            <a:ext cx="86106" cy="366376"/>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0" name="Rectangle 39"/>
          <p:cNvSpPr/>
          <p:nvPr/>
        </p:nvSpPr>
        <p:spPr>
          <a:xfrm>
            <a:off x="1824037" y="5684592"/>
            <a:ext cx="86106" cy="259007"/>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1" name="Rectangle 40"/>
          <p:cNvSpPr/>
          <p:nvPr/>
        </p:nvSpPr>
        <p:spPr>
          <a:xfrm>
            <a:off x="1931669" y="5733368"/>
            <a:ext cx="86106" cy="210231"/>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2" name="Rectangle 41"/>
          <p:cNvSpPr/>
          <p:nvPr/>
        </p:nvSpPr>
        <p:spPr>
          <a:xfrm>
            <a:off x="2039302" y="5751207"/>
            <a:ext cx="86106" cy="192392"/>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3" name="Rectangle 42"/>
          <p:cNvSpPr/>
          <p:nvPr/>
        </p:nvSpPr>
        <p:spPr>
          <a:xfrm>
            <a:off x="2146935" y="5756283"/>
            <a:ext cx="86106" cy="187316"/>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4" name="Rectangle 43"/>
          <p:cNvSpPr/>
          <p:nvPr/>
        </p:nvSpPr>
        <p:spPr>
          <a:xfrm>
            <a:off x="2254567" y="5756848"/>
            <a:ext cx="86106" cy="186751"/>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5" name="Rectangle 44"/>
          <p:cNvSpPr/>
          <p:nvPr/>
        </p:nvSpPr>
        <p:spPr>
          <a:xfrm>
            <a:off x="2362199" y="5755400"/>
            <a:ext cx="86106" cy="188199"/>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6" name="Rectangle 45"/>
          <p:cNvSpPr/>
          <p:nvPr/>
        </p:nvSpPr>
        <p:spPr>
          <a:xfrm>
            <a:off x="2469832" y="5751825"/>
            <a:ext cx="86106" cy="191774"/>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7" name="Rectangle 46"/>
          <p:cNvSpPr/>
          <p:nvPr/>
        </p:nvSpPr>
        <p:spPr>
          <a:xfrm>
            <a:off x="2577464" y="5744708"/>
            <a:ext cx="86106" cy="198891"/>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8" name="Rectangle 47"/>
          <p:cNvSpPr/>
          <p:nvPr/>
        </p:nvSpPr>
        <p:spPr>
          <a:xfrm>
            <a:off x="2685097" y="5731639"/>
            <a:ext cx="86106" cy="211960"/>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49" name="Rectangle 48"/>
          <p:cNvSpPr/>
          <p:nvPr/>
        </p:nvSpPr>
        <p:spPr>
          <a:xfrm>
            <a:off x="2792729" y="5709312"/>
            <a:ext cx="86106" cy="234287"/>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0" name="Rectangle 49"/>
          <p:cNvSpPr/>
          <p:nvPr/>
        </p:nvSpPr>
        <p:spPr>
          <a:xfrm>
            <a:off x="2900362" y="5673868"/>
            <a:ext cx="86106" cy="269731"/>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1" name="Rectangle 50"/>
          <p:cNvSpPr/>
          <p:nvPr/>
        </p:nvSpPr>
        <p:spPr>
          <a:xfrm>
            <a:off x="3007994" y="5621720"/>
            <a:ext cx="86106" cy="321879"/>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2" name="Rectangle 51"/>
          <p:cNvSpPr/>
          <p:nvPr/>
        </p:nvSpPr>
        <p:spPr>
          <a:xfrm>
            <a:off x="3115627" y="5550884"/>
            <a:ext cx="86106" cy="392715"/>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53" name="Rectangle 52"/>
          <p:cNvSpPr/>
          <p:nvPr/>
        </p:nvSpPr>
        <p:spPr>
          <a:xfrm>
            <a:off x="3223259" y="5462545"/>
            <a:ext cx="86106" cy="481054"/>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4" name="Rectangle 53"/>
          <p:cNvSpPr/>
          <p:nvPr/>
        </p:nvSpPr>
        <p:spPr>
          <a:xfrm>
            <a:off x="3330892" y="5362313"/>
            <a:ext cx="86106" cy="581286"/>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5" name="Rectangle 54"/>
          <p:cNvSpPr/>
          <p:nvPr/>
        </p:nvSpPr>
        <p:spPr>
          <a:xfrm>
            <a:off x="3438524" y="5260444"/>
            <a:ext cx="86106" cy="683155"/>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6" name="Rectangle 55"/>
          <p:cNvSpPr/>
          <p:nvPr/>
        </p:nvSpPr>
        <p:spPr>
          <a:xfrm>
            <a:off x="3546157" y="5170528"/>
            <a:ext cx="86106" cy="773071"/>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7" name="Rectangle 56"/>
          <p:cNvSpPr/>
          <p:nvPr/>
        </p:nvSpPr>
        <p:spPr>
          <a:xfrm>
            <a:off x="3653789" y="5106671"/>
            <a:ext cx="86106" cy="83692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8" name="Rectangle 57"/>
          <p:cNvSpPr/>
          <p:nvPr/>
        </p:nvSpPr>
        <p:spPr>
          <a:xfrm>
            <a:off x="3761422" y="5079910"/>
            <a:ext cx="86106" cy="863689"/>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9" name="Rectangle 58"/>
          <p:cNvSpPr/>
          <p:nvPr/>
        </p:nvSpPr>
        <p:spPr>
          <a:xfrm>
            <a:off x="3869054" y="5095095"/>
            <a:ext cx="86106" cy="84850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0" name="Rectangle 59"/>
          <p:cNvSpPr/>
          <p:nvPr/>
        </p:nvSpPr>
        <p:spPr>
          <a:xfrm>
            <a:off x="3976687" y="5149459"/>
            <a:ext cx="86106" cy="794140"/>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1" name="Rectangle 60"/>
          <p:cNvSpPr/>
          <p:nvPr/>
        </p:nvSpPr>
        <p:spPr>
          <a:xfrm>
            <a:off x="4084319" y="5233436"/>
            <a:ext cx="86106" cy="710163"/>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2" name="Rectangle 61"/>
          <p:cNvSpPr/>
          <p:nvPr/>
        </p:nvSpPr>
        <p:spPr>
          <a:xfrm>
            <a:off x="4191952" y="5333413"/>
            <a:ext cx="86106" cy="610186"/>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3" name="Rectangle 62"/>
          <p:cNvSpPr/>
          <p:nvPr/>
        </p:nvSpPr>
        <p:spPr>
          <a:xfrm>
            <a:off x="4299585" y="5435320"/>
            <a:ext cx="86106" cy="508279"/>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64" name="Rectangle 63"/>
          <p:cNvSpPr/>
          <p:nvPr/>
        </p:nvSpPr>
        <p:spPr>
          <a:xfrm>
            <a:off x="4407217" y="5527761"/>
            <a:ext cx="86106" cy="415838"/>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65" name="Rectangle 64"/>
          <p:cNvSpPr/>
          <p:nvPr/>
        </p:nvSpPr>
        <p:spPr>
          <a:xfrm>
            <a:off x="4514850" y="5603790"/>
            <a:ext cx="86106" cy="339809"/>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66" name="Rectangle 65"/>
          <p:cNvSpPr/>
          <p:nvPr/>
        </p:nvSpPr>
        <p:spPr>
          <a:xfrm>
            <a:off x="4622482" y="5661078"/>
            <a:ext cx="86106" cy="282521"/>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67" name="Rectangle 66"/>
          <p:cNvSpPr/>
          <p:nvPr/>
        </p:nvSpPr>
        <p:spPr>
          <a:xfrm>
            <a:off x="4730115" y="5700879"/>
            <a:ext cx="86106" cy="242720"/>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68" name="Rectangle 67"/>
          <p:cNvSpPr/>
          <p:nvPr/>
        </p:nvSpPr>
        <p:spPr>
          <a:xfrm>
            <a:off x="4837747" y="5726481"/>
            <a:ext cx="86106" cy="217118"/>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69" name="Rectangle 68"/>
          <p:cNvSpPr/>
          <p:nvPr/>
        </p:nvSpPr>
        <p:spPr>
          <a:xfrm>
            <a:off x="4945380" y="5741776"/>
            <a:ext cx="86106" cy="201823"/>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0" name="Rectangle 69"/>
          <p:cNvSpPr/>
          <p:nvPr/>
        </p:nvSpPr>
        <p:spPr>
          <a:xfrm>
            <a:off x="5053012" y="5750279"/>
            <a:ext cx="86106" cy="193320"/>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1" name="Rectangle 70"/>
          <p:cNvSpPr/>
          <p:nvPr/>
        </p:nvSpPr>
        <p:spPr>
          <a:xfrm>
            <a:off x="5160645" y="5754685"/>
            <a:ext cx="86106" cy="188914"/>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2" name="Rectangle 71"/>
          <p:cNvSpPr/>
          <p:nvPr/>
        </p:nvSpPr>
        <p:spPr>
          <a:xfrm>
            <a:off x="5268277" y="5756815"/>
            <a:ext cx="86106" cy="186784"/>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3" name="Rectangle 72"/>
          <p:cNvSpPr/>
          <p:nvPr/>
        </p:nvSpPr>
        <p:spPr>
          <a:xfrm>
            <a:off x="5375910" y="5757777"/>
            <a:ext cx="86106" cy="185822"/>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4" name="Rectangle 73"/>
          <p:cNvSpPr/>
          <p:nvPr/>
        </p:nvSpPr>
        <p:spPr>
          <a:xfrm>
            <a:off x="5483542" y="5758184"/>
            <a:ext cx="86106" cy="185415"/>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5" name="Rectangle 74"/>
          <p:cNvSpPr/>
          <p:nvPr/>
        </p:nvSpPr>
        <p:spPr>
          <a:xfrm>
            <a:off x="5591175" y="5758344"/>
            <a:ext cx="86106" cy="185255"/>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6" name="Rectangle 75"/>
          <p:cNvSpPr/>
          <p:nvPr/>
        </p:nvSpPr>
        <p:spPr>
          <a:xfrm>
            <a:off x="5698807" y="5758404"/>
            <a:ext cx="86106" cy="185195"/>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7" name="Rectangle 76"/>
          <p:cNvSpPr/>
          <p:nvPr/>
        </p:nvSpPr>
        <p:spPr>
          <a:xfrm>
            <a:off x="640080" y="5943600"/>
            <a:ext cx="5166359" cy="13716"/>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78" name="TextBox 77"/>
          <p:cNvSpPr txBox="1"/>
          <p:nvPr/>
        </p:nvSpPr>
        <p:spPr>
          <a:xfrm>
            <a:off x="548640" y="5989320"/>
            <a:ext cx="5349240" cy="274320"/>
          </a:xfrm>
          <a:prstGeom prst="rect">
            <a:avLst/>
          </a:prstGeom>
          <a:noFill/>
        </p:spPr>
        <p:txBody>
          <a:bodyPr wrap="square" lIns="73152" rIns="73152" tIns="18288" bIns="18288" anchor="t">
            <a:noAutofit/>
          </a:bodyPr>
          <a:lstStyle/>
          <a:p>
            <a:pPr algn="l">
              <a:lnSpc>
                <a:spcPct val="112000"/>
              </a:lnSpc>
              <a:spcAft>
                <a:spcPts val="0"/>
              </a:spcAft>
            </a:pPr>
            <a:r>
              <a:rPr sz="1100" b="0" i="0">
                <a:solidFill>
                  <a:srgbClr val="6C757D"/>
                </a:solidFill>
                <a:latin typeface="Arial"/>
                <a:ea typeface="微软雅黑"/>
                <a:cs typeface="Arial"/>
              </a:rPr>
              <a:t>15 分钟时段需求曲线（示意）：固定发车按此曲线在网格上排布</a:t>
            </a:r>
          </a:p>
        </p:txBody>
      </p:sp>
      <p:sp>
        <p:nvSpPr>
          <p:cNvPr id="79" name="Rectangle 78"/>
          <p:cNvSpPr/>
          <p:nvPr/>
        </p:nvSpPr>
        <p:spPr>
          <a:xfrm>
            <a:off x="6199632" y="1463040"/>
            <a:ext cx="5532120" cy="160020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0" name="Rectangle 79"/>
          <p:cNvSpPr/>
          <p:nvPr/>
        </p:nvSpPr>
        <p:spPr>
          <a:xfrm>
            <a:off x="6199632" y="1463040"/>
            <a:ext cx="5532120" cy="38404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目标：社会成本最小</a:t>
            </a:r>
            <a:r>
              <a:rPr sz="1600" b="1" i="0" baseline="30000">
                <a:solidFill>
                  <a:srgbClr val="FFFFFF"/>
                </a:solidFill>
                <a:latin typeface="Arial"/>
                <a:ea typeface="微软雅黑"/>
                <a:cs typeface="Arial"/>
              </a:rPr>
              <a:t>[39,40]</a:t>
            </a:r>
          </a:p>
        </p:txBody>
      </p:sp>
      <p:sp>
        <p:nvSpPr>
          <p:cNvPr id="81" name="TextBox 80"/>
          <p:cNvSpPr txBox="1"/>
          <p:nvPr/>
        </p:nvSpPr>
        <p:spPr>
          <a:xfrm>
            <a:off x="6254496" y="1901952"/>
            <a:ext cx="5422392" cy="1124712"/>
          </a:xfrm>
          <a:prstGeom prst="rect">
            <a:avLst/>
          </a:prstGeom>
          <a:noFill/>
        </p:spPr>
        <p:txBody>
          <a:bodyPr wrap="square" lIns="73152" rIns="73152" tIns="73152" bIns="73152" anchor="ctr">
            <a:noAutofit/>
          </a:bodyPr>
          <a:lstStyle/>
          <a:p>
            <a:pPr algn="l">
              <a:lnSpc>
                <a:spcPct val="112000"/>
              </a:lnSpc>
              <a:spcAft>
                <a:spcPts val="0"/>
              </a:spcAft>
            </a:pPr>
            <a:r>
              <a:rPr sz="1600" b="0" i="0">
                <a:solidFill>
                  <a:srgbClr val="222222"/>
                </a:solidFill>
                <a:latin typeface="Arial"/>
                <a:ea typeface="微软雅黑"/>
                <a:cs typeface="Arial"/>
              </a:rPr>
              <a:t>社会成本 = 运营成本 + 时间价值 × 等待人时 + 未满足惩罚 ×（时刻表抑制损失 + 满载未满足）</a:t>
            </a:r>
          </a:p>
        </p:txBody>
      </p:sp>
      <p:sp>
        <p:nvSpPr>
          <p:cNvPr id="82" name="Rectangle 81"/>
          <p:cNvSpPr/>
          <p:nvPr/>
        </p:nvSpPr>
        <p:spPr>
          <a:xfrm>
            <a:off x="6199632" y="3200400"/>
            <a:ext cx="5532120" cy="23774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83" name="Rectangle 82"/>
          <p:cNvSpPr/>
          <p:nvPr/>
        </p:nvSpPr>
        <p:spPr>
          <a:xfrm>
            <a:off x="6199632" y="3200400"/>
            <a:ext cx="5532120"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决策与约束</a:t>
            </a:r>
          </a:p>
        </p:txBody>
      </p:sp>
      <p:sp>
        <p:nvSpPr>
          <p:cNvPr id="84" name="TextBox 83"/>
          <p:cNvSpPr txBox="1"/>
          <p:nvPr/>
        </p:nvSpPr>
        <p:spPr>
          <a:xfrm>
            <a:off x="6254496" y="3639312"/>
            <a:ext cx="5422392" cy="1901952"/>
          </a:xfrm>
          <a:prstGeom prst="rect">
            <a:avLst/>
          </a:prstGeom>
          <a:noFill/>
        </p:spPr>
        <p:txBody>
          <a:bodyPr wrap="square" lIns="73152" rIns="73152" tIns="73152" bIns="73152" anchor="t">
            <a:noAutofit/>
          </a:bodyPr>
          <a:lstStyle/>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决策：每条线路每个方向在 10 分钟网格上是否发车</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约束：乘客分配与容量、车辆平衡、驾驶时长、最少服务（偏离预注册：以现行首末班为界）、整数约束</a:t>
            </a:r>
          </a:p>
          <a:p>
            <a:pPr algn="l" marL="213360" indent="-213360">
              <a:lnSpc>
                <a:spcPct val="112000"/>
              </a:lnSpc>
              <a:spcAft>
                <a:spcPts val="0"/>
              </a:spcAft>
              <a:buClr>
                <a:srgbClr val="1F3A5F"/>
              </a:buClr>
              <a:buChar char="•"/>
            </a:pPr>
            <a:r>
              <a:rPr sz="1600" b="0" i="0">
                <a:solidFill>
                  <a:srgbClr val="222222"/>
                </a:solidFill>
                <a:latin typeface="Arial"/>
                <a:ea typeface="微软雅黑"/>
                <a:cs typeface="Arial"/>
              </a:rPr>
              <a:t>求解：开源求解器 HiGHS；6 层场景按天数加权</a:t>
            </a:r>
          </a:p>
        </p:txBody>
      </p:sp>
      <p:sp>
        <p:nvSpPr>
          <p:cNvPr id="85" name="TextBox 84"/>
          <p:cNvSpPr txBox="1"/>
          <p:nvPr/>
        </p:nvSpPr>
        <p:spPr>
          <a:xfrm>
            <a:off x="6199632" y="5669280"/>
            <a:ext cx="5532120" cy="640080"/>
          </a:xfrm>
          <a:prstGeom prst="rect">
            <a:avLst/>
          </a:prstGeom>
          <a:noFill/>
        </p:spPr>
        <p:txBody>
          <a:bodyPr wrap="square" lIns="73152" rIns="73152" tIns="73152" bIns="73152" anchor="t">
            <a:noAutofit/>
          </a:bodyPr>
          <a:lstStyle/>
          <a:p>
            <a:pPr algn="l">
              <a:lnSpc>
                <a:spcPct val="112000"/>
              </a:lnSpc>
              <a:spcAft>
                <a:spcPts val="0"/>
              </a:spcAft>
            </a:pPr>
            <a:r>
              <a:rPr sz="1100" b="0" i="0">
                <a:solidFill>
                  <a:srgbClr val="6C757D"/>
                </a:solidFill>
                <a:latin typeface="Arial"/>
                <a:ea typeface="微软雅黑"/>
                <a:cs typeface="Arial"/>
              </a:rPr>
              <a:t>方法来源：时刻表编制与车辆排班综述</a:t>
            </a:r>
            <a:r>
              <a:rPr sz="1100" b="0" i="0" baseline="30000">
                <a:solidFill>
                  <a:srgbClr val="6C757D"/>
                </a:solidFill>
                <a:latin typeface="Arial"/>
                <a:ea typeface="微软雅黑"/>
                <a:cs typeface="Arial"/>
              </a:rPr>
              <a:t>[41]</a:t>
            </a:r>
            <a:r>
              <a:rPr sz="1100" b="0" i="0">
                <a:solidFill>
                  <a:srgbClr val="6C757D"/>
                </a:solidFill>
                <a:latin typeface="Arial"/>
                <a:ea typeface="微软雅黑"/>
                <a:cs typeface="Arial"/>
              </a:rPr>
              <a:t>；资源约束下的鲁棒时刻表</a:t>
            </a:r>
            <a:r>
              <a:rPr sz="1100" b="0" i="0" baseline="30000">
                <a:solidFill>
                  <a:srgbClr val="6C757D"/>
                </a:solidFill>
                <a:latin typeface="Arial"/>
                <a:ea typeface="微软雅黑"/>
                <a:cs typeface="Arial"/>
              </a:rPr>
              <a:t>[42]</a:t>
            </a:r>
            <a:r>
              <a:rPr sz="1100" b="0" i="0">
                <a:solidFill>
                  <a:srgbClr val="6C757D"/>
                </a:solidFill>
                <a:latin typeface="Arial"/>
                <a:ea typeface="微软雅黑"/>
                <a:cs typeface="Arial"/>
              </a:rPr>
              <a:t>；线网与发车频率综述</a:t>
            </a:r>
            <a:r>
              <a:rPr sz="1100" b="0" i="0" baseline="30000">
                <a:solidFill>
                  <a:srgbClr val="6C757D"/>
                </a:solidFill>
                <a:latin typeface="Arial"/>
                <a:ea typeface="微软雅黑"/>
                <a:cs typeface="Arial"/>
              </a:rPr>
              <a:t>[43]</a:t>
            </a:r>
            <a:r>
              <a:rPr sz="1100" b="0" i="0">
                <a:solidFill>
                  <a:srgbClr val="6C757D"/>
                </a:solidFill>
                <a:latin typeface="Arial"/>
                <a:ea typeface="微软雅黑"/>
                <a:cs typeface="Arial"/>
              </a:rPr>
              <a:t>；多车型发车时刻与车型联合优化</a:t>
            </a:r>
            <a:r>
              <a:rPr sz="1100" b="0" i="0" baseline="30000">
                <a:solidFill>
                  <a:srgbClr val="6C757D"/>
                </a:solidFill>
                <a:latin typeface="Arial"/>
                <a:ea typeface="微软雅黑"/>
                <a:cs typeface="Arial"/>
              </a:rPr>
              <a:t>[44]</a:t>
            </a:r>
            <a:r>
              <a:rPr sz="1100" b="0" i="0">
                <a:solidFill>
                  <a:srgbClr val="6C757D"/>
                </a:solidFill>
                <a:latin typeface="Arial"/>
                <a:ea typeface="微软雅黑"/>
                <a:cs typeface="Arial"/>
              </a:rPr>
              <a:t>；城乡一体化公交线路与频率联合优化</a:t>
            </a:r>
            <a:r>
              <a:rPr sz="1100" b="0" i="0" baseline="30000">
                <a:solidFill>
                  <a:srgbClr val="6C757D"/>
                </a:solidFill>
                <a:latin typeface="Arial"/>
                <a:ea typeface="微软雅黑"/>
                <a:cs typeface="Arial"/>
              </a:rPr>
              <a:t>[45]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五、四个计算模型及其检验结果</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650" b="1" i="0">
                <a:solidFill>
                  <a:srgbClr val="1F3A5F"/>
                </a:solidFill>
                <a:latin typeface="Arial"/>
                <a:ea typeface="微软雅黑"/>
                <a:cs typeface="Arial"/>
              </a:rPr>
              <a:t>模型四（RQ4）：在固定骨架上按次日预测指派少量机动车——半柔性配置</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15 / 20</a:t>
            </a:r>
          </a:p>
        </p:txBody>
      </p:sp>
      <p:sp>
        <p:nvSpPr>
          <p:cNvPr id="6" name="TextBox 5"/>
          <p:cNvSpPr txBox="1"/>
          <p:nvPr/>
        </p:nvSpPr>
        <p:spPr>
          <a:xfrm>
            <a:off x="457200" y="1417320"/>
            <a:ext cx="5532120" cy="1188720"/>
          </a:xfrm>
          <a:prstGeom prst="rect">
            <a:avLst/>
          </a:prstGeom>
          <a:noFill/>
        </p:spPr>
        <p:txBody>
          <a:bodyPr wrap="square" lIns="73152" rIns="73152" tIns="73152" bIns="73152" anchor="t">
            <a:noAutofit/>
          </a:bodyPr>
          <a:lstStyle/>
          <a:p>
            <a:pPr algn="l">
              <a:lnSpc>
                <a:spcPct val="112000"/>
              </a:lnSpc>
              <a:spcAft>
                <a:spcPts val="0"/>
              </a:spcAft>
            </a:pPr>
            <a:r>
              <a:rPr sz="1500" b="0" i="0">
                <a:solidFill>
                  <a:srgbClr val="222222"/>
                </a:solidFill>
                <a:latin typeface="Arial"/>
                <a:ea typeface="微软雅黑"/>
                <a:cs typeface="Arial"/>
              </a:rPr>
              <a:t>半柔性公交保留固定骨架、增加有限柔性</a:t>
            </a:r>
            <a:r>
              <a:rPr sz="1500" b="0" i="0" baseline="30000">
                <a:solidFill>
                  <a:srgbClr val="222222"/>
                </a:solidFill>
                <a:latin typeface="Arial"/>
                <a:ea typeface="微软雅黑"/>
                <a:cs typeface="Arial"/>
              </a:rPr>
              <a:t>[19]</a:t>
            </a:r>
            <a:r>
              <a:rPr sz="1500" b="0" i="0">
                <a:solidFill>
                  <a:srgbClr val="222222"/>
                </a:solidFill>
                <a:latin typeface="Arial"/>
                <a:ea typeface="微软雅黑"/>
                <a:cs typeface="Arial"/>
              </a:rPr>
              <a:t>；柔性服务是公共交通的新机会</a:t>
            </a:r>
            <a:r>
              <a:rPr sz="1500" b="0" i="0" baseline="30000">
                <a:solidFill>
                  <a:srgbClr val="222222"/>
                </a:solidFill>
                <a:latin typeface="Arial"/>
                <a:ea typeface="微软雅黑"/>
                <a:cs typeface="Arial"/>
              </a:rPr>
              <a:t>[46]</a:t>
            </a:r>
            <a:r>
              <a:rPr sz="1500" b="0" i="0">
                <a:solidFill>
                  <a:srgbClr val="222222"/>
                </a:solidFill>
                <a:latin typeface="Arial"/>
                <a:ea typeface="微软雅黑"/>
                <a:cs typeface="Arial"/>
              </a:rPr>
              <a:t>，但许多需求响应项目因成本过高或客流不足而停办</a:t>
            </a:r>
            <a:r>
              <a:rPr sz="1500" b="0" i="0" baseline="30000">
                <a:solidFill>
                  <a:srgbClr val="222222"/>
                </a:solidFill>
                <a:latin typeface="Arial"/>
                <a:ea typeface="微软雅黑"/>
                <a:cs typeface="Arial"/>
              </a:rPr>
              <a:t>[47]</a:t>
            </a:r>
            <a:r>
              <a:rPr sz="1500" b="0" i="0">
                <a:solidFill>
                  <a:srgbClr val="222222"/>
                </a:solidFill>
                <a:latin typeface="Arial"/>
                <a:ea typeface="微软雅黑"/>
                <a:cs typeface="Arial"/>
              </a:rPr>
              <a:t>，因此柔性只用于不规则节律的日子</a:t>
            </a:r>
          </a:p>
        </p:txBody>
      </p:sp>
      <p:sp>
        <p:nvSpPr>
          <p:cNvPr id="7" name="Pentagon 6"/>
          <p:cNvSpPr/>
          <p:nvPr/>
        </p:nvSpPr>
        <p:spPr>
          <a:xfrm>
            <a:off x="457200" y="2697480"/>
            <a:ext cx="1807464" cy="502920"/>
          </a:xfrm>
          <a:prstGeom prst="homePlat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400" b="1" i="0">
                <a:solidFill>
                  <a:srgbClr val="FFFFFF"/>
                </a:solidFill>
                <a:latin typeface="Arial"/>
                <a:ea typeface="微软雅黑"/>
                <a:cs typeface="Arial"/>
              </a:rPr>
              <a:t>次日预测（RQ2）</a:t>
            </a:r>
          </a:p>
        </p:txBody>
      </p:sp>
      <p:sp>
        <p:nvSpPr>
          <p:cNvPr id="8" name="Chevron 7"/>
          <p:cNvSpPr/>
          <p:nvPr/>
        </p:nvSpPr>
        <p:spPr>
          <a:xfrm>
            <a:off x="2319528" y="2697480"/>
            <a:ext cx="1807464" cy="502920"/>
          </a:xfrm>
          <a:prstGeom prst="chevron">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400" b="1" i="0">
                <a:solidFill>
                  <a:srgbClr val="FFFFFF"/>
                </a:solidFill>
                <a:latin typeface="Arial"/>
                <a:ea typeface="微软雅黑"/>
                <a:cs typeface="Arial"/>
              </a:rPr>
              <a:t>前一晚指派</a:t>
            </a:r>
          </a:p>
        </p:txBody>
      </p:sp>
      <p:sp>
        <p:nvSpPr>
          <p:cNvPr id="9" name="Chevron 8"/>
          <p:cNvSpPr/>
          <p:nvPr/>
        </p:nvSpPr>
        <p:spPr>
          <a:xfrm>
            <a:off x="4181856" y="2697480"/>
            <a:ext cx="1807464" cy="502920"/>
          </a:xfrm>
          <a:prstGeom prst="chevron">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lnSpc>
                <a:spcPct val="112000"/>
              </a:lnSpc>
            </a:pPr>
            <a:r>
              <a:rPr sz="1400" b="1" i="0">
                <a:solidFill>
                  <a:srgbClr val="FFFFFF"/>
                </a:solidFill>
                <a:latin typeface="Arial"/>
                <a:ea typeface="微软雅黑"/>
                <a:cs typeface="Arial"/>
              </a:rPr>
              <a:t>次日运营</a:t>
            </a:r>
          </a:p>
        </p:txBody>
      </p:sp>
      <p:sp>
        <p:nvSpPr>
          <p:cNvPr id="10" name="Rectangle 9"/>
          <p:cNvSpPr/>
          <p:nvPr/>
        </p:nvSpPr>
        <p:spPr>
          <a:xfrm>
            <a:off x="2331720" y="3337560"/>
            <a:ext cx="1805939"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1" name="TextBox 10"/>
          <p:cNvSpPr txBox="1"/>
          <p:nvPr/>
        </p:nvSpPr>
        <p:spPr>
          <a:xfrm>
            <a:off x="2331720" y="3337560"/>
            <a:ext cx="1805939" cy="384048"/>
          </a:xfrm>
          <a:prstGeom prst="rect">
            <a:avLst/>
          </a:prstGeom>
          <a:noFill/>
        </p:spPr>
        <p:txBody>
          <a:bodyPr wrap="square" lIns="73152" rIns="73152" tIns="18288" bIns="18288" anchor="ctr">
            <a:noAutofit/>
          </a:bodyPr>
          <a:lstStyle/>
          <a:p>
            <a:pPr algn="ctr">
              <a:lnSpc>
                <a:spcPct val="112000"/>
              </a:lnSpc>
              <a:spcAft>
                <a:spcPts val="0"/>
              </a:spcAft>
            </a:pPr>
            <a:r>
              <a:rPr sz="1300" b="1" i="0">
                <a:solidFill>
                  <a:srgbClr val="FFFFFF"/>
                </a:solidFill>
                <a:latin typeface="Arial"/>
                <a:ea typeface="微软雅黑"/>
                <a:cs typeface="Arial"/>
              </a:rPr>
              <a:t>上午 6:00—12:30</a:t>
            </a:r>
          </a:p>
        </p:txBody>
      </p:sp>
      <p:sp>
        <p:nvSpPr>
          <p:cNvPr id="12" name="Rectangle 11"/>
          <p:cNvSpPr/>
          <p:nvPr/>
        </p:nvSpPr>
        <p:spPr>
          <a:xfrm>
            <a:off x="4183379" y="3337560"/>
            <a:ext cx="1805939"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3" name="TextBox 12"/>
          <p:cNvSpPr txBox="1"/>
          <p:nvPr/>
        </p:nvSpPr>
        <p:spPr>
          <a:xfrm>
            <a:off x="4183379" y="3337560"/>
            <a:ext cx="1805939" cy="384048"/>
          </a:xfrm>
          <a:prstGeom prst="rect">
            <a:avLst/>
          </a:prstGeom>
          <a:noFill/>
        </p:spPr>
        <p:txBody>
          <a:bodyPr wrap="square" lIns="73152" rIns="73152" tIns="18288" bIns="18288" anchor="ctr">
            <a:noAutofit/>
          </a:bodyPr>
          <a:lstStyle/>
          <a:p>
            <a:pPr algn="ctr">
              <a:lnSpc>
                <a:spcPct val="112000"/>
              </a:lnSpc>
              <a:spcAft>
                <a:spcPts val="0"/>
              </a:spcAft>
            </a:pPr>
            <a:r>
              <a:rPr sz="1300" b="1" i="0">
                <a:solidFill>
                  <a:srgbClr val="FFFFFF"/>
                </a:solidFill>
                <a:latin typeface="Arial"/>
                <a:ea typeface="微软雅黑"/>
                <a:cs typeface="Arial"/>
              </a:rPr>
              <a:t>下午 12:30—18:30</a:t>
            </a:r>
          </a:p>
        </p:txBody>
      </p:sp>
      <p:sp>
        <p:nvSpPr>
          <p:cNvPr id="14" name="Rectangle 13"/>
          <p:cNvSpPr/>
          <p:nvPr/>
        </p:nvSpPr>
        <p:spPr>
          <a:xfrm>
            <a:off x="457200" y="3767328"/>
            <a:ext cx="1828800" cy="384048"/>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5" name="TextBox 14"/>
          <p:cNvSpPr txBox="1"/>
          <p:nvPr/>
        </p:nvSpPr>
        <p:spPr>
          <a:xfrm>
            <a:off x="457200" y="3767328"/>
            <a:ext cx="1828800" cy="384048"/>
          </a:xfrm>
          <a:prstGeom prst="rect">
            <a:avLst/>
          </a:prstGeom>
          <a:noFill/>
        </p:spPr>
        <p:txBody>
          <a:bodyPr wrap="square" lIns="73152" rIns="73152" tIns="18288" bIns="18288" anchor="ctr">
            <a:noAutofit/>
          </a:bodyPr>
          <a:lstStyle/>
          <a:p>
            <a:pPr algn="ctr">
              <a:lnSpc>
                <a:spcPct val="112000"/>
              </a:lnSpc>
              <a:spcAft>
                <a:spcPts val="0"/>
              </a:spcAft>
            </a:pPr>
            <a:r>
              <a:rPr sz="1300" b="1" i="0">
                <a:solidFill>
                  <a:srgbClr val="E76F51"/>
                </a:solidFill>
                <a:latin typeface="Arial"/>
                <a:ea typeface="微软雅黑"/>
                <a:cs typeface="Arial"/>
              </a:rPr>
              <a:t>机动车 1（19 座）</a:t>
            </a:r>
          </a:p>
        </p:txBody>
      </p:sp>
      <p:sp>
        <p:nvSpPr>
          <p:cNvPr id="16" name="Rectangle 15"/>
          <p:cNvSpPr/>
          <p:nvPr/>
        </p:nvSpPr>
        <p:spPr>
          <a:xfrm>
            <a:off x="2331720" y="3767328"/>
            <a:ext cx="1805939" cy="384048"/>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7" name="TextBox 16"/>
          <p:cNvSpPr txBox="1"/>
          <p:nvPr/>
        </p:nvSpPr>
        <p:spPr>
          <a:xfrm>
            <a:off x="2331720" y="3767328"/>
            <a:ext cx="1805939" cy="384048"/>
          </a:xfrm>
          <a:prstGeom prst="rect">
            <a:avLst/>
          </a:prstGeom>
          <a:noFill/>
        </p:spPr>
        <p:txBody>
          <a:bodyPr wrap="square" lIns="73152" rIns="73152" tIns="18288" bIns="18288" anchor="ctr">
            <a:noAutofit/>
          </a:bodyPr>
          <a:lstStyle/>
          <a:p>
            <a:pPr algn="ctr">
              <a:lnSpc>
                <a:spcPct val="112000"/>
              </a:lnSpc>
              <a:spcAft>
                <a:spcPts val="0"/>
              </a:spcAft>
            </a:pPr>
            <a:r>
              <a:rPr sz="1200" b="0" i="0">
                <a:solidFill>
                  <a:srgbClr val="6C757D"/>
                </a:solidFill>
                <a:latin typeface="Arial"/>
                <a:ea typeface="微软雅黑"/>
                <a:cs typeface="Arial"/>
              </a:rPr>
              <a:t>线路 · 首发 · 往返</a:t>
            </a:r>
          </a:p>
        </p:txBody>
      </p:sp>
      <p:sp>
        <p:nvSpPr>
          <p:cNvPr id="18" name="Rectangle 17"/>
          <p:cNvSpPr/>
          <p:nvPr/>
        </p:nvSpPr>
        <p:spPr>
          <a:xfrm>
            <a:off x="4183379" y="3767328"/>
            <a:ext cx="1805939" cy="384048"/>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19" name="TextBox 18"/>
          <p:cNvSpPr txBox="1"/>
          <p:nvPr/>
        </p:nvSpPr>
        <p:spPr>
          <a:xfrm>
            <a:off x="4183379" y="3767328"/>
            <a:ext cx="1805939" cy="384048"/>
          </a:xfrm>
          <a:prstGeom prst="rect">
            <a:avLst/>
          </a:prstGeom>
          <a:noFill/>
        </p:spPr>
        <p:txBody>
          <a:bodyPr wrap="square" lIns="73152" rIns="73152" tIns="18288" bIns="18288" anchor="ctr">
            <a:noAutofit/>
          </a:bodyPr>
          <a:lstStyle/>
          <a:p>
            <a:pPr algn="ctr">
              <a:lnSpc>
                <a:spcPct val="112000"/>
              </a:lnSpc>
              <a:spcAft>
                <a:spcPts val="0"/>
              </a:spcAft>
            </a:pPr>
            <a:r>
              <a:rPr sz="1200" b="0" i="0">
                <a:solidFill>
                  <a:srgbClr val="6C757D"/>
                </a:solidFill>
                <a:latin typeface="Arial"/>
                <a:ea typeface="微软雅黑"/>
                <a:cs typeface="Arial"/>
              </a:rPr>
              <a:t>线路 · 首发 · 往返</a:t>
            </a:r>
          </a:p>
        </p:txBody>
      </p:sp>
      <p:sp>
        <p:nvSpPr>
          <p:cNvPr id="20" name="Rectangle 19"/>
          <p:cNvSpPr/>
          <p:nvPr/>
        </p:nvSpPr>
        <p:spPr>
          <a:xfrm>
            <a:off x="457200" y="4197096"/>
            <a:ext cx="1828800" cy="384048"/>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1" name="TextBox 20"/>
          <p:cNvSpPr txBox="1"/>
          <p:nvPr/>
        </p:nvSpPr>
        <p:spPr>
          <a:xfrm>
            <a:off x="457200" y="4197096"/>
            <a:ext cx="1828800" cy="384048"/>
          </a:xfrm>
          <a:prstGeom prst="rect">
            <a:avLst/>
          </a:prstGeom>
          <a:noFill/>
        </p:spPr>
        <p:txBody>
          <a:bodyPr wrap="square" lIns="73152" rIns="73152" tIns="18288" bIns="18288" anchor="ctr">
            <a:noAutofit/>
          </a:bodyPr>
          <a:lstStyle/>
          <a:p>
            <a:pPr algn="ctr">
              <a:lnSpc>
                <a:spcPct val="112000"/>
              </a:lnSpc>
              <a:spcAft>
                <a:spcPts val="0"/>
              </a:spcAft>
            </a:pPr>
            <a:r>
              <a:rPr sz="1300" b="1" i="0">
                <a:solidFill>
                  <a:srgbClr val="E76F51"/>
                </a:solidFill>
                <a:latin typeface="Arial"/>
                <a:ea typeface="微软雅黑"/>
                <a:cs typeface="Arial"/>
              </a:rPr>
              <a:t>机动车 2（19 座）</a:t>
            </a:r>
          </a:p>
        </p:txBody>
      </p:sp>
      <p:sp>
        <p:nvSpPr>
          <p:cNvPr id="22" name="Rectangle 21"/>
          <p:cNvSpPr/>
          <p:nvPr/>
        </p:nvSpPr>
        <p:spPr>
          <a:xfrm>
            <a:off x="2331720" y="4197096"/>
            <a:ext cx="1805939" cy="384048"/>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3" name="TextBox 22"/>
          <p:cNvSpPr txBox="1"/>
          <p:nvPr/>
        </p:nvSpPr>
        <p:spPr>
          <a:xfrm>
            <a:off x="2331720" y="4197096"/>
            <a:ext cx="1805939" cy="384048"/>
          </a:xfrm>
          <a:prstGeom prst="rect">
            <a:avLst/>
          </a:prstGeom>
          <a:noFill/>
        </p:spPr>
        <p:txBody>
          <a:bodyPr wrap="square" lIns="73152" rIns="73152" tIns="18288" bIns="18288" anchor="ctr">
            <a:noAutofit/>
          </a:bodyPr>
          <a:lstStyle/>
          <a:p>
            <a:pPr algn="ctr">
              <a:lnSpc>
                <a:spcPct val="112000"/>
              </a:lnSpc>
              <a:spcAft>
                <a:spcPts val="0"/>
              </a:spcAft>
            </a:pPr>
            <a:r>
              <a:rPr sz="1200" b="0" i="0">
                <a:solidFill>
                  <a:srgbClr val="6C757D"/>
                </a:solidFill>
                <a:latin typeface="Arial"/>
                <a:ea typeface="微软雅黑"/>
                <a:cs typeface="Arial"/>
              </a:rPr>
              <a:t>线路 · 首发 · 往返</a:t>
            </a:r>
          </a:p>
        </p:txBody>
      </p:sp>
      <p:sp>
        <p:nvSpPr>
          <p:cNvPr id="24" name="Rectangle 23"/>
          <p:cNvSpPr/>
          <p:nvPr/>
        </p:nvSpPr>
        <p:spPr>
          <a:xfrm>
            <a:off x="4183379" y="4197096"/>
            <a:ext cx="1805939" cy="384048"/>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5" name="TextBox 24"/>
          <p:cNvSpPr txBox="1"/>
          <p:nvPr/>
        </p:nvSpPr>
        <p:spPr>
          <a:xfrm>
            <a:off x="4183379" y="4197096"/>
            <a:ext cx="1805939" cy="384048"/>
          </a:xfrm>
          <a:prstGeom prst="rect">
            <a:avLst/>
          </a:prstGeom>
          <a:noFill/>
        </p:spPr>
        <p:txBody>
          <a:bodyPr wrap="square" lIns="73152" rIns="73152" tIns="18288" bIns="18288" anchor="ctr">
            <a:noAutofit/>
          </a:bodyPr>
          <a:lstStyle/>
          <a:p>
            <a:pPr algn="ctr">
              <a:lnSpc>
                <a:spcPct val="112000"/>
              </a:lnSpc>
              <a:spcAft>
                <a:spcPts val="0"/>
              </a:spcAft>
            </a:pPr>
            <a:r>
              <a:rPr sz="1200" b="0" i="0">
                <a:solidFill>
                  <a:srgbClr val="6C757D"/>
                </a:solidFill>
                <a:latin typeface="Arial"/>
                <a:ea typeface="微软雅黑"/>
                <a:cs typeface="Arial"/>
              </a:rPr>
              <a:t>线路 · 首发 · 往返</a:t>
            </a:r>
          </a:p>
        </p:txBody>
      </p:sp>
      <p:sp>
        <p:nvSpPr>
          <p:cNvPr id="26" name="Rectangle 25"/>
          <p:cNvSpPr/>
          <p:nvPr/>
        </p:nvSpPr>
        <p:spPr>
          <a:xfrm>
            <a:off x="457200" y="4626864"/>
            <a:ext cx="1828800" cy="384048"/>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7" name="TextBox 26"/>
          <p:cNvSpPr txBox="1"/>
          <p:nvPr/>
        </p:nvSpPr>
        <p:spPr>
          <a:xfrm>
            <a:off x="457200" y="4626864"/>
            <a:ext cx="1828800" cy="384048"/>
          </a:xfrm>
          <a:prstGeom prst="rect">
            <a:avLst/>
          </a:prstGeom>
          <a:noFill/>
        </p:spPr>
        <p:txBody>
          <a:bodyPr wrap="square" lIns="73152" rIns="73152" tIns="18288" bIns="18288" anchor="ctr">
            <a:noAutofit/>
          </a:bodyPr>
          <a:lstStyle/>
          <a:p>
            <a:pPr algn="ctr">
              <a:lnSpc>
                <a:spcPct val="112000"/>
              </a:lnSpc>
              <a:spcAft>
                <a:spcPts val="0"/>
              </a:spcAft>
            </a:pPr>
            <a:r>
              <a:rPr sz="1300" b="1" i="0">
                <a:solidFill>
                  <a:srgbClr val="E76F51"/>
                </a:solidFill>
                <a:latin typeface="Arial"/>
                <a:ea typeface="微软雅黑"/>
                <a:cs typeface="Arial"/>
              </a:rPr>
              <a:t>机动车 3（19 座）</a:t>
            </a:r>
          </a:p>
        </p:txBody>
      </p:sp>
      <p:sp>
        <p:nvSpPr>
          <p:cNvPr id="28" name="Rectangle 27"/>
          <p:cNvSpPr/>
          <p:nvPr/>
        </p:nvSpPr>
        <p:spPr>
          <a:xfrm>
            <a:off x="2331720" y="4626864"/>
            <a:ext cx="1805939" cy="384048"/>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29" name="TextBox 28"/>
          <p:cNvSpPr txBox="1"/>
          <p:nvPr/>
        </p:nvSpPr>
        <p:spPr>
          <a:xfrm>
            <a:off x="2331720" y="4626864"/>
            <a:ext cx="1805939" cy="384048"/>
          </a:xfrm>
          <a:prstGeom prst="rect">
            <a:avLst/>
          </a:prstGeom>
          <a:noFill/>
        </p:spPr>
        <p:txBody>
          <a:bodyPr wrap="square" lIns="73152" rIns="73152" tIns="18288" bIns="18288" anchor="ctr">
            <a:noAutofit/>
          </a:bodyPr>
          <a:lstStyle/>
          <a:p>
            <a:pPr algn="ctr">
              <a:lnSpc>
                <a:spcPct val="112000"/>
              </a:lnSpc>
              <a:spcAft>
                <a:spcPts val="0"/>
              </a:spcAft>
            </a:pPr>
            <a:r>
              <a:rPr sz="1200" b="0" i="0">
                <a:solidFill>
                  <a:srgbClr val="6C757D"/>
                </a:solidFill>
                <a:latin typeface="Arial"/>
                <a:ea typeface="微软雅黑"/>
                <a:cs typeface="Arial"/>
              </a:rPr>
              <a:t>线路 · 首发 · 往返</a:t>
            </a:r>
          </a:p>
        </p:txBody>
      </p:sp>
      <p:sp>
        <p:nvSpPr>
          <p:cNvPr id="30" name="Rectangle 29"/>
          <p:cNvSpPr/>
          <p:nvPr/>
        </p:nvSpPr>
        <p:spPr>
          <a:xfrm>
            <a:off x="4183379" y="4626864"/>
            <a:ext cx="1805939" cy="384048"/>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1" name="TextBox 30"/>
          <p:cNvSpPr txBox="1"/>
          <p:nvPr/>
        </p:nvSpPr>
        <p:spPr>
          <a:xfrm>
            <a:off x="4183379" y="4626864"/>
            <a:ext cx="1805939" cy="384048"/>
          </a:xfrm>
          <a:prstGeom prst="rect">
            <a:avLst/>
          </a:prstGeom>
          <a:noFill/>
        </p:spPr>
        <p:txBody>
          <a:bodyPr wrap="square" lIns="73152" rIns="73152" tIns="18288" bIns="18288" anchor="ctr">
            <a:noAutofit/>
          </a:bodyPr>
          <a:lstStyle/>
          <a:p>
            <a:pPr algn="ctr">
              <a:lnSpc>
                <a:spcPct val="112000"/>
              </a:lnSpc>
              <a:spcAft>
                <a:spcPts val="0"/>
              </a:spcAft>
            </a:pPr>
            <a:r>
              <a:rPr sz="1200" b="0" i="0">
                <a:solidFill>
                  <a:srgbClr val="6C757D"/>
                </a:solidFill>
                <a:latin typeface="Arial"/>
                <a:ea typeface="微软雅黑"/>
                <a:cs typeface="Arial"/>
              </a:rPr>
              <a:t>线路 · 首发 · 往返</a:t>
            </a:r>
          </a:p>
        </p:txBody>
      </p:sp>
      <p:sp>
        <p:nvSpPr>
          <p:cNvPr id="32" name="Rectangle 31"/>
          <p:cNvSpPr/>
          <p:nvPr/>
        </p:nvSpPr>
        <p:spPr>
          <a:xfrm>
            <a:off x="457200" y="5056631"/>
            <a:ext cx="1828800" cy="384048"/>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3" name="TextBox 32"/>
          <p:cNvSpPr txBox="1"/>
          <p:nvPr/>
        </p:nvSpPr>
        <p:spPr>
          <a:xfrm>
            <a:off x="457200" y="5056631"/>
            <a:ext cx="1828800" cy="384048"/>
          </a:xfrm>
          <a:prstGeom prst="rect">
            <a:avLst/>
          </a:prstGeom>
          <a:noFill/>
        </p:spPr>
        <p:txBody>
          <a:bodyPr wrap="square" lIns="73152" rIns="73152" tIns="18288" bIns="18288" anchor="ctr">
            <a:noAutofit/>
          </a:bodyPr>
          <a:lstStyle/>
          <a:p>
            <a:pPr algn="ctr">
              <a:lnSpc>
                <a:spcPct val="112000"/>
              </a:lnSpc>
              <a:spcAft>
                <a:spcPts val="0"/>
              </a:spcAft>
            </a:pPr>
            <a:r>
              <a:rPr sz="1300" b="1" i="0">
                <a:solidFill>
                  <a:srgbClr val="E76F51"/>
                </a:solidFill>
                <a:latin typeface="Arial"/>
                <a:ea typeface="微软雅黑"/>
                <a:cs typeface="Arial"/>
              </a:rPr>
              <a:t>机动车 4（19 座）</a:t>
            </a:r>
          </a:p>
        </p:txBody>
      </p:sp>
      <p:sp>
        <p:nvSpPr>
          <p:cNvPr id="34" name="Rectangle 33"/>
          <p:cNvSpPr/>
          <p:nvPr/>
        </p:nvSpPr>
        <p:spPr>
          <a:xfrm>
            <a:off x="2331720" y="5056631"/>
            <a:ext cx="1805939" cy="384048"/>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5" name="TextBox 34"/>
          <p:cNvSpPr txBox="1"/>
          <p:nvPr/>
        </p:nvSpPr>
        <p:spPr>
          <a:xfrm>
            <a:off x="2331720" y="5056631"/>
            <a:ext cx="1805939" cy="384048"/>
          </a:xfrm>
          <a:prstGeom prst="rect">
            <a:avLst/>
          </a:prstGeom>
          <a:noFill/>
        </p:spPr>
        <p:txBody>
          <a:bodyPr wrap="square" lIns="73152" rIns="73152" tIns="18288" bIns="18288" anchor="ctr">
            <a:noAutofit/>
          </a:bodyPr>
          <a:lstStyle/>
          <a:p>
            <a:pPr algn="ctr">
              <a:lnSpc>
                <a:spcPct val="112000"/>
              </a:lnSpc>
              <a:spcAft>
                <a:spcPts val="0"/>
              </a:spcAft>
            </a:pPr>
            <a:r>
              <a:rPr sz="1200" b="0" i="0">
                <a:solidFill>
                  <a:srgbClr val="6C757D"/>
                </a:solidFill>
                <a:latin typeface="Arial"/>
                <a:ea typeface="微软雅黑"/>
                <a:cs typeface="Arial"/>
              </a:rPr>
              <a:t>线路 · 首发 · 往返</a:t>
            </a:r>
          </a:p>
        </p:txBody>
      </p:sp>
      <p:sp>
        <p:nvSpPr>
          <p:cNvPr id="36" name="Rectangle 35"/>
          <p:cNvSpPr/>
          <p:nvPr/>
        </p:nvSpPr>
        <p:spPr>
          <a:xfrm>
            <a:off x="4183379" y="5056631"/>
            <a:ext cx="1805939" cy="384048"/>
          </a:xfrm>
          <a:prstGeom prst="rect">
            <a:avLst/>
          </a:prstGeom>
          <a:solidFill>
            <a:srgbClr val="FFFFFF"/>
          </a:solidFill>
          <a:ln w="12700">
            <a:solidFill>
              <a:srgbClr val="BFC5C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p>
        </p:txBody>
      </p:sp>
      <p:sp>
        <p:nvSpPr>
          <p:cNvPr id="37" name="TextBox 36"/>
          <p:cNvSpPr txBox="1"/>
          <p:nvPr/>
        </p:nvSpPr>
        <p:spPr>
          <a:xfrm>
            <a:off x="4183379" y="5056631"/>
            <a:ext cx="1805939" cy="384048"/>
          </a:xfrm>
          <a:prstGeom prst="rect">
            <a:avLst/>
          </a:prstGeom>
          <a:noFill/>
        </p:spPr>
        <p:txBody>
          <a:bodyPr wrap="square" lIns="73152" rIns="73152" tIns="18288" bIns="18288" anchor="ctr">
            <a:noAutofit/>
          </a:bodyPr>
          <a:lstStyle/>
          <a:p>
            <a:pPr algn="ctr">
              <a:lnSpc>
                <a:spcPct val="112000"/>
              </a:lnSpc>
              <a:spcAft>
                <a:spcPts val="0"/>
              </a:spcAft>
            </a:pPr>
            <a:r>
              <a:rPr sz="1200" b="0" i="0">
                <a:solidFill>
                  <a:srgbClr val="6C757D"/>
                </a:solidFill>
                <a:latin typeface="Arial"/>
                <a:ea typeface="微软雅黑"/>
                <a:cs typeface="Arial"/>
              </a:rPr>
              <a:t>线路 · 首发 · 往返</a:t>
            </a:r>
          </a:p>
        </p:txBody>
      </p:sp>
      <p:sp>
        <p:nvSpPr>
          <p:cNvPr id="38" name="TextBox 37"/>
          <p:cNvSpPr txBox="1"/>
          <p:nvPr/>
        </p:nvSpPr>
        <p:spPr>
          <a:xfrm>
            <a:off x="457200" y="5577840"/>
            <a:ext cx="5532120" cy="731520"/>
          </a:xfrm>
          <a:prstGeom prst="rect">
            <a:avLst/>
          </a:prstGeom>
          <a:noFill/>
        </p:spPr>
        <p:txBody>
          <a:bodyPr wrap="square" lIns="73152" rIns="73152" tIns="73152" bIns="73152" anchor="t">
            <a:noAutofit/>
          </a:bodyPr>
          <a:lstStyle/>
          <a:p>
            <a:pPr algn="l">
              <a:lnSpc>
                <a:spcPct val="112000"/>
              </a:lnSpc>
              <a:spcAft>
                <a:spcPts val="0"/>
              </a:spcAft>
            </a:pPr>
            <a:r>
              <a:rPr sz="1400" b="0" i="0">
                <a:solidFill>
                  <a:srgbClr val="1F3A5F"/>
                </a:solidFill>
                <a:latin typeface="Arial"/>
                <a:ea typeface="微软雅黑"/>
                <a:cs typeface="Arial"/>
              </a:rPr>
              <a:t>始末点均为县汽车站；求解按“车辆—半日”逐次贪心，每步选预测社会成本降幅最大且为正的候选</a:t>
            </a:r>
          </a:p>
        </p:txBody>
      </p:sp>
      <p:sp>
        <p:nvSpPr>
          <p:cNvPr id="39" name="TextBox 38"/>
          <p:cNvSpPr txBox="1"/>
          <p:nvPr/>
        </p:nvSpPr>
        <p:spPr>
          <a:xfrm>
            <a:off x="6199632" y="1417320"/>
            <a:ext cx="5532120" cy="365760"/>
          </a:xfrm>
          <a:prstGeom prst="rect">
            <a:avLst/>
          </a:prstGeom>
          <a:noFill/>
        </p:spPr>
        <p:txBody>
          <a:bodyPr wrap="square" lIns="73152" rIns="73152" tIns="18288" bIns="18288" anchor="t">
            <a:noAutofit/>
          </a:bodyPr>
          <a:lstStyle/>
          <a:p>
            <a:pPr algn="l">
              <a:lnSpc>
                <a:spcPct val="112000"/>
              </a:lnSpc>
              <a:spcAft>
                <a:spcPts val="0"/>
              </a:spcAft>
            </a:pPr>
            <a:r>
              <a:rPr sz="1600" b="1" i="0">
                <a:solidFill>
                  <a:srgbClr val="1F3A5F"/>
                </a:solidFill>
                <a:latin typeface="Arial"/>
                <a:ea typeface="微软雅黑"/>
                <a:cs typeface="Arial"/>
              </a:rPr>
              <a:t>对照与变体（8 类）</a:t>
            </a:r>
          </a:p>
        </p:txBody>
      </p:sp>
      <p:sp>
        <p:nvSpPr>
          <p:cNvPr id="40" name="Rectangle 39"/>
          <p:cNvSpPr/>
          <p:nvPr/>
        </p:nvSpPr>
        <p:spPr>
          <a:xfrm>
            <a:off x="6199632" y="1828800"/>
            <a:ext cx="2720340" cy="603504"/>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1" name="TextBox 40"/>
          <p:cNvSpPr txBox="1"/>
          <p:nvPr/>
        </p:nvSpPr>
        <p:spPr>
          <a:xfrm>
            <a:off x="6254496" y="1828800"/>
            <a:ext cx="2610612" cy="603504"/>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① 现行时刻表</a:t>
            </a:r>
          </a:p>
        </p:txBody>
      </p:sp>
      <p:sp>
        <p:nvSpPr>
          <p:cNvPr id="42" name="Rectangle 41"/>
          <p:cNvSpPr/>
          <p:nvPr/>
        </p:nvSpPr>
        <p:spPr>
          <a:xfrm>
            <a:off x="9011412" y="1828800"/>
            <a:ext cx="2720340" cy="603504"/>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3" name="TextBox 42"/>
          <p:cNvSpPr txBox="1"/>
          <p:nvPr/>
        </p:nvSpPr>
        <p:spPr>
          <a:xfrm>
            <a:off x="9066276" y="1828800"/>
            <a:ext cx="2610612" cy="603504"/>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② 现行 + 调度员临时加班</a:t>
            </a:r>
          </a:p>
        </p:txBody>
      </p:sp>
      <p:sp>
        <p:nvSpPr>
          <p:cNvPr id="44" name="Rectangle 43"/>
          <p:cNvSpPr/>
          <p:nvPr/>
        </p:nvSpPr>
        <p:spPr>
          <a:xfrm>
            <a:off x="6199632" y="2478024"/>
            <a:ext cx="2720340" cy="603504"/>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5" name="TextBox 44"/>
          <p:cNvSpPr txBox="1"/>
          <p:nvPr/>
        </p:nvSpPr>
        <p:spPr>
          <a:xfrm>
            <a:off x="6254496" y="2478024"/>
            <a:ext cx="2610612" cy="603504"/>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③ 只优化固定层</a:t>
            </a:r>
          </a:p>
        </p:txBody>
      </p:sp>
      <p:sp>
        <p:nvSpPr>
          <p:cNvPr id="46" name="Rectangle 45"/>
          <p:cNvSpPr/>
          <p:nvPr/>
        </p:nvSpPr>
        <p:spPr>
          <a:xfrm>
            <a:off x="9011412" y="2478024"/>
            <a:ext cx="2720340" cy="603504"/>
          </a:xfrm>
          <a:prstGeom prst="rect">
            <a:avLst/>
          </a:prstGeom>
          <a:solidFill>
            <a:srgbClr val="FCEBE5"/>
          </a:solidFill>
          <a:ln w="1270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7" name="TextBox 46"/>
          <p:cNvSpPr txBox="1"/>
          <p:nvPr/>
        </p:nvSpPr>
        <p:spPr>
          <a:xfrm>
            <a:off x="9066276" y="2478024"/>
            <a:ext cx="2610612" cy="603504"/>
          </a:xfrm>
          <a:prstGeom prst="rect">
            <a:avLst/>
          </a:prstGeom>
          <a:noFill/>
        </p:spPr>
        <p:txBody>
          <a:bodyPr wrap="square" lIns="73152" rIns="73152" tIns="73152" bIns="73152" anchor="ctr">
            <a:noAutofit/>
          </a:bodyPr>
          <a:lstStyle/>
          <a:p>
            <a:pPr algn="l">
              <a:lnSpc>
                <a:spcPct val="112000"/>
              </a:lnSpc>
              <a:spcAft>
                <a:spcPts val="0"/>
              </a:spcAft>
            </a:pPr>
            <a:r>
              <a:rPr sz="1400" b="1" i="0">
                <a:solidFill>
                  <a:srgbClr val="222222"/>
                </a:solidFill>
                <a:latin typeface="Arial"/>
                <a:ea typeface="微软雅黑"/>
                <a:cs typeface="Arial"/>
              </a:rPr>
              <a:t>④ 主方案（主方法预测）</a:t>
            </a:r>
          </a:p>
        </p:txBody>
      </p:sp>
      <p:sp>
        <p:nvSpPr>
          <p:cNvPr id="48" name="Rectangle 47"/>
          <p:cNvSpPr/>
          <p:nvPr/>
        </p:nvSpPr>
        <p:spPr>
          <a:xfrm>
            <a:off x="6199632" y="3127248"/>
            <a:ext cx="2720340" cy="603504"/>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49" name="TextBox 48"/>
          <p:cNvSpPr txBox="1"/>
          <p:nvPr/>
        </p:nvSpPr>
        <p:spPr>
          <a:xfrm>
            <a:off x="6254496" y="3127248"/>
            <a:ext cx="2610612" cy="603504"/>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⑤ 改进预测方案</a:t>
            </a:r>
          </a:p>
        </p:txBody>
      </p:sp>
      <p:sp>
        <p:nvSpPr>
          <p:cNvPr id="50" name="Rectangle 49"/>
          <p:cNvSpPr/>
          <p:nvPr/>
        </p:nvSpPr>
        <p:spPr>
          <a:xfrm>
            <a:off x="9011412" y="3127248"/>
            <a:ext cx="2720340" cy="603504"/>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1" name="TextBox 50"/>
          <p:cNvSpPr txBox="1"/>
          <p:nvPr/>
        </p:nvSpPr>
        <p:spPr>
          <a:xfrm>
            <a:off x="9066276" y="3127248"/>
            <a:ext cx="2610612" cy="603504"/>
          </a:xfrm>
          <a:prstGeom prst="rect">
            <a:avLst/>
          </a:prstGeom>
          <a:noFill/>
        </p:spPr>
        <p:txBody>
          <a:bodyPr wrap="square" lIns="73152" rIns="73152" tIns="73152" bIns="73152" anchor="ctr">
            <a:noAutofit/>
          </a:bodyPr>
          <a:lstStyle/>
          <a:p>
            <a:pPr algn="l">
              <a:lnSpc>
                <a:spcPct val="112000"/>
              </a:lnSpc>
              <a:spcAft>
                <a:spcPts val="0"/>
              </a:spcAft>
            </a:pPr>
            <a:r>
              <a:rPr sz="1200" b="0" i="0">
                <a:solidFill>
                  <a:srgbClr val="222222"/>
                </a:solidFill>
                <a:latin typeface="Arial"/>
                <a:ea typeface="微软雅黑"/>
                <a:cs typeface="Arial"/>
              </a:rPr>
              <a:t>⑥ 随机规划方案（样本平均近似，偏离预注册）</a:t>
            </a:r>
            <a:r>
              <a:rPr sz="1200" b="0" i="0" baseline="30000">
                <a:solidFill>
                  <a:srgbClr val="222222"/>
                </a:solidFill>
                <a:latin typeface="Arial"/>
                <a:ea typeface="微软雅黑"/>
                <a:cs typeface="Arial"/>
              </a:rPr>
              <a:t>[48]</a:t>
            </a:r>
          </a:p>
        </p:txBody>
      </p:sp>
      <p:sp>
        <p:nvSpPr>
          <p:cNvPr id="52" name="Rectangle 51"/>
          <p:cNvSpPr/>
          <p:nvPr/>
        </p:nvSpPr>
        <p:spPr>
          <a:xfrm>
            <a:off x="6199632" y="3776472"/>
            <a:ext cx="2720340" cy="603504"/>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3" name="TextBox 52"/>
          <p:cNvSpPr txBox="1"/>
          <p:nvPr/>
        </p:nvSpPr>
        <p:spPr>
          <a:xfrm>
            <a:off x="6254496" y="3776472"/>
            <a:ext cx="2610612" cy="603504"/>
          </a:xfrm>
          <a:prstGeom prst="rect">
            <a:avLst/>
          </a:prstGeom>
          <a:noFill/>
        </p:spPr>
        <p:txBody>
          <a:bodyPr wrap="square" lIns="73152" rIns="73152" tIns="73152" bIns="73152" anchor="ctr">
            <a:noAutofit/>
          </a:bodyPr>
          <a:lstStyle/>
          <a:p>
            <a:pPr algn="l">
              <a:lnSpc>
                <a:spcPct val="112000"/>
              </a:lnSpc>
              <a:spcAft>
                <a:spcPts val="0"/>
              </a:spcAft>
            </a:pPr>
            <a:r>
              <a:rPr sz="1400" b="0" i="0">
                <a:solidFill>
                  <a:srgbClr val="222222"/>
                </a:solidFill>
                <a:latin typeface="Arial"/>
                <a:ea typeface="微软雅黑"/>
                <a:cs typeface="Arial"/>
              </a:rPr>
              <a:t>⑦ 反应式现场加开</a:t>
            </a:r>
          </a:p>
        </p:txBody>
      </p:sp>
      <p:sp>
        <p:nvSpPr>
          <p:cNvPr id="54" name="Rectangle 53"/>
          <p:cNvSpPr/>
          <p:nvPr/>
        </p:nvSpPr>
        <p:spPr>
          <a:xfrm>
            <a:off x="9011412" y="3776472"/>
            <a:ext cx="2720340" cy="603504"/>
          </a:xfrm>
          <a:prstGeom prst="rect">
            <a:avLst/>
          </a:prstGeom>
          <a:solidFill>
            <a:srgbClr val="FCEBE5"/>
          </a:solidFill>
          <a:ln w="12700">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5" name="TextBox 54"/>
          <p:cNvSpPr txBox="1"/>
          <p:nvPr/>
        </p:nvSpPr>
        <p:spPr>
          <a:xfrm>
            <a:off x="9066276" y="3776472"/>
            <a:ext cx="2610612" cy="603504"/>
          </a:xfrm>
          <a:prstGeom prst="rect">
            <a:avLst/>
          </a:prstGeom>
          <a:noFill/>
        </p:spPr>
        <p:txBody>
          <a:bodyPr wrap="square" lIns="73152" rIns="73152" tIns="73152" bIns="73152" anchor="ctr">
            <a:noAutofit/>
          </a:bodyPr>
          <a:lstStyle/>
          <a:p>
            <a:pPr algn="l">
              <a:lnSpc>
                <a:spcPct val="112000"/>
              </a:lnSpc>
              <a:spcAft>
                <a:spcPts val="0"/>
              </a:spcAft>
            </a:pPr>
            <a:r>
              <a:rPr sz="1400" b="1" i="0">
                <a:solidFill>
                  <a:srgbClr val="222222"/>
                </a:solidFill>
                <a:latin typeface="Arial"/>
                <a:ea typeface="微软雅黑"/>
                <a:cs typeface="Arial"/>
              </a:rPr>
              <a:t>⑧ 完美预知上界</a:t>
            </a:r>
          </a:p>
        </p:txBody>
      </p:sp>
      <p:sp>
        <p:nvSpPr>
          <p:cNvPr id="56" name="TextBox 55"/>
          <p:cNvSpPr txBox="1"/>
          <p:nvPr/>
        </p:nvSpPr>
        <p:spPr>
          <a:xfrm>
            <a:off x="6199632" y="4389120"/>
            <a:ext cx="5532120" cy="301752"/>
          </a:xfrm>
          <a:prstGeom prst="rect">
            <a:avLst/>
          </a:prstGeom>
          <a:noFill/>
        </p:spPr>
        <p:txBody>
          <a:bodyPr wrap="square" lIns="73152" rIns="73152" tIns="18288" bIns="18288" anchor="t">
            <a:noAutofit/>
          </a:bodyPr>
          <a:lstStyle/>
          <a:p>
            <a:pPr algn="l">
              <a:lnSpc>
                <a:spcPct val="112000"/>
              </a:lnSpc>
              <a:spcAft>
                <a:spcPts val="0"/>
              </a:spcAft>
            </a:pPr>
            <a:r>
              <a:rPr sz="1200" b="0" i="0">
                <a:solidFill>
                  <a:srgbClr val="6C757D"/>
                </a:solidFill>
                <a:latin typeface="Arial"/>
                <a:ea typeface="微软雅黑"/>
                <a:cs typeface="Arial"/>
              </a:rPr>
              <a:t>低需求条件下半柔性交付模式的评估见</a:t>
            </a:r>
            <a:r>
              <a:rPr sz="1200" b="0" i="0" baseline="30000">
                <a:solidFill>
                  <a:srgbClr val="6C757D"/>
                </a:solidFill>
                <a:latin typeface="Arial"/>
                <a:ea typeface="微软雅黑"/>
                <a:cs typeface="Arial"/>
              </a:rPr>
              <a:t>[49]</a:t>
            </a:r>
          </a:p>
        </p:txBody>
      </p:sp>
      <p:sp>
        <p:nvSpPr>
          <p:cNvPr id="57" name="Rectangle 56"/>
          <p:cNvSpPr/>
          <p:nvPr/>
        </p:nvSpPr>
        <p:spPr>
          <a:xfrm>
            <a:off x="6199632" y="4709160"/>
            <a:ext cx="5532120" cy="160020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58" name="Rectangle 57"/>
          <p:cNvSpPr/>
          <p:nvPr/>
        </p:nvSpPr>
        <p:spPr>
          <a:xfrm>
            <a:off x="6199632" y="4709160"/>
            <a:ext cx="5532120" cy="384048"/>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信息价值：预测“兑现”了多少理论收益</a:t>
            </a:r>
            <a:r>
              <a:rPr sz="1600" b="1" i="0" baseline="30000">
                <a:solidFill>
                  <a:srgbClr val="FFFFFF"/>
                </a:solidFill>
                <a:latin typeface="Arial"/>
                <a:ea typeface="微软雅黑"/>
                <a:cs typeface="Arial"/>
              </a:rPr>
              <a:t>[21]</a:t>
            </a:r>
          </a:p>
        </p:txBody>
      </p:sp>
      <p:sp>
        <p:nvSpPr>
          <p:cNvPr id="59" name="TextBox 58"/>
          <p:cNvSpPr txBox="1"/>
          <p:nvPr/>
        </p:nvSpPr>
        <p:spPr>
          <a:xfrm>
            <a:off x="6254496" y="5148072"/>
            <a:ext cx="5422392" cy="1124712"/>
          </a:xfrm>
          <a:prstGeom prst="rect">
            <a:avLst/>
          </a:prstGeom>
          <a:noFill/>
        </p:spPr>
        <p:txBody>
          <a:bodyPr wrap="square" lIns="73152" rIns="73152" tIns="73152" bIns="73152" anchor="ctr">
            <a:noAutofit/>
          </a:bodyPr>
          <a:lstStyle/>
          <a:p>
            <a:pPr algn="l">
              <a:lnSpc>
                <a:spcPct val="112000"/>
              </a:lnSpc>
              <a:spcAft>
                <a:spcPts val="0"/>
              </a:spcAft>
            </a:pPr>
            <a:r>
              <a:rPr sz="1700" b="0" i="0">
                <a:solidFill>
                  <a:srgbClr val="222222"/>
                </a:solidFill>
                <a:latin typeface="Arial"/>
                <a:ea typeface="微软雅黑"/>
                <a:cs typeface="Arial"/>
              </a:rPr>
              <a:t>（主方案降幅 − 固定层降幅）÷（完美预知降幅 − 固定层降幅）</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五、四个计算模型及其检验结果</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RQ3—RQ4 结果：固定层减少车次并降低社会成本，柔性层收益集中在春运和节假日边沿</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16 / 20</a:t>
            </a:r>
          </a:p>
        </p:txBody>
      </p:sp>
      <p:sp>
        <p:nvSpPr>
          <p:cNvPr id="6" name="Rectangle 5"/>
          <p:cNvSpPr/>
          <p:nvPr/>
        </p:nvSpPr>
        <p:spPr>
          <a:xfrm>
            <a:off x="457200" y="6446520"/>
            <a:ext cx="9966960" cy="292608"/>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l">
              <a:lnSpc>
                <a:spcPct val="112000"/>
              </a:lnSpc>
            </a:pPr>
            <a:r>
              <a:rPr sz="1000" b="0" i="0">
                <a:solidFill>
                  <a:srgbClr val="E76F51"/>
                </a:solidFill>
                <a:latin typeface="Arial"/>
                <a:ea typeface="微软雅黑"/>
                <a:cs typeface="Arial"/>
              </a:rPr>
              <a:t>模拟数据检验结果（SYNTHETIC），仅用于检验研究路径，不代表新晃实际情况</a:t>
            </a:r>
          </a:p>
        </p:txBody>
      </p:sp>
      <p:pic>
        <p:nvPicPr>
          <p:cNvPr id="7" name="Picture 6" descr="图_时刻表与柔性排班.png"/>
          <p:cNvPicPr>
            <a:picLocks noChangeAspect="1"/>
          </p:cNvPicPr>
          <p:nvPr/>
        </p:nvPicPr>
        <p:blipFill>
          <a:blip r:embed="rId2"/>
          <a:stretch>
            <a:fillRect/>
          </a:stretch>
        </p:blipFill>
        <p:spPr>
          <a:xfrm>
            <a:off x="457200" y="1371600"/>
            <a:ext cx="5297805" cy="4709160"/>
          </a:xfrm>
          <a:prstGeom prst="rect">
            <a:avLst/>
          </a:prstGeom>
        </p:spPr>
      </p:pic>
      <p:sp>
        <p:nvSpPr>
          <p:cNvPr id="8" name="TextBox 7"/>
          <p:cNvSpPr txBox="1"/>
          <p:nvPr/>
        </p:nvSpPr>
        <p:spPr>
          <a:xfrm>
            <a:off x="457200" y="6099048"/>
            <a:ext cx="5297805" cy="256032"/>
          </a:xfrm>
          <a:prstGeom prst="rect">
            <a:avLst/>
          </a:prstGeom>
          <a:noFill/>
        </p:spPr>
        <p:txBody>
          <a:bodyPr wrap="square" lIns="73152" rIns="73152" tIns="18288" bIns="18288" anchor="t">
            <a:noAutofit/>
          </a:bodyPr>
          <a:lstStyle/>
          <a:p>
            <a:pPr algn="l">
              <a:lnSpc>
                <a:spcPct val="112000"/>
              </a:lnSpc>
              <a:spcAft>
                <a:spcPts val="0"/>
              </a:spcAft>
            </a:pPr>
            <a:r>
              <a:rPr sz="1050" b="0" i="0">
                <a:solidFill>
                  <a:srgbClr val="6C757D"/>
                </a:solidFill>
                <a:latin typeface="Arial"/>
                <a:ea typeface="微软雅黑"/>
                <a:cs typeface="Arial"/>
              </a:rPr>
              <a:t>图：时刻表与柔性排班（模拟数据，SYNTHETIC）</a:t>
            </a:r>
          </a:p>
        </p:txBody>
      </p:sp>
      <p:sp>
        <p:nvSpPr>
          <p:cNvPr id="9" name="Rectangle 8"/>
          <p:cNvSpPr/>
          <p:nvPr/>
        </p:nvSpPr>
        <p:spPr>
          <a:xfrm>
            <a:off x="6029325" y="1371600"/>
            <a:ext cx="5702427" cy="34747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固定层（RQ3）</a:t>
            </a:r>
          </a:p>
        </p:txBody>
      </p:sp>
      <p:sp>
        <p:nvSpPr>
          <p:cNvPr id="10" name="TextBox 9"/>
          <p:cNvSpPr txBox="1"/>
          <p:nvPr/>
        </p:nvSpPr>
        <p:spPr>
          <a:xfrm>
            <a:off x="6029325" y="1755648"/>
            <a:ext cx="5702427" cy="1600200"/>
          </a:xfrm>
          <a:prstGeom prst="rect">
            <a:avLst/>
          </a:prstGeom>
          <a:noFill/>
        </p:spPr>
        <p:txBody>
          <a:bodyPr wrap="square" lIns="73152" rIns="73152" tIns="73152" bIns="73152" anchor="t">
            <a:noAutofit/>
          </a:bodyPr>
          <a:lstStyle/>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检验期车次 36803 → 28648 班（减少 </a:t>
            </a:r>
            <a:r>
              <a:rPr sz="1600" b="1" i="0">
                <a:solidFill>
                  <a:srgbClr val="E76F51"/>
                </a:solidFill>
                <a:latin typeface="Arial"/>
                <a:ea typeface="微软雅黑"/>
                <a:cs typeface="Arial"/>
              </a:rPr>
              <a:t>22.2%</a:t>
            </a:r>
            <a:r>
              <a:rPr sz="1600" b="0" i="0">
                <a:solidFill>
                  <a:srgbClr val="222222"/>
                </a:solidFill>
                <a:latin typeface="Arial"/>
                <a:ea typeface="微软雅黑"/>
                <a:cs typeface="Arial"/>
              </a:rPr>
              <a:t>），车公里减少 24.9%</a:t>
            </a:r>
          </a:p>
          <a:p>
            <a:pPr algn="l" marL="213360" indent="-213360">
              <a:lnSpc>
                <a:spcPct val="112000"/>
              </a:lnSpc>
              <a:spcAft>
                <a:spcPts val="560"/>
              </a:spcAft>
              <a:buClr>
                <a:srgbClr val="1F3A5F"/>
              </a:buClr>
              <a:buChar char="•"/>
            </a:pPr>
            <a:r>
              <a:rPr sz="1600" b="0" i="0">
                <a:solidFill>
                  <a:srgbClr val="222222"/>
                </a:solidFill>
                <a:latin typeface="Arial"/>
                <a:ea typeface="微软雅黑"/>
                <a:cs typeface="Arial"/>
              </a:rPr>
              <a:t>服务率 81.6% → 83.8%，社会成本降低 </a:t>
            </a:r>
            <a:r>
              <a:rPr sz="1600" b="1" i="0">
                <a:solidFill>
                  <a:srgbClr val="E76F51"/>
                </a:solidFill>
                <a:latin typeface="Arial"/>
                <a:ea typeface="微软雅黑"/>
                <a:cs typeface="Arial"/>
              </a:rPr>
              <a:t>13.8%</a:t>
            </a:r>
          </a:p>
          <a:p>
            <a:pPr algn="l" marL="213360" indent="-213360">
              <a:lnSpc>
                <a:spcPct val="112000"/>
              </a:lnSpc>
              <a:spcAft>
                <a:spcPts val="0"/>
              </a:spcAft>
              <a:buClr>
                <a:srgbClr val="1F3A5F"/>
              </a:buClr>
              <a:buChar char="•"/>
            </a:pPr>
            <a:r>
              <a:rPr sz="1600" b="0" i="0">
                <a:solidFill>
                  <a:srgbClr val="222222"/>
                </a:solidFill>
                <a:latin typeface="Arial"/>
                <a:ea typeface="微软雅黑"/>
                <a:cs typeface="Arial"/>
              </a:rPr>
              <a:t>代价：人均等待增加 2.5 分钟，满载班次率 3.0% → 4.8%</a:t>
            </a:r>
          </a:p>
        </p:txBody>
      </p:sp>
      <p:sp>
        <p:nvSpPr>
          <p:cNvPr id="11" name="Rectangle 10"/>
          <p:cNvSpPr/>
          <p:nvPr/>
        </p:nvSpPr>
        <p:spPr>
          <a:xfrm>
            <a:off x="6029325" y="3429000"/>
            <a:ext cx="5702427" cy="34747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柔性层（RQ4）</a:t>
            </a:r>
          </a:p>
        </p:txBody>
      </p:sp>
      <p:sp>
        <p:nvSpPr>
          <p:cNvPr id="12" name="TextBox 11"/>
          <p:cNvSpPr txBox="1"/>
          <p:nvPr/>
        </p:nvSpPr>
        <p:spPr>
          <a:xfrm>
            <a:off x="6029325" y="3813048"/>
            <a:ext cx="5702427" cy="1920240"/>
          </a:xfrm>
          <a:prstGeom prst="rect">
            <a:avLst/>
          </a:prstGeom>
          <a:noFill/>
        </p:spPr>
        <p:txBody>
          <a:bodyPr wrap="square" lIns="73152" rIns="73152" tIns="73152" bIns="73152" anchor="t">
            <a:noAutofit/>
          </a:bodyPr>
          <a:lstStyle/>
          <a:p>
            <a:pPr algn="l" marL="200025" indent="-200025">
              <a:lnSpc>
                <a:spcPct val="112000"/>
              </a:lnSpc>
              <a:spcAft>
                <a:spcPts val="525"/>
              </a:spcAft>
              <a:buClr>
                <a:srgbClr val="1F3A5F"/>
              </a:buClr>
              <a:buChar char="•"/>
            </a:pPr>
            <a:r>
              <a:rPr sz="1500" b="0" i="0">
                <a:solidFill>
                  <a:srgbClr val="222222"/>
                </a:solidFill>
                <a:latin typeface="Arial"/>
                <a:ea typeface="微软雅黑"/>
                <a:cs typeface="Arial"/>
              </a:rPr>
              <a:t>主方案社会成本降低 </a:t>
            </a:r>
            <a:r>
              <a:rPr sz="1500" b="1" i="0">
                <a:solidFill>
                  <a:srgbClr val="E76F51"/>
                </a:solidFill>
                <a:latin typeface="Arial"/>
                <a:ea typeface="微软雅黑"/>
                <a:cs typeface="Arial"/>
              </a:rPr>
              <a:t>14.3%</a:t>
            </a:r>
            <a:r>
              <a:rPr sz="1500" b="0" i="0">
                <a:solidFill>
                  <a:srgbClr val="222222"/>
                </a:solidFill>
                <a:latin typeface="Arial"/>
                <a:ea typeface="微软雅黑"/>
                <a:cs typeface="Arial"/>
              </a:rPr>
              <a:t>，比只优化固定层多 0.5 个百分点</a:t>
            </a:r>
          </a:p>
          <a:p>
            <a:pPr algn="l" marL="200025" indent="-200025">
              <a:lnSpc>
                <a:spcPct val="112000"/>
              </a:lnSpc>
              <a:spcAft>
                <a:spcPts val="525"/>
              </a:spcAft>
              <a:buClr>
                <a:srgbClr val="1F3A5F"/>
              </a:buClr>
              <a:buChar char="•"/>
            </a:pPr>
            <a:r>
              <a:rPr sz="1500" b="0" i="0">
                <a:solidFill>
                  <a:srgbClr val="222222"/>
                </a:solidFill>
                <a:latin typeface="Arial"/>
                <a:ea typeface="微软雅黑"/>
                <a:cs typeface="Arial"/>
              </a:rPr>
              <a:t>增量：节假日边沿 </a:t>
            </a:r>
            <a:r>
              <a:rPr sz="1500" b="1" i="0">
                <a:solidFill>
                  <a:srgbClr val="E76F51"/>
                </a:solidFill>
                <a:latin typeface="Arial"/>
                <a:ea typeface="微软雅黑"/>
                <a:cs typeface="Arial"/>
              </a:rPr>
              <a:t>3.4</a:t>
            </a:r>
            <a:r>
              <a:rPr sz="1500" b="0" i="0">
                <a:solidFill>
                  <a:srgbClr val="222222"/>
                </a:solidFill>
                <a:latin typeface="Arial"/>
                <a:ea typeface="微软雅黑"/>
                <a:cs typeface="Arial"/>
              </a:rPr>
              <a:t>、春运核心期 </a:t>
            </a:r>
            <a:r>
              <a:rPr sz="1500" b="1" i="0">
                <a:solidFill>
                  <a:srgbClr val="E76F51"/>
                </a:solidFill>
                <a:latin typeface="Arial"/>
                <a:ea typeface="微软雅黑"/>
                <a:cs typeface="Arial"/>
              </a:rPr>
              <a:t>2.1</a:t>
            </a:r>
            <a:r>
              <a:rPr sz="1500" b="0" i="0">
                <a:solidFill>
                  <a:srgbClr val="222222"/>
                </a:solidFill>
                <a:latin typeface="Arial"/>
                <a:ea typeface="微软雅黑"/>
                <a:cs typeface="Arial"/>
              </a:rPr>
              <a:t>、普通日 -0.2 个百分点</a:t>
            </a:r>
          </a:p>
          <a:p>
            <a:pPr algn="l" marL="200025" indent="-200025">
              <a:lnSpc>
                <a:spcPct val="112000"/>
              </a:lnSpc>
              <a:spcAft>
                <a:spcPts val="525"/>
              </a:spcAft>
              <a:buClr>
                <a:srgbClr val="1F3A5F"/>
              </a:buClr>
              <a:buChar char="•"/>
            </a:pPr>
            <a:r>
              <a:rPr sz="1500" b="0" i="0">
                <a:solidFill>
                  <a:srgbClr val="222222"/>
                </a:solidFill>
                <a:latin typeface="Arial"/>
                <a:ea typeface="微软雅黑"/>
                <a:cs typeface="Arial"/>
              </a:rPr>
              <a:t>信息价值：主方案 </a:t>
            </a:r>
            <a:r>
              <a:rPr sz="1500" b="1" i="0">
                <a:solidFill>
                  <a:srgbClr val="E76F51"/>
                </a:solidFill>
                <a:latin typeface="Arial"/>
                <a:ea typeface="微软雅黑"/>
                <a:cs typeface="Arial"/>
              </a:rPr>
              <a:t>29.0%</a:t>
            </a:r>
            <a:r>
              <a:rPr sz="1500" b="0" i="0">
                <a:solidFill>
                  <a:srgbClr val="222222"/>
                </a:solidFill>
                <a:latin typeface="Arial"/>
                <a:ea typeface="微软雅黑"/>
                <a:cs typeface="Arial"/>
              </a:rPr>
              <a:t>，改进预测 35.1%；完美预知上界降幅 15.4%</a:t>
            </a:r>
          </a:p>
          <a:p>
            <a:pPr algn="l" marL="200025" indent="-200025">
              <a:lnSpc>
                <a:spcPct val="112000"/>
              </a:lnSpc>
              <a:spcAft>
                <a:spcPts val="0"/>
              </a:spcAft>
              <a:buClr>
                <a:srgbClr val="1F3A5F"/>
              </a:buClr>
              <a:buChar char="•"/>
            </a:pPr>
            <a:r>
              <a:rPr sz="1500" b="0" i="0">
                <a:solidFill>
                  <a:srgbClr val="222222"/>
                </a:solidFill>
                <a:latin typeface="Arial"/>
                <a:ea typeface="微软雅黑"/>
                <a:cs typeface="Arial"/>
              </a:rPr>
              <a:t>建议：正式方案把“服务率不低于现行”作为硬约束</a:t>
            </a:r>
          </a:p>
        </p:txBody>
      </p:sp>
      <p:sp>
        <p:nvSpPr>
          <p:cNvPr id="13" name="Rectangle 12"/>
          <p:cNvSpPr/>
          <p:nvPr/>
        </p:nvSpPr>
        <p:spPr>
          <a:xfrm>
            <a:off x="6029325" y="5788152"/>
            <a:ext cx="5702427" cy="548640"/>
          </a:xfrm>
          <a:prstGeom prst="rect">
            <a:avLst/>
          </a:prstGeom>
          <a:solidFill>
            <a:srgbClr val="E3F2F0"/>
          </a:solidFill>
          <a:ln w="12700">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4" name="TextBox 13"/>
          <p:cNvSpPr txBox="1"/>
          <p:nvPr/>
        </p:nvSpPr>
        <p:spPr>
          <a:xfrm>
            <a:off x="6029325" y="5788152"/>
            <a:ext cx="5702427" cy="548640"/>
          </a:xfrm>
          <a:prstGeom prst="rect">
            <a:avLst/>
          </a:prstGeom>
          <a:noFill/>
        </p:spPr>
        <p:txBody>
          <a:bodyPr wrap="square" lIns="73152" rIns="73152" tIns="73152" bIns="73152" anchor="ctr">
            <a:noAutofit/>
          </a:bodyPr>
          <a:lstStyle/>
          <a:p>
            <a:pPr algn="ctr">
              <a:lnSpc>
                <a:spcPct val="112000"/>
              </a:lnSpc>
              <a:spcAft>
                <a:spcPts val="0"/>
              </a:spcAft>
            </a:pPr>
            <a:r>
              <a:rPr sz="1600" b="1" i="0">
                <a:solidFill>
                  <a:srgbClr val="2A9D8F"/>
                </a:solidFill>
                <a:latin typeface="Arial"/>
                <a:ea typeface="微软雅黑"/>
                <a:cs typeface="Arial"/>
              </a:rPr>
              <a:t>假设检验（模拟数据）：H5 支持、H6 支持</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六、创新点、成果规划与研究进度</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三项可能的创新，对应一篇学位论文和两篇国际期刊论文</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17 / 20</a:t>
            </a:r>
          </a:p>
        </p:txBody>
      </p:sp>
      <p:sp>
        <p:nvSpPr>
          <p:cNvPr id="6" name="Rectangle 5"/>
          <p:cNvSpPr/>
          <p:nvPr/>
        </p:nvSpPr>
        <p:spPr>
          <a:xfrm>
            <a:off x="457200" y="1463040"/>
            <a:ext cx="3639312" cy="2468880"/>
          </a:xfrm>
          <a:prstGeom prst="rect">
            <a:avLst/>
          </a:prstGeom>
          <a:solidFill>
            <a:srgbClr val="E3F2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457200" y="1463040"/>
            <a:ext cx="3639312" cy="438912"/>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创新一 · 研究对象</a:t>
            </a:r>
          </a:p>
        </p:txBody>
      </p:sp>
      <p:sp>
        <p:nvSpPr>
          <p:cNvPr id="8" name="TextBox 7"/>
          <p:cNvSpPr txBox="1"/>
          <p:nvPr/>
        </p:nvSpPr>
        <p:spPr>
          <a:xfrm>
            <a:off x="512064" y="1956816"/>
            <a:ext cx="3529584" cy="1938528"/>
          </a:xfrm>
          <a:prstGeom prst="rect">
            <a:avLst/>
          </a:prstGeom>
          <a:noFill/>
        </p:spPr>
        <p:txBody>
          <a:bodyPr wrap="square" lIns="73152" rIns="73152" tIns="73152" bIns="73152" anchor="t">
            <a:noAutofit/>
          </a:bodyPr>
          <a:lstStyle/>
          <a:p>
            <a:pPr algn="l">
              <a:lnSpc>
                <a:spcPct val="112000"/>
              </a:lnSpc>
              <a:spcAft>
                <a:spcPts val="0"/>
              </a:spcAft>
            </a:pPr>
            <a:r>
              <a:rPr sz="1500" b="0" i="0">
                <a:solidFill>
                  <a:srgbClr val="222222"/>
                </a:solidFill>
                <a:latin typeface="Arial"/>
                <a:ea typeface="微软雅黑"/>
                <a:cs typeface="Arial"/>
              </a:rPr>
              <a:t>在“多重节律叠加”框架下，于县域尺度同时估计八个因子族的权重，为“集日是否重要”等地方经验提供可检验的定量证据</a:t>
            </a:r>
          </a:p>
        </p:txBody>
      </p:sp>
      <p:sp>
        <p:nvSpPr>
          <p:cNvPr id="9" name="Rectangle 8"/>
          <p:cNvSpPr/>
          <p:nvPr/>
        </p:nvSpPr>
        <p:spPr>
          <a:xfrm>
            <a:off x="4274820" y="1463040"/>
            <a:ext cx="3639312" cy="246888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Rectangle 9"/>
          <p:cNvSpPr/>
          <p:nvPr/>
        </p:nvSpPr>
        <p:spPr>
          <a:xfrm>
            <a:off x="4274820" y="1463040"/>
            <a:ext cx="3639312" cy="438912"/>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创新二 · 方法</a:t>
            </a:r>
          </a:p>
        </p:txBody>
      </p:sp>
      <p:sp>
        <p:nvSpPr>
          <p:cNvPr id="11" name="TextBox 10"/>
          <p:cNvSpPr txBox="1"/>
          <p:nvPr/>
        </p:nvSpPr>
        <p:spPr>
          <a:xfrm>
            <a:off x="4329684" y="1956816"/>
            <a:ext cx="3529584" cy="1938528"/>
          </a:xfrm>
          <a:prstGeom prst="rect">
            <a:avLst/>
          </a:prstGeom>
          <a:noFill/>
        </p:spPr>
        <p:txBody>
          <a:bodyPr wrap="square" lIns="73152" rIns="73152" tIns="73152" bIns="73152" anchor="t">
            <a:noAutofit/>
          </a:bodyPr>
          <a:lstStyle/>
          <a:p>
            <a:pPr algn="l">
              <a:lnSpc>
                <a:spcPct val="112000"/>
              </a:lnSpc>
              <a:spcAft>
                <a:spcPts val="0"/>
              </a:spcAft>
            </a:pPr>
            <a:r>
              <a:rPr sz="1500" b="0" i="0">
                <a:solidFill>
                  <a:srgbClr val="222222"/>
                </a:solidFill>
                <a:latin typeface="Arial"/>
                <a:ea typeface="微软雅黑"/>
                <a:cs typeface="Arial"/>
              </a:rPr>
              <a:t>引入收益管理的删失需求还原</a:t>
            </a:r>
            <a:r>
              <a:rPr sz="1500" b="0" i="0" baseline="30000">
                <a:solidFill>
                  <a:srgbClr val="222222"/>
                </a:solidFill>
                <a:latin typeface="Arial"/>
                <a:ea typeface="微软雅黑"/>
                <a:cs typeface="Arial"/>
              </a:rPr>
              <a:t>[16]</a:t>
            </a:r>
            <a:r>
              <a:rPr sz="1500" b="0" i="0">
                <a:solidFill>
                  <a:srgbClr val="222222"/>
                </a:solidFill>
                <a:latin typeface="Arial"/>
                <a:ea typeface="微软雅黑"/>
                <a:cs typeface="Arial"/>
              </a:rPr>
              <a:t>，构建“删失负二项—因子族 Shapley 分解—按情景 Mondrian 共形”链条，并在已知真值的模拟系统中检验其相对熵权法、灰色关联和 SHAP 的优势</a:t>
            </a:r>
          </a:p>
        </p:txBody>
      </p:sp>
      <p:sp>
        <p:nvSpPr>
          <p:cNvPr id="12" name="Rectangle 11"/>
          <p:cNvSpPr/>
          <p:nvPr/>
        </p:nvSpPr>
        <p:spPr>
          <a:xfrm>
            <a:off x="8092440" y="1463040"/>
            <a:ext cx="3639312" cy="2468880"/>
          </a:xfrm>
          <a:prstGeom prst="rect">
            <a:avLst/>
          </a:prstGeom>
          <a:solidFill>
            <a:srgbClr val="FCEB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Rectangle 12"/>
          <p:cNvSpPr/>
          <p:nvPr/>
        </p:nvSpPr>
        <p:spPr>
          <a:xfrm>
            <a:off x="8092440" y="1463040"/>
            <a:ext cx="3639312" cy="43891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创新三 · 应用</a:t>
            </a:r>
          </a:p>
        </p:txBody>
      </p:sp>
      <p:sp>
        <p:nvSpPr>
          <p:cNvPr id="14" name="TextBox 13"/>
          <p:cNvSpPr txBox="1"/>
          <p:nvPr/>
        </p:nvSpPr>
        <p:spPr>
          <a:xfrm>
            <a:off x="8147304" y="1956816"/>
            <a:ext cx="3529584" cy="1938528"/>
          </a:xfrm>
          <a:prstGeom prst="rect">
            <a:avLst/>
          </a:prstGeom>
          <a:noFill/>
        </p:spPr>
        <p:txBody>
          <a:bodyPr wrap="square" lIns="73152" rIns="73152" tIns="73152" bIns="73152" anchor="t">
            <a:noAutofit/>
          </a:bodyPr>
          <a:lstStyle/>
          <a:p>
            <a:pPr algn="l">
              <a:lnSpc>
                <a:spcPct val="112000"/>
              </a:lnSpc>
              <a:spcAft>
                <a:spcPts val="0"/>
              </a:spcAft>
            </a:pPr>
            <a:r>
              <a:rPr sz="1500" b="0" i="0">
                <a:solidFill>
                  <a:srgbClr val="222222"/>
                </a:solidFill>
                <a:latin typeface="Arial"/>
                <a:ea typeface="微软雅黑"/>
                <a:cs typeface="Arial"/>
              </a:rPr>
              <a:t>“固定层承担稳定节律、次日柔性层承担不规则节律”的半柔性配置</a:t>
            </a:r>
            <a:r>
              <a:rPr sz="1500" b="0" i="0" baseline="30000">
                <a:solidFill>
                  <a:srgbClr val="222222"/>
                </a:solidFill>
                <a:latin typeface="Arial"/>
                <a:ea typeface="微软雅黑"/>
                <a:cs typeface="Arial"/>
              </a:rPr>
              <a:t>[19]</a:t>
            </a:r>
            <a:r>
              <a:rPr sz="1500" b="0" i="0">
                <a:solidFill>
                  <a:srgbClr val="222222"/>
                </a:solidFill>
                <a:latin typeface="Arial"/>
                <a:ea typeface="微软雅黑"/>
                <a:cs typeface="Arial"/>
              </a:rPr>
              <a:t>，用信息价值量化预测改进的边际收益，形成县级可操作的排班流程</a:t>
            </a:r>
          </a:p>
        </p:txBody>
      </p:sp>
      <p:sp>
        <p:nvSpPr>
          <p:cNvPr id="15" name="TextBox 14"/>
          <p:cNvSpPr txBox="1"/>
          <p:nvPr/>
        </p:nvSpPr>
        <p:spPr>
          <a:xfrm>
            <a:off x="457200" y="4041648"/>
            <a:ext cx="11274552" cy="347472"/>
          </a:xfrm>
          <a:prstGeom prst="rect">
            <a:avLst/>
          </a:prstGeom>
          <a:noFill/>
        </p:spPr>
        <p:txBody>
          <a:bodyPr wrap="square" lIns="73152" rIns="73152" tIns="18288" bIns="18288" anchor="t">
            <a:noAutofit/>
          </a:bodyPr>
          <a:lstStyle/>
          <a:p>
            <a:pPr algn="l">
              <a:lnSpc>
                <a:spcPct val="112000"/>
              </a:lnSpc>
              <a:spcAft>
                <a:spcPts val="0"/>
              </a:spcAft>
            </a:pPr>
            <a:r>
              <a:rPr sz="1600" b="1" i="0">
                <a:solidFill>
                  <a:srgbClr val="1F3A5F"/>
                </a:solidFill>
                <a:latin typeface="Arial"/>
                <a:ea typeface="微软雅黑"/>
                <a:cs typeface="Arial"/>
              </a:rPr>
              <a:t>成果路线图</a:t>
            </a:r>
          </a:p>
        </p:txBody>
      </p:sp>
      <p:sp>
        <p:nvSpPr>
          <p:cNvPr id="16" name="Rectangle 15"/>
          <p:cNvSpPr/>
          <p:nvPr/>
        </p:nvSpPr>
        <p:spPr>
          <a:xfrm>
            <a:off x="457200" y="4434840"/>
            <a:ext cx="3520440" cy="1874519"/>
          </a:xfrm>
          <a:prstGeom prst="rect">
            <a:avLst/>
          </a:prstGeom>
          <a:solidFill>
            <a:srgbClr val="E3F2F0"/>
          </a:solidFill>
          <a:ln w="15875">
            <a:solidFill>
              <a:srgbClr val="2A9D8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7" name="TextBox 16"/>
          <p:cNvSpPr txBox="1"/>
          <p:nvPr/>
        </p:nvSpPr>
        <p:spPr>
          <a:xfrm>
            <a:off x="548640" y="4507992"/>
            <a:ext cx="3337560" cy="384048"/>
          </a:xfrm>
          <a:prstGeom prst="rect">
            <a:avLst/>
          </a:prstGeom>
          <a:noFill/>
        </p:spPr>
        <p:txBody>
          <a:bodyPr wrap="square" lIns="73152" rIns="73152" tIns="18288" bIns="18288" anchor="t">
            <a:noAutofit/>
          </a:bodyPr>
          <a:lstStyle/>
          <a:p>
            <a:pPr algn="l">
              <a:lnSpc>
                <a:spcPct val="112000"/>
              </a:lnSpc>
              <a:spcAft>
                <a:spcPts val="0"/>
              </a:spcAft>
            </a:pPr>
            <a:r>
              <a:rPr sz="1600" b="1" i="0">
                <a:solidFill>
                  <a:srgbClr val="2A9D8F"/>
                </a:solidFill>
                <a:latin typeface="Arial"/>
                <a:ea typeface="微软雅黑"/>
                <a:cs typeface="Arial"/>
              </a:rPr>
              <a:t>论文一（RQ1—RQ2）</a:t>
            </a:r>
          </a:p>
        </p:txBody>
      </p:sp>
      <p:sp>
        <p:nvSpPr>
          <p:cNvPr id="18" name="TextBox 17"/>
          <p:cNvSpPr txBox="1"/>
          <p:nvPr/>
        </p:nvSpPr>
        <p:spPr>
          <a:xfrm>
            <a:off x="548640" y="4937759"/>
            <a:ext cx="3337560" cy="1307591"/>
          </a:xfrm>
          <a:prstGeom prst="rect">
            <a:avLst/>
          </a:prstGeom>
          <a:noFill/>
        </p:spPr>
        <p:txBody>
          <a:bodyPr wrap="square" lIns="73152" rIns="73152" tIns="73152" bIns="73152" anchor="t">
            <a:noAutofit/>
          </a:bodyPr>
          <a:lstStyle/>
          <a:p>
            <a:pPr algn="l" marL="193357" indent="-193357">
              <a:lnSpc>
                <a:spcPct val="112000"/>
              </a:lnSpc>
              <a:spcAft>
                <a:spcPts val="507"/>
              </a:spcAft>
              <a:buClr>
                <a:srgbClr val="1F3A5F"/>
              </a:buClr>
              <a:buChar char="•"/>
            </a:pPr>
            <a:r>
              <a:rPr sz="1450" b="0" i="0">
                <a:solidFill>
                  <a:srgbClr val="222222"/>
                </a:solidFill>
                <a:latin typeface="Arial"/>
                <a:ea typeface="微软雅黑"/>
                <a:cs typeface="Arial"/>
              </a:rPr>
              <a:t>删失感知的多重节律识别与班次级概率预测</a:t>
            </a:r>
          </a:p>
          <a:p>
            <a:pPr algn="l" marL="193357" indent="-193357">
              <a:lnSpc>
                <a:spcPct val="112000"/>
              </a:lnSpc>
              <a:spcAft>
                <a:spcPts val="0"/>
              </a:spcAft>
              <a:buClr>
                <a:srgbClr val="1F3A5F"/>
              </a:buClr>
              <a:buChar char="•"/>
            </a:pPr>
            <a:r>
              <a:rPr sz="1450" b="0" i="0">
                <a:solidFill>
                  <a:srgbClr val="222222"/>
                </a:solidFill>
                <a:latin typeface="Arial"/>
                <a:ea typeface="微软雅黑"/>
                <a:cs typeface="Arial"/>
              </a:rPr>
              <a:t>面向交通需求建模与预测方向的国际期刊</a:t>
            </a:r>
          </a:p>
        </p:txBody>
      </p:sp>
      <p:sp>
        <p:nvSpPr>
          <p:cNvPr id="19" name="Rectangle 18"/>
          <p:cNvSpPr/>
          <p:nvPr/>
        </p:nvSpPr>
        <p:spPr>
          <a:xfrm>
            <a:off x="8211312" y="4434840"/>
            <a:ext cx="3520440" cy="1874519"/>
          </a:xfrm>
          <a:prstGeom prst="rect">
            <a:avLst/>
          </a:prstGeom>
          <a:solidFill>
            <a:srgbClr val="FCEBE5"/>
          </a:solidFill>
          <a:ln w="15875">
            <a:solidFill>
              <a:srgbClr val="E76F51"/>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0" name="TextBox 19"/>
          <p:cNvSpPr txBox="1"/>
          <p:nvPr/>
        </p:nvSpPr>
        <p:spPr>
          <a:xfrm>
            <a:off x="8302752" y="4507992"/>
            <a:ext cx="3337560" cy="384048"/>
          </a:xfrm>
          <a:prstGeom prst="rect">
            <a:avLst/>
          </a:prstGeom>
          <a:noFill/>
        </p:spPr>
        <p:txBody>
          <a:bodyPr wrap="square" lIns="73152" rIns="73152" tIns="18288" bIns="18288" anchor="t">
            <a:noAutofit/>
          </a:bodyPr>
          <a:lstStyle/>
          <a:p>
            <a:pPr algn="l">
              <a:lnSpc>
                <a:spcPct val="112000"/>
              </a:lnSpc>
              <a:spcAft>
                <a:spcPts val="0"/>
              </a:spcAft>
            </a:pPr>
            <a:r>
              <a:rPr sz="1600" b="1" i="0">
                <a:solidFill>
                  <a:srgbClr val="E76F51"/>
                </a:solidFill>
                <a:latin typeface="Arial"/>
                <a:ea typeface="微软雅黑"/>
                <a:cs typeface="Arial"/>
              </a:rPr>
              <a:t>论文二（RQ3—RQ4）</a:t>
            </a:r>
          </a:p>
        </p:txBody>
      </p:sp>
      <p:sp>
        <p:nvSpPr>
          <p:cNvPr id="21" name="TextBox 20"/>
          <p:cNvSpPr txBox="1"/>
          <p:nvPr/>
        </p:nvSpPr>
        <p:spPr>
          <a:xfrm>
            <a:off x="8302752" y="4937759"/>
            <a:ext cx="3337560" cy="1307591"/>
          </a:xfrm>
          <a:prstGeom prst="rect">
            <a:avLst/>
          </a:prstGeom>
          <a:noFill/>
        </p:spPr>
        <p:txBody>
          <a:bodyPr wrap="square" lIns="73152" rIns="73152" tIns="73152" bIns="73152" anchor="t">
            <a:noAutofit/>
          </a:bodyPr>
          <a:lstStyle/>
          <a:p>
            <a:pPr algn="l" marL="193357" indent="-193357">
              <a:lnSpc>
                <a:spcPct val="112000"/>
              </a:lnSpc>
              <a:spcAft>
                <a:spcPts val="507"/>
              </a:spcAft>
              <a:buClr>
                <a:srgbClr val="1F3A5F"/>
              </a:buClr>
              <a:buChar char="•"/>
            </a:pPr>
            <a:r>
              <a:rPr sz="1450" b="0" i="0">
                <a:solidFill>
                  <a:srgbClr val="222222"/>
                </a:solidFill>
                <a:latin typeface="Arial"/>
                <a:ea typeface="微软雅黑"/>
                <a:cs typeface="Arial"/>
              </a:rPr>
              <a:t>预测驱动的县域城乡公交半柔性配置</a:t>
            </a:r>
          </a:p>
          <a:p>
            <a:pPr algn="l" marL="193357" indent="-193357">
              <a:lnSpc>
                <a:spcPct val="112000"/>
              </a:lnSpc>
              <a:spcAft>
                <a:spcPts val="0"/>
              </a:spcAft>
              <a:buClr>
                <a:srgbClr val="1F3A5F"/>
              </a:buClr>
              <a:buChar char="•"/>
            </a:pPr>
            <a:r>
              <a:rPr sz="1450" b="0" i="0">
                <a:solidFill>
                  <a:srgbClr val="222222"/>
                </a:solidFill>
                <a:latin typeface="Arial"/>
                <a:ea typeface="微软雅黑"/>
                <a:cs typeface="Arial"/>
              </a:rPr>
              <a:t>面向公共交通运营与规划方向的国际期刊</a:t>
            </a:r>
          </a:p>
        </p:txBody>
      </p:sp>
      <p:sp>
        <p:nvSpPr>
          <p:cNvPr id="22" name="Rectangle 21"/>
          <p:cNvSpPr/>
          <p:nvPr/>
        </p:nvSpPr>
        <p:spPr>
          <a:xfrm>
            <a:off x="4448556" y="4434840"/>
            <a:ext cx="3291840" cy="1874519"/>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TextBox 22"/>
          <p:cNvSpPr txBox="1"/>
          <p:nvPr/>
        </p:nvSpPr>
        <p:spPr>
          <a:xfrm>
            <a:off x="4539996" y="4507992"/>
            <a:ext cx="3108960" cy="411480"/>
          </a:xfrm>
          <a:prstGeom prst="rect">
            <a:avLst/>
          </a:prstGeom>
          <a:noFill/>
        </p:spPr>
        <p:txBody>
          <a:bodyPr wrap="square" lIns="73152" rIns="73152" tIns="18288" bIns="18288" anchor="t">
            <a:noAutofit/>
          </a:bodyPr>
          <a:lstStyle/>
          <a:p>
            <a:pPr algn="ctr">
              <a:lnSpc>
                <a:spcPct val="112000"/>
              </a:lnSpc>
              <a:spcAft>
                <a:spcPts val="0"/>
              </a:spcAft>
            </a:pPr>
            <a:r>
              <a:rPr sz="1800" b="1" i="0">
                <a:solidFill>
                  <a:srgbClr val="FFFFFF"/>
                </a:solidFill>
                <a:latin typeface="Arial"/>
                <a:ea typeface="微软雅黑"/>
                <a:cs typeface="Arial"/>
              </a:rPr>
              <a:t>学位论文</a:t>
            </a:r>
          </a:p>
        </p:txBody>
      </p:sp>
      <p:sp>
        <p:nvSpPr>
          <p:cNvPr id="24" name="TextBox 23"/>
          <p:cNvSpPr txBox="1"/>
          <p:nvPr/>
        </p:nvSpPr>
        <p:spPr>
          <a:xfrm>
            <a:off x="4539996" y="4983479"/>
            <a:ext cx="3108960" cy="1252727"/>
          </a:xfrm>
          <a:prstGeom prst="rect">
            <a:avLst/>
          </a:prstGeom>
          <a:noFill/>
        </p:spPr>
        <p:txBody>
          <a:bodyPr wrap="square" lIns="73152" rIns="73152" tIns="73152" bIns="73152" anchor="t">
            <a:noAutofit/>
          </a:bodyPr>
          <a:lstStyle/>
          <a:p>
            <a:pPr algn="ctr">
              <a:lnSpc>
                <a:spcPct val="112000"/>
              </a:lnSpc>
              <a:spcAft>
                <a:spcPts val="507"/>
              </a:spcAft>
            </a:pPr>
            <a:r>
              <a:rPr sz="1450" b="0" i="0">
                <a:solidFill>
                  <a:srgbClr val="FFFFFF"/>
                </a:solidFill>
                <a:latin typeface="Arial"/>
                <a:ea typeface="微软雅黑"/>
                <a:cs typeface="Arial"/>
              </a:rPr>
              <a:t>四个研究问题合成一篇完整的中文学位论文</a:t>
            </a:r>
          </a:p>
          <a:p>
            <a:pPr algn="ctr">
              <a:lnSpc>
                <a:spcPct val="112000"/>
              </a:lnSpc>
              <a:spcAft>
                <a:spcPts val="0"/>
              </a:spcAft>
            </a:pPr>
            <a:r>
              <a:rPr sz="1450" b="0" i="0">
                <a:solidFill>
                  <a:srgbClr val="FFFFFF"/>
                </a:solidFill>
                <a:latin typeface="Arial"/>
                <a:ea typeface="微软雅黑"/>
                <a:cs typeface="Arial"/>
              </a:rPr>
              <a:t>样稿已形成（见 04_综合研究报告）</a:t>
            </a:r>
          </a:p>
        </p:txBody>
      </p:sp>
      <p:cxnSp>
        <p:nvCxnSpPr>
          <p:cNvPr id="25" name="Connector 24"/>
          <p:cNvCxnSpPr/>
          <p:nvPr/>
        </p:nvCxnSpPr>
        <p:spPr>
          <a:xfrm>
            <a:off x="4023359" y="5372100"/>
            <a:ext cx="379477" cy="0"/>
          </a:xfrm>
          <a:prstGeom prst="line">
            <a:avLst/>
          </a:prstGeom>
          <a:ln w="28575">
            <a:solidFill>
              <a:srgbClr val="2A9D8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7786116" y="5372100"/>
            <a:ext cx="379476" cy="0"/>
          </a:xfrm>
          <a:prstGeom prst="line">
            <a:avLst/>
          </a:prstGeom>
          <a:ln w="28575">
            <a:solidFill>
              <a:srgbClr val="E76F51"/>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六、创新点、成果规划与研究进度</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650" b="1" i="0">
                <a:solidFill>
                  <a:srgbClr val="1F3A5F"/>
                </a:solidFill>
                <a:latin typeface="Arial"/>
                <a:ea typeface="微软雅黑"/>
                <a:cs typeface="Arial"/>
              </a:rPr>
              <a:t>研究框架、代码与模拟检验已完成，下一步是接入真实数据并完成三轮调查</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18 / 20</a:t>
            </a:r>
          </a:p>
        </p:txBody>
      </p:sp>
      <p:sp>
        <p:nvSpPr>
          <p:cNvPr id="6" name="Rectangle 5"/>
          <p:cNvSpPr/>
          <p:nvPr/>
        </p:nvSpPr>
        <p:spPr>
          <a:xfrm>
            <a:off x="457200" y="1463040"/>
            <a:ext cx="2206752" cy="36576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7" name="Rectangle 6"/>
          <p:cNvSpPr/>
          <p:nvPr/>
        </p:nvSpPr>
        <p:spPr>
          <a:xfrm>
            <a:off x="457200" y="1463040"/>
            <a:ext cx="2206752" cy="411480"/>
          </a:xfrm>
          <a:prstGeom prst="rect">
            <a:avLst/>
          </a:prstGeom>
          <a:solidFill>
            <a:srgbClr val="5A9E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FFFFFF"/>
                </a:solidFill>
                <a:latin typeface="Arial"/>
                <a:ea typeface="微软雅黑"/>
                <a:cs typeface="Arial"/>
              </a:rPr>
              <a:t>已完成</a:t>
            </a:r>
          </a:p>
        </p:txBody>
      </p:sp>
      <p:sp>
        <p:nvSpPr>
          <p:cNvPr id="8" name="TextBox 7"/>
          <p:cNvSpPr txBox="1"/>
          <p:nvPr/>
        </p:nvSpPr>
        <p:spPr>
          <a:xfrm>
            <a:off x="512064" y="1929384"/>
            <a:ext cx="2097024" cy="3154679"/>
          </a:xfrm>
          <a:prstGeom prst="rect">
            <a:avLst/>
          </a:prstGeom>
          <a:noFill/>
        </p:spPr>
        <p:txBody>
          <a:bodyPr wrap="square" lIns="73152" rIns="73152" tIns="73152" bIns="73152" anchor="t">
            <a:noAutofit/>
          </a:bodyPr>
          <a:lstStyle/>
          <a:p>
            <a:pPr algn="l" marL="166687" indent="-166687">
              <a:lnSpc>
                <a:spcPct val="112000"/>
              </a:lnSpc>
              <a:spcAft>
                <a:spcPts val="437"/>
              </a:spcAft>
              <a:buClr>
                <a:srgbClr val="1F3A5F"/>
              </a:buClr>
              <a:buChar char="•"/>
            </a:pPr>
            <a:r>
              <a:rPr sz="1250" b="0" i="0">
                <a:solidFill>
                  <a:srgbClr val="222222"/>
                </a:solidFill>
                <a:latin typeface="Arial"/>
                <a:ea typeface="微软雅黑"/>
                <a:cs typeface="Arial"/>
              </a:rPr>
              <a:t>文献综述（206 条参考文献，含中文核心期刊）</a:t>
            </a:r>
          </a:p>
          <a:p>
            <a:pPr algn="l" marL="166687" indent="-166687">
              <a:lnSpc>
                <a:spcPct val="112000"/>
              </a:lnSpc>
              <a:spcAft>
                <a:spcPts val="437"/>
              </a:spcAft>
              <a:buClr>
                <a:srgbClr val="1F3A5F"/>
              </a:buClr>
              <a:buChar char="•"/>
            </a:pPr>
            <a:r>
              <a:rPr sz="1250" b="0" i="0">
                <a:solidFill>
                  <a:srgbClr val="222222"/>
                </a:solidFill>
                <a:latin typeface="Arial"/>
                <a:ea typeface="微软雅黑"/>
                <a:cs typeface="Arial"/>
              </a:rPr>
              <a:t>研究问题、假设与预注册</a:t>
            </a:r>
          </a:p>
          <a:p>
            <a:pPr algn="l" marL="166687" indent="-166687">
              <a:lnSpc>
                <a:spcPct val="112000"/>
              </a:lnSpc>
              <a:spcAft>
                <a:spcPts val="437"/>
              </a:spcAft>
              <a:buClr>
                <a:srgbClr val="1F3A5F"/>
              </a:buClr>
              <a:buChar char="•"/>
            </a:pPr>
            <a:r>
              <a:rPr sz="1250" b="0" i="0">
                <a:solidFill>
                  <a:srgbClr val="222222"/>
                </a:solidFill>
                <a:latin typeface="Arial"/>
                <a:ea typeface="微软雅黑"/>
                <a:cs typeface="Arial"/>
              </a:rPr>
              <a:t>模拟系统、四个模型的全部代码与回测</a:t>
            </a:r>
          </a:p>
          <a:p>
            <a:pPr algn="l" marL="166687" indent="-166687">
              <a:lnSpc>
                <a:spcPct val="112000"/>
              </a:lnSpc>
              <a:spcAft>
                <a:spcPts val="437"/>
              </a:spcAft>
              <a:buClr>
                <a:srgbClr val="1F3A5F"/>
              </a:buClr>
              <a:buChar char="•"/>
            </a:pPr>
            <a:r>
              <a:rPr sz="1250" b="0" i="0">
                <a:solidFill>
                  <a:srgbClr val="222222"/>
                </a:solidFill>
                <a:latin typeface="Arial"/>
                <a:ea typeface="微软雅黑"/>
                <a:cs typeface="Arial"/>
              </a:rPr>
              <a:t>四份研究文档（研究方案、文献综述、计算模型研究报告、学位论文样稿）</a:t>
            </a:r>
          </a:p>
          <a:p>
            <a:pPr algn="l" marL="166687" indent="-166687">
              <a:lnSpc>
                <a:spcPct val="112000"/>
              </a:lnSpc>
              <a:spcAft>
                <a:spcPts val="0"/>
              </a:spcAft>
              <a:buClr>
                <a:srgbClr val="1F3A5F"/>
              </a:buClr>
              <a:buChar char="•"/>
            </a:pPr>
            <a:r>
              <a:rPr sz="1250" b="0" i="0">
                <a:solidFill>
                  <a:srgbClr val="222222"/>
                </a:solidFill>
                <a:latin typeface="Arial"/>
                <a:ea typeface="微软雅黑"/>
                <a:cs typeface="Arial"/>
              </a:rPr>
              <a:t>暑期跟车调查的现场工作</a:t>
            </a:r>
          </a:p>
        </p:txBody>
      </p:sp>
      <p:sp>
        <p:nvSpPr>
          <p:cNvPr id="9" name="Rectangle 8"/>
          <p:cNvSpPr/>
          <p:nvPr/>
        </p:nvSpPr>
        <p:spPr>
          <a:xfrm>
            <a:off x="2737104" y="1463040"/>
            <a:ext cx="2206752" cy="36576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0" name="Rectangle 9"/>
          <p:cNvSpPr/>
          <p:nvPr/>
        </p:nvSpPr>
        <p:spPr>
          <a:xfrm>
            <a:off x="2737104" y="1463040"/>
            <a:ext cx="2206752" cy="411480"/>
          </a:xfrm>
          <a:prstGeom prst="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1F3A5F"/>
                </a:solidFill>
                <a:latin typeface="Arial"/>
                <a:ea typeface="微软雅黑"/>
                <a:cs typeface="Arial"/>
              </a:rPr>
              <a:t>进行中</a:t>
            </a:r>
          </a:p>
        </p:txBody>
      </p:sp>
      <p:sp>
        <p:nvSpPr>
          <p:cNvPr id="11" name="TextBox 10"/>
          <p:cNvSpPr txBox="1"/>
          <p:nvPr/>
        </p:nvSpPr>
        <p:spPr>
          <a:xfrm>
            <a:off x="2791968" y="1929384"/>
            <a:ext cx="2097024" cy="3154679"/>
          </a:xfrm>
          <a:prstGeom prst="rect">
            <a:avLst/>
          </a:prstGeom>
          <a:noFill/>
        </p:spPr>
        <p:txBody>
          <a:bodyPr wrap="square" lIns="73152" rIns="73152" tIns="73152" bIns="73152" anchor="t">
            <a:noAutofit/>
          </a:bodyPr>
          <a:lstStyle/>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暑期跟车原始问卷录入</a:t>
            </a:r>
          </a:p>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与运营单位对接逐班次台账</a:t>
            </a:r>
          </a:p>
          <a:p>
            <a:pPr algn="l" marL="186690" indent="-186690">
              <a:lnSpc>
                <a:spcPct val="112000"/>
              </a:lnSpc>
              <a:spcAft>
                <a:spcPts val="0"/>
              </a:spcAft>
              <a:buClr>
                <a:srgbClr val="1F3A5F"/>
              </a:buClr>
              <a:buChar char="•"/>
            </a:pPr>
            <a:r>
              <a:rPr sz="1400" b="0" i="0">
                <a:solidFill>
                  <a:srgbClr val="222222"/>
                </a:solidFill>
                <a:latin typeface="Arial"/>
                <a:ea typeface="微软雅黑"/>
                <a:cs typeface="Arial"/>
              </a:rPr>
              <a:t>［请汇报人按实际情况确认］</a:t>
            </a:r>
          </a:p>
        </p:txBody>
      </p:sp>
      <p:sp>
        <p:nvSpPr>
          <p:cNvPr id="12" name="Rectangle 11"/>
          <p:cNvSpPr/>
          <p:nvPr/>
        </p:nvSpPr>
        <p:spPr>
          <a:xfrm>
            <a:off x="5017008" y="1463040"/>
            <a:ext cx="2206752" cy="365760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3" name="Rectangle 12"/>
          <p:cNvSpPr/>
          <p:nvPr/>
        </p:nvSpPr>
        <p:spPr>
          <a:xfrm>
            <a:off x="5017008" y="1463040"/>
            <a:ext cx="2206752" cy="411480"/>
          </a:xfrm>
          <a:prstGeom prst="rect">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600" b="1" i="0">
                <a:solidFill>
                  <a:srgbClr val="1F3A5F"/>
                </a:solidFill>
                <a:latin typeface="Arial"/>
                <a:ea typeface="微软雅黑"/>
                <a:cs typeface="Arial"/>
              </a:rPr>
              <a:t>待开展</a:t>
            </a:r>
          </a:p>
        </p:txBody>
      </p:sp>
      <p:sp>
        <p:nvSpPr>
          <p:cNvPr id="14" name="TextBox 13"/>
          <p:cNvSpPr txBox="1"/>
          <p:nvPr/>
        </p:nvSpPr>
        <p:spPr>
          <a:xfrm>
            <a:off x="5071872" y="1929384"/>
            <a:ext cx="2097024" cy="3154679"/>
          </a:xfrm>
          <a:prstGeom prst="rect">
            <a:avLst/>
          </a:prstGeom>
          <a:noFill/>
        </p:spPr>
        <p:txBody>
          <a:bodyPr wrap="square" lIns="73152" rIns="73152" tIns="73152" bIns="73152" anchor="t">
            <a:noAutofit/>
          </a:bodyPr>
          <a:lstStyle/>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寒假与春运跟车调查</a:t>
            </a:r>
          </a:p>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行政村入户调查</a:t>
            </a:r>
          </a:p>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线上问卷</a:t>
            </a:r>
          </a:p>
          <a:p>
            <a:pPr algn="l" marL="186690" indent="-186690">
              <a:lnSpc>
                <a:spcPct val="112000"/>
              </a:lnSpc>
              <a:spcAft>
                <a:spcPts val="0"/>
              </a:spcAft>
              <a:buClr>
                <a:srgbClr val="1F3A5F"/>
              </a:buClr>
              <a:buChar char="•"/>
            </a:pPr>
            <a:r>
              <a:rPr sz="1400" b="0" i="0">
                <a:solidFill>
                  <a:srgbClr val="222222"/>
                </a:solidFill>
                <a:latin typeface="Arial"/>
                <a:ea typeface="微软雅黑"/>
                <a:cs typeface="Arial"/>
              </a:rPr>
              <a:t>用真实数据替换模拟数据并重算全部结果</a:t>
            </a:r>
          </a:p>
        </p:txBody>
      </p:sp>
      <p:sp>
        <p:nvSpPr>
          <p:cNvPr id="15" name="Rectangle 14"/>
          <p:cNvSpPr/>
          <p:nvPr/>
        </p:nvSpPr>
        <p:spPr>
          <a:xfrm>
            <a:off x="7452360" y="1463040"/>
            <a:ext cx="4279392" cy="169164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6" name="Rectangle 15"/>
          <p:cNvSpPr/>
          <p:nvPr/>
        </p:nvSpPr>
        <p:spPr>
          <a:xfrm>
            <a:off x="7452360" y="1463040"/>
            <a:ext cx="4279392" cy="38404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待确认事项</a:t>
            </a:r>
          </a:p>
        </p:txBody>
      </p:sp>
      <p:sp>
        <p:nvSpPr>
          <p:cNvPr id="17" name="TextBox 16"/>
          <p:cNvSpPr txBox="1"/>
          <p:nvPr/>
        </p:nvSpPr>
        <p:spPr>
          <a:xfrm>
            <a:off x="7507224" y="1901952"/>
            <a:ext cx="4169663" cy="1216152"/>
          </a:xfrm>
          <a:prstGeom prst="rect">
            <a:avLst/>
          </a:prstGeom>
          <a:noFill/>
        </p:spPr>
        <p:txBody>
          <a:bodyPr wrap="square" lIns="73152" rIns="73152" tIns="73152" bIns="73152" anchor="t">
            <a:noAutofit/>
          </a:bodyPr>
          <a:lstStyle/>
          <a:p>
            <a:pPr algn="l" marL="186690" indent="-186690">
              <a:lnSpc>
                <a:spcPct val="112000"/>
              </a:lnSpc>
              <a:spcAft>
                <a:spcPts val="489"/>
              </a:spcAft>
              <a:buClr>
                <a:srgbClr val="1F3A5F"/>
              </a:buClr>
              <a:buChar char="•"/>
            </a:pPr>
            <a:r>
              <a:rPr sz="1400" b="0" i="0">
                <a:solidFill>
                  <a:srgbClr val="222222"/>
                </a:solidFill>
                <a:latin typeface="Arial"/>
                <a:ea typeface="微软雅黑"/>
                <a:cs typeface="Arial"/>
              </a:rPr>
              <a:t>各乡镇集期；天气阈值</a:t>
            </a:r>
          </a:p>
          <a:p>
            <a:pPr algn="l" marL="186690" indent="-186690">
              <a:lnSpc>
                <a:spcPct val="112000"/>
              </a:lnSpc>
              <a:spcAft>
                <a:spcPts val="0"/>
              </a:spcAft>
              <a:buClr>
                <a:srgbClr val="1F3A5F"/>
              </a:buClr>
              <a:buChar char="•"/>
            </a:pPr>
            <a:r>
              <a:rPr sz="1400" b="0" i="0">
                <a:solidFill>
                  <a:srgbClr val="222222"/>
                </a:solidFill>
                <a:latin typeface="Arial"/>
                <a:ea typeface="微软雅黑"/>
                <a:cs typeface="Arial"/>
              </a:rPr>
              <a:t>线路运行时间与配车、各车型核定座位数（目前为假设值）</a:t>
            </a:r>
          </a:p>
        </p:txBody>
      </p:sp>
      <p:sp>
        <p:nvSpPr>
          <p:cNvPr id="18" name="Rectangle 17"/>
          <p:cNvSpPr/>
          <p:nvPr/>
        </p:nvSpPr>
        <p:spPr>
          <a:xfrm>
            <a:off x="7452360" y="3246120"/>
            <a:ext cx="4279392" cy="1874519"/>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19" name="Rectangle 18"/>
          <p:cNvSpPr/>
          <p:nvPr/>
        </p:nvSpPr>
        <p:spPr>
          <a:xfrm>
            <a:off x="7452360" y="3246120"/>
            <a:ext cx="4279392" cy="384048"/>
          </a:xfrm>
          <a:prstGeom prst="rect">
            <a:avLst/>
          </a:prstGeom>
          <a:solidFill>
            <a:srgbClr val="6C757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l">
              <a:lnSpc>
                <a:spcPct val="112000"/>
              </a:lnSpc>
            </a:pPr>
            <a:r>
              <a:rPr sz="1500" b="1" i="0">
                <a:solidFill>
                  <a:srgbClr val="FFFFFF"/>
                </a:solidFill>
                <a:latin typeface="Arial"/>
                <a:ea typeface="微软雅黑"/>
                <a:cs typeface="Arial"/>
              </a:rPr>
              <a:t>研究局限</a:t>
            </a:r>
          </a:p>
        </p:txBody>
      </p:sp>
      <p:sp>
        <p:nvSpPr>
          <p:cNvPr id="20" name="TextBox 19"/>
          <p:cNvSpPr txBox="1"/>
          <p:nvPr/>
        </p:nvSpPr>
        <p:spPr>
          <a:xfrm>
            <a:off x="7507224" y="3685031"/>
            <a:ext cx="4169663" cy="1399031"/>
          </a:xfrm>
          <a:prstGeom prst="rect">
            <a:avLst/>
          </a:prstGeom>
          <a:noFill/>
        </p:spPr>
        <p:txBody>
          <a:bodyPr wrap="square" lIns="73152" rIns="73152" tIns="73152" bIns="73152" anchor="t">
            <a:noAutofit/>
          </a:bodyPr>
          <a:lstStyle/>
          <a:p>
            <a:pPr algn="l" marL="153352" indent="-153352">
              <a:lnSpc>
                <a:spcPct val="112000"/>
              </a:lnSpc>
              <a:spcAft>
                <a:spcPts val="402"/>
              </a:spcAft>
              <a:buClr>
                <a:srgbClr val="1F3A5F"/>
              </a:buClr>
              <a:buChar char="•"/>
            </a:pPr>
            <a:r>
              <a:rPr sz="1150" b="0" i="0">
                <a:solidFill>
                  <a:srgbClr val="222222"/>
                </a:solidFill>
                <a:latin typeface="Arial"/>
                <a:ea typeface="微软雅黑"/>
                <a:cs typeface="Arial"/>
              </a:rPr>
              <a:t>结果全部来自模拟数据</a:t>
            </a:r>
          </a:p>
          <a:p>
            <a:pPr algn="l" marL="153352" indent="-153352">
              <a:lnSpc>
                <a:spcPct val="112000"/>
              </a:lnSpc>
              <a:spcAft>
                <a:spcPts val="402"/>
              </a:spcAft>
              <a:buClr>
                <a:srgbClr val="1F3A5F"/>
              </a:buClr>
              <a:buChar char="•"/>
            </a:pPr>
            <a:r>
              <a:rPr sz="1150" b="0" i="0">
                <a:solidFill>
                  <a:srgbClr val="222222"/>
                </a:solidFill>
                <a:latin typeface="Arial"/>
                <a:ea typeface="微软雅黑"/>
                <a:cs typeface="Arial"/>
              </a:rPr>
              <a:t>只有全程总登乘人数，无站点上下客和 OD</a:t>
            </a:r>
          </a:p>
          <a:p>
            <a:pPr algn="l" marL="153352" indent="-153352">
              <a:lnSpc>
                <a:spcPct val="112000"/>
              </a:lnSpc>
              <a:spcAft>
                <a:spcPts val="402"/>
              </a:spcAft>
              <a:buClr>
                <a:srgbClr val="1F3A5F"/>
              </a:buClr>
              <a:buChar char="•"/>
            </a:pPr>
            <a:r>
              <a:rPr sz="1150" b="0" i="0">
                <a:solidFill>
                  <a:srgbClr val="222222"/>
                </a:solidFill>
                <a:latin typeface="Arial"/>
                <a:ea typeface="微软雅黑"/>
                <a:cs typeface="Arial"/>
              </a:rPr>
              <a:t>训练期只含两个春运</a:t>
            </a:r>
          </a:p>
          <a:p>
            <a:pPr algn="l" marL="153352" indent="-153352">
              <a:lnSpc>
                <a:spcPct val="112000"/>
              </a:lnSpc>
              <a:spcAft>
                <a:spcPts val="0"/>
              </a:spcAft>
              <a:buClr>
                <a:srgbClr val="1F3A5F"/>
              </a:buClr>
              <a:buChar char="•"/>
            </a:pPr>
            <a:r>
              <a:rPr sz="1150" b="0" i="0">
                <a:solidFill>
                  <a:srgbClr val="222222"/>
                </a:solidFill>
                <a:latin typeface="Arial"/>
                <a:ea typeface="微软雅黑"/>
                <a:cs typeface="Arial"/>
              </a:rPr>
              <a:t>两处偏离预注册的方案未计算预注册版本；集期与天气阈值待核实</a:t>
            </a:r>
          </a:p>
        </p:txBody>
      </p:sp>
      <p:sp>
        <p:nvSpPr>
          <p:cNvPr id="21" name="Pentagon 20"/>
          <p:cNvSpPr/>
          <p:nvPr/>
        </p:nvSpPr>
        <p:spPr>
          <a:xfrm>
            <a:off x="457200" y="5532120"/>
            <a:ext cx="1833372" cy="777240"/>
          </a:xfrm>
          <a:prstGeom prst="homePlate">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2" name="Chevron 21"/>
          <p:cNvSpPr/>
          <p:nvPr/>
        </p:nvSpPr>
        <p:spPr>
          <a:xfrm>
            <a:off x="2345436" y="5532120"/>
            <a:ext cx="1833372" cy="777240"/>
          </a:xfrm>
          <a:prstGeom prst="chevron">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3" name="Chevron 22"/>
          <p:cNvSpPr/>
          <p:nvPr/>
        </p:nvSpPr>
        <p:spPr>
          <a:xfrm>
            <a:off x="4233672" y="5532120"/>
            <a:ext cx="1833372" cy="777240"/>
          </a:xfrm>
          <a:prstGeom prst="chevron">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4" name="Chevron 23"/>
          <p:cNvSpPr/>
          <p:nvPr/>
        </p:nvSpPr>
        <p:spPr>
          <a:xfrm>
            <a:off x="6121908" y="5532120"/>
            <a:ext cx="1833372" cy="777240"/>
          </a:xfrm>
          <a:prstGeom prst="chevron">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5" name="Chevron 24"/>
          <p:cNvSpPr/>
          <p:nvPr/>
        </p:nvSpPr>
        <p:spPr>
          <a:xfrm>
            <a:off x="8010144" y="5532120"/>
            <a:ext cx="1833372" cy="777240"/>
          </a:xfrm>
          <a:prstGeom prst="chevron">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6" name="Chevron 25"/>
          <p:cNvSpPr/>
          <p:nvPr/>
        </p:nvSpPr>
        <p:spPr>
          <a:xfrm>
            <a:off x="9898380" y="5532120"/>
            <a:ext cx="1833372" cy="777240"/>
          </a:xfrm>
          <a:prstGeom prst="chevron">
            <a:avLst/>
          </a:prstGeom>
          <a:solidFill>
            <a:srgbClr val="BFC5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73152" bIns="73152"/>
          <a:lstStyle/>
          <a:p>
            <a:pPr algn="ctr"/>
          </a:p>
        </p:txBody>
      </p:sp>
      <p:sp>
        <p:nvSpPr>
          <p:cNvPr id="27" name="TextBox 26"/>
          <p:cNvSpPr txBox="1"/>
          <p:nvPr/>
        </p:nvSpPr>
        <p:spPr>
          <a:xfrm>
            <a:off x="502920" y="5230368"/>
            <a:ext cx="1741931" cy="274320"/>
          </a:xfrm>
          <a:prstGeom prst="rect">
            <a:avLst/>
          </a:prstGeom>
          <a:noFill/>
        </p:spPr>
        <p:txBody>
          <a:bodyPr wrap="square" lIns="73152" rIns="73152" tIns="18288" bIns="18288" anchor="t">
            <a:noAutofit/>
          </a:bodyPr>
          <a:lstStyle/>
          <a:p>
            <a:pPr algn="ctr">
              <a:lnSpc>
                <a:spcPct val="112000"/>
              </a:lnSpc>
              <a:spcAft>
                <a:spcPts val="0"/>
              </a:spcAft>
            </a:pPr>
            <a:r>
              <a:rPr sz="1100" b="1" i="0">
                <a:solidFill>
                  <a:srgbClr val="1F3A5F"/>
                </a:solidFill>
                <a:latin typeface="Arial"/>
                <a:ea typeface="微软雅黑"/>
                <a:cs typeface="Arial"/>
              </a:rPr>
              <a:t>第 1—2 月</a:t>
            </a:r>
          </a:p>
        </p:txBody>
      </p:sp>
      <p:sp>
        <p:nvSpPr>
          <p:cNvPr id="28" name="TextBox 27"/>
          <p:cNvSpPr txBox="1"/>
          <p:nvPr/>
        </p:nvSpPr>
        <p:spPr>
          <a:xfrm>
            <a:off x="731520" y="5532120"/>
            <a:ext cx="1376172" cy="777240"/>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1F3A5F"/>
                </a:solidFill>
                <a:latin typeface="Arial"/>
                <a:ea typeface="微软雅黑"/>
                <a:cs typeface="Arial"/>
              </a:rPr>
              <a:t>文献综述与数据对接</a:t>
            </a:r>
          </a:p>
        </p:txBody>
      </p:sp>
      <p:sp>
        <p:nvSpPr>
          <p:cNvPr id="29" name="TextBox 28"/>
          <p:cNvSpPr txBox="1"/>
          <p:nvPr/>
        </p:nvSpPr>
        <p:spPr>
          <a:xfrm>
            <a:off x="2391156" y="5230368"/>
            <a:ext cx="1741931" cy="274320"/>
          </a:xfrm>
          <a:prstGeom prst="rect">
            <a:avLst/>
          </a:prstGeom>
          <a:noFill/>
        </p:spPr>
        <p:txBody>
          <a:bodyPr wrap="square" lIns="73152" rIns="73152" tIns="18288" bIns="18288" anchor="t">
            <a:noAutofit/>
          </a:bodyPr>
          <a:lstStyle/>
          <a:p>
            <a:pPr algn="ctr">
              <a:lnSpc>
                <a:spcPct val="112000"/>
              </a:lnSpc>
              <a:spcAft>
                <a:spcPts val="0"/>
              </a:spcAft>
            </a:pPr>
            <a:r>
              <a:rPr sz="1100" b="1" i="0">
                <a:solidFill>
                  <a:srgbClr val="1F3A5F"/>
                </a:solidFill>
                <a:latin typeface="Arial"/>
                <a:ea typeface="微软雅黑"/>
                <a:cs typeface="Arial"/>
              </a:rPr>
              <a:t>第 3 月</a:t>
            </a:r>
          </a:p>
        </p:txBody>
      </p:sp>
      <p:sp>
        <p:nvSpPr>
          <p:cNvPr id="30" name="TextBox 29"/>
          <p:cNvSpPr txBox="1"/>
          <p:nvPr/>
        </p:nvSpPr>
        <p:spPr>
          <a:xfrm>
            <a:off x="2619756" y="5532120"/>
            <a:ext cx="1376172" cy="777240"/>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1F3A5F"/>
                </a:solidFill>
                <a:latin typeface="Arial"/>
                <a:ea typeface="微软雅黑"/>
                <a:cs typeface="Arial"/>
              </a:rPr>
              <a:t>暑期跟车问卷与集期核实</a:t>
            </a:r>
          </a:p>
        </p:txBody>
      </p:sp>
      <p:sp>
        <p:nvSpPr>
          <p:cNvPr id="31" name="TextBox 30"/>
          <p:cNvSpPr txBox="1"/>
          <p:nvPr/>
        </p:nvSpPr>
        <p:spPr>
          <a:xfrm>
            <a:off x="4279392" y="5230368"/>
            <a:ext cx="1741931" cy="274320"/>
          </a:xfrm>
          <a:prstGeom prst="rect">
            <a:avLst/>
          </a:prstGeom>
          <a:noFill/>
        </p:spPr>
        <p:txBody>
          <a:bodyPr wrap="square" lIns="73152" rIns="73152" tIns="18288" bIns="18288" anchor="t">
            <a:noAutofit/>
          </a:bodyPr>
          <a:lstStyle/>
          <a:p>
            <a:pPr algn="ctr">
              <a:lnSpc>
                <a:spcPct val="112000"/>
              </a:lnSpc>
              <a:spcAft>
                <a:spcPts val="0"/>
              </a:spcAft>
            </a:pPr>
            <a:r>
              <a:rPr sz="1100" b="1" i="0">
                <a:solidFill>
                  <a:srgbClr val="1F3A5F"/>
                </a:solidFill>
                <a:latin typeface="Arial"/>
                <a:ea typeface="微软雅黑"/>
                <a:cs typeface="Arial"/>
              </a:rPr>
              <a:t>第 4—5 月</a:t>
            </a:r>
          </a:p>
        </p:txBody>
      </p:sp>
      <p:sp>
        <p:nvSpPr>
          <p:cNvPr id="32" name="TextBox 31"/>
          <p:cNvSpPr txBox="1"/>
          <p:nvPr/>
        </p:nvSpPr>
        <p:spPr>
          <a:xfrm>
            <a:off x="4507992" y="5532120"/>
            <a:ext cx="1376172" cy="777240"/>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1F3A5F"/>
                </a:solidFill>
                <a:latin typeface="Arial"/>
                <a:ea typeface="微软雅黑"/>
                <a:cs typeface="Arial"/>
              </a:rPr>
              <a:t>RQ1、RQ2 与论文一初稿</a:t>
            </a:r>
          </a:p>
        </p:txBody>
      </p:sp>
      <p:sp>
        <p:nvSpPr>
          <p:cNvPr id="33" name="TextBox 32"/>
          <p:cNvSpPr txBox="1"/>
          <p:nvPr/>
        </p:nvSpPr>
        <p:spPr>
          <a:xfrm>
            <a:off x="6167628" y="5230368"/>
            <a:ext cx="1741931" cy="274320"/>
          </a:xfrm>
          <a:prstGeom prst="rect">
            <a:avLst/>
          </a:prstGeom>
          <a:noFill/>
        </p:spPr>
        <p:txBody>
          <a:bodyPr wrap="square" lIns="73152" rIns="73152" tIns="18288" bIns="18288" anchor="t">
            <a:noAutofit/>
          </a:bodyPr>
          <a:lstStyle/>
          <a:p>
            <a:pPr algn="ctr">
              <a:lnSpc>
                <a:spcPct val="112000"/>
              </a:lnSpc>
              <a:spcAft>
                <a:spcPts val="0"/>
              </a:spcAft>
            </a:pPr>
            <a:r>
              <a:rPr sz="1100" b="1" i="0">
                <a:solidFill>
                  <a:srgbClr val="1F3A5F"/>
                </a:solidFill>
                <a:latin typeface="Arial"/>
                <a:ea typeface="微软雅黑"/>
                <a:cs typeface="Arial"/>
              </a:rPr>
              <a:t>第 6—7 月</a:t>
            </a:r>
          </a:p>
        </p:txBody>
      </p:sp>
      <p:sp>
        <p:nvSpPr>
          <p:cNvPr id="34" name="TextBox 33"/>
          <p:cNvSpPr txBox="1"/>
          <p:nvPr/>
        </p:nvSpPr>
        <p:spPr>
          <a:xfrm>
            <a:off x="6396228" y="5532120"/>
            <a:ext cx="1376172" cy="777240"/>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1F3A5F"/>
                </a:solidFill>
                <a:latin typeface="Arial"/>
                <a:ea typeface="微软雅黑"/>
                <a:cs typeface="Arial"/>
              </a:rPr>
              <a:t>寒假（春运）跟车、入户与网络问卷</a:t>
            </a:r>
          </a:p>
        </p:txBody>
      </p:sp>
      <p:sp>
        <p:nvSpPr>
          <p:cNvPr id="35" name="TextBox 34"/>
          <p:cNvSpPr txBox="1"/>
          <p:nvPr/>
        </p:nvSpPr>
        <p:spPr>
          <a:xfrm>
            <a:off x="8055864" y="5230368"/>
            <a:ext cx="1741931" cy="274320"/>
          </a:xfrm>
          <a:prstGeom prst="rect">
            <a:avLst/>
          </a:prstGeom>
          <a:noFill/>
        </p:spPr>
        <p:txBody>
          <a:bodyPr wrap="square" lIns="73152" rIns="73152" tIns="18288" bIns="18288" anchor="t">
            <a:noAutofit/>
          </a:bodyPr>
          <a:lstStyle/>
          <a:p>
            <a:pPr algn="ctr">
              <a:lnSpc>
                <a:spcPct val="112000"/>
              </a:lnSpc>
              <a:spcAft>
                <a:spcPts val="0"/>
              </a:spcAft>
            </a:pPr>
            <a:r>
              <a:rPr sz="1100" b="1" i="0">
                <a:solidFill>
                  <a:srgbClr val="1F3A5F"/>
                </a:solidFill>
                <a:latin typeface="Arial"/>
                <a:ea typeface="微软雅黑"/>
                <a:cs typeface="Arial"/>
              </a:rPr>
              <a:t>第 8—9 月</a:t>
            </a:r>
          </a:p>
        </p:txBody>
      </p:sp>
      <p:sp>
        <p:nvSpPr>
          <p:cNvPr id="36" name="TextBox 35"/>
          <p:cNvSpPr txBox="1"/>
          <p:nvPr/>
        </p:nvSpPr>
        <p:spPr>
          <a:xfrm>
            <a:off x="8284464" y="5532120"/>
            <a:ext cx="1376172" cy="777240"/>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1F3A5F"/>
                </a:solidFill>
                <a:latin typeface="Arial"/>
                <a:ea typeface="微软雅黑"/>
                <a:cs typeface="Arial"/>
              </a:rPr>
              <a:t>RQ3、RQ4 与论文二初稿</a:t>
            </a:r>
          </a:p>
        </p:txBody>
      </p:sp>
      <p:sp>
        <p:nvSpPr>
          <p:cNvPr id="37" name="TextBox 36"/>
          <p:cNvSpPr txBox="1"/>
          <p:nvPr/>
        </p:nvSpPr>
        <p:spPr>
          <a:xfrm>
            <a:off x="9944100" y="5230368"/>
            <a:ext cx="1741931" cy="274320"/>
          </a:xfrm>
          <a:prstGeom prst="rect">
            <a:avLst/>
          </a:prstGeom>
          <a:noFill/>
        </p:spPr>
        <p:txBody>
          <a:bodyPr wrap="square" lIns="73152" rIns="73152" tIns="18288" bIns="18288" anchor="t">
            <a:noAutofit/>
          </a:bodyPr>
          <a:lstStyle/>
          <a:p>
            <a:pPr algn="ctr">
              <a:lnSpc>
                <a:spcPct val="112000"/>
              </a:lnSpc>
              <a:spcAft>
                <a:spcPts val="0"/>
              </a:spcAft>
            </a:pPr>
            <a:r>
              <a:rPr sz="1100" b="1" i="0">
                <a:solidFill>
                  <a:srgbClr val="1F3A5F"/>
                </a:solidFill>
                <a:latin typeface="Arial"/>
                <a:ea typeface="微软雅黑"/>
                <a:cs typeface="Arial"/>
              </a:rPr>
              <a:t>第 10—12 月</a:t>
            </a:r>
          </a:p>
        </p:txBody>
      </p:sp>
      <p:sp>
        <p:nvSpPr>
          <p:cNvPr id="38" name="TextBox 37"/>
          <p:cNvSpPr txBox="1"/>
          <p:nvPr/>
        </p:nvSpPr>
        <p:spPr>
          <a:xfrm>
            <a:off x="10172700" y="5532120"/>
            <a:ext cx="1376172" cy="777240"/>
          </a:xfrm>
          <a:prstGeom prst="rect">
            <a:avLst/>
          </a:prstGeom>
          <a:noFill/>
        </p:spPr>
        <p:txBody>
          <a:bodyPr wrap="square" lIns="73152" rIns="73152" tIns="73152" bIns="73152" anchor="ctr">
            <a:noAutofit/>
          </a:bodyPr>
          <a:lstStyle/>
          <a:p>
            <a:pPr algn="ctr">
              <a:lnSpc>
                <a:spcPct val="112000"/>
              </a:lnSpc>
              <a:spcAft>
                <a:spcPts val="0"/>
              </a:spcAft>
            </a:pPr>
            <a:r>
              <a:rPr sz="1200" b="1" i="0">
                <a:solidFill>
                  <a:srgbClr val="1F3A5F"/>
                </a:solidFill>
                <a:latin typeface="Arial"/>
                <a:ea typeface="微软雅黑"/>
                <a:cs typeface="Arial"/>
              </a:rPr>
              <a:t>学位论文撰写、修改与答辩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参考文献</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参考文献（1/2）</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19 / 20</a:t>
            </a:r>
          </a:p>
        </p:txBody>
      </p:sp>
      <p:sp>
        <p:nvSpPr>
          <p:cNvPr id="6" name="TextBox 5"/>
          <p:cNvSpPr txBox="1"/>
          <p:nvPr/>
        </p:nvSpPr>
        <p:spPr>
          <a:xfrm>
            <a:off x="457200" y="1417320"/>
            <a:ext cx="5532120" cy="4937760"/>
          </a:xfrm>
          <a:prstGeom prst="rect">
            <a:avLst/>
          </a:prstGeom>
          <a:noFill/>
        </p:spPr>
        <p:txBody>
          <a:bodyPr wrap="square" lIns="73152" rIns="73152" tIns="73152" bIns="73152" anchor="t">
            <a:noAutofit/>
          </a:bodyPr>
          <a:lstStyle/>
          <a:p>
            <a:pPr algn="l" marL="274320" indent="-274320">
              <a:lnSpc>
                <a:spcPct val="100000"/>
              </a:lnSpc>
              <a:spcAft>
                <a:spcPts val="180"/>
              </a:spcAft>
            </a:pPr>
            <a:r>
              <a:rPr sz="900" b="0" i="0">
                <a:solidFill>
                  <a:srgbClr val="222222"/>
                </a:solidFill>
                <a:latin typeface="Arial"/>
                <a:ea typeface="微软雅黑"/>
                <a:cs typeface="Arial"/>
              </a:rPr>
              <a:t>[1] 交通运输部. 关于积极推进城乡道路客运一体化发展的意见: 交运发〔2011〕490号[EB/OL]. (2011-09-13)[2026-09-30]. https://www.gov.cn/zwgk/2011-09/22/content_1953581.htm.</a:t>
            </a:r>
          </a:p>
          <a:p>
            <a:pPr algn="l" marL="274320" indent="-274320">
              <a:lnSpc>
                <a:spcPct val="100000"/>
              </a:lnSpc>
              <a:spcAft>
                <a:spcPts val="180"/>
              </a:spcAft>
            </a:pPr>
            <a:r>
              <a:rPr sz="900" b="0" i="0">
                <a:solidFill>
                  <a:srgbClr val="222222"/>
                </a:solidFill>
                <a:latin typeface="Arial"/>
                <a:ea typeface="微软雅黑"/>
                <a:cs typeface="Arial"/>
              </a:rPr>
              <a:t>[2] 交通运输部办公厅. 交通运输部办公厅关于印发《农村道路客运运营服务指南（试行）》的通知: 交办运函〔2024〕1237号[EB/OL]. (2024-06-24)[2026-09-30]. https://www.gov.cn/zhengce/zhengceku/202406/content_6960241.htm.</a:t>
            </a:r>
          </a:p>
          <a:p>
            <a:pPr algn="l" marL="274320" indent="-274320">
              <a:lnSpc>
                <a:spcPct val="100000"/>
              </a:lnSpc>
              <a:spcAft>
                <a:spcPts val="180"/>
              </a:spcAft>
            </a:pPr>
            <a:r>
              <a:rPr sz="900" b="0" i="0">
                <a:solidFill>
                  <a:srgbClr val="222222"/>
                </a:solidFill>
                <a:latin typeface="Arial"/>
                <a:ea typeface="微软雅黑"/>
                <a:cs typeface="Arial"/>
              </a:rPr>
              <a:t>[3] 宫玉茹, 胡昊宇, 王列, 等. 社会排斥视角下山区农村交通劣势与相对贫困的关系研究——以贵州省黄平县为例[J]. 地理科学进展, 2026, 45(4): 838-852. DOI: 10.18306/dlkxjz.2026.04.012.</a:t>
            </a:r>
          </a:p>
          <a:p>
            <a:pPr algn="l" marL="274320" indent="-274320">
              <a:lnSpc>
                <a:spcPct val="100000"/>
              </a:lnSpc>
              <a:spcAft>
                <a:spcPts val="180"/>
              </a:spcAft>
            </a:pPr>
            <a:r>
              <a:rPr sz="900" b="0" i="0">
                <a:solidFill>
                  <a:srgbClr val="222222"/>
                </a:solidFill>
                <a:latin typeface="Arial"/>
                <a:ea typeface="微软雅黑"/>
                <a:cs typeface="Arial"/>
              </a:rPr>
              <a:t>[4] 邓丽, 邵景安, 郭跃, 等. 基于改进的两步移动搜索法的山区医疗服务空间可达性——以重庆市石柱县为例[J]. 地理科学进展, 2015, 34(6): 716-725. DOI: 10.18306/dlkxjz.2015.06.007.</a:t>
            </a:r>
          </a:p>
          <a:p>
            <a:pPr algn="l" marL="274320" indent="-274320">
              <a:lnSpc>
                <a:spcPct val="100000"/>
              </a:lnSpc>
              <a:spcAft>
                <a:spcPts val="180"/>
              </a:spcAft>
            </a:pPr>
            <a:r>
              <a:rPr sz="900" b="0" i="0">
                <a:solidFill>
                  <a:srgbClr val="222222"/>
                </a:solidFill>
                <a:latin typeface="Arial"/>
                <a:ea typeface="微软雅黑"/>
                <a:cs typeface="Arial"/>
              </a:rPr>
              <a:t>[5] Farrington J, Farrington C. Rural accessibility, social inclusion and social justice: towards conceptualisation[J]. Journal of Transport Geography, 2005, 13(1): 1-12. DOI: 10.1016/j.jtrangeo.2004.10.002.</a:t>
            </a:r>
          </a:p>
          <a:p>
            <a:pPr algn="l" marL="274320" indent="-274320">
              <a:lnSpc>
                <a:spcPct val="100000"/>
              </a:lnSpc>
              <a:spcAft>
                <a:spcPts val="180"/>
              </a:spcAft>
            </a:pPr>
            <a:r>
              <a:rPr sz="900" b="0" i="0">
                <a:solidFill>
                  <a:srgbClr val="222222"/>
                </a:solidFill>
                <a:latin typeface="Arial"/>
                <a:ea typeface="微软雅黑"/>
                <a:cs typeface="Arial"/>
              </a:rPr>
              <a:t>[6] Lucas K. Transport and social exclusion: Where are we now?[J]. Transport Policy, 2012, 20: 105-113. DOI: 10.1016/j.tranpol.2012.01.013.</a:t>
            </a:r>
          </a:p>
          <a:p>
            <a:pPr algn="l" marL="274320" indent="-274320">
              <a:lnSpc>
                <a:spcPct val="100000"/>
              </a:lnSpc>
              <a:spcAft>
                <a:spcPts val="180"/>
              </a:spcAft>
            </a:pPr>
            <a:r>
              <a:rPr sz="900" b="0" i="0">
                <a:solidFill>
                  <a:srgbClr val="222222"/>
                </a:solidFill>
                <a:latin typeface="Arial"/>
                <a:ea typeface="微软雅黑"/>
                <a:cs typeface="Arial"/>
              </a:rPr>
              <a:t>[7] 王姣娥, 何宛芩, 黄洁, 等. 中国城乡交通融合的理论内涵与空间格局[J]. 地理学报, 2026, 81(4): 966-985. DOI: 10.11821/dlxb202604003.</a:t>
            </a:r>
          </a:p>
          <a:p>
            <a:pPr algn="l" marL="274320" indent="-274320">
              <a:lnSpc>
                <a:spcPct val="100000"/>
              </a:lnSpc>
              <a:spcAft>
                <a:spcPts val="180"/>
              </a:spcAft>
            </a:pPr>
            <a:r>
              <a:rPr sz="900" b="0" i="0">
                <a:solidFill>
                  <a:srgbClr val="222222"/>
                </a:solidFill>
                <a:latin typeface="Arial"/>
                <a:ea typeface="微软雅黑"/>
                <a:cs typeface="Arial"/>
              </a:rPr>
              <a:t>[8] Hägerstrand T. What about people in Regional Science?[J]. Papers of the Regional Science Association, 1970, 24(1): 6-21. DOI: 10.1007/bf01936872.</a:t>
            </a:r>
          </a:p>
          <a:p>
            <a:pPr algn="l" marL="274320" indent="-274320">
              <a:lnSpc>
                <a:spcPct val="100000"/>
              </a:lnSpc>
              <a:spcAft>
                <a:spcPts val="180"/>
              </a:spcAft>
            </a:pPr>
            <a:r>
              <a:rPr sz="900" b="0" i="0">
                <a:solidFill>
                  <a:srgbClr val="222222"/>
                </a:solidFill>
                <a:latin typeface="Arial"/>
                <a:ea typeface="微软雅黑"/>
                <a:cs typeface="Arial"/>
              </a:rPr>
              <a:t>[9] Kwan M P. Space‐Time and Integral Measures of Individual Accessibility: A Comparative Analysis Using a Point‐based Framework[J]. Geographical Analysis, 1998, 30(3): 191-216. DOI: 10.1111/j.1538-4632.1998.tb00396.x.</a:t>
            </a:r>
          </a:p>
          <a:p>
            <a:pPr algn="l" marL="274320" indent="-274320">
              <a:lnSpc>
                <a:spcPct val="100000"/>
              </a:lnSpc>
              <a:spcAft>
                <a:spcPts val="180"/>
              </a:spcAft>
            </a:pPr>
            <a:r>
              <a:rPr sz="900" b="0" i="0">
                <a:solidFill>
                  <a:srgbClr val="222222"/>
                </a:solidFill>
                <a:latin typeface="Arial"/>
                <a:ea typeface="微软雅黑"/>
                <a:cs typeface="Arial"/>
              </a:rPr>
              <a:t>[10] Boisjoly G, El-Geneidy A. Daily fluctuations in transit and job availability: A comparative assessment of time-sensitive accessibility measures[J]. Journal of Transport Geography, 2016, 52: 73-81. DOI: 10.1016/j.jtrangeo.2016.03.004.</a:t>
            </a:r>
          </a:p>
          <a:p>
            <a:pPr algn="l" marL="274320" indent="-274320">
              <a:lnSpc>
                <a:spcPct val="100000"/>
              </a:lnSpc>
              <a:spcAft>
                <a:spcPts val="180"/>
              </a:spcAft>
            </a:pPr>
            <a:r>
              <a:rPr sz="900" b="0" i="0">
                <a:solidFill>
                  <a:srgbClr val="222222"/>
                </a:solidFill>
                <a:latin typeface="Arial"/>
                <a:ea typeface="微软雅黑"/>
                <a:cs typeface="Arial"/>
              </a:rPr>
              <a:t>[11] Farber S, Morang MZ, Widener MJ. Temporal variability in transit-based accessibility to supermarkets[J]. Applied Geography, 2014, 53: 149-159. DOI: 10.1016/j.apgeog.2014.06.012.</a:t>
            </a:r>
          </a:p>
          <a:p>
            <a:pPr algn="l" marL="274320" indent="-274320">
              <a:lnSpc>
                <a:spcPct val="100000"/>
              </a:lnSpc>
              <a:spcAft>
                <a:spcPts val="0"/>
              </a:spcAft>
            </a:pPr>
            <a:r>
              <a:rPr sz="900" b="0" i="0">
                <a:solidFill>
                  <a:srgbClr val="222222"/>
                </a:solidFill>
                <a:latin typeface="Arial"/>
                <a:ea typeface="微软雅黑"/>
                <a:cs typeface="Arial"/>
              </a:rPr>
              <a:t>[12] Hongtai Yang, Christopher Cherry. Use characteristics and demographics of rural transit riders: a case study in Tennessee[J]. Transportation Planning and Technology, 2016, 40(2): 213-227. DOI: 10.1080/03081060.2016.1266168.</a:t>
            </a:r>
          </a:p>
        </p:txBody>
      </p:sp>
      <p:sp>
        <p:nvSpPr>
          <p:cNvPr id="7" name="TextBox 6"/>
          <p:cNvSpPr txBox="1"/>
          <p:nvPr/>
        </p:nvSpPr>
        <p:spPr>
          <a:xfrm>
            <a:off x="6199632" y="1417320"/>
            <a:ext cx="5532120" cy="4937760"/>
          </a:xfrm>
          <a:prstGeom prst="rect">
            <a:avLst/>
          </a:prstGeom>
          <a:noFill/>
        </p:spPr>
        <p:txBody>
          <a:bodyPr wrap="square" lIns="73152" rIns="73152" tIns="73152" bIns="73152" anchor="t">
            <a:noAutofit/>
          </a:bodyPr>
          <a:lstStyle/>
          <a:p>
            <a:pPr algn="l" marL="274320" indent="-274320">
              <a:lnSpc>
                <a:spcPct val="100000"/>
              </a:lnSpc>
              <a:spcAft>
                <a:spcPts val="180"/>
              </a:spcAft>
            </a:pPr>
            <a:r>
              <a:rPr sz="900" b="0" i="0">
                <a:solidFill>
                  <a:srgbClr val="222222"/>
                </a:solidFill>
                <a:latin typeface="Arial"/>
                <a:ea typeface="微软雅黑"/>
                <a:cs typeface="Arial"/>
              </a:rPr>
              <a:t>[13] Pas E, Koppelman F. An examination of the determinants of day-to-day variability in individuals' urban travel behavior[J]. Transportation, 1987, 14(1). DOI: 10.1007/bf00172463.</a:t>
            </a:r>
          </a:p>
          <a:p>
            <a:pPr algn="l" marL="274320" indent="-274320">
              <a:lnSpc>
                <a:spcPct val="100000"/>
              </a:lnSpc>
              <a:spcAft>
                <a:spcPts val="180"/>
              </a:spcAft>
            </a:pPr>
            <a:r>
              <a:rPr sz="900" b="0" i="0">
                <a:solidFill>
                  <a:srgbClr val="222222"/>
                </a:solidFill>
                <a:latin typeface="Arial"/>
                <a:ea typeface="微软雅黑"/>
                <a:cs typeface="Arial"/>
              </a:rPr>
              <a:t>[14] Skinner G W. Marketing and Social Structure in Rural China, Part I[J]. The Journal of Asian Studies, 1964, 24(1): 3-43. DOI: 10.2307/2050412.</a:t>
            </a:r>
          </a:p>
          <a:p>
            <a:pPr algn="l" marL="274320" indent="-274320">
              <a:lnSpc>
                <a:spcPct val="100000"/>
              </a:lnSpc>
              <a:spcAft>
                <a:spcPts val="180"/>
              </a:spcAft>
            </a:pPr>
            <a:r>
              <a:rPr sz="900" b="0" i="0">
                <a:solidFill>
                  <a:srgbClr val="222222"/>
                </a:solidFill>
                <a:latin typeface="Arial"/>
                <a:ea typeface="微软雅黑"/>
                <a:cs typeface="Arial"/>
              </a:rPr>
              <a:t>[15] Shao M, Han Y, Zheng B, et al. Grey Relational Model Considering Risk Psychology and Its Application in the Analysis of Influencing Factors of Transportation Carbon Emissions[J]. Advances in Engineering Technology Research, 2026, 17(1): 1. DOI: 10.56028/aetr.17.1.1.2026.</a:t>
            </a:r>
          </a:p>
          <a:p>
            <a:pPr algn="l" marL="274320" indent="-274320">
              <a:lnSpc>
                <a:spcPct val="100000"/>
              </a:lnSpc>
              <a:spcAft>
                <a:spcPts val="180"/>
              </a:spcAft>
            </a:pPr>
            <a:r>
              <a:rPr sz="900" b="0" i="0">
                <a:solidFill>
                  <a:srgbClr val="222222"/>
                </a:solidFill>
                <a:latin typeface="Arial"/>
                <a:ea typeface="微软雅黑"/>
                <a:cs typeface="Arial"/>
              </a:rPr>
              <a:t>[16] Weatherford LR, Pölt S. Better unconstraining of airline demand data in revenue management systems for improved forecast accuracy and greater revenues[J]. Journal of Revenue and Pricing Management, 2002, 1(3): 234-254. DOI: 10.1057/palgrave.rpm.5170027.</a:t>
            </a:r>
          </a:p>
          <a:p>
            <a:pPr algn="l" marL="274320" indent="-274320">
              <a:lnSpc>
                <a:spcPct val="100000"/>
              </a:lnSpc>
              <a:spcAft>
                <a:spcPts val="180"/>
              </a:spcAft>
            </a:pPr>
            <a:r>
              <a:rPr sz="900" b="0" i="0">
                <a:solidFill>
                  <a:srgbClr val="222222"/>
                </a:solidFill>
                <a:latin typeface="Arial"/>
                <a:ea typeface="微软雅黑"/>
                <a:cs typeface="Arial"/>
              </a:rPr>
              <a:t>[17] 赵阳阳，夏亮，江欣国. 基于经验模态分解与长短时记忆神经网络的短时地铁客流预测模型[J]. 交通运输工程学报, 2020, 20(4): 194-204. DOI: 10.19818/j.cnki.1671-1637.2020.04.016.</a:t>
            </a:r>
          </a:p>
          <a:p>
            <a:pPr algn="l" marL="274320" indent="-274320">
              <a:lnSpc>
                <a:spcPct val="100000"/>
              </a:lnSpc>
              <a:spcAft>
                <a:spcPts val="180"/>
              </a:spcAft>
            </a:pPr>
            <a:r>
              <a:rPr sz="900" b="0" i="0">
                <a:solidFill>
                  <a:srgbClr val="222222"/>
                </a:solidFill>
                <a:latin typeface="Arial"/>
                <a:ea typeface="微软雅黑"/>
                <a:cs typeface="Arial"/>
              </a:rPr>
              <a:t>[18] 赵建东，申瑾，刘麟玮. 多源数据驱动CNN-GRU模型的公交客流量分类预测[J]. 交通运输工程学报, 2021, 21(5): 265-273. DOI: 10.19818/j.cnki.1671-1637.2021.05.022.</a:t>
            </a:r>
          </a:p>
          <a:p>
            <a:pPr algn="l" marL="274320" indent="-274320">
              <a:lnSpc>
                <a:spcPct val="100000"/>
              </a:lnSpc>
              <a:spcAft>
                <a:spcPts val="180"/>
              </a:spcAft>
            </a:pPr>
            <a:r>
              <a:rPr sz="900" b="0" i="0">
                <a:solidFill>
                  <a:srgbClr val="222222"/>
                </a:solidFill>
                <a:latin typeface="Arial"/>
                <a:ea typeface="微软雅黑"/>
                <a:cs typeface="Arial"/>
              </a:rPr>
              <a:t>[19] Errico F, Crainic TG, Malucelli F, et al. A survey on planning semi-flexible transit systems: Methodological issues and a unifying framework[J]. Transportation Research Part C: Emerging Technologies, 2013, 36: 324-338. DOI: 10.1016/j.trc.2013.08.010.</a:t>
            </a:r>
          </a:p>
          <a:p>
            <a:pPr algn="l" marL="274320" indent="-274320">
              <a:lnSpc>
                <a:spcPct val="100000"/>
              </a:lnSpc>
              <a:spcAft>
                <a:spcPts val="180"/>
              </a:spcAft>
            </a:pPr>
            <a:r>
              <a:rPr sz="900" b="0" i="0">
                <a:solidFill>
                  <a:srgbClr val="222222"/>
                </a:solidFill>
                <a:latin typeface="Arial"/>
                <a:ea typeface="微软雅黑"/>
                <a:cs typeface="Arial"/>
              </a:rPr>
              <a:t>[20] 姜晓红，李家伟，严亚丹，等. 考虑动态换乘的农村需求响应公交双向联合调度[J]. 中国公路学报, 2026, 39(8): 422-437. DOI: 10.19721/j.cnki.1001-7372.2026.08.027.</a:t>
            </a:r>
          </a:p>
          <a:p>
            <a:pPr algn="l" marL="274320" indent="-274320">
              <a:lnSpc>
                <a:spcPct val="100000"/>
              </a:lnSpc>
              <a:spcAft>
                <a:spcPts val="180"/>
              </a:spcAft>
            </a:pPr>
            <a:r>
              <a:rPr sz="900" b="0" i="0">
                <a:solidFill>
                  <a:srgbClr val="222222"/>
                </a:solidFill>
                <a:latin typeface="Arial"/>
                <a:ea typeface="微软雅黑"/>
                <a:cs typeface="Arial"/>
              </a:rPr>
              <a:t>[21] Elmachtoub A N, Grigas P. Smart “Predict, then Optimize”[J]. Management Science, 2022, 68(1): 9-26. DOI: 10.1287/mnsc.2020.3922.</a:t>
            </a:r>
          </a:p>
          <a:p>
            <a:pPr algn="l" marL="274320" indent="-274320">
              <a:lnSpc>
                <a:spcPct val="100000"/>
              </a:lnSpc>
              <a:spcAft>
                <a:spcPts val="180"/>
              </a:spcAft>
            </a:pPr>
            <a:r>
              <a:rPr sz="900" b="0" i="0">
                <a:solidFill>
                  <a:srgbClr val="222222"/>
                </a:solidFill>
                <a:latin typeface="Arial"/>
                <a:ea typeface="微软雅黑"/>
                <a:cs typeface="Arial"/>
              </a:rPr>
              <a:t>[22] Nosek BA, Ebersole CR, DeHaven AC, et al. The preregistration revolution[J]. Proceedings of the National Academy of Sciences, 2018, 115(11): 2600-2606. DOI: 10.1073/pnas.1708274114.</a:t>
            </a:r>
          </a:p>
          <a:p>
            <a:pPr algn="l" marL="274320" indent="-274320">
              <a:lnSpc>
                <a:spcPct val="100000"/>
              </a:lnSpc>
              <a:spcAft>
                <a:spcPts val="180"/>
              </a:spcAft>
            </a:pPr>
            <a:r>
              <a:rPr sz="900" b="0" i="0">
                <a:solidFill>
                  <a:srgbClr val="222222"/>
                </a:solidFill>
                <a:latin typeface="Arial"/>
                <a:ea typeface="微软雅黑"/>
                <a:cs typeface="Arial"/>
              </a:rPr>
              <a:t>[23] Roberts D R, Bahn V, Ciuti S, et al. Cross‐validation strategies for data with temporal, spatial, hierarchical, or phylogenetic structure[J]. Ecography, 2017, 40(8): 913-929. DOI: 10.1111/ecog.02881.</a:t>
            </a:r>
          </a:p>
          <a:p>
            <a:pPr algn="l" marL="274320" indent="-274320">
              <a:lnSpc>
                <a:spcPct val="100000"/>
              </a:lnSpc>
              <a:spcAft>
                <a:spcPts val="180"/>
              </a:spcAft>
            </a:pPr>
            <a:r>
              <a:rPr sz="900" b="0" i="0">
                <a:solidFill>
                  <a:srgbClr val="222222"/>
                </a:solidFill>
                <a:latin typeface="Arial"/>
                <a:ea typeface="微软雅黑"/>
                <a:cs typeface="Arial"/>
              </a:rPr>
              <a:t>[24] Kapoor S, Narayanan A. Leakage and the reproducibility crisis in machine-learning-based science[J]. Patterns, 2023, 4(9): 100804. DOI: 10.1016/j.patter.2023.100804.</a:t>
            </a:r>
          </a:p>
          <a:p>
            <a:pPr algn="l" marL="274320" indent="-274320">
              <a:lnSpc>
                <a:spcPct val="100000"/>
              </a:lnSpc>
              <a:spcAft>
                <a:spcPts val="0"/>
              </a:spcAft>
            </a:pPr>
            <a:r>
              <a:rPr sz="900" b="0" i="0">
                <a:solidFill>
                  <a:srgbClr val="222222"/>
                </a:solidFill>
                <a:latin typeface="Arial"/>
                <a:ea typeface="微软雅黑"/>
                <a:cs typeface="Arial"/>
              </a:rPr>
              <a:t>[25] Guo Z, Wilson NHM, Rahbee A. Impact of Weather on Transit Ridership in Chicago, Illinois[J]. Transportation Research Record: Journal of the Transportation Research Board, 2007, 2034(1): 3-10. DOI: 10.3141/2034-01.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0" y="73152"/>
            <a:ext cx="5330952" cy="274320"/>
          </a:xfrm>
          <a:prstGeom prst="rect">
            <a:avLst/>
          </a:prstGeom>
          <a:noFill/>
        </p:spPr>
        <p:txBody>
          <a:bodyPr wrap="square" lIns="73152" rIns="73152" tIns="0" bIns="0" anchor="t">
            <a:noAutofit/>
          </a:bodyPr>
          <a:lstStyle/>
          <a:p>
            <a:pPr algn="r">
              <a:lnSpc>
                <a:spcPct val="112000"/>
              </a:lnSpc>
              <a:spcAft>
                <a:spcPts val="0"/>
              </a:spcAft>
            </a:pPr>
            <a:r>
              <a:rPr sz="1100" b="0" i="0">
                <a:solidFill>
                  <a:srgbClr val="6C757D"/>
                </a:solidFill>
                <a:latin typeface="Arial"/>
                <a:ea typeface="微软雅黑"/>
                <a:cs typeface="Arial"/>
              </a:rPr>
              <a:t>参考文献</a:t>
            </a:r>
          </a:p>
        </p:txBody>
      </p:sp>
      <p:sp>
        <p:nvSpPr>
          <p:cNvPr id="3" name="TextBox 2"/>
          <p:cNvSpPr txBox="1"/>
          <p:nvPr/>
        </p:nvSpPr>
        <p:spPr>
          <a:xfrm>
            <a:off x="457200" y="274320"/>
            <a:ext cx="11274552" cy="969264"/>
          </a:xfrm>
          <a:prstGeom prst="rect">
            <a:avLst/>
          </a:prstGeom>
          <a:noFill/>
        </p:spPr>
        <p:txBody>
          <a:bodyPr wrap="square" lIns="73152" rIns="73152" tIns="0" bIns="0" anchor="b">
            <a:noAutofit/>
          </a:bodyPr>
          <a:lstStyle/>
          <a:p>
            <a:pPr algn="l">
              <a:lnSpc>
                <a:spcPct val="100000"/>
              </a:lnSpc>
              <a:spcAft>
                <a:spcPts val="0"/>
              </a:spcAft>
            </a:pPr>
            <a:r>
              <a:rPr sz="2800" b="1" i="0">
                <a:solidFill>
                  <a:srgbClr val="1F3A5F"/>
                </a:solidFill>
                <a:latin typeface="Arial"/>
                <a:ea typeface="微软雅黑"/>
                <a:cs typeface="Arial"/>
              </a:rPr>
              <a:t>参考文献（2/2）</a:t>
            </a:r>
          </a:p>
        </p:txBody>
      </p:sp>
      <p:sp>
        <p:nvSpPr>
          <p:cNvPr id="4" name="Rectangle 3"/>
          <p:cNvSpPr/>
          <p:nvPr/>
        </p:nvSpPr>
        <p:spPr>
          <a:xfrm>
            <a:off x="457200" y="1261872"/>
            <a:ext cx="11274552" cy="32004"/>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0" bIns="0"/>
          <a:lstStyle/>
          <a:p>
            <a:pPr algn="ctr"/>
          </a:p>
        </p:txBody>
      </p:sp>
      <p:sp>
        <p:nvSpPr>
          <p:cNvPr id="5" name="TextBox 4"/>
          <p:cNvSpPr txBox="1"/>
          <p:nvPr/>
        </p:nvSpPr>
        <p:spPr>
          <a:xfrm>
            <a:off x="10634472" y="6446520"/>
            <a:ext cx="1097280" cy="292608"/>
          </a:xfrm>
          <a:prstGeom prst="rect">
            <a:avLst/>
          </a:prstGeom>
          <a:noFill/>
        </p:spPr>
        <p:txBody>
          <a:bodyPr wrap="square" lIns="73152" rIns="73152" tIns="0" bIns="0" anchor="t">
            <a:noAutofit/>
          </a:bodyPr>
          <a:lstStyle/>
          <a:p>
            <a:pPr algn="r">
              <a:lnSpc>
                <a:spcPct val="112000"/>
              </a:lnSpc>
              <a:spcAft>
                <a:spcPts val="0"/>
              </a:spcAft>
            </a:pPr>
            <a:r>
              <a:rPr sz="1000" b="0" i="0">
                <a:solidFill>
                  <a:srgbClr val="6C757D"/>
                </a:solidFill>
                <a:latin typeface="Arial"/>
                <a:ea typeface="微软雅黑"/>
                <a:cs typeface="Arial"/>
              </a:rPr>
              <a:t>20 / 20</a:t>
            </a:r>
          </a:p>
        </p:txBody>
      </p:sp>
      <p:sp>
        <p:nvSpPr>
          <p:cNvPr id="6" name="TextBox 5"/>
          <p:cNvSpPr txBox="1"/>
          <p:nvPr/>
        </p:nvSpPr>
        <p:spPr>
          <a:xfrm>
            <a:off x="457200" y="1417320"/>
            <a:ext cx="5532120" cy="4937760"/>
          </a:xfrm>
          <a:prstGeom prst="rect">
            <a:avLst/>
          </a:prstGeom>
          <a:noFill/>
        </p:spPr>
        <p:txBody>
          <a:bodyPr wrap="square" lIns="73152" rIns="73152" tIns="73152" bIns="73152" anchor="t">
            <a:noAutofit/>
          </a:bodyPr>
          <a:lstStyle/>
          <a:p>
            <a:pPr algn="l" marL="274320" indent="-274320">
              <a:lnSpc>
                <a:spcPct val="100000"/>
              </a:lnSpc>
              <a:spcAft>
                <a:spcPts val="180"/>
              </a:spcAft>
            </a:pPr>
            <a:r>
              <a:rPr sz="900" b="0" i="0">
                <a:solidFill>
                  <a:srgbClr val="222222"/>
                </a:solidFill>
                <a:latin typeface="Arial"/>
                <a:ea typeface="微软雅黑"/>
                <a:cs typeface="Arial"/>
              </a:rPr>
              <a:t>[26] Li J, Cao J. The impact of weather on public bus ridership: empirical findings from Chenzhou, China[J]. Public Transport, 2024, 17(2): 591-610. DOI: 10.1007/s12469-024-00374-7.</a:t>
            </a:r>
          </a:p>
          <a:p>
            <a:pPr algn="l" marL="274320" indent="-274320">
              <a:lnSpc>
                <a:spcPct val="100000"/>
              </a:lnSpc>
              <a:spcAft>
                <a:spcPts val="180"/>
              </a:spcAft>
            </a:pPr>
            <a:r>
              <a:rPr sz="900" b="0" i="0">
                <a:solidFill>
                  <a:srgbClr val="222222"/>
                </a:solidFill>
                <a:latin typeface="Arial"/>
                <a:ea typeface="微软雅黑"/>
                <a:cs typeface="Arial"/>
              </a:rPr>
              <a:t>[27] 冯忠祥，刘浩学，张景峰. 农村人口出行方式选择模型[J]. 交通运输工程学报, 2010, 10(3): 77-83. DOI: 10.19818/j.cnki.1671-1637.2010.03.014.</a:t>
            </a:r>
          </a:p>
          <a:p>
            <a:pPr algn="l" marL="274320" indent="-274320">
              <a:lnSpc>
                <a:spcPct val="100000"/>
              </a:lnSpc>
              <a:spcAft>
                <a:spcPts val="180"/>
              </a:spcAft>
            </a:pPr>
            <a:r>
              <a:rPr sz="900" b="0" i="0">
                <a:solidFill>
                  <a:srgbClr val="222222"/>
                </a:solidFill>
                <a:latin typeface="Arial"/>
                <a:ea typeface="微软雅黑"/>
                <a:cs typeface="Arial"/>
              </a:rPr>
              <a:t>[28] Hausman J A, Hall B H, Griliches Z. Econometric Models for Count Data with an Application to the Patents-R &amp; D Relationship[J]. Econometrica, 1984, 52(4): 909. DOI: 10.2307/1911191.</a:t>
            </a:r>
          </a:p>
          <a:p>
            <a:pPr algn="l" marL="274320" indent="-274320">
              <a:lnSpc>
                <a:spcPct val="100000"/>
              </a:lnSpc>
              <a:spcAft>
                <a:spcPts val="180"/>
              </a:spcAft>
            </a:pPr>
            <a:r>
              <a:rPr sz="900" b="0" i="0">
                <a:solidFill>
                  <a:srgbClr val="222222"/>
                </a:solidFill>
                <a:latin typeface="Arial"/>
                <a:ea typeface="微软雅黑"/>
                <a:cs typeface="Arial"/>
              </a:rPr>
              <a:t>[29] Guo P, Xiao B, Li J. Unconstraining Methods in Revenue Management Systems: Research Overview and Prospects[J]. Advances in Operations Research, 2012, 2012: 1-23. DOI: 10.1155/2012/270910.</a:t>
            </a:r>
          </a:p>
          <a:p>
            <a:pPr algn="l" marL="274320" indent="-274320">
              <a:lnSpc>
                <a:spcPct val="100000"/>
              </a:lnSpc>
              <a:spcAft>
                <a:spcPts val="180"/>
              </a:spcAft>
            </a:pPr>
            <a:r>
              <a:rPr sz="900" b="0" i="0">
                <a:solidFill>
                  <a:srgbClr val="222222"/>
                </a:solidFill>
                <a:latin typeface="Arial"/>
                <a:ea typeface="微软雅黑"/>
                <a:cs typeface="Arial"/>
              </a:rPr>
              <a:t>[30] Lipovetsky S, Conklin M. Analysis of regression in game theory approach[J]. Applied Stochastic Models in Business and Industry, 2001, 17(4): 319-330. DOI: 10.1002/asmb.446.</a:t>
            </a:r>
          </a:p>
          <a:p>
            <a:pPr algn="l" marL="274320" indent="-274320">
              <a:lnSpc>
                <a:spcPct val="100000"/>
              </a:lnSpc>
              <a:spcAft>
                <a:spcPts val="180"/>
              </a:spcAft>
            </a:pPr>
            <a:r>
              <a:rPr sz="900" b="0" i="0">
                <a:solidFill>
                  <a:srgbClr val="222222"/>
                </a:solidFill>
                <a:latin typeface="Arial"/>
                <a:ea typeface="微软雅黑"/>
                <a:cs typeface="Arial"/>
              </a:rPr>
              <a:t>[31] Grömping U. Estimators of Relative Importance in Linear Regression Based on Variance Decomposition[J]. The American Statistician, 2007, 61(2): 139-147. DOI: 10.1198/000313007x188252.</a:t>
            </a:r>
          </a:p>
          <a:p>
            <a:pPr algn="l" marL="274320" indent="-274320">
              <a:lnSpc>
                <a:spcPct val="100000"/>
              </a:lnSpc>
              <a:spcAft>
                <a:spcPts val="180"/>
              </a:spcAft>
            </a:pPr>
            <a:r>
              <a:rPr sz="900" b="0" i="0">
                <a:solidFill>
                  <a:srgbClr val="222222"/>
                </a:solidFill>
                <a:latin typeface="Arial"/>
                <a:ea typeface="微软雅黑"/>
                <a:cs typeface="Arial"/>
              </a:rPr>
              <a:t>[32] Aas K, Jullum M, Løland A. Explaining individual predictions when features are dependent: More accurate approximations to Shapley values[J]. Artificial Intelligence, 2021, 298: 103502. DOI: 10.1016/j.artint.2021.103502.</a:t>
            </a:r>
          </a:p>
          <a:p>
            <a:pPr algn="l" marL="274320" indent="-274320">
              <a:lnSpc>
                <a:spcPct val="100000"/>
              </a:lnSpc>
              <a:spcAft>
                <a:spcPts val="180"/>
              </a:spcAft>
            </a:pPr>
            <a:r>
              <a:rPr sz="900" b="0" i="0">
                <a:solidFill>
                  <a:srgbClr val="222222"/>
                </a:solidFill>
                <a:latin typeface="Arial"/>
                <a:ea typeface="微软雅黑"/>
                <a:cs typeface="Arial"/>
              </a:rPr>
              <a:t>[33] Friedman JH. Greedy function approximation: A gradient boosting machine[J]. The Annals of Statistics, 2001, 29(5): 1189-1232. DOI: 10.1214/aos/1013203451.</a:t>
            </a:r>
          </a:p>
          <a:p>
            <a:pPr algn="l" marL="274320" indent="-274320">
              <a:lnSpc>
                <a:spcPct val="100000"/>
              </a:lnSpc>
              <a:spcAft>
                <a:spcPts val="180"/>
              </a:spcAft>
            </a:pPr>
            <a:r>
              <a:rPr sz="900" b="0" i="0">
                <a:solidFill>
                  <a:srgbClr val="222222"/>
                </a:solidFill>
                <a:latin typeface="Arial"/>
                <a:ea typeface="微软雅黑"/>
                <a:cs typeface="Arial"/>
              </a:rPr>
              <a:t>[34] Jing Lei, Max G’Sell, Alessandro Rinaldo, et al. Distribution-Free Predictive Inference for Regression[J]. Journal of the American Statistical Association, 2017, 113(523): 1094-1111. DOI: 10.1080/01621459.2017.1307116.</a:t>
            </a:r>
          </a:p>
          <a:p>
            <a:pPr algn="l" marL="274320" indent="-274320">
              <a:lnSpc>
                <a:spcPct val="100000"/>
              </a:lnSpc>
              <a:spcAft>
                <a:spcPts val="180"/>
              </a:spcAft>
            </a:pPr>
            <a:r>
              <a:rPr sz="900" b="0" i="0">
                <a:solidFill>
                  <a:srgbClr val="222222"/>
                </a:solidFill>
                <a:latin typeface="Arial"/>
                <a:ea typeface="微软雅黑"/>
                <a:cs typeface="Arial"/>
              </a:rPr>
              <a:t>[35] Anastasios N. Angelopoulos, Stephen Bates. Conformal Prediction: A Gentle Introduction[J]. Foundations and Trends® in Machine Learning, 2023, 16(4): 494-591. DOI: 10.1561/2200000101.</a:t>
            </a:r>
          </a:p>
          <a:p>
            <a:pPr algn="l" marL="274320" indent="-274320">
              <a:lnSpc>
                <a:spcPct val="100000"/>
              </a:lnSpc>
              <a:spcAft>
                <a:spcPts val="180"/>
              </a:spcAft>
            </a:pPr>
            <a:r>
              <a:rPr sz="900" b="0" i="0">
                <a:solidFill>
                  <a:srgbClr val="222222"/>
                </a:solidFill>
                <a:latin typeface="Arial"/>
                <a:ea typeface="微软雅黑"/>
                <a:cs typeface="Arial"/>
              </a:rPr>
              <a:t>[36] Hyndman RJ, Koehler AB. Another look at measures of forecast accuracy[J]. International Journal of Forecasting, 2006, 22(4): 679-688. DOI: 10.1016/j.ijforecast.2006.03.001.</a:t>
            </a:r>
          </a:p>
          <a:p>
            <a:pPr algn="l" marL="274320" indent="-274320">
              <a:lnSpc>
                <a:spcPct val="100000"/>
              </a:lnSpc>
              <a:spcAft>
                <a:spcPts val="180"/>
              </a:spcAft>
            </a:pPr>
            <a:r>
              <a:rPr sz="900" b="0" i="0">
                <a:solidFill>
                  <a:srgbClr val="222222"/>
                </a:solidFill>
                <a:latin typeface="Arial"/>
                <a:ea typeface="微软雅黑"/>
                <a:cs typeface="Arial"/>
              </a:rPr>
              <a:t>[37] Diebold FX, Mariano RS. Comparing Predictive Accuracy[J]. Journal of Business &amp;amp; Economic Statistics, 1995, 13(3): 253-263. DOI: 10.1080/07350015.1995.10524599.</a:t>
            </a:r>
          </a:p>
          <a:p>
            <a:pPr algn="l" marL="274320" indent="-274320">
              <a:lnSpc>
                <a:spcPct val="100000"/>
              </a:lnSpc>
              <a:spcAft>
                <a:spcPts val="0"/>
              </a:spcAft>
            </a:pPr>
            <a:r>
              <a:rPr sz="900" b="0" i="0">
                <a:solidFill>
                  <a:srgbClr val="222222"/>
                </a:solidFill>
                <a:latin typeface="Arial"/>
                <a:ea typeface="微软雅黑"/>
                <a:cs typeface="Arial"/>
              </a:rPr>
              <a:t>[38] Czado C, Gneiting T, Held L. Predictive Model Assessment for Count Data[J]. Biometrics, 2009, 65(4): 1254-1261. DOI: 10.1111/j.1541-0420.2009.01191.x.</a:t>
            </a:r>
          </a:p>
        </p:txBody>
      </p:sp>
      <p:sp>
        <p:nvSpPr>
          <p:cNvPr id="7" name="TextBox 6"/>
          <p:cNvSpPr txBox="1"/>
          <p:nvPr/>
        </p:nvSpPr>
        <p:spPr>
          <a:xfrm>
            <a:off x="6199632" y="1417320"/>
            <a:ext cx="5532120" cy="4937760"/>
          </a:xfrm>
          <a:prstGeom prst="rect">
            <a:avLst/>
          </a:prstGeom>
          <a:noFill/>
        </p:spPr>
        <p:txBody>
          <a:bodyPr wrap="square" lIns="73152" rIns="73152" tIns="73152" bIns="73152" anchor="t">
            <a:noAutofit/>
          </a:bodyPr>
          <a:lstStyle/>
          <a:p>
            <a:pPr algn="l" marL="274320" indent="-274320">
              <a:lnSpc>
                <a:spcPct val="100000"/>
              </a:lnSpc>
              <a:spcAft>
                <a:spcPts val="180"/>
              </a:spcAft>
            </a:pPr>
            <a:r>
              <a:rPr sz="900" b="0" i="0">
                <a:solidFill>
                  <a:srgbClr val="222222"/>
                </a:solidFill>
                <a:latin typeface="Arial"/>
                <a:ea typeface="微软雅黑"/>
                <a:cs typeface="Arial"/>
              </a:rPr>
              <a:t>[39] Hadas Y, Shnaiderman M. Public-transit frequency setting using minimum-cost approach with stochastic demand and travel time[J]. Transportation Research Part B Methodological, 2012, 46(8): 1068-1084. DOI: 10.1016/j.trb.2012.02.010.</a:t>
            </a:r>
          </a:p>
          <a:p>
            <a:pPr algn="l" marL="274320" indent="-274320">
              <a:lnSpc>
                <a:spcPct val="100000"/>
              </a:lnSpc>
              <a:spcAft>
                <a:spcPts val="180"/>
              </a:spcAft>
            </a:pPr>
            <a:r>
              <a:rPr sz="900" b="0" i="0">
                <a:solidFill>
                  <a:srgbClr val="222222"/>
                </a:solidFill>
                <a:latin typeface="Arial"/>
                <a:ea typeface="微软雅黑"/>
                <a:cs typeface="Arial"/>
              </a:rPr>
              <a:t>[40] Ceder A. Bus frequency determination using passenger count data[J]. Transportation Research Part A: General, 1984, 18(5-6): 439-453. DOI: 10.1016/0191-2607(84)90019-0.</a:t>
            </a:r>
          </a:p>
          <a:p>
            <a:pPr algn="l" marL="274320" indent="-274320">
              <a:lnSpc>
                <a:spcPct val="100000"/>
              </a:lnSpc>
              <a:spcAft>
                <a:spcPts val="180"/>
              </a:spcAft>
            </a:pPr>
            <a:r>
              <a:rPr sz="900" b="0" i="0">
                <a:solidFill>
                  <a:srgbClr val="222222"/>
                </a:solidFill>
                <a:latin typeface="Arial"/>
                <a:ea typeface="微软雅黑"/>
                <a:cs typeface="Arial"/>
              </a:rPr>
              <a:t>[41] Ibarra-Rojas OJ, Delgado F, Giesen R, et al. Planning, operation, and control of bus transport systems: A literature review[J]. Transportation Research Part B: Methodological, 2015, 77: 38-75. DOI: 10.1016/j.trb.2015.03.002.</a:t>
            </a:r>
          </a:p>
          <a:p>
            <a:pPr algn="l" marL="274320" indent="-274320">
              <a:lnSpc>
                <a:spcPct val="100000"/>
              </a:lnSpc>
              <a:spcAft>
                <a:spcPts val="180"/>
              </a:spcAft>
            </a:pPr>
            <a:r>
              <a:rPr sz="900" b="0" i="0">
                <a:solidFill>
                  <a:srgbClr val="222222"/>
                </a:solidFill>
                <a:latin typeface="Arial"/>
                <a:ea typeface="微软雅黑"/>
                <a:cs typeface="Arial"/>
              </a:rPr>
              <a:t>[42] Gkiotsalitis K, Alesiani F. Robust timetable optimization for bus lines subject to resource and regulatory constraints[J]. Transportation Research Part E: Logistics and Transportation Review, 2019, 128: 30-51. DOI: 10.1016/j.tre.2019.05.016.</a:t>
            </a:r>
          </a:p>
          <a:p>
            <a:pPr algn="l" marL="274320" indent="-274320">
              <a:lnSpc>
                <a:spcPct val="100000"/>
              </a:lnSpc>
              <a:spcAft>
                <a:spcPts val="180"/>
              </a:spcAft>
            </a:pPr>
            <a:r>
              <a:rPr sz="900" b="0" i="0">
                <a:solidFill>
                  <a:srgbClr val="222222"/>
                </a:solidFill>
                <a:latin typeface="Arial"/>
                <a:ea typeface="微软雅黑"/>
                <a:cs typeface="Arial"/>
              </a:rPr>
              <a:t>[43] Durán-Micco J, Vansteenwegen P. A survey on the transit network design and frequency setting problem[J]. Public Transport, 2021, 14(1): 155-190. DOI: 10.1007/s12469-021-00284-y.</a:t>
            </a:r>
          </a:p>
          <a:p>
            <a:pPr algn="l" marL="274320" indent="-274320">
              <a:lnSpc>
                <a:spcPct val="100000"/>
              </a:lnSpc>
              <a:spcAft>
                <a:spcPts val="180"/>
              </a:spcAft>
            </a:pPr>
            <a:r>
              <a:rPr sz="900" b="0" i="0">
                <a:solidFill>
                  <a:srgbClr val="222222"/>
                </a:solidFill>
                <a:latin typeface="Arial"/>
                <a:ea typeface="微软雅黑"/>
                <a:cs typeface="Arial"/>
              </a:rPr>
              <a:t>[44] 王晓伟，吴松屿，曹恺，等. 多车型混编公交车队发车时刻及车型联合优化[J]. 中国公路学报, 2024, 37(6): 253-266. DOI: 10.19721/j.cnki.1001-7372.2024.06.021.</a:t>
            </a:r>
          </a:p>
          <a:p>
            <a:pPr algn="l" marL="274320" indent="-274320">
              <a:lnSpc>
                <a:spcPct val="100000"/>
              </a:lnSpc>
              <a:spcAft>
                <a:spcPts val="180"/>
              </a:spcAft>
            </a:pPr>
            <a:r>
              <a:rPr sz="900" b="0" i="0">
                <a:solidFill>
                  <a:srgbClr val="222222"/>
                </a:solidFill>
                <a:latin typeface="Arial"/>
                <a:ea typeface="微软雅黑"/>
                <a:cs typeface="Arial"/>
              </a:rPr>
              <a:t>[45] Liu Y, Wang G, Jia S. Optimization of Transit Route and Frequency for Integrated Urban-Rural Transit Network[J]. Journal of Advanced Transportation, 2025, 2025(1): 9728885. DOI: 10.1155/atr/9728885.</a:t>
            </a:r>
          </a:p>
          <a:p>
            <a:pPr algn="l" marL="274320" indent="-274320">
              <a:lnSpc>
                <a:spcPct val="100000"/>
              </a:lnSpc>
              <a:spcAft>
                <a:spcPts val="180"/>
              </a:spcAft>
            </a:pPr>
            <a:r>
              <a:rPr sz="900" b="0" i="0">
                <a:solidFill>
                  <a:srgbClr val="222222"/>
                </a:solidFill>
                <a:latin typeface="Arial"/>
                <a:ea typeface="微软雅黑"/>
                <a:cs typeface="Arial"/>
              </a:rPr>
              <a:t>[46] Mulley C, Nelson JD. Flexible transport services: A new market opportunity for public transport[J]. Research in Transportation Economics, 2009, 25(1): 39-45. DOI: 10.1016/j.retrec.2009.08.008.</a:t>
            </a:r>
          </a:p>
          <a:p>
            <a:pPr algn="l" marL="274320" indent="-274320">
              <a:lnSpc>
                <a:spcPct val="100000"/>
              </a:lnSpc>
              <a:spcAft>
                <a:spcPts val="180"/>
              </a:spcAft>
            </a:pPr>
            <a:r>
              <a:rPr sz="900" b="0" i="0">
                <a:solidFill>
                  <a:srgbClr val="222222"/>
                </a:solidFill>
                <a:latin typeface="Arial"/>
                <a:ea typeface="微软雅黑"/>
                <a:cs typeface="Arial"/>
              </a:rPr>
              <a:t>[47] Currie G, Fournier N. Why most DRT/Micro-Transits fail – What the survivors tell us about progress[J]. Research in Transportation Economics, 2020, 83: 100895. DOI: 10.1016/j.retrec.2020.100895.</a:t>
            </a:r>
          </a:p>
          <a:p>
            <a:pPr algn="l" marL="274320" indent="-274320">
              <a:lnSpc>
                <a:spcPct val="100000"/>
              </a:lnSpc>
              <a:spcAft>
                <a:spcPts val="180"/>
              </a:spcAft>
            </a:pPr>
            <a:r>
              <a:rPr sz="900" b="0" i="0">
                <a:solidFill>
                  <a:srgbClr val="222222"/>
                </a:solidFill>
                <a:latin typeface="Arial"/>
                <a:ea typeface="微软雅黑"/>
                <a:cs typeface="Arial"/>
              </a:rPr>
              <a:t>[48] Kleywegt AJ, Shapiro A, Homem-de-Mello T. The Sample Average Approximation Method for Stochastic Discrete Optimization[J]. SIAM Journal on Optimization, 2002, 12(2): 479-502. DOI: 10.1137/s1052623499363220.</a:t>
            </a:r>
          </a:p>
          <a:p>
            <a:pPr algn="l" marL="274320" indent="-274320">
              <a:lnSpc>
                <a:spcPct val="100000"/>
              </a:lnSpc>
              <a:spcAft>
                <a:spcPts val="0"/>
              </a:spcAft>
            </a:pPr>
            <a:r>
              <a:rPr sz="900" b="0" i="0">
                <a:solidFill>
                  <a:srgbClr val="222222"/>
                </a:solidFill>
                <a:latin typeface="Arial"/>
                <a:ea typeface="微软雅黑"/>
                <a:cs typeface="Arial"/>
              </a:rPr>
              <a:t>[49] Mishra S, Mehran B, Sahu PK. Assessment of delivery models for semi-flexible transit operation in low-demand conditions[J]. Transport Policy, 2020, 99: 275-287. DOI: 10.1016/j.tranpol.2020.09.004.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