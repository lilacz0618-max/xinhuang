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6" r:id="rId2"/>
    <p:sldId id="273" r:id="rId3"/>
    <p:sldId id="258" r:id="rId4"/>
    <p:sldId id="259" r:id="rId5"/>
    <p:sldId id="260" r:id="rId6"/>
    <p:sldId id="261" r:id="rId7"/>
    <p:sldId id="279" r:id="rId8"/>
    <p:sldId id="263" r:id="rId10"/>
    <p:sldId id="264" r:id="rId11"/>
    <p:sldId id="265" r:id="rId12"/>
    <p:sldId id="277" r:id="rId13"/>
    <p:sldId id="266" r:id="rId14"/>
    <p:sldId id="267" r:id="rId15"/>
    <p:sldId id="278" r:id="rId16"/>
    <p:sldId id="268" r:id="rId17"/>
    <p:sldId id="269" r:id="rId18"/>
    <p:sldId id="270" r:id="rId19"/>
    <p:sldId id="271" r:id="rId20"/>
    <p:sldId id="272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3"/>
    <p:restoredTop sz="94651"/>
  </p:normalViewPr>
  <p:slideViewPr>
    <p:cSldViewPr snapToGrid="0" snapToObjects="1">
      <p:cViewPr varScale="1">
        <p:scale>
          <a:sx n="138" d="100"/>
          <a:sy n="138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484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各位老师好。我汇报的题目是县域城乡公交的供需匹配与半柔性配置。先说明一点：今天所有数字都来自模拟系统，用来检验方法是否算得对，不是新晃的实际结论。</a:t>
            </a:r>
          </a:p>
          <a:p>
            <a:endParaRPr/>
          </a:p>
          <a:p>
            <a:r>
              <a:t>完整要点：</a:t>
            </a:r>
          </a:p>
          <a:p>
            <a:r>
              <a:t>1. 研究进展汇报（第三轮修订稿）</a:t>
            </a:r>
          </a:p>
          <a:p>
            <a:r>
              <a:t>2. 汇报人：［姓名］　　导师：［姓名］</a:t>
            </a:r>
          </a:p>
          <a:p>
            <a:r>
              <a:t>3. ［学院／专业］　　2026 年［月］</a:t>
            </a:r>
          </a:p>
          <a:p>
            <a:r>
              <a:t>4. 说明：汇报中的定量结果均来自已知真值的模拟系统（SYNTHETIC），用于检验研究路径，不代表新晃的实际结论。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汇报进度。研究框架、全部代码和模拟检验已经完成，四份文档也已形成，暑期跟车的现场工作已经做完。接下来最关键的是两件事：一是拿到逐班次台账，二是完成寒假春运跟车、入户和线上问卷。数据到位后，按附录里的操作步骤替换模拟数据，就能得到新晃的实际结论。几个待确认事项，包括集期、天气阈值、运行时间和座位数，需要在实地调查中逐项核实。我的汇报就到这里，请各位老师批评指正。</a:t>
            </a:r>
          </a:p>
          <a:p>
            <a:endParaRPr/>
          </a:p>
          <a:p>
            <a:r>
              <a:t>完整要点：</a:t>
            </a:r>
          </a:p>
          <a:p>
            <a:r>
              <a:t>1. 已完成：文献综述（206 条参考文献，含中文核心期刊）；研究问题、假设与预注册；模拟系统、四个模型的全部代码与回测；四份研究文档（研究方案、文献综述、计算模型研究报告、学位论文样稿）；暑期跟车调查的现场工作。</a:t>
            </a:r>
          </a:p>
          <a:p>
            <a:r>
              <a:t>2. 进行中：暑期跟车原始问卷录入；与运营单位对接逐班次台账。［请汇报人按实际情况确认］</a:t>
            </a:r>
          </a:p>
          <a:p>
            <a:r>
              <a:t>3. 待开展：寒假与春运跟车调查；行政村入户调查；线上问卷；用真实数据替换模拟数据并重算全部结果。</a:t>
            </a:r>
          </a:p>
          <a:p>
            <a:r>
              <a:t>4. 待确认事项：各乡镇集期；天气阈值；线路运行时间与配车、各车型核定座位数（目前为假设值）；是否纳入“十五五”规划相关的补强方向（与铁路客站到发时刻衔接、客货邮融合、能耗测算）。</a:t>
            </a:r>
          </a:p>
          <a:p>
            <a:r>
              <a:t>5. 研究局限：结果全部来自模拟数据；只有全程总登乘人数，无站点上下客和 OD；训练期只含两个春运；两处偏离预注册的方案未计算预注册版本；集期与天气阈值待核实。</a:t>
            </a:r>
          </a:p>
          <a:p>
            <a:r>
              <a:t>6. 时间安排（研究方案中的六个阶段）：第 1—2 月 文献综述与数据对接 → 第 3 月 暑期跟车问卷与集期核实 → 第 4—5 月 RQ1、RQ2 与论文一初稿 → 第 6—7 月 寒假（春运）跟车、入户与网络问卷 → 第 8—9 月 RQ3、RQ4 与论文二初稿 → 第 10—12 月 学位论文撰写、修改与答辩。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28191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背景从三个层面说。政策上，城乡客运一体化已经推进了十多年，2024 年的服务指南明确要求按客流规律安排班次。山区县的现实是，交通劣势和相对贫困、看病难是连在一起的。理论上，这是交通与社会排斥的问题。所以问题的重心已经从“有没有车”转到“什么时候有车、有几班车”。2026 年 9 月印发的《综合交通枢纽发展“十五五”规划》又把运行时刻对接、客流高峰预警和适老化写进了国家规划，这些都落在“什么时候有车”上。</a:t>
            </a:r>
          </a:p>
          <a:p>
            <a:endParaRPr/>
          </a:p>
          <a:p>
            <a:r>
              <a:t>右栏插图与第 8 页为同一张真实 GIS 底图，此处用于交代研究对象。</a:t>
            </a:r>
          </a:p>
          <a:p>
            <a:endParaRPr/>
          </a:p>
          <a:p>
            <a:r>
              <a:t>完整要点：</a:t>
            </a:r>
          </a:p>
          <a:p>
            <a:r>
              <a:t>1. 政策要求：2011 年起推进城乡道路客运一体化，目标从“有车坐”走向“坐得上、坐得好”[1]；2024 年农村道路客运运营服务指南要求按客流规律灵活安排班次，鼓励预约响应[2]。</a:t>
            </a:r>
          </a:p>
          <a:p>
            <a:r>
              <a:t>2. “十五五”规划：2026 年印发的《综合交通枢纽发展“十五五”规划》要求“加强枢纽主导方式与集疏运方式运行时刻对接、运力组织协同”，“加强客流高峰期预警”，到 2030 年“适老化水平显著提升”[3]。</a:t>
            </a:r>
          </a:p>
          <a:p>
            <a:r>
              <a:t>3. 山区现实：交通劣势与相对贫困存在可测的关联[4]，医疗等公共服务的可达性明显受交通条件限制[5]。</a:t>
            </a:r>
          </a:p>
          <a:p>
            <a:r>
              <a:t>4. 理论视角：缺少公交会使农村居民难以到达就业、医疗和教育机会，属于社会排斥问题[6,7]；城乡交通融合已成为地理学的研究议题[8]。</a:t>
            </a:r>
          </a:p>
          <a:p>
            <a:r>
              <a:t>5. 研究对象：湖南省新晃侗族自治县（武陵山区），县汽车站发出的 7 条城乡公交线路。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为什么说“什么时候有车”是一个学术问题？时间地理学告诉我们，人必须在特定的时间到达特定的地点，公交可达性在一天之内是剧烈波动的。农村乘客多是老人和学生，没有别的选择。落到县级运营者身上，就是三个难题：靠什么定班次，台账能不能代表需求，固定班和机动车怎么配合。后面四个研究问题就是从这三个难题和文献缺口里来的。</a:t>
            </a:r>
          </a:p>
          <a:p>
            <a:endParaRPr/>
          </a:p>
          <a:p>
            <a:r>
              <a:t>完整要点：</a:t>
            </a:r>
          </a:p>
          <a:p>
            <a:r>
              <a:t>1. 理论依据：人的活动受能力、组合和权威三类约束，必须在特定时间到达特定地点[9]；时空可达性是交通地理的前沿议题[10,11]；公交可达性在一天之内随时刻表剧烈波动[12]。</a:t>
            </a:r>
          </a:p>
          <a:p>
            <a:r>
              <a:t>2. 农村乘客以老人、学生和无车者为主[13]，班次时刻直接决定他们能否出行。</a:t>
            </a:r>
          </a:p>
          <a:p>
            <a:r>
              <a:t>3. 难题一（权重）：影响因子的权重多用熵权法、灰色关联给出，难以回答“客流变化由什么造成”。</a:t>
            </a:r>
          </a:p>
          <a:p>
            <a:r>
              <a:t>4. 难题二（删失）：满载班次的台账只记录“坐上车的人”，真实需求被座位数截住，形成删失。</a:t>
            </a:r>
          </a:p>
          <a:p>
            <a:r>
              <a:t>5. 难题三（分工）：固定时刻表优化与机动加班分开讨论，缺少以预测为纽带的分工。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文献我没有按学派一条一条讲，而是按问题的逻辑连起来：先要知道需求的时间结构，再要识别各节律的权重；权重和预测都要面对删失；预测要变成概率预测才能用于排班；最后是固定层和柔性层怎么用预测衔接。沿着这条链，有四个缺口，它们是环环相扣的：没有可信的权重，固定时刻表不知道按什么编；没有删失还原，节点日一定低估；没有概率预测，柔性层只能靠经验；没有两层协同，优化和临时调度会互相抵消。</a:t>
            </a:r>
          </a:p>
          <a:p>
            <a:endParaRPr/>
          </a:p>
          <a:p>
            <a:r>
              <a:t>完整要点：</a:t>
            </a:r>
          </a:p>
          <a:p>
            <a:r>
              <a:t>1. 需求的时间结构：个人出行在日与日之间既有习惯也有变异[14]；定期集市是中国农村社会经济结构的基本单元[15]，但集市对公交客流的影响需要用数据检验。</a:t>
            </a:r>
          </a:p>
          <a:p>
            <a:r>
              <a:t>2. 权重识别：交通影响因素分析常用熵权法、灰色关联等客观赋权方法，灰色关联模型至今仍在发展[16]；这类方法按指标的离散程度或序列相似程度赋权，不衡量对客流变化的解释力。</a:t>
            </a:r>
          </a:p>
          <a:p>
            <a:r>
              <a:t>3. 删失还原：收益管理早已指出，售罄后的销售量会低估真实需求，需要“需求还原”[17]。</a:t>
            </a:r>
          </a:p>
          <a:p>
            <a:r>
              <a:t>4. 概率预测：国内客流预测研究多针对城市地铁和公交的短时客流[18,19]，县域班次级的小计数预测较少。</a:t>
            </a:r>
          </a:p>
          <a:p>
            <a:r>
              <a:t>5. 两层供给：半柔性公交保留固定骨架、增加有限柔性[20]；国内农村需求响应公交调度刚开始受到关注[21]；“先预测、再优化”的两步法忽略了预测误差对决策的影响[22]。</a:t>
            </a:r>
          </a:p>
          <a:p>
            <a:r>
              <a:t>6. 四个缺口：①多重节律的相对权重缺少同时估计；②删失需求在城乡公交中没有被处理；③县域班次级概率预测缺位；④固定层与柔性层缺少以预测为纽带的协同设计。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个问题用大白话说就是：客流由什么决定，明天每班有多少人，固定班车怎么排，机动车怎么派。前两个回答“需求是什么”，后两个回答“供给怎么配”。右边六条是事先写下的预期，每一条都可以被数据否定。前两个问题写成第一篇期刊论文，后两个写成第二篇，合起来是学位论文。</a:t>
            </a:r>
          </a:p>
          <a:p>
            <a:endParaRPr/>
          </a:p>
          <a:p>
            <a:r>
              <a:t>第一轮的技术表述（供答问参考）：</a:t>
            </a:r>
          </a:p>
          <a:p>
            <a:r>
              <a:t>RQ1 节律权重：时段、周节律、校历、节假日、春运、集日、天气、季节八个因子族对班次客流的相对影响各有多大？集日是否是主要因素？</a:t>
            </a:r>
          </a:p>
          <a:p>
            <a:r>
              <a:t>RQ2 删失与预测：存在满载删失时，什么样的模型能给出班次级次日预测，并在春运、节假日和天气事件日保持可靠的预测区间？</a:t>
            </a:r>
          </a:p>
          <a:p>
            <a:r>
              <a:t>RQ3 固定层：只承担稳定节律的固定时刻表应如何编制？各线路的固定发车数量应为多少？</a:t>
            </a:r>
          </a:p>
          <a:p>
            <a:r>
              <a:t>RQ4 柔性层：在固定时刻表之上，少量机动车辆按次日预测指派，能在多大程度上降低社会成本？收益集中在哪些日期？预测改进还有多大价值？</a:t>
            </a:r>
          </a:p>
          <a:p>
            <a:r>
              <a:t>H1 日内时段是班次层最大的因子族，春运和节假日是日层最大的因子族，集日和天气权重较小；H2 熵权法、灰色关联的权重排序与真实排序明显不一致；H3 考虑删失的模型在满载班次上的偏差更小；H4 全局共形区间在高需求情景覆盖不足，Mondrian 区间接近名义覆盖；H5 只按稳定节律编制的固定时刻表能减少总班次并降低社会成本；H6 柔性层收益集中在春运和节假日边沿，普通日接近零。</a:t>
            </a:r>
          </a:p>
          <a:p>
            <a:r>
              <a:t>论文一：删失感知的多重节律识别与概率预测（RQ1—RQ2）；论文二：预测驱动的县域城乡公交半柔性配置（RQ3—RQ4）。</a:t>
            </a:r>
          </a:p>
          <a:p>
            <a:endParaRPr/>
          </a:p>
          <a:p>
            <a:r>
              <a:t>完整要点：</a:t>
            </a:r>
          </a:p>
          <a:p>
            <a:r>
              <a:t>1. RQ1 客流由什么决定？几点钟、星期几、上学还是放假、节假日、春运、赶集日、天气、季节——这八类因素各占多大分量？赶集日真的最重要吗？</a:t>
            </a:r>
          </a:p>
          <a:p>
            <a:r>
              <a:t>2. RQ2 明天每班有多少人？车坐满时，台账只记到座位数，看不到没上车的人（称为“删失”）。怎样还原真实需求，并预测明天每班大约多少人、有多大可能坐满？</a:t>
            </a:r>
          </a:p>
          <a:p>
            <a:r>
              <a:t>3. RQ3 固定班车怎么排？固定时刻表只按“天天都有”的规律编排：每条线每天发几班、几点发，才能既少跑空车、又让乘客少等？</a:t>
            </a:r>
          </a:p>
          <a:p>
            <a:r>
              <a:t>4. RQ4 机动车怎么派？4 辆机动车前一天晚上按预测派到最可能拥挤的线路和半天，能省下多少社会成本？主要在哪些日子起作用？</a:t>
            </a:r>
          </a:p>
          <a:p>
            <a:r>
              <a:t>5. 预期（假设，可被数据否定）：H1“几点钟”影响最大，“哪几天特别多”主要由春运和节假日决定，赶集日和天气影响较小；H2 常用的熵权法、灰色关联给出的排序与真实情况明显不一致；H3 把“坐满”考虑进去的模型对满员班次低估更少；H4 按春运、节假日、平日分别给出的人数范围比“一刀切”的范围更可靠；H5 只按日常规律编排的固定时刻表班次更少、总成本更低；H6 机动车的好处集中在春运和节假日前后，平常日子几乎没有。</a:t>
            </a:r>
          </a:p>
          <a:p>
            <a:r>
              <a:t>6. 论文一（RQ1—RQ2）：删失感知的多重节律识别与概率预测；论文二（RQ3—RQ4）：预测驱动的县域城乡公交半柔性配置。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技术路线。左边是完整的技术路线图，右边把它简化成六步：准备数据、找规律、做预测、排固定班、派机动车、统一评价。上一步的结果就是下一步的输入：还原出的真实需求既用来算权重，也用来做预测；预测又直接决定机动车派到哪里。为了避免看到结果再改方法，计算前做了预注册；实际计算中有四处改动，每一处都标明“偏离预注册”。</a:t>
            </a:r>
          </a:p>
          <a:p/>
          <a:p>
            <a:r>
              <a:t>技术路线改用原生形状绘制的六步流程；完整技术路线图见 fig/图_技术路线.png 与研究方案文档。</a:t>
            </a:r>
          </a:p>
          <a:p/>
          <a:p>
            <a:r>
              <a:t>第一轮的技术表述（供答问参考）：</a:t>
            </a:r>
          </a:p>
          <a:p>
            <a:r>
              <a:t>四个模块首尾相接：删失负二项同时服务 RQ1 的权重识别和 RQ2 的预测结构项；RQ2 的预测分布驱动 RQ4 的柔性层；RQ3 只承担稳定节律。</a:t>
            </a:r>
          </a:p>
          <a:p>
            <a:r>
              <a:t>预注册：计算前写下主方法、对照方法、检验期和评价指标[23]。检验期 2026-01-01 至 2026-09-30；2026-10-01 以后的台账作为封存检验期，本轮不读取。</a:t>
            </a:r>
          </a:p>
          <a:p>
            <a:r>
              <a:t>训练与检验按时间顺序切分，避免把未来信息泄露给模型[24,25]。</a:t>
            </a:r>
          </a:p>
          <a:p>
            <a:r>
              <a:t>计算中四处偏离预注册（改进预测方法、最少服务规则、柔性层随机规划求解方式、增加反应式对照），均在正文标注“偏离预注册”并说明理由。</a:t>
            </a:r>
          </a:p>
          <a:p/>
          <a:p>
            <a:r>
              <a:t>完整要点：</a:t>
            </a:r>
          </a:p>
          <a:p>
            <a:r>
              <a:t>1. ① 准备数据：每趟车坐了多少人；日历、校历、天气预报；时刻表和座位数；问卷。</a:t>
            </a:r>
          </a:p>
          <a:p>
            <a:r>
              <a:t>2. ② 找规律（RQ1）：把坐满的班次还原成真实需求，再算出八类因素各占多大分量。得到：排班该看哪些规律。</a:t>
            </a:r>
          </a:p>
          <a:p>
            <a:r>
              <a:t>3. ③ 做预测（RQ2）：预测明天每班多少人，并分春运、节假日、平日给出可能的人数范围。得到：每班人数和坐满的可能性。</a:t>
            </a:r>
          </a:p>
          <a:p>
            <a:r>
              <a:t>4. ④ 排固定班（RQ3）：只按“天天都有”的规律，算出每条线每天发几班、几点发。得到：新的固定时刻表。</a:t>
            </a:r>
          </a:p>
          <a:p>
            <a:r>
              <a:t>5. ⑤ 派机动车（RQ4）：前一天晚上按预测，把 4 辆机动车派到最挤的线路和半天。得到：次日派车单。</a:t>
            </a:r>
          </a:p>
          <a:p>
            <a:r>
              <a:t>6. ⑥ 统一评价：在同一套模拟中比较社会成本、服务率、等待时间和满载率。</a:t>
            </a:r>
          </a:p>
          <a:p>
            <a:r>
              <a:t>7. 预注册：计算前先写下用什么方法、怎么评价，避免看到结果再改方法[23]；检验期为 2026-01-01 至 2026-09-30，2026-10-01 以后的台账封存，本轮不读取。</a:t>
            </a:r>
          </a:p>
          <a:p>
            <a:r>
              <a:t>8. 按时间先后切分：用过去的数据训练、用之后的数据检验，不让模型“偷看”未来[24,25]。</a:t>
            </a:r>
          </a:p>
          <a:p>
            <a:r>
              <a:t>9. 偏离预注册逐处标注：计算中有四处改动（改进预测方法、最少服务规则、柔性层求解方式、增加反应式对照），都标明“偏离预注册”并说明理由。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据上我坚持一个原则：只用能够可靠获取的变量。核心数据是县站台账、现行时刻表、日历校历和天气，这些都能长期稳定地拿到。问卷是辅助，用来补充乘客构成和期望出发时刻。工业园区倒班、医院排班这些拿不到可靠数据的，不进入模型。另外要说明，每趟车只有全程总人数，没有站点上下客和 OD，所以本研究不做站点层面的分析。</a:t>
            </a:r>
          </a:p>
          <a:p>
            <a:endParaRPr/>
          </a:p>
          <a:p>
            <a:r>
              <a:t>完整要点：</a:t>
            </a:r>
          </a:p>
          <a:p>
            <a:r>
              <a:t>1. 真实可得：县汽车站逐日台账（2024-06-01 至 2026-07-27，全县客流总量锚点）；7 条线路双向现行时刻表；法定节假日与调休、农历、春运、校历与住校生离返校日；线路沿线逐日天气实况与预报存档（检验期一律用提前 1 天的预报值）；行政村点位与人口栅格。</a:t>
            </a:r>
          </a:p>
          <a:p>
            <a:r>
              <a:t>2. 需要调查：暑期跟车调查（已完成，原始问卷待录入）；寒假与春运跟车、行政村入户、线上问卷（计划）。所有问卷中，未成年人由家长回答。</a:t>
            </a:r>
          </a:p>
          <a:p>
            <a:r>
              <a:t>3. 观测口径：每趟班次只有全程总登乘人数，没有分站点上下客和 OD。</a:t>
            </a:r>
          </a:p>
          <a:p>
            <a:r>
              <a:t>4. 不纳入模型：工业园区倒班、医院门诊排班、外出务工人员个人返乡日期（无法可靠获取，其影响通过节假日、春运和周节律间接体现）。</a:t>
            </a:r>
          </a:p>
          <a:p>
            <a:r>
              <a:t>5. 集日与天气只作对照因子：县城集期按“逢农历四、九”整理，属待确认信息，需逐乡核实[15]；天气对公交客流的影响因地区和人群而异[26,27]。</a:t>
            </a:r>
          </a:p>
          <a:p>
            <a:r>
              <a:t>6. 问卷用于补充乘客群体构成与期望出发时刻；农村出行受收入、距离和公交服务水平的共同影响[28]。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因为真实的逐班次数据还没到，我先搭了一个知道答案的模拟系统。它分四步：生成七类乘客的出行需求，按县站真实台账校准总量，按现行时刻表模拟乘车和满员，最后只留下台账能看到的数字。左下的图说明模拟总量随真实台账同步起伏。右边是在这个系统里算出的主要结果，后面各页会逐一展开。这些数字只说明方法能不能算对，不是新晃的实际结论。</a:t>
            </a:r>
          </a:p>
          <a:p>
            <a:endParaRPr/>
          </a:p>
          <a:p>
            <a:r>
              <a:t>模拟数据检验结果（SYNTHETIC），仅用于检验研究路径，不代表新晃实际情况</a:t>
            </a:r>
          </a:p>
          <a:p>
            <a:endParaRPr/>
          </a:p>
          <a:p>
            <a:r>
              <a:t>完整要点：</a:t>
            </a:r>
          </a:p>
          <a:p>
            <a:r>
              <a:t>1. 为什么要模拟：真实台账看不到没坐上车的人，也就无法判断方法算得对不对；模拟系统为每个班次保留“真值”（真实需求、乘客构成、未上车人数），可以直接核对。</a:t>
            </a:r>
          </a:p>
          <a:p>
            <a:r>
              <a:t>2. ① 生成需求：7 类乘客（学生、务工、老人、赶集、就医办事、通勤、返乡探亲），在每条线路、每个方向、每 15 分钟都有出行需求，由真实的日历、校历和天气驱动。</a:t>
            </a:r>
          </a:p>
          <a:p>
            <a:r>
              <a:t>3. ② 锚定总量：按县汽车站真实逐日台账校准全县客流总量；台账缺失的日期用回归外推（拟合优度 0.54）。</a:t>
            </a:r>
          </a:p>
          <a:p>
            <a:r>
              <a:t>4. ③ 模拟乘车：按现行时刻表“装车”——等得越久越可能放弃，车满时一部分人顺延到下一班；同时模拟调度员临时加班和停班。</a:t>
            </a:r>
          </a:p>
          <a:p>
            <a:r>
              <a:t>5. ④ 生成观测：每趟车只记全程登乘人数，坐满的标为“删失”；问卷受访者从同一批乘客中抽取。</a:t>
            </a:r>
          </a:p>
          <a:p>
            <a:r>
              <a:t>6. 规模：852 天，116127 个班次观测；满载删失班次占 3.0%；调度员临时加班 255 次；模拟问卷共 808 份（暑期跟车 400、寒假春运跟车 200、入户 100、线上 108）。</a:t>
            </a:r>
          </a:p>
          <a:p>
            <a:r>
              <a:t>7. 计算结果摘要：RQ1 班次之间的差异 83.5% 由“几点钟”解释（真值 85.8%），赶集日 4.5%、天气 3.8%；RQ2 满员班次平均低估由 18.6 人（忽略删失的 LightGBM）降到 9.3 人（主方法）；RQ3 固定层车次减少 22.2%，社会成本降低 13.8%；RQ4 柔性层再降 0.5 个百分点，主要来自节假日边沿（3.4）和春运核心期（2.1）。</a:t>
            </a:r>
          </a:p>
          <a:p>
            <a:r>
              <a:t>8. 真实数据到位后：跳过模拟步骤，按同一流程重算（附录 A 操作指南）。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模型一做两件事。第一，把坐满的班次还原成真实需求：台账上写 19 人，我们只知道真实需求至少 19 人，模型就按“至少 19 人”来算。第二，把客流的起伏公平地分给八类因素，看谁占得最多。熵权法和灰色关联是常用做法，但它们衡量的是数据波动大小，不是对客流的解释力，所以我把它们作为对照。公式：log μ = 线路×方向基线 + 时段 + 周节律 + 校历 + 节假日 + 春运 + 集日 + 天气 + 季节；满载班次似然贡献为 P(Y* ≥ c)；φk = Σ［|S|!(K−|S|−1)!/K!］·［R²(S∪{k}) − R²(S)］，K = 8。</a:t>
            </a:r>
          </a:p>
          <a:p>
            <a:endParaRPr/>
          </a:p>
          <a:p>
            <a:r>
              <a:t>第一轮的技术表述（供答问参考）：</a:t>
            </a:r>
          </a:p>
          <a:p>
            <a:r>
              <a:t>计数模型：客流为非负整数且方差大于均值，用负二项分布描述过离散[29]；log μ = 线路×方向基线 + 时段 + 周节律 + 校历 + 节假日 + 春运 + 集日 + 天气 + 季节。</a:t>
            </a:r>
          </a:p>
          <a:p>
            <a:r>
              <a:t>删失处理：满载班次只知道 Y* ≥ 座位数 c，似然中这类班次的贡献改写为 P(Y* ≥ c)，借用收益管理的需求还原思路[30]。</a:t>
            </a:r>
          </a:p>
          <a:p>
            <a:r>
              <a:t>权重：把 R² 在 8 个因子族的所有排列上平均分配（Shapley 值），结果可加，并能处理因子之间的相关[31,32]。公式：φk = Σ［|S|!(K−|S|−1)!/K!］·［R²(S∪{k}) − R²(S)］，K = 8。</a:t>
            </a:r>
          </a:p>
          <a:p>
            <a:r>
              <a:t>两个层面：班次层（同一天内班次之间的差异）与日层（日期之间的差异）；以连续 7 天为块做自助法，给出 95% 区间。</a:t>
            </a:r>
          </a:p>
          <a:p>
            <a:r>
              <a:t>对照方法：熵权法、灰色关联、LightGBM-SHAP（特征相关时 SHAP 的分配受依赖结构影响[33]）、忽略删失的朴素负二项。</a:t>
            </a:r>
          </a:p>
          <a:p>
            <a:endParaRPr/>
          </a:p>
          <a:p>
            <a:r>
              <a:t>完整要点：</a:t>
            </a:r>
          </a:p>
          <a:p>
            <a:r>
              <a:t>1. 通俗地说：先把被座位数“截住”的需求补回来，再把客流的起伏公平地分给八类因素，看谁占得最多。</a:t>
            </a:r>
          </a:p>
          <a:p>
            <a:r>
              <a:t>2. 输入：每趟车的登乘人数（坐满的班次只知道“至少 c 人”）；八类因素：几点钟、星期几、校历、节假日、春运、赶集日、天气、季节。</a:t>
            </a:r>
          </a:p>
          <a:p>
            <a:r>
              <a:t>3. 怎么算：先用适合“人数”的统计模型估计每班的真实需求，坐满的班次按“至少 c 人”处理；再把模型能解释的客流起伏在八类因素之间公平分配。</a:t>
            </a:r>
          </a:p>
          <a:p>
            <a:r>
              <a:t>4. 得到：八类因素的权重（%）和可信范围；分“同一天不同班次”和“不同日期”两个层面。</a:t>
            </a:r>
          </a:p>
          <a:p>
            <a:r>
              <a:t>5. 为什么这样做：客流是 0、1、2……这样的整数，而且忽多忽少，负二项模型专门描述这种数据[29]；坐满的班次若当成“正好 c 人”会低估节点日需求，航空收益管理早有“需求还原”的做法[30]。</a:t>
            </a:r>
          </a:p>
          <a:p>
            <a:r>
              <a:t>6. “公平分配”用 Shapley 方法：各因素的份额加起来正好等于总数，因素之间相关也不会重复计算[31,32]。</a:t>
            </a:r>
          </a:p>
          <a:p>
            <a:r>
              <a:t>7. 和常用方法比：熵权法、灰色关联只看数据波动大小或形状是否相似，不衡量“对客流的解释力”；SHAP 在因素相关时分配会失真[33]。</a:t>
            </a:r>
          </a:p>
          <a:p>
            <a:r>
              <a:t>8. 专业名称：删失负二项回归；因子族 Shapley R² 分解；以连续 7 天为块的自助法给出 95% 区间；对照方法为熵权法、灰色关联、LightGBM-SHAP 和忽略删失的朴素负二项。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模型一回答 RQ1。第一步用负二项模型描述班次客流，满载班次只知道需求不少于座位数，所以在似然里按删失处理。第二步用 Shapley 值把模型的解释力分给八个因子族：每个族的权重等于它在所有加入顺序下带来的 R² 增量的平均值。这样得到的权重加起来等于总解释力，并且不会因为因子相关而重复计算。我同时做了熵权、灰色关联和 SHAP 作为对照。</a:t>
            </a:r>
          </a:p>
          <a:p>
            <a:endParaRPr/>
          </a:p>
          <a:p>
            <a:r>
              <a:t>完整要点：</a:t>
            </a:r>
          </a:p>
          <a:p>
            <a:r>
              <a:t>1. 计数模型：客流为非负整数且方差大于均值，用负二项分布描述过离散[28]；log μ = 线路×方向基线 + 时段 + 周节律 + 校历 + 节假日 + 春运 + 集日 + 天气 + 季节。</a:t>
            </a:r>
          </a:p>
          <a:p>
            <a:r>
              <a:t>2. 删失处理：满载班次只知道 Y* ≥ 座位数 c，似然中这类班次的贡献改写为 P(Y* ≥ c)，借用收益管理的需求还原思路[29]。</a:t>
            </a:r>
          </a:p>
          <a:p>
            <a:r>
              <a:t>3. 权重：把 R² 在 8 个因子族的所有排列上平均分配（Shapley 值），结果可加，并能处理因子之间的相关[30,31]。公式：φk = Σ［|S|!(K−|S|−1)!/K!］·［R²(S∪{k}) − R²(S)］，K = 8。</a:t>
            </a:r>
          </a:p>
          <a:p>
            <a:r>
              <a:t>4. 两个层面：班次层（同一天内班次之间的差异）与日层（日期之间的差异）；以连续 7 天为块做自助法，给出 95% 区间。</a:t>
            </a:r>
          </a:p>
          <a:p>
            <a:r>
              <a:t>5. 对照方法：熵权法、灰色关联、LightGBM-SHAP（特征相关时 SHAP 的分配受依赖结构影响[32]）、忽略删失的朴素负二项。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结果很清楚。班次层，日内时段解释了八成以上的差异，也就是说上午进城、下午返乡的差异远大于日期之间的差异。日层，春运和节假日合计超过六成，集日和天气都在 5% 以下。方法比较上，删失负二项加 Shapley 的误差不到 1 个百分点，熵权法和灰色关联的排序与真值几乎不相关。这支持了 H1 和 H2。</a:t>
            </a:r>
          </a:p>
          <a:p>
            <a:endParaRPr/>
          </a:p>
          <a:p>
            <a:r>
              <a:t>模拟数据检验结果（SYNTHETIC），仅用于检验研究路径，不代表新晃实际情况</a:t>
            </a:r>
          </a:p>
          <a:p>
            <a:endParaRPr/>
          </a:p>
          <a:p>
            <a:r>
              <a:t>完整要点：</a:t>
            </a:r>
          </a:p>
          <a:p>
            <a:r>
              <a:t>1. 班次层：时段族权重 83.5%（95% 区间 79.1%—85.9%），模拟真值 85.8%。</a:t>
            </a:r>
          </a:p>
          <a:p>
            <a:r>
              <a:t>2. 日层：春运 36.7%、节假日 29.1%；集日 4.5%、天气 3.8%。</a:t>
            </a:r>
          </a:p>
          <a:p>
            <a:r>
              <a:t>3. 方法比较（与真值权重的平均绝对误差，百分点）：删失负二项 0.6，灰色关联 9.0，SHAP 10.2，熵权法 10.7；与真值的秩相关：熵权法仅 0.36，灰色关联 0.29。</a:t>
            </a:r>
          </a:p>
          <a:p>
            <a:r>
              <a:t>4. 假设：H1、H2 在模拟数据中得到支持。</a:t>
            </a:r>
          </a:p>
          <a:p>
            <a:r>
              <a:t>5. 含义：固定时刻表首先要排对“一天之内的班次分布”；集日不宜作为排班的核心依据，这一点与以集市为中心的农村研究传统[15]形成对话，需用真实数据复核。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二分三步：先用统计模型算出规律部分，再用机器学习补上规律没抓住的部分，最后给出一个人数范围。范围按春运、节假日、平日等五种情景分别校准，因为春运的波动比平日大得多，用同一个范围在高峰日一定罩不住。检验时只用过去的数据预测未来，和季节朴素、历史均值等常用做法比较。看到结果后我又加了一个改进方法，按偏离预注册单独报告。</a:t>
            </a:r>
          </a:p>
          <a:p>
            <a:endParaRPr/>
          </a:p>
          <a:p>
            <a:r>
              <a:t>第一轮的技术表述（供答问参考）：</a:t>
            </a:r>
          </a:p>
          <a:p>
            <a:r>
              <a:t>结构项：删失负二项给出每个班次的期望需求 μ̂。</a:t>
            </a:r>
          </a:p>
          <a:p>
            <a:r>
              <a:t>残差修正：LightGBM 学习结构项未捕捉的非线性部分[34]；删失班次的学习目标用条件期望 E[Y* | Y* ≥ c] 插补。</a:t>
            </a:r>
          </a:p>
          <a:p>
            <a:r>
              <a:t>改进方法（偏离预注册）：删失感知 LightGBM，删失班次的目标值用 EM 算法迭代插补，单独报告。</a:t>
            </a:r>
          </a:p>
          <a:p>
            <a:r>
              <a:t>预测区间：训练期按月 5 折交叉拟合得到样本外残差；共形预测在很弱的假设下给出有覆盖率保证的区间[35,36]；按春运核心、节假日边沿、学生离返校日、天气事件日、普通日 5 个情景分别校准（Mondrian）。</a:t>
            </a:r>
          </a:p>
          <a:p>
            <a:r>
              <a:t>评价：MAE、RMSE、WAPE 与平均偏差[37]；Diebold–Mariano 检验判断精度差异是否显著[38]；计数预测的专门评价方法[39]；区间看覆盖率与平均宽度。</a:t>
            </a:r>
          </a:p>
          <a:p>
            <a:r>
              <a:t>对照方法：季节朴素、历史均值、朴素负二项、删失负二项、LightGBM（泊松）。</a:t>
            </a:r>
          </a:p>
          <a:p>
            <a:endParaRPr/>
          </a:p>
          <a:p>
            <a:r>
              <a:t>完整要点：</a:t>
            </a:r>
          </a:p>
          <a:p>
            <a:r>
              <a:t>1. 通俗地说：先算出规律部分，再补上规律没抓住的部分，最后告诉调度员“明天这班大概率在多少人之间”。</a:t>
            </a:r>
          </a:p>
          <a:p>
            <a:r>
              <a:t>2. ① 规律部分：沿用模型一，按几点钟、星期几、节假日、春运等算出每班的期望人数；坐满的班次按“至少 c 人”处理。</a:t>
            </a:r>
          </a:p>
          <a:p>
            <a:r>
              <a:t>3. ② 补上剩余：用 LightGBM（一种常用的机器学习方法）学习规律没抓住的部分[34]；坐满班次的真实人数先估计补齐再学习。</a:t>
            </a:r>
          </a:p>
          <a:p>
            <a:r>
              <a:t>4. ③ 给出范围：给出 90% 人数范围，共形预测在很弱的假设下保证覆盖率[35,36]；春运核心、节假日边沿、学生离返校日、天气事件日、普通日五种情景分别校准（Mondrian）。三步合称“主方法”。</a:t>
            </a:r>
          </a:p>
          <a:p>
            <a:r>
              <a:t>5. 为什么分情景：春运和节假日的波动远大于平日，统一的范围会在高峰日“罩不住”。</a:t>
            </a:r>
          </a:p>
          <a:p>
            <a:r>
              <a:t>6. 怎么检验：只用过去预测未来，按月滚动回测；误差看 MAE、RMSE、WAPE 与平均偏差[37]，差异是否显著用 DM 检验[38]，并用计数预测的专门方法评价[39]。</a:t>
            </a:r>
          </a:p>
          <a:p>
            <a:r>
              <a:t>7. 对照方法：季节朴素（上周同一班次）、历史均值、朴素负二项、删失负二项、LightGBM（泊松，忽略删失）。</a:t>
            </a:r>
          </a:p>
          <a:p>
            <a:r>
              <a:t>8. 改进方法（偏离预注册）：删失感知 LightGBM，用 EM 算法反复补齐坐满班次的人数，单独报告。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模型二回答 RQ2。主方法由三部分组成：删失负二项给出结构项，LightGBM 学习剩下的非线性，满载班次的目标值用条件期望补上；区间用共形预测，而且按五个情景分别校准，这就是 Mondrian 共形。这样做的理由是，春运和节假日的波动比普通日大得多，用一个统一的区间宽度，高需求日一定覆盖不足。</a:t>
            </a:r>
          </a:p>
          <a:p>
            <a:endParaRPr/>
          </a:p>
          <a:p>
            <a:r>
              <a:t>完整要点：</a:t>
            </a:r>
          </a:p>
          <a:p>
            <a:r>
              <a:t>1. 结构项：删失负二项给出每个班次的期望需求 μ̂。</a:t>
            </a:r>
          </a:p>
          <a:p>
            <a:r>
              <a:t>2. 残差修正：LightGBM 学习结构项未捕捉的非线性部分[33]；删失班次的学习目标用条件期望 E[Y* | Y* ≥ c] 插补。</a:t>
            </a:r>
          </a:p>
          <a:p>
            <a:r>
              <a:t>3. 改进方法（偏离预注册）：删失感知 LightGBM，删失班次的目标值用 EM 算法迭代插补，单独报告。</a:t>
            </a:r>
          </a:p>
          <a:p>
            <a:r>
              <a:t>4. 预测区间：训练期按月 5 折交叉拟合得到样本外残差；共形预测在很弱的假设下给出有覆盖率保证的区间[34,35]；按春运核心、节假日边沿、学生离返校日、天气事件日、普通日 5 个情景分别校准（Mondrian）。</a:t>
            </a:r>
          </a:p>
          <a:p>
            <a:r>
              <a:t>5. 评价：MAE、RMSE、WAPE 与平均偏差[36]；Diebold–Mariano 检验判断精度差异是否显著[37]；计数预测的专门评价方法[38]；区间看覆盖率与平均宽度。</a:t>
            </a:r>
          </a:p>
          <a:p>
            <a:r>
              <a:t>6. 对照方法：季节朴素、历史均值、朴素负二项、删失负二项、LightGBM（泊松）。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预测结果有三点。第一，主方法明显好于季节朴素和负二项模型；和 LightGBM 相比，总体误差差不多，差异不显著。第二，关键在满载班次：LightGBM 的总体误差略低，但在满载班次上它平均低估 18.6 人，是主方法的两倍。第三，区间方面，全局区间在春运核心期只覆盖了 87.6%，Mondrian 区间达到 92.1%。所以实际使用时，点预测用改进方法，区间用主方法。</a:t>
            </a:r>
          </a:p>
          <a:p>
            <a:endParaRPr/>
          </a:p>
          <a:p>
            <a:r>
              <a:t>模拟数据检验结果（SYNTHETIC），仅用于检验研究路径，不代表新晃实际情况</a:t>
            </a:r>
          </a:p>
          <a:p>
            <a:endParaRPr/>
          </a:p>
          <a:p>
            <a:r>
              <a:t>完整要点：</a:t>
            </a:r>
          </a:p>
          <a:p>
            <a:r>
              <a:t>1. 总体 WAPE：主方法 42.1%，季节朴素 57.9%，删失负二项 51.1%，LightGBM（泊松）40.0%，改进方法 41.1%。</a:t>
            </a:r>
          </a:p>
          <a:p>
            <a:r>
              <a:t>2. 显著性：主方法在绝对误差上显著优于季节朴素、历史均值和两种负二项模型；与两种 LightGBM 模型的差异在 5% 水平上不显著（与 LightGBM（泊松）比较的 DM 检验 p = 0.067）。</a:t>
            </a:r>
          </a:p>
          <a:p>
            <a:r>
              <a:t>3. 满载删失班次：忽略删失的 LightGBM 平均低估 18.6 人，主方法 9.3 人（H3 得到支持）。</a:t>
            </a:r>
          </a:p>
          <a:p>
            <a:r>
              <a:t>4. 90% 区间：春运核心期 Mondrian 覆盖率 92.1%，全局区间 87.6%；Mondrian 区间在各情景的覆盖率为 90.0%—92.2%（H4 得到支持）。</a:t>
            </a:r>
          </a:p>
          <a:p>
            <a:r>
              <a:t>5. 使用建议：两种方法并行运行，点预测采用改进方法，区间采用主方法。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三的思路是分工：固定时刻表只管天天都有的规律，春运、节假日这类偶尔才有的高峰交给机动车。一张时刻表要同时适用于上学日、周末和假期，所以把六类日子一起放进模型，按天数加权。目标是社会成本最低，也就是把运营花的钱、乘客等车的时间和没坐上车的损失放在一起算。首末班按现行保留，这一条属于偏离预注册。</a:t>
            </a:r>
          </a:p>
          <a:p>
            <a:endParaRPr/>
          </a:p>
          <a:p>
            <a:r>
              <a:t>第一轮的技术表述（供答问参考）：</a:t>
            </a:r>
          </a:p>
          <a:p>
            <a:r>
              <a:t>分工：固定时刻表只承担日内时段、周节律和学期/假期交替；春运、节假日、天气等不规则节律交给次日柔性层。</a:t>
            </a:r>
          </a:p>
          <a:p>
            <a:r>
              <a:t>需求分层：学期周一至周四、学期周五、学期周六、学期周日、假期工作日、假期周末共 6 层；逐班次拟合删失负二项得到潜在需求，再用问卷中的期望出发时刻把窗口需求分摊到 15 分钟时段。</a:t>
            </a:r>
          </a:p>
          <a:p>
            <a:r>
              <a:t>目标：社会成本 = 运营成本 + 时间价值 × 等待人时 + 未满足惩罚 ×（时刻表抑制损失 + 满载未满足）[40,41]。</a:t>
            </a:r>
          </a:p>
          <a:p>
            <a:r>
              <a:t>决策与约束：每条线路每个方向在 10 分钟网格上是否发车；约束为乘客分配与容量、车辆平衡、驾驶时长、最少服务（偏离预注册：以现行首末班为界）、整数约束；用开源求解器 HiGHS 求解。</a:t>
            </a:r>
          </a:p>
          <a:p>
            <a:r>
              <a:t>方法来源：时刻表编制与车辆排班综述[42]、资源约束下的鲁棒时刻表[43]、线网与发车频率设定综述[44]；国内多车型发车时刻与车型联合优化[45]；城乡一体化公交线路与频率联合优化[46]。</a:t>
            </a:r>
          </a:p>
          <a:p>
            <a:endParaRPr/>
          </a:p>
          <a:p>
            <a:r>
              <a:t>完整要点：</a:t>
            </a:r>
          </a:p>
          <a:p>
            <a:r>
              <a:t>1. 通俗地说：一张固定时刻表要同时照顾上学日、周末和假期，所以把六类日子一起放进模型里排，让总成本最低。</a:t>
            </a:r>
          </a:p>
          <a:p>
            <a:r>
              <a:t>2. 分工：固定时刻表管“天天都有”的规律（一天中的钟点、星期几、上学或放假）；春运、节假日、恶劣天气等“偶尔才有”的高峰交给次日机动车。</a:t>
            </a:r>
          </a:p>
          <a:p>
            <a:r>
              <a:t>3. 六类日子：学期周一至周四、学期周五、学期周六、学期周日、假期工作日、假期周末，按天数加权；每班真实需求来自模型一，再用问卷里“想几点出发”分到每 15 分钟。</a:t>
            </a:r>
          </a:p>
          <a:p>
            <a:r>
              <a:t>4. 目标：社会成本最低。社会成本 = 车辆运营花的钱 + 乘客等车的时间（折成钱）+ 没坐上车的损失[40,41]。</a:t>
            </a:r>
          </a:p>
          <a:p>
            <a:r>
              <a:t>5. 决定什么：每条线路每个方向在 10 分钟网格上“发不发车”。</a:t>
            </a:r>
          </a:p>
          <a:p>
            <a:r>
              <a:t>6. 要满足的条件：每班不超过座位数；车辆能周转回来；司机工作时长不超限；保留首末班（以现行首末班为界，偏离预注册）；发车数为整数。用开源求解器 HiGHS 求解。</a:t>
            </a:r>
          </a:p>
          <a:p>
            <a:r>
              <a:t>7. 方法来源：时刻表编制与车辆排班综述[42]；资源约束下的鲁棒时刻表[43]；线网与发车频率综述[44]；多车型发车时刻与车型联合优化[45]；城乡一体化公交线路与频率联合优化[46]。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模型四回答机动车怎么派。县里乘客以老人和学生为主，让他们用手机预约并不现实，所以改为车站前一天晚上根据预测派车。派车的办法很直接：一辆车、一个半天地安排，每次选最省钱的线路和时刻。我和八种方案做了比较，其中完美预知代表预测完全准确时的理论上限，主方案离这个上限还差多少，就是信息价值要回答的问题。</a:t>
            </a:r>
          </a:p>
          <a:p>
            <a:endParaRPr/>
          </a:p>
          <a:p>
            <a:r>
              <a:t>第一轮的技术表述（供答问参考）：</a:t>
            </a:r>
          </a:p>
          <a:p>
            <a:r>
              <a:t>思路：半柔性公交保留固定骨架、在骨架上增加有限柔性[20]；柔性交通服务被视为公共交通的新机会[47]，但许多需求响应项目因成本过高或客流不足而停办[48]，因此柔性只用于不规则节律的日子。</a:t>
            </a:r>
          </a:p>
          <a:p>
            <a:r>
              <a:t>柔性层：4 辆 19 座机动车，均以县汽车站为始末点；每车每天分上午（6:00—12:30）和下午（12:30—18:30）两个半日，前一天晚上按次日预测指派到一条线路，并确定首发时刻和往返次数。</a:t>
            </a:r>
          </a:p>
          <a:p>
            <a:r>
              <a:t>求解：按“车辆—半日”逐次贪心，每一步选出预测社会成本降幅最大且为正的候选。</a:t>
            </a:r>
          </a:p>
          <a:p>
            <a:r>
              <a:t>对照与变体：现行时刻表；现行加调度员临时加班；只用优化固定层；主方案（主方法预测）；改进预测方案；随机规划方案（样本平均近似，偏离预注册）[49]；反应式现场加开；完美预知上界。低需求条件下半柔性交付模式的评估见[50]。</a:t>
            </a:r>
          </a:p>
          <a:p>
            <a:r>
              <a:t>信息价值：（主方案降幅 − 固定层降幅）÷（完美预知降幅 − 固定层降幅），衡量预测“兑现”了多少理论收益[22]。</a:t>
            </a:r>
          </a:p>
          <a:p>
            <a:endParaRPr/>
          </a:p>
          <a:p>
            <a:r>
              <a:t>完整要点：</a:t>
            </a:r>
          </a:p>
          <a:p>
            <a:r>
              <a:t>1. 通俗地说：不让老人、学生自己预约，而是车站前一晚看预测，把机动车提前排到明天最挤的线路和半天。</a:t>
            </a:r>
          </a:p>
          <a:p>
            <a:r>
              <a:t>2. 为什么这样做：半柔性公交是“固定骨架 + 有限机动”[20]；机动服务是公共交通的新机会[47]，但很多需求响应项目因成本高、人少而停办[48]，所以机动车只在不规则的高峰日使用。</a:t>
            </a:r>
          </a:p>
          <a:p>
            <a:r>
              <a:t>3. 怎么派：4 辆 19 座机动车，每天分上午（6:00—12:30）和下午（12:30—18:30）两个半天；一辆车、一个半天地逐个安排，每次选“省钱最多”的线路和时刻，直到不再省钱为止。</a:t>
            </a:r>
          </a:p>
          <a:p>
            <a:r>
              <a:t>4. 和 8 种方案比较：现行时刻表；现行 + 调度员临时加班；只优化固定班；主方案（按主方法预测派车）；按改进预测派车；随机规划（样本平均近似，偏离预注册）[49]；看到满员再临时加开；完美预知（理论上限）。低需求条件下半柔性交付模式的评估见[50]。</a:t>
            </a:r>
          </a:p>
          <a:p>
            <a:r>
              <a:t>5. 信息价值：预测兑现了多少理论收益[22]＝（主方案省下的 − 只优化固定班省下的）÷（完美预知省下的 − 只优化固定班省下的）。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固定层的结果是：车次减少两成多，车公里减少约四分之一，服务率反而略有提高，社会成本下降 13.8%，代价是平均等待多了两分半。柔性层在此基础上再降 0.5 个百分点，看起来不大，但收益集中在节假日边沿和春运核心期，普通日几乎为零，这正好验证了“稳定节律给固定层、不规则节律给柔性层”的分工。现在的预测兑现了理论收益的 29%，说明改进预测还有空间。</a:t>
            </a:r>
          </a:p>
          <a:p>
            <a:endParaRPr/>
          </a:p>
          <a:p>
            <a:r>
              <a:t>模拟数据检验结果（SYNTHETIC），仅用于检验研究路径，不代表新晃实际情况</a:t>
            </a:r>
          </a:p>
          <a:p>
            <a:endParaRPr/>
          </a:p>
          <a:p>
            <a:r>
              <a:t>甘特图样例（fig/图_次日柔性排班甘特图样例.png，宽高比 3.0）未放入页面，答问时可展示：它给出某一天 4 辆机动车上午、下午两个半日的线路指派与发车时刻。</a:t>
            </a:r>
          </a:p>
          <a:p>
            <a:endParaRPr/>
          </a:p>
          <a:p>
            <a:r>
              <a:t>完整要点：</a:t>
            </a:r>
          </a:p>
          <a:p>
            <a:r>
              <a:t>1. 固定层（RQ3）：检验期车次 36803 → 28648 班（减少 22.2%），车公里减少 24.9%，服务率 81.6% → 83.8%，社会成本降低 13.8%（H5 得到支持）。</a:t>
            </a:r>
          </a:p>
          <a:p>
            <a:r>
              <a:t>2. 代价：人均等待时间增加 2.5 分钟，满载班次率 3.0% → 4.8%。</a:t>
            </a:r>
          </a:p>
          <a:p>
            <a:r>
              <a:t>3. 柔性层（RQ4）：主方案社会成本降低 14.3%，比只优化固定层多 0.5 个百分点；节假日边沿多 3.4 个百分点，春运核心期多 2.1 个百分点，普通日为 -0.2 个百分点，接近零（H6 得到支持）。</a:t>
            </a:r>
          </a:p>
          <a:p>
            <a:r>
              <a:t>4. 信息价值：主方案兑现了完美预知收益的 29.0%，改进预测方案为 35.1%；完美预知上界的社会成本降幅为 15.4%。</a:t>
            </a:r>
          </a:p>
          <a:p>
            <a:r>
              <a:t>5. 运营建议：正式方案中把“服务率不低于现行”作为一条硬约束。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创新点有三项：对象上同时估计八类节律的权重，方法上把删失需求还原引入城乡公交，应用上提出固定层加次日柔性层的分工。下半部分是与“十五五”综合交通枢纽规划的对接。规划主要讲大枢纽的建设和衔接，没有专门写县域公交排班，所以我不夸大对接程度；但规划要求的运行时刻对接、高峰预警、数据与算法、适老化四项，本研究都有对应的模型或产出。两篇期刊论文和学位论文的关系见第 6 页底部。</a:t>
            </a:r>
          </a:p>
          <a:p>
            <a:endParaRPr/>
          </a:p>
          <a:p>
            <a:r>
              <a:t>完整要点：</a:t>
            </a:r>
          </a:p>
          <a:p>
            <a:r>
              <a:t>1. 创新一（研究对象）：在“多重节律叠加”框架下，于县域尺度同时估计八个因子族的权重，为“集日是否重要”等地方经验提供可检验的定量证据。</a:t>
            </a:r>
          </a:p>
          <a:p>
            <a:r>
              <a:t>2. 创新二（方法）：引入收益管理的删失需求还原[17]，构建“删失负二项—因子族 Shapley 分解—按情景 Mondrian 共形”链条，并在已知真值的模拟系统中检验其相对熵权法、灰色关联和 SHAP 的优势。</a:t>
            </a:r>
          </a:p>
          <a:p>
            <a:r>
              <a:t>3. 创新三（应用）：“固定层承担稳定节律、次日柔性层承担不规则节律”的半柔性配置[20]，用信息价值量化预测改进的边际收益，形成县级可操作的排班流程。</a:t>
            </a:r>
          </a:p>
          <a:p>
            <a:r>
              <a:t>4. 与《综合交通枢纽发展“十五五”规划》的对接[3]：①运行时刻对接与“最晚一班”兜底（第六条）→ RQ3 固定时刻表保留首末班；②客流监测与高峰期预警（第十四条）→ RQ2 次日每班人数与坐满可能性；③平时调度、数据集与算法（第十五条）→ 统一数据口径与可复现代码；④适老化（2030 年目标）→ RQ4 前一晚派车，不需乘客预约。</a:t>
            </a:r>
          </a:p>
          <a:p>
            <a:r>
              <a:t>5. 定位：规划重在枢纽建设与衔接，没有专门针对县域城乡公交排班的条款；本研究对接的是规划“软硬结合”中的运营服务一侧，位于多层级枢纽体系的县域末端。</a:t>
            </a:r>
          </a:p>
          <a:p>
            <a:r>
              <a:t>6. 成果：论文一（RQ1—RQ2）、论文二（RQ3—RQ4）分别面向交通需求建模与预测、公共交通运营与规划方向的国际期刊；四个研究问题合成一篇中文学位论文（样稿已形成）。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2377440"/>
          </a:xfrm>
          <a:prstGeom prst="rect">
            <a:avLst/>
          </a:prstGeom>
          <a:noFill/>
        </p:spPr>
        <p:txBody>
          <a:bodyPr wrap="square" lIns="73152" tIns="73152" rIns="73152" bIns="73152" anchor="b">
            <a:noAutofit/>
          </a:bodyPr>
          <a:lstStyle/>
          <a:p>
            <a:pPr algn="ctr">
              <a:lnSpc>
                <a:spcPct val="112000"/>
              </a:lnSpc>
              <a:spcAft>
                <a:spcPts val="340"/>
              </a:spcAft>
            </a:pPr>
            <a:r>
              <a:rPr sz="34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多重出行节律下武陵山区县域城乡公交的</a:t>
            </a:r>
            <a:endParaRPr sz="34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  <a:p>
            <a:pPr algn="ctr">
              <a:lnSpc>
                <a:spcPct val="112000"/>
              </a:lnSpc>
              <a:spcAft>
                <a:spcPts val="340"/>
              </a:spcAft>
            </a:pPr>
            <a:r>
              <a:rPr sz="34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供需匹配与半柔性配置优化研究</a:t>
            </a:r>
            <a:endParaRPr sz="34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34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——</a:t>
            </a:r>
            <a:r>
              <a:rPr sz="34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以新晃侗族自治县为例</a:t>
            </a:r>
            <a:endParaRPr sz="34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047" y="3959167"/>
            <a:ext cx="1051560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 i="0" dirty="0" err="1">
                <a:solidFill>
                  <a:schemeClr val="tx2"/>
                </a:solidFill>
                <a:latin typeface="Arial"/>
                <a:ea typeface="微软雅黑"/>
                <a:cs typeface="Arial"/>
              </a:rPr>
              <a:t>研究进展汇报</a:t>
            </a:r>
            <a:endParaRPr sz="2200" b="1" i="0" dirty="0">
              <a:solidFill>
                <a:schemeClr val="tx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5129415"/>
            <a:ext cx="1051560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560"/>
              </a:spcAft>
            </a:pPr>
            <a:r>
              <a:rPr sz="16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汇报人</a:t>
            </a:r>
            <a:r>
              <a:rPr lang="zh-TW" altLang="en-US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：钟弼暄</a:t>
            </a:r>
            <a:r>
              <a:rPr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　　</a:t>
            </a:r>
            <a:r>
              <a:rPr sz="16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导师</a:t>
            </a:r>
            <a:r>
              <a:rPr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：</a:t>
            </a:r>
            <a:r>
              <a:rPr lang="zh-TW" altLang="en-US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郭源园</a:t>
            </a:r>
            <a:endParaRPr sz="16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2026 </a:t>
            </a:r>
            <a:r>
              <a:rPr sz="16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年</a:t>
            </a:r>
            <a:r>
              <a:rPr lang="zh-CN" altLang="en-US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 </a:t>
            </a:r>
            <a:r>
              <a:rPr lang="en-US" altLang="zh-CN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10</a:t>
            </a:r>
            <a:r>
              <a:rPr lang="zh-CN" altLang="en-US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月 </a:t>
            </a:r>
            <a:r>
              <a:rPr lang="en-US" altLang="zh-CN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29</a:t>
            </a:r>
            <a:r>
              <a:rPr lang="zh-CN" altLang="en-US" sz="16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日</a:t>
            </a:r>
            <a:endParaRPr sz="16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研究进度</a:t>
            </a:r>
            <a:endParaRPr sz="11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5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研究框架、代码与模拟检验已完成，下一步</a:t>
            </a:r>
            <a:r>
              <a:rPr lang="zh-TW" altLang="en-US" sz="265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继续检验计算模型与方法</a:t>
            </a:r>
            <a:r>
              <a:rPr lang="zh-CN" altLang="en-US" sz="265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，以及适配和补全</a:t>
            </a:r>
            <a:r>
              <a:rPr lang="zh-CN" altLang="en-US" sz="2650" b="1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</a:t>
            </a:r>
            <a:r>
              <a:rPr sz="265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数据</a:t>
            </a:r>
            <a:endParaRPr sz="265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lang="en-US" altLang="zh-CN" sz="100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2 / 21</a:t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887911"/>
            <a:ext cx="2206752" cy="36576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87911"/>
            <a:ext cx="2206752" cy="411480"/>
          </a:xfrm>
          <a:prstGeom prst="rect">
            <a:avLst/>
          </a:prstGeom>
          <a:solidFill>
            <a:srgbClr val="5A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354255"/>
            <a:ext cx="2097024" cy="31546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文献综述</a:t>
            </a: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初稿</a:t>
            </a:r>
            <a:r>
              <a:rPr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（206 </a:t>
            </a: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条参考文献</a:t>
            </a:r>
            <a:r>
              <a:rPr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</a:t>
            </a:r>
          </a:p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研究问题、假设与预注册</a:t>
            </a:r>
            <a:endParaRPr sz="125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模拟系统、四个</a:t>
            </a: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计算</a:t>
            </a: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模型的</a:t>
            </a: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选取</a:t>
            </a:r>
            <a:r>
              <a:rPr lang="zh-CN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，以及</a:t>
            </a: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全</a:t>
            </a: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套</a:t>
            </a: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代码</a:t>
            </a: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搭建</a:t>
            </a: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与</a:t>
            </a: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数据</a:t>
            </a: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回测</a:t>
            </a:r>
            <a:endParaRPr sz="125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lang="zh-TW" altLang="en-US" sz="12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近三年天气数据爬取及逐日客流与车次数据录入</a:t>
            </a:r>
          </a:p>
          <a:p>
            <a:pPr marL="166687" indent="-166687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2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暑期跟车调查的现场工作</a:t>
            </a:r>
            <a:endParaRPr sz="125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37104" y="1887911"/>
            <a:ext cx="2206752" cy="36576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37104" y="1887911"/>
            <a:ext cx="2206752" cy="41148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1968" y="2354255"/>
            <a:ext cx="2097024" cy="31546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lang="zh-TW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计算模型检验与对比</a:t>
            </a:r>
            <a:endParaRPr lang="en-US" altLang="zh-TW"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lang="zh-TW" altLang="en-US" sz="14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数据权重适配</a:t>
            </a:r>
            <a:endParaRPr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17008" y="1887911"/>
            <a:ext cx="2206752" cy="36576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17008" y="1887911"/>
            <a:ext cx="2206752" cy="41148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待开展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1872" y="2354255"/>
            <a:ext cx="2097024" cy="315467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寒假与春运跟车调查</a:t>
            </a:r>
            <a:endParaRPr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行政村入户调查</a:t>
            </a:r>
            <a:endParaRPr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线上问卷</a:t>
            </a:r>
            <a:endParaRPr lang="en-US"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lang="zh-TW" altLang="en-US" sz="14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问卷与客流数据完整录入</a:t>
            </a:r>
            <a:endParaRPr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52360" y="1887911"/>
            <a:ext cx="4279392" cy="20116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52360" y="1887911"/>
            <a:ext cx="4279392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待确认事项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224" y="2326823"/>
            <a:ext cx="4169663" cy="15361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73355" indent="-173355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是否纳入“十五五”规划相关的补强方向：与铁路客站到发时刻衔接、客货邮融合、能耗测算</a:t>
            </a:r>
            <a:endParaRPr sz="13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52360" y="3972743"/>
            <a:ext cx="4279392" cy="157276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2360" y="3972743"/>
            <a:ext cx="4279392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研究局限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4" y="4393367"/>
            <a:ext cx="4169663" cy="1115567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40017" indent="-140017" algn="l">
              <a:lnSpc>
                <a:spcPct val="112000"/>
              </a:lnSpc>
              <a:spcAft>
                <a:spcPts val="367"/>
              </a:spcAft>
              <a:buClr>
                <a:srgbClr val="1F3A5F"/>
              </a:buClr>
              <a:buChar char="•"/>
            </a:pP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只有全程总登乘人数，无站点上下客和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OD</a:t>
            </a:r>
          </a:p>
          <a:p>
            <a:pPr marL="140017" indent="-140017" algn="l">
              <a:lnSpc>
                <a:spcPct val="112000"/>
              </a:lnSpc>
              <a:spcAft>
                <a:spcPts val="367"/>
              </a:spcAft>
              <a:buClr>
                <a:srgbClr val="1F3A5F"/>
              </a:buClr>
              <a:buChar char="•"/>
            </a:pP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训练期只含两个春运</a:t>
            </a:r>
            <a:endParaRPr sz="105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140017" indent="-140017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两处偏离预注册的方案未计算预注册版本</a:t>
            </a:r>
            <a:endParaRPr sz="105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70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一、研究背景与问题提出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TW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研究背景</a:t>
            </a:r>
            <a:r>
              <a:rPr lang="zh-CN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：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县域城乡公交的政策重心正在从“通不通车”转向“什么时候有车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3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32120" cy="18288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88720" cy="1828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政策要求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99616"/>
            <a:ext cx="4206240" cy="175564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2011 年起推进城乡道路客运一体化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；2024 年服务指南要求按客流规律灵活安排班次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；2026 年“十五五”枢纽规划要求运行时刻对接、客流高峰期预警和适老化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01568"/>
            <a:ext cx="5532120" cy="130759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3401568"/>
            <a:ext cx="1188720" cy="1307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山区现实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438144"/>
            <a:ext cx="4206240" cy="123443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交通劣势与相对贫困存在可测的关联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；医疗等公共服务的可达性明显受交通条件限制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818888"/>
            <a:ext cx="5532120" cy="149047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4818888"/>
            <a:ext cx="1188720" cy="149047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理论视角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855464"/>
            <a:ext cx="4206240" cy="1417319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缺少公交使农村居民难以到达就业、医疗和教育机会，属于社会排斥问题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[6,7]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；城乡交通融合已成为地理学研究议题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[8]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463040"/>
            <a:ext cx="5532120" cy="48463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2" y="1463040"/>
            <a:ext cx="5532120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研究对象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1938528"/>
            <a:ext cx="5257800" cy="5120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9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湖南省新晃侗族自治县（武陵山区）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50592"/>
            <a:ext cx="5257800" cy="38404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县汽车站发出的 7 条城乡公交线路</a:t>
            </a:r>
          </a:p>
        </p:txBody>
      </p:sp>
      <p:pic>
        <p:nvPicPr>
          <p:cNvPr id="19" name="Picture 18" descr="图_研究区与城乡公交线网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880359"/>
            <a:ext cx="5257800" cy="32710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一、研究背景与问题提出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TW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研究问题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：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1.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班次</a:t>
            </a:r>
            <a:r>
              <a:rPr lang="zh-TW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排班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依据什么、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2.</a:t>
            </a:r>
            <a:r>
              <a:rPr lang="zh-CN" altLang="en-US" sz="2800" b="1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客流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能否代表需求、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3.</a:t>
            </a:r>
            <a:r>
              <a:rPr lang="zh-CN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如何在县域城市实行半柔性公交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固定班</a:t>
            </a:r>
            <a:r>
              <a:rPr lang="zh-TW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次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与</a:t>
            </a:r>
            <a:r>
              <a:rPr lang="zh-TW" altLang="en-US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柔性班次应该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如何分工</a:t>
            </a:r>
            <a:endParaRPr sz="28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4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74552" cy="11430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828800" cy="1143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理论依据</a:t>
            </a:r>
          </a:p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时间维度的可达性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63040"/>
            <a:ext cx="9281160" cy="11430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人的活动受能力、组合和权威三类约束，必须在特定时间到达特定地点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；时空可达性是交通地理的前沿议题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[10,11]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；公交可达性在一天之内随时刻表剧烈波动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[12]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。农村乘客以老人、学生和无车者为主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[13]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，班次时刻直接决定其能否出行。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88920"/>
            <a:ext cx="36393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3639312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1097280" cy="27432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难题一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72968"/>
            <a:ext cx="3273552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权重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04487"/>
            <a:ext cx="3273552" cy="41148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班次依据什么？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61688"/>
            <a:ext cx="3273552" cy="1828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453128"/>
            <a:ext cx="3273552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影响因子的权重多用熵权法、灰色关联给出，难以回答“客流变化由什么造成”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0720"/>
            <a:ext cx="2194560" cy="36576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21945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→ 对应 RQ1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4820" y="2788920"/>
            <a:ext cx="36393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74820" y="2788920"/>
            <a:ext cx="3639312" cy="731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7700" y="2990088"/>
            <a:ext cx="1097280" cy="27432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难题二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7700" y="3172968"/>
            <a:ext cx="3273552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删失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7700" y="3904487"/>
            <a:ext cx="3273552" cy="41148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台账能否代表需求？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57700" y="4361688"/>
            <a:ext cx="3273552" cy="1828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57700" y="4453128"/>
            <a:ext cx="3273552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满载班次的台账只记录“坐上车的人”，真实需求被座位数截住，形成删失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7700" y="5760720"/>
            <a:ext cx="2194560" cy="36576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57700" y="5760720"/>
            <a:ext cx="21945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→ 对应 RQ1、RQ2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2788920"/>
            <a:ext cx="363931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92440" y="2788920"/>
            <a:ext cx="3639312" cy="7315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2990088"/>
            <a:ext cx="1097280" cy="27432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难题三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172968"/>
            <a:ext cx="3273552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0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分工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904487"/>
            <a:ext cx="3273552" cy="41148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固定班与</a:t>
            </a:r>
            <a:r>
              <a:rPr lang="zh-TW" altLang="en-US" sz="17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柔性班次</a:t>
            </a:r>
            <a:r>
              <a:rPr sz="17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如何分工</a:t>
            </a:r>
            <a:r>
              <a:rPr sz="17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4361688"/>
            <a:ext cx="3273552" cy="1828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4453128"/>
            <a:ext cx="3273552" cy="11887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固定时刻表优化与</a:t>
            </a:r>
            <a:r>
              <a:rPr lang="zh-TW" altLang="en-US"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柔性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</a:t>
            </a:r>
            <a:r>
              <a:rPr lang="zh-TW" altLang="en-US"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次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分开讨论，缺少以预测为纽带的分工</a:t>
            </a:r>
            <a:endParaRPr sz="16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75320" y="5760720"/>
            <a:ext cx="2194560" cy="36576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5760720"/>
            <a:ext cx="2194560" cy="36576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→ </a:t>
            </a:r>
            <a:r>
              <a:rPr sz="1300" b="1" i="0" dirty="0" err="1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对应</a:t>
            </a:r>
            <a:r>
              <a:rPr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 RQ</a:t>
            </a:r>
            <a:r>
              <a:rPr lang="en-US" altLang="zh-CN"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、RQ</a:t>
            </a:r>
            <a:r>
              <a:rPr lang="en-US" altLang="zh-CN"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3.2</a:t>
            </a:r>
            <a:endParaRPr sz="1300" b="1" i="0" dirty="0">
              <a:solidFill>
                <a:srgbClr val="E76F51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二、文献脉络与研究缺口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文献沿一条连贯的逻辑链展开，并留下四个相互关联的缺口</a:t>
            </a:r>
            <a:endParaRPr sz="28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5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Pentagon 5"/>
          <p:cNvSpPr/>
          <p:nvPr/>
        </p:nvSpPr>
        <p:spPr>
          <a:xfrm>
            <a:off x="457200" y="1463040"/>
            <a:ext cx="2211019" cy="685800"/>
          </a:xfrm>
          <a:prstGeom prst="homePlat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需求的时间结构</a:t>
            </a:r>
          </a:p>
        </p:txBody>
      </p:sp>
      <p:sp>
        <p:nvSpPr>
          <p:cNvPr id="7" name="Chevron 6"/>
          <p:cNvSpPr/>
          <p:nvPr/>
        </p:nvSpPr>
        <p:spPr>
          <a:xfrm>
            <a:off x="2723083" y="1463040"/>
            <a:ext cx="2211019" cy="685800"/>
          </a:xfrm>
          <a:prstGeom prst="chevron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权重识别</a:t>
            </a:r>
          </a:p>
        </p:txBody>
      </p:sp>
      <p:sp>
        <p:nvSpPr>
          <p:cNvPr id="8" name="Chevron 7"/>
          <p:cNvSpPr/>
          <p:nvPr/>
        </p:nvSpPr>
        <p:spPr>
          <a:xfrm>
            <a:off x="4988966" y="1463040"/>
            <a:ext cx="2211019" cy="685800"/>
          </a:xfrm>
          <a:prstGeom prst="chevron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删失还原</a:t>
            </a:r>
          </a:p>
        </p:txBody>
      </p:sp>
      <p:sp>
        <p:nvSpPr>
          <p:cNvPr id="9" name="Chevron 8"/>
          <p:cNvSpPr/>
          <p:nvPr/>
        </p:nvSpPr>
        <p:spPr>
          <a:xfrm>
            <a:off x="7254849" y="1463040"/>
            <a:ext cx="2211019" cy="685800"/>
          </a:xfrm>
          <a:prstGeom prst="chevron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概率预测</a:t>
            </a:r>
          </a:p>
        </p:txBody>
      </p:sp>
      <p:sp>
        <p:nvSpPr>
          <p:cNvPr id="10" name="Chevron 9"/>
          <p:cNvSpPr/>
          <p:nvPr/>
        </p:nvSpPr>
        <p:spPr>
          <a:xfrm>
            <a:off x="9520732" y="1463040"/>
            <a:ext cx="2211019" cy="685800"/>
          </a:xfrm>
          <a:prstGeom prst="chevron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两层供给与预测衔接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40280"/>
            <a:ext cx="2174443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个人出行在日与日之间既有习惯也有变异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；定期集市是农村社会经济结构的基本单元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，其对公交客流的影响需数据检验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1371" y="2240280"/>
            <a:ext cx="2174443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常用熵权法、灰色关联等客观赋权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[16]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，按离散程度或序列相似程度赋权，不衡量对客流变化的解释力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7254" y="2240280"/>
            <a:ext cx="2174443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收益管理早已指出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：</a:t>
            </a:r>
            <a:r>
              <a:rPr lang="zh-TW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售罄后的销售量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会低估真实需求</a:t>
            </a:r>
            <a:r>
              <a:rPr lang="zh-CN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（满载后会低估没有下车的乘客需求）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需要“需求还原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”</a:t>
            </a:r>
            <a:r>
              <a:rPr sz="1400" b="0" i="0" baseline="300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3137" y="2240280"/>
            <a:ext cx="2174443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国内研究多针对城市地铁和公交的短时客流</a:t>
            </a:r>
            <a:r>
              <a:rPr sz="1400" b="0" i="0" baseline="300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[18,19]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县域</a:t>
            </a:r>
            <a:r>
              <a:rPr lang="zh-TW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研究区域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的</a:t>
            </a:r>
            <a:r>
              <a:rPr lang="zh-TW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小规模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预测较少</a:t>
            </a:r>
            <a:endParaRPr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539020" y="2240280"/>
            <a:ext cx="2174443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目前固定班次</a:t>
            </a:r>
            <a:r>
              <a:rPr lang="en-US" altLang="zh-CN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+</a:t>
            </a:r>
            <a:r>
              <a:rPr lang="zh-CN" altLang="en-US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需求响应类型的公交研究成为热点</a:t>
            </a:r>
            <a:r>
              <a:rPr lang="en-US" altLang="zh-CN"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——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半柔性公交：固定骨架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+ 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有限柔性</a:t>
            </a:r>
            <a:r>
              <a:rPr sz="1400" b="0" i="0" baseline="300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农村需求响应调度刚受关注</a:t>
            </a:r>
            <a:r>
              <a:rPr sz="1400" b="0" i="0" baseline="300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[21]</a:t>
            </a:r>
            <a:r>
              <a:rPr sz="14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两步法忽略预测误差</a:t>
            </a:r>
            <a:r>
              <a:rPr sz="1400" b="0" i="0" baseline="300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四个相互关联的缺口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53712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553712"/>
            <a:ext cx="2487168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① 多重节律的相对权重缺少同时估计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72384" y="5029200"/>
            <a:ext cx="246888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746504" y="5532120"/>
            <a:ext cx="0" cy="301752"/>
          </a:xfrm>
          <a:prstGeom prst="line">
            <a:avLst/>
          </a:prstGeom>
          <a:ln w="1905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4984" y="5870448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4984" y="5870448"/>
            <a:ext cx="1463040" cy="4114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4553712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01568" y="4553712"/>
            <a:ext cx="2487168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② 删失需求在城乡公交中没有被处理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71032" y="5029200"/>
            <a:ext cx="246888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45152" y="5532120"/>
            <a:ext cx="0" cy="301752"/>
          </a:xfrm>
          <a:prstGeom prst="line">
            <a:avLst/>
          </a:prstGeom>
          <a:ln w="1905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913632" y="5870448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13632" y="5870448"/>
            <a:ext cx="1463040" cy="4114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RQ1、RQ2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4553712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0216" y="4553712"/>
            <a:ext cx="2487168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③ 县域班次级概率预测缺位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69680" y="5029200"/>
            <a:ext cx="246888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5532120"/>
            <a:ext cx="0" cy="301752"/>
          </a:xfrm>
          <a:prstGeom prst="line">
            <a:avLst/>
          </a:prstGeom>
          <a:ln w="19050">
            <a:solidFill>
              <a:srgbClr val="2A9D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12280" y="5870448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12280" y="5870448"/>
            <a:ext cx="1463040" cy="4114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3144" y="4553712"/>
            <a:ext cx="257860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98864" y="4553712"/>
            <a:ext cx="2487168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④ 固定层与柔性层缺少以预测为纽带的协同设计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442448" y="5532120"/>
            <a:ext cx="0" cy="301752"/>
          </a:xfrm>
          <a:prstGeom prst="line">
            <a:avLst/>
          </a:prstGeom>
          <a:ln w="19050">
            <a:solidFill>
              <a:srgbClr val="E76F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710928" y="5870448"/>
            <a:ext cx="1463040" cy="411480"/>
          </a:xfrm>
          <a:prstGeom prst="roundRect">
            <a:avLst>
              <a:gd name="adj" fmla="val 8000"/>
            </a:avLst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0928" y="5870448"/>
            <a:ext cx="1463040" cy="411480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4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4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、RQ</a:t>
            </a:r>
            <a:r>
              <a:rPr lang="en-US" altLang="zh-CN" sz="14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3.2</a:t>
            </a:r>
            <a:endParaRPr sz="14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三、研究问题、假设与技术路线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zh-TW" altLang="en-US" sz="2800" b="1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三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个研究问题：先弄清“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客流由什么决定、明天有多少人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”，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再决定“固定班怎么排、机动车怎么派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6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" cy="180593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</a:t>
            </a:r>
          </a:p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1463040"/>
            <a:ext cx="3177540" cy="1805939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51560" y="1463040"/>
            <a:ext cx="3177540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　客流由什么决定？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1929384"/>
            <a:ext cx="3067812" cy="13030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几点钟、星期几、上学还是放假、节假日、春运、赶集日、天气、季节——这八类因素各占多大分量？赶集日真的最重要吗？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540" y="1463040"/>
            <a:ext cx="3177540" cy="1805939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20540" y="1463040"/>
            <a:ext cx="3177540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RQ2　明天每班有多少人？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5404" y="1929384"/>
            <a:ext cx="3067812" cy="13030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车坐满时，台账只记到座位数，看不到没上车的人（称为“删失”）。怎样还原真实需求，并预测明天每班大约多少人、有多大可能坐满？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60420"/>
            <a:ext cx="502920" cy="1805939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供</a:t>
            </a:r>
          </a:p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360420"/>
            <a:ext cx="3177540" cy="1805939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1560" y="3360420"/>
            <a:ext cx="317754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　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固定班</a:t>
            </a:r>
            <a:r>
              <a:rPr lang="zh-TW" altLang="en-US"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次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怎么排</a:t>
            </a:r>
            <a:r>
              <a:rPr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" y="3826763"/>
            <a:ext cx="3067812" cy="13030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固定时刻表只按“天天都有”的规律编排：每条线每天发几班、几点发，才能既少跑空车、又让乘客少等？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540" y="3360420"/>
            <a:ext cx="3177540" cy="1805939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20540" y="3360420"/>
            <a:ext cx="3177540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　</a:t>
            </a:r>
            <a:r>
              <a:rPr lang="zh-TW" altLang="en-US"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柔性班次</a:t>
            </a:r>
            <a:r>
              <a:rPr sz="16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怎么派</a:t>
            </a:r>
            <a:r>
              <a:rPr sz="16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5404" y="3826763"/>
            <a:ext cx="3067812" cy="1303019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半柔性公交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前一天晚上按预测派到最可能拥挤的线路和半天，能省下多少社会成本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？</a:t>
            </a:r>
            <a:r>
              <a:rPr lang="zh-TW" altLang="en-US"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能否满足最佳客流需求</a:t>
            </a:r>
            <a:r>
              <a:rPr lang="zh-CN" altLang="en-US"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？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主要在哪些日子起作用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1417320"/>
            <a:ext cx="4005072" cy="36576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目前检验结果</a:t>
            </a:r>
            <a:r>
              <a:rPr lang="zh-CN" altLang="en-US" sz="1500" b="1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：</a:t>
            </a:r>
            <a:endParaRPr sz="15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726679" y="1828800"/>
            <a:ext cx="4005072" cy="6934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726679" y="1828800"/>
            <a:ext cx="566928" cy="6934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H1</a:t>
            </a:r>
          </a:p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3" y="1828800"/>
            <a:ext cx="3364991" cy="6934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“几点钟”影响最大；春运、节假日决定哪几天特别多；赶集日、天气影响较小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2586228"/>
            <a:ext cx="4005072" cy="6934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726679" y="2586228"/>
            <a:ext cx="566928" cy="6934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H2</a:t>
            </a:r>
          </a:p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2586228"/>
            <a:ext cx="3364991" cy="6934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常用的熵权法、灰色关联给出的排序与真实情况明显不一致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3343656"/>
            <a:ext cx="4005072" cy="6934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3343656"/>
            <a:ext cx="566928" cy="6934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H3</a:t>
            </a:r>
          </a:p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343656"/>
            <a:ext cx="3364991" cy="6934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把“坐满”考虑进去的模型，对满员班次低估更少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4101084"/>
            <a:ext cx="4005072" cy="69342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26679" y="4101084"/>
            <a:ext cx="566928" cy="6934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H4</a:t>
            </a:r>
          </a:p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0183" y="4101084"/>
            <a:ext cx="3364991" cy="6934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按春运、节假日、平日分别给出的人数范围，比“一刀切”的更可靠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26679" y="4858512"/>
            <a:ext cx="4005072" cy="6934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726679" y="4858512"/>
            <a:ext cx="566928" cy="6934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2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H5</a:t>
            </a:r>
          </a:p>
          <a:p>
            <a:pPr algn="ctr">
              <a:lnSpc>
                <a:spcPct val="112000"/>
              </a:lnSpc>
            </a:pPr>
            <a:r>
              <a:rPr sz="12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2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  <a:endParaRPr sz="12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330183" y="4858512"/>
            <a:ext cx="3364991" cy="6934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只按日常规律编排的固定时刻表，班次更少、总成本更低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5615940"/>
            <a:ext cx="4005072" cy="6934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726679" y="5615940"/>
            <a:ext cx="566928" cy="6934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2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H6</a:t>
            </a:r>
          </a:p>
          <a:p>
            <a:pPr algn="ctr">
              <a:lnSpc>
                <a:spcPct val="112000"/>
              </a:lnSpc>
            </a:pPr>
            <a:r>
              <a:rPr sz="12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2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</a:t>
            </a:r>
            <a:endParaRPr sz="12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30183" y="5615940"/>
            <a:ext cx="3364991" cy="6934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4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柔性排班</a:t>
            </a:r>
            <a:r>
              <a:rPr sz="14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的好处集中在春运和节假日前后，平常日子几乎没有</a:t>
            </a:r>
            <a:endParaRPr sz="14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57200" y="5212080"/>
            <a:ext cx="7040880" cy="27432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TW" altLang="en-US" sz="12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主要部分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486400"/>
            <a:ext cx="7040880" cy="274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57200" y="5559552"/>
            <a:ext cx="3474720" cy="7498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559552"/>
            <a:ext cx="3474720" cy="7498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55"/>
              </a:spcAft>
            </a:pPr>
            <a:r>
              <a:rPr sz="13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一（RQ1—RQ2）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lang="zh-CN" altLang="en-US" sz="1300" b="1" i="0" dirty="0">
                <a:solidFill>
                  <a:srgbClr val="FFFFFF"/>
                </a:solidFill>
                <a:highlight>
                  <a:srgbClr val="C0C0C0"/>
                </a:highlight>
                <a:latin typeface="Arial"/>
                <a:ea typeface="微软雅黑"/>
                <a:cs typeface="Arial"/>
              </a:rPr>
              <a:t>（</a:t>
            </a:r>
            <a:r>
              <a:rPr sz="1300" b="1" i="0" dirty="0" err="1">
                <a:solidFill>
                  <a:srgbClr val="FFFFFF"/>
                </a:solidFill>
                <a:highlight>
                  <a:srgbClr val="C0C0C0"/>
                </a:highlight>
                <a:latin typeface="Arial"/>
                <a:ea typeface="微软雅黑"/>
                <a:cs typeface="Arial"/>
              </a:rPr>
              <a:t>删失感知的</a:t>
            </a:r>
            <a:r>
              <a:rPr lang="zh-CN" altLang="en-US" sz="1300" b="1" i="0" dirty="0">
                <a:solidFill>
                  <a:srgbClr val="FFFFFF"/>
                </a:solidFill>
                <a:highlight>
                  <a:srgbClr val="C0C0C0"/>
                </a:highlight>
                <a:latin typeface="Arial"/>
                <a:ea typeface="微软雅黑"/>
                <a:cs typeface="Arial"/>
              </a:rPr>
              <a:t>）</a:t>
            </a:r>
            <a:r>
              <a:rPr sz="13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多重节律识别与概率预测</a:t>
            </a:r>
            <a:endParaRPr sz="13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023360" y="5559552"/>
            <a:ext cx="3474720" cy="74980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023360" y="5559552"/>
            <a:ext cx="3474720" cy="7498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55"/>
              </a:spcAft>
            </a:pPr>
            <a:r>
              <a:rPr sz="13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二（RQ</a:t>
            </a:r>
            <a:r>
              <a:rPr lang="en-US" altLang="zh-CN" sz="13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3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—R</a:t>
            </a:r>
            <a:r>
              <a:rPr lang="en-SG" sz="13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Q</a:t>
            </a:r>
            <a:r>
              <a:rPr lang="en-US" altLang="zh-CN" sz="1300" b="1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13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）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预测驱动的县域城乡公交半柔性配置</a:t>
            </a:r>
            <a:endParaRPr sz="13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三、研究问题、假设与技术路线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技术路线：因子识别 → 删失条件下的班次预测 → 固定时刻表优化 → 次日柔性配置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7 / 21</a:t>
            </a:r>
          </a:p>
        </p:txBody>
      </p:sp>
      <p:pic>
        <p:nvPicPr>
          <p:cNvPr id="6" name="Picture 5" descr="图_技术路线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35" y="1371600"/>
            <a:ext cx="5292437" cy="52878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251" y="6559204"/>
            <a:ext cx="4115523" cy="256032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图：技术路线</a:t>
            </a:r>
            <a:endParaRPr sz="105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35140" y="1790700"/>
            <a:ext cx="27432" cy="4191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62472" y="1417320"/>
            <a:ext cx="1572768" cy="746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1417320"/>
            <a:ext cx="149961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准备数据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0104" y="1417320"/>
            <a:ext cx="4041648" cy="746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417320"/>
            <a:ext cx="396849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每趟车坐了多少人；日历、校历、天气预报；时刻表和座位数；问卷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2472" y="2255520"/>
            <a:ext cx="1572768" cy="746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255520"/>
            <a:ext cx="149961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找规律（RQ1）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90104" y="2255520"/>
            <a:ext cx="2468879" cy="74676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255520"/>
            <a:ext cx="2395727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把坐满的班次还原成真实需求，再算出八类因素各占多大分量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13848" y="2255520"/>
            <a:ext cx="1517904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255520"/>
            <a:ext cx="1463039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得到：排班该看哪些规律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2472" y="3093720"/>
            <a:ext cx="1572768" cy="746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3093720"/>
            <a:ext cx="149961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做预测（RQ2）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90104" y="3093720"/>
            <a:ext cx="2468879" cy="74676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093720"/>
            <a:ext cx="2395727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预测明天每班多少人，并分春运、节假日、平日给出可能的人数范围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848" y="3093720"/>
            <a:ext cx="1517904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0" y="3093720"/>
            <a:ext cx="1463039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得到：每班人数和坐满的可能性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2472" y="3931920"/>
            <a:ext cx="1572768" cy="746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3931920"/>
            <a:ext cx="149961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排固定班（RQ3）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90104" y="3931920"/>
            <a:ext cx="2468879" cy="74676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3931920"/>
            <a:ext cx="2395727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只按“天天都有”的规律，算出每条线每天发几班、几点发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13848" y="3931920"/>
            <a:ext cx="1517904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0" y="3931920"/>
            <a:ext cx="1463039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得到：新的固定时刻表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2472" y="4770120"/>
            <a:ext cx="1572768" cy="746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4770120"/>
            <a:ext cx="149961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⑤ 派机动车（RQ3）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90104" y="4770120"/>
            <a:ext cx="2468879" cy="74676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79" y="4770120"/>
            <a:ext cx="2395727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前一天晚上按预测，把 4 辆机动车派到最挤的线路和半天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213848" y="4770120"/>
            <a:ext cx="1517904" cy="746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4770120"/>
            <a:ext cx="1463039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得到：次日派车单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62472" y="5608320"/>
            <a:ext cx="1572768" cy="746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8" y="5608320"/>
            <a:ext cx="149961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⑥ 统一评价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0104" y="5608320"/>
            <a:ext cx="4041648" cy="746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26679" y="5608320"/>
            <a:ext cx="3968496" cy="7467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在同一套模拟中比较社会成本、服务率、等待时间和满载率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2255520"/>
            <a:ext cx="384048" cy="158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2255520"/>
            <a:ext cx="384048" cy="1584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求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是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什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23560" y="3931920"/>
            <a:ext cx="384048" cy="1584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3931920"/>
            <a:ext cx="384048" cy="158496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供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给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怎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么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四、研究区</a:t>
            </a:r>
            <a:r>
              <a:rPr lang="zh-TW" altLang="en-US"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域</a:t>
            </a:r>
            <a:r>
              <a:rPr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、</a:t>
            </a: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数据与模拟检验设计</a:t>
            </a:r>
            <a:endParaRPr sz="11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只使用能够可靠获取的变量：台账、时刻表、日历校历与天气为主，问卷为辅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8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pic>
        <p:nvPicPr>
          <p:cNvPr id="6" name="Picture 5" descr="图_研究区与城乡公交线网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599"/>
            <a:ext cx="5736952" cy="35421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029199"/>
            <a:ext cx="5736952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5029199"/>
            <a:ext cx="5627224" cy="13258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集日与天气只作对照因子：县城集期“逢农历四、九”属待确认信息，需逐乡核实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；天气对公交客流的影响因地区和人群而异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[26,27]</a:t>
            </a:r>
          </a:p>
          <a:p>
            <a:pPr marL="186690" indent="-18669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不纳入模型：工业园区倒班、医院门诊排班、务工人员个人返乡日期（无法可靠获取，影响经节假日、春运和周节律间接体现）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22752" y="1371600"/>
            <a:ext cx="5308999" cy="228600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22752" y="1371600"/>
            <a:ext cx="5308999" cy="3657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真实可得的数据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616" y="1792224"/>
            <a:ext cx="5199271" cy="1828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73355" indent="-173355" algn="l">
              <a:lnSpc>
                <a:spcPct val="112000"/>
              </a:lnSpc>
              <a:spcAft>
                <a:spcPts val="455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县汽车站逐日台账（2024-06-01 至 2026-07-27，全县客流总量锚点）</a:t>
            </a:r>
          </a:p>
          <a:p>
            <a:pPr marL="173355" indent="-173355" algn="l">
              <a:lnSpc>
                <a:spcPct val="112000"/>
              </a:lnSpc>
              <a:spcAft>
                <a:spcPts val="455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7 条线路双向现行时刻表</a:t>
            </a:r>
          </a:p>
          <a:p>
            <a:pPr marL="173355" indent="-173355" algn="l">
              <a:lnSpc>
                <a:spcPct val="112000"/>
              </a:lnSpc>
              <a:spcAft>
                <a:spcPts val="455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法定节假日与调休、农历、春运、校历与住校生离返校日</a:t>
            </a:r>
          </a:p>
          <a:p>
            <a:pPr marL="173355" indent="-173355" algn="l">
              <a:lnSpc>
                <a:spcPct val="112000"/>
              </a:lnSpc>
              <a:spcAft>
                <a:spcPts val="455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沿线逐日天气实况与预报存档（检验期用提前 1 天的预报值）</a:t>
            </a:r>
          </a:p>
          <a:p>
            <a:pPr marL="173355" indent="-173355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行政村点位与人口栅格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22752" y="3749039"/>
            <a:ext cx="5308999" cy="201168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22752" y="3749039"/>
            <a:ext cx="5308999" cy="3657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需要调查的数据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616" y="4169663"/>
            <a:ext cx="5199271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80022" indent="-180022" algn="l">
              <a:lnSpc>
                <a:spcPct val="112000"/>
              </a:lnSpc>
              <a:spcAft>
                <a:spcPts val="472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暑期跟车调查（已完成，原始问卷待录入）</a:t>
            </a:r>
          </a:p>
          <a:p>
            <a:pPr marL="180022" indent="-180022" algn="l">
              <a:lnSpc>
                <a:spcPct val="112000"/>
              </a:lnSpc>
              <a:spcAft>
                <a:spcPts val="472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寒假与春运跟车、行政村入户、线上问卷（计划），未成年人由家长回答</a:t>
            </a:r>
          </a:p>
          <a:p>
            <a:pPr marL="180022" indent="-180022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3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问卷补充乘客群体构成与期望出发时刻；农村出行受收入、距离和服务水平共同影响</a:t>
            </a:r>
            <a:r>
              <a:rPr sz="13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22752" y="5852160"/>
            <a:ext cx="5308999" cy="502920"/>
          </a:xfrm>
          <a:prstGeom prst="rect">
            <a:avLst/>
          </a:prstGeom>
          <a:solidFill>
            <a:srgbClr val="E9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5904" y="5852160"/>
            <a:ext cx="5162695" cy="5029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观测口径：每趟班次只有全程总登乘人数，无站点上下客和 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四、研究</a:t>
            </a:r>
            <a:r>
              <a:rPr lang="zh-TW" altLang="en-US"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区域</a:t>
            </a:r>
            <a:r>
              <a:rPr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、</a:t>
            </a: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数据与模拟检验设计</a:t>
            </a:r>
            <a:endParaRPr sz="11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真实逐班次数据到位前，先用“已知答案”的模拟系统检验整条研究路径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9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74552" cy="676656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353312"/>
            <a:ext cx="64008" cy="6766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53312"/>
            <a:ext cx="11064240" cy="6766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4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思路</a:t>
            </a:r>
            <a:r>
              <a:rPr sz="14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：</a:t>
            </a:r>
            <a:r>
              <a:rPr sz="14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真实台账看不到没坐上车的人，就无法判断方法算得对不对；模拟系统为每个班次保留“真值”（真实需求、乘客构成、未上车人数），</a:t>
            </a:r>
            <a:r>
              <a:rPr sz="1400" b="0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可以直接核对</a:t>
            </a:r>
            <a:r>
              <a:rPr sz="14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262661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26614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生成需求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2505456"/>
            <a:ext cx="2516886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7 类乘客（学生、务工、老人、赶集、就医办事、通勤、返乡探亲），在每条线路、每个方向、每 15 分钟都有出行需求，由真实的日历、校历和天气驱动。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11246" y="2926079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39846" y="2103120"/>
            <a:ext cx="262661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9846" y="2103120"/>
            <a:ext cx="2626614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锚定总量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2505456"/>
            <a:ext cx="2516886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按县汽车站真实逐日台账校准全县客流总量；台账缺失的日期用回归外推（拟合优度 0.54）。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93892" y="2926079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222492" y="2103120"/>
            <a:ext cx="262661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2492" y="2103120"/>
            <a:ext cx="2626614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模拟乘车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7355" y="2505456"/>
            <a:ext cx="2516886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按现行时刻表“装车”——等得越久越可能放弃，车满时一部分人顺延到下一班；同时模拟调度员临时加班和停班。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76538" y="2926079"/>
            <a:ext cx="201168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105138" y="2103120"/>
            <a:ext cx="262661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05138" y="2103120"/>
            <a:ext cx="2626614" cy="34747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生成观测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0002" y="2505456"/>
            <a:ext cx="2516886" cy="12070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每趟车只记全程登乘人数，坐满的标为“删失”；问卷受访者从同一批乘客中抽取。</a:t>
            </a:r>
          </a:p>
        </p:txBody>
      </p:sp>
      <p:pic>
        <p:nvPicPr>
          <p:cNvPr id="25" name="Picture 24" descr="图_模拟数据核对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99" y="3877054"/>
            <a:ext cx="5570497" cy="247802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989320" y="3877055"/>
            <a:ext cx="1089964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3895343"/>
            <a:ext cx="1089964" cy="42062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852天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4315967"/>
            <a:ext cx="1089964" cy="29260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模拟天数</a:t>
            </a:r>
            <a:endParaRPr sz="105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52436" y="3877055"/>
            <a:ext cx="1089964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52436" y="3895343"/>
            <a:ext cx="1089964" cy="42062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116127个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2436" y="4315967"/>
            <a:ext cx="1089964" cy="29260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班次观测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5553" y="3877055"/>
            <a:ext cx="1089964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15553" y="3895343"/>
            <a:ext cx="1089964" cy="42062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553" y="4315967"/>
            <a:ext cx="1089964" cy="29260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满载删失班次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78670" y="3877055"/>
            <a:ext cx="1089964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78670" y="3895343"/>
            <a:ext cx="1089964" cy="42062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255次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78670" y="4315967"/>
            <a:ext cx="1089964" cy="29260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调度员临时加班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41787" y="3877055"/>
            <a:ext cx="1089964" cy="7498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41787" y="3895343"/>
            <a:ext cx="1089964" cy="42062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808份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41787" y="4315967"/>
            <a:ext cx="1089964" cy="29260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模拟问卷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4736592"/>
            <a:ext cx="5742432" cy="1618488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989320" y="4736592"/>
            <a:ext cx="5742432" cy="34747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4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计算结果</a:t>
            </a:r>
            <a:endParaRPr sz="14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044183" y="5138927"/>
            <a:ext cx="5632704" cy="11795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40017" indent="-140017" algn="l">
              <a:lnSpc>
                <a:spcPct val="112000"/>
              </a:lnSpc>
              <a:spcAft>
                <a:spcPts val="367"/>
              </a:spcAft>
              <a:buClr>
                <a:srgbClr val="1F3A5F"/>
              </a:buClr>
              <a:buChar char="•"/>
            </a:pP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RQ1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班次之间的差异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83.5%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由“几点钟”解释（真值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85.8%），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赶集日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4.5%、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天气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3.8%</a:t>
            </a:r>
          </a:p>
          <a:p>
            <a:pPr marL="140017" indent="-140017" algn="l">
              <a:lnSpc>
                <a:spcPct val="112000"/>
              </a:lnSpc>
              <a:spcAft>
                <a:spcPts val="367"/>
              </a:spcAft>
              <a:buClr>
                <a:srgbClr val="1F3A5F"/>
              </a:buClr>
              <a:buChar char="•"/>
            </a:pP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RQ2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满员班次平均低估由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18.6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人（忽略删失的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LightGBM）降到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9.3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人（主方法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</a:t>
            </a:r>
          </a:p>
          <a:p>
            <a:pPr marL="140017" indent="-140017" algn="l">
              <a:lnSpc>
                <a:spcPct val="112000"/>
              </a:lnSpc>
              <a:spcAft>
                <a:spcPts val="367"/>
              </a:spcAft>
              <a:buClr>
                <a:srgbClr val="1F3A5F"/>
              </a:buClr>
              <a:buChar char="•"/>
            </a:pP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固定层车次减少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22.2%，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社会成本降低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13.8%</a:t>
            </a:r>
          </a:p>
          <a:p>
            <a:pPr marL="140017" indent="-140017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柔性层再降</a:t>
            </a:r>
            <a:r>
              <a:rPr sz="105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0.5 </a:t>
            </a:r>
            <a:r>
              <a:rPr sz="105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个百分点，主要来自节假日边沿和春运核心期</a:t>
            </a:r>
            <a:endParaRPr sz="105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模型一（RQ1）：先把“坐满的班次”还原成真实需求，再算八类因素各占多大分量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10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思路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：</a:t>
            </a:r>
            <a:r>
              <a:rPr sz="1500" b="0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先把被座位数“截住”的需求补回来，再把客流的起伏公平地分给八类因素，看谁占得最多</a:t>
            </a:r>
            <a:r>
              <a:rPr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483864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483864" cy="384048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542032"/>
            <a:ext cx="3374136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每趟车的登乘人数（坐满的班次只知道“至少 c 人”）；八类因素：几点钟、星期几、校历、节假日、春运、赶集日、天气、季节。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86784" y="2971800"/>
            <a:ext cx="32004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52544" y="2103120"/>
            <a:ext cx="3483864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2544" y="2103120"/>
            <a:ext cx="3483864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怎么算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542032"/>
            <a:ext cx="3374136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先用适合“人数”的统计模型估计每班的真实需求，坐满的班次按“至少 c 人”处理；再把模型能解释的客流起伏在八类因素之间公平分配。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82128" y="2971800"/>
            <a:ext cx="320039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47888" y="2103120"/>
            <a:ext cx="3483864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2103120"/>
            <a:ext cx="3483864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得到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42032"/>
            <a:ext cx="3374136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八类因素的权重（%）和可信范围；分“同一天不同班次”和“不同日期”两个层面。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6995160" cy="237744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6995160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为什么这样做</a:t>
            </a:r>
            <a:endParaRPr sz="15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4416551"/>
            <a:ext cx="6885432" cy="19019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sz="12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客流是 0、1、2……这样的整数，而且忽多忽少，负二项模型专门描述这种数据</a:t>
            </a:r>
            <a:r>
              <a:rPr sz="12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[29]</a:t>
            </a:r>
          </a:p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sz="12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坐满的班次若当成“正好 c 人”会低估节点日需求，航空收益管理早有“需求还原”的做法</a:t>
            </a:r>
            <a:r>
              <a:rPr sz="12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[30]</a:t>
            </a:r>
          </a:p>
          <a:p>
            <a:pPr marL="166687" indent="-166687" algn="l">
              <a:lnSpc>
                <a:spcPct val="112000"/>
              </a:lnSpc>
              <a:spcAft>
                <a:spcPts val="437"/>
              </a:spcAft>
              <a:buClr>
                <a:srgbClr val="1F3A5F"/>
              </a:buClr>
              <a:buChar char="•"/>
            </a:pPr>
            <a:r>
              <a:rPr sz="12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“公平分配”用 Shapley 方法：各因素份额加起来正好等于总数，因素相关也不重复计算</a:t>
            </a:r>
            <a:r>
              <a:rPr sz="12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[31,32]</a:t>
            </a:r>
          </a:p>
          <a:p>
            <a:pPr marL="166687" indent="-166687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2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和常用方法比：熵权法、灰色关联只看波动大小或形状是否相似，不衡量对客流的解释力；SHAP 在因素相关时分配会失真</a:t>
            </a:r>
            <a:r>
              <a:rPr sz="12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77639"/>
            <a:ext cx="4096512" cy="2377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3977639"/>
            <a:ext cx="4096512" cy="384048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400" b="1" i="0" dirty="0" err="1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专业名称</a:t>
            </a:r>
            <a:endParaRPr sz="1400" b="1" i="0" dirty="0">
              <a:solidFill>
                <a:srgbClr val="FFFFF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90104" y="4416551"/>
            <a:ext cx="3986784" cy="19019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删失负二项回归；因子族 Shapley R² 分解；以连续 7 天为块的自助法给出 95% 区间；对照方法为熵权法、灰色关联、LightGBM-SHAP 和忽略删失的朴素负二项。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模型一（RQ1）：删失负二项还原潜在需求，因子族 Shapley 分解给出八类节律的权重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11 / 21</a:t>
            </a:r>
            <a:r>
              <a:rPr lang="en-US" altLang="zh-CN" sz="100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29000" cy="71323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429000" cy="7132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72"/>
              </a:spcAft>
            </a:pPr>
            <a:r>
              <a:rPr sz="13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逐班次台账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每趟班次的全程总登乘人数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71700" y="2194560"/>
            <a:ext cx="0" cy="283464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2496312"/>
            <a:ext cx="3429000" cy="7132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496312"/>
            <a:ext cx="3429000" cy="7132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72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删失负二项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满载班次只知 Y* ≥ 座位数 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71700" y="3227832"/>
            <a:ext cx="0" cy="283464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95928" y="2587752"/>
            <a:ext cx="27432" cy="53035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80" y="2386584"/>
            <a:ext cx="1874519" cy="9326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负二项描述过离散的计数</a:t>
            </a:r>
            <a:r>
              <a:rPr sz="13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[28]</a:t>
            </a: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；删失借用收益管理的需求还原思路</a:t>
            </a:r>
            <a:r>
              <a:rPr sz="13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[29]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9584"/>
            <a:ext cx="3429000" cy="713232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529584"/>
            <a:ext cx="3429000" cy="7132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72"/>
              </a:spcAft>
            </a:pPr>
            <a:r>
              <a:rPr sz="13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期望需求 log μ̂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线路×方向基线 + 八个因子族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71700" y="4261103"/>
            <a:ext cx="0" cy="283465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4562856"/>
            <a:ext cx="3429000" cy="7132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562856"/>
            <a:ext cx="3429000" cy="7132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72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因子族 Shapley 分解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R² 在 8 个因子族的全部排列上平均分配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71700" y="5294376"/>
            <a:ext cx="0" cy="283464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95928" y="4654296"/>
            <a:ext cx="27432" cy="53035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69080" y="4453128"/>
            <a:ext cx="1874519" cy="9326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结果可加，并能处理因子之间的相关</a:t>
            </a:r>
            <a:r>
              <a:rPr sz="130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[30,31]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96127"/>
            <a:ext cx="3429000" cy="71323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596127"/>
            <a:ext cx="3429000" cy="7132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72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权重与 95% 区间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以连续 7 天为块的自助法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95928" y="5687567"/>
            <a:ext cx="27432" cy="530352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69080" y="5486399"/>
            <a:ext cx="1874519" cy="9326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两个层面：班次层（同一天内班次之间）与日层（日期之间）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463040"/>
            <a:ext cx="5559552" cy="15087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1463040"/>
            <a:ext cx="5559552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计数模型与删失似然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1883664"/>
            <a:ext cx="544982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525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log μ = 线路×方向基线 + 时段 + 周节律 + 校历 + 节假日 + 春运 + 集日 + 天气 + 季节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满载班次：Y* ≥ c，似然贡献改写为 P(Y* ≥ 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081528"/>
            <a:ext cx="5559552" cy="10972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72200" y="3081528"/>
            <a:ext cx="5559552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因子族 Shapley 权重（K = 8）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3502152"/>
            <a:ext cx="544982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φk = Σ［|S|!(K−|S|−1)!/K!］·［R²(S∪{k}) − R²(S)］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297680"/>
            <a:ext cx="5559552" cy="20116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4297680"/>
            <a:ext cx="5559552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对照方法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7064" y="4718304"/>
            <a:ext cx="544982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熵权法、灰色关联（客观赋权）</a:t>
            </a: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LightGBM-SHAP：特征相关时，SHAP 的分配受依赖结构影响</a:t>
            </a:r>
            <a:r>
              <a:rPr sz="16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[32]</a:t>
            </a:r>
          </a:p>
          <a:p>
            <a:pPr marL="213360" indent="-21336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忽略删失的朴素负二项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RQ1 结果：班次层由日内时段主导，日层由春运和节假日主导，集日与天气权重较小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12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pic>
        <p:nvPicPr>
          <p:cNvPr id="7" name="Picture 6" descr="图_影响因子权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371600"/>
            <a:ext cx="6239165" cy="51800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199" y="6483096"/>
            <a:ext cx="4555976" cy="256032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图：影响因子权重</a:t>
            </a:r>
            <a:endParaRPr sz="105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88727" y="1371600"/>
            <a:ext cx="4943025" cy="3840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班次层：时段族权重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83.5%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（95%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区间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79.1%—85.9%），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模拟真值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85.8%</a:t>
            </a: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日层：春运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36.7%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节假日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29.1%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集日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4.5%、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天气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3.8%</a:t>
            </a: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方法比较（与真值权重的平均绝对误差，百分点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）：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0.6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，灰色关联 9.0，SHAP 10.2，熵权法 10.7；与真值的秩相关：熵权法仅 0.36，灰色关联 0.29</a:t>
            </a:r>
          </a:p>
          <a:p>
            <a:pPr marL="213360" indent="-21336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含义：固定时刻表首先要排对“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一天之内的班次分布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”；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集日不宜作为排班的核心依据，这与以集市为中心的农村研究传统</a:t>
            </a:r>
            <a:r>
              <a:rPr sz="1600" b="0" i="0" baseline="3000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形成对话，需用真实数据复核</a:t>
            </a:r>
            <a:endParaRPr sz="16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模型二（RQ2）：统计模型算“规律部分”，机器学习补“剩余部分”，再按情景给出可靠的人数范围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13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思路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：</a:t>
            </a:r>
            <a:r>
              <a:rPr sz="1500" b="0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先算出规律部分，再补上规律没抓住的部分，最后告诉调度员“明天这班大概率在多少人之间</a:t>
            </a:r>
            <a:r>
              <a:rPr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”。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483864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483864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规律部分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2542032"/>
            <a:ext cx="3374136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沿用模型一，按几点钟、星期几、节假日、春运等算出每班的期望人数；坐满的班次按“至少 c 人”处理。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86784" y="2971800"/>
            <a:ext cx="32004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52544" y="2103120"/>
            <a:ext cx="3483864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2544" y="2103120"/>
            <a:ext cx="3483864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补上剩余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2542032"/>
            <a:ext cx="3374136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用 LightGBM（一种常用的机器学习方法）学习规律没抓住的部分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；坐满班次的真实人数先估计补齐再学习。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82128" y="2971800"/>
            <a:ext cx="320039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47888" y="2103120"/>
            <a:ext cx="3483864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2103120"/>
            <a:ext cx="3483864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给出范围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42032"/>
            <a:ext cx="3374136" cy="1261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给出 90% 人数范围，共形预测在很弱的假设下保证覆盖率</a:t>
            </a:r>
            <a:r>
              <a:rPr sz="12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[35,36]</a:t>
            </a: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；春运核心、节假日边沿、学生离返校日、天气事件日、普通日五种情景分别校准（Mondrian）。三步合称“主方法”。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6995160" cy="237744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6995160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为什么分情景、怎么检验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416551"/>
            <a:ext cx="6885432" cy="19019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为什么分情景：春运和节假日的波动远大于平日，统一的范围会在高峰日“罩不住”。</a:t>
            </a:r>
          </a:p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怎么检验：只用过去预测未来，按月滚动回测；误差看 MAE、RMSE、WAPE 与平均偏差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[37]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，差异是否显著用 DM 检验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，并用计数预测的专门方法评价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[39]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。</a:t>
            </a:r>
          </a:p>
          <a:p>
            <a:pPr marL="186690" indent="-18669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对照方法：季节朴素（上周同一班次）、历史均值、朴素负二项、删失负二项、LightGBM（泊松，忽略删失）。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5240" y="3977639"/>
            <a:ext cx="4096512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76F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26679" y="4032503"/>
            <a:ext cx="3913632" cy="36576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改进方法（偏离预注册）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4434840"/>
            <a:ext cx="3913632" cy="18470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删失感知 LightGBM，用 EM 算法反复补齐坐满班次的人数，单独报告。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模型二（RQ2）：删失负二项结构项 + LightGBM 残差修正，配合按情景分组的 Mondrian 共形区间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14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48386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483864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结构项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901952"/>
            <a:ext cx="3374136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删失负二项给出每个班次的期望需求 μ̂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86784" y="2286000"/>
            <a:ext cx="320040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352544" y="1463040"/>
            <a:ext cx="348386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544" y="1463040"/>
            <a:ext cx="3483864" cy="3840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残差修正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1901952"/>
            <a:ext cx="3374136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LightGBM 学习结构项未捕捉的非线性部分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</a:t>
            </a: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；删失班次的学习目标用 E[Y* | Y* ≥ c] 插补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82128" y="2286000"/>
            <a:ext cx="320040" cy="0"/>
          </a:xfrm>
          <a:prstGeom prst="line">
            <a:avLst/>
          </a:prstGeom>
          <a:ln w="2857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247888" y="1463040"/>
            <a:ext cx="3483864" cy="1645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47888" y="1463040"/>
            <a:ext cx="3483864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预测区间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01952"/>
            <a:ext cx="3374136" cy="11704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训练期按月 5 折交叉拟合得样本外残差；共形预测在很弱的假设下给出有覆盖率保证的区间</a:t>
            </a:r>
            <a:r>
              <a:rPr sz="15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[34,35]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5532120" cy="36576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情景划分：按 5 个情景分别校准区间（Mondrian）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30752"/>
            <a:ext cx="1047902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4632" y="3730752"/>
            <a:ext cx="993038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525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春运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78254" y="3730752"/>
            <a:ext cx="1047902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5686" y="3730752"/>
            <a:ext cx="993038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525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节假日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边沿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9308" y="3730752"/>
            <a:ext cx="1047902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26740" y="3730752"/>
            <a:ext cx="993038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525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学生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离返校日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20363" y="3730752"/>
            <a:ext cx="1047902" cy="8229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7795" y="3730752"/>
            <a:ext cx="993038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525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天气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事件日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41417" y="3730752"/>
            <a:ext cx="1047902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68849" y="3730752"/>
            <a:ext cx="993038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普通日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55321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春运和节假日的波动远大于普通日，统一的区间宽度会使高需求日覆盖不足，因此分情景校准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49240"/>
            <a:ext cx="5532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6F5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5349240"/>
            <a:ext cx="5312664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改进方法（偏离预注册）：删失感知 LightGBM，删失班次的目标值用 EM 算法迭代插补，单独报告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3291840"/>
            <a:ext cx="5532120" cy="173736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199632" y="3291840"/>
            <a:ext cx="553212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评价指标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3712463"/>
            <a:ext cx="5422392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MAE、RMSE、WAPE 与平均偏差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；区间看覆盖率与平均宽度</a:t>
            </a:r>
          </a:p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Diebold–Mariano 检验判断精度差异是否显著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[37]</a:t>
            </a:r>
          </a:p>
          <a:p>
            <a:pPr marL="186690" indent="-18669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计数预测的专门评价方法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5102352"/>
            <a:ext cx="5532120" cy="1207008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99632" y="5102352"/>
            <a:ext cx="553212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对照方法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6" y="5522976"/>
            <a:ext cx="5422392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季节朴素、历史均值、朴素负二项、删失负二项、LightGBM（泊松）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RQ2 结果：主方法显著优于传统方法，满载班次低估减半，Mondrian 区间在高需求情景接近名义覆盖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15 / 21</a:t>
            </a:r>
            <a:r>
              <a:rPr lang="en-US" altLang="zh-CN" sz="100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pic>
        <p:nvPicPr>
          <p:cNvPr id="7" name="Picture 6" descr="图_客流预测回测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6617855" cy="49265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48428"/>
            <a:ext cx="5297805" cy="256032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图：客流预测回测</a:t>
            </a:r>
            <a:endParaRPr sz="105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36873" y="1371600"/>
            <a:ext cx="4194879" cy="3931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总体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WAPE：主方法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42.1%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季节朴素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57.9%，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删失负二项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51.1%，LightGBM（泊松）40.0%，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改进方法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41.1%</a:t>
            </a: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显著性：主方法显著优于季节朴素、历史均值和两种负二项；与两种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LightGBM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差异在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5%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水平上不显著（DM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检验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p = 0.067）</a:t>
            </a: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满载删失班次：忽略删失的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LightGBM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平均低估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18.6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人，主方法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9.3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人</a:t>
            </a:r>
            <a:endParaRPr sz="16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90%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区间：春运核心期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Mondrian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覆盖率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92.1%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全局区间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6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87.6%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；Mondrian </a:t>
            </a: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各情景覆盖率</a:t>
            </a:r>
            <a:r>
              <a:rPr sz="16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90.0%—92.2%</a:t>
            </a:r>
          </a:p>
          <a:p>
            <a:pPr marL="213360" indent="-21336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6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使用建议：两种方法并行，点预测用改进方法，区间用主方法</a:t>
            </a:r>
            <a:endParaRPr sz="16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</a:t>
            </a:r>
            <a:r>
              <a:rPr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、</a:t>
            </a:r>
            <a:r>
              <a:rPr lang="zh-TW" altLang="en-US"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三个部分</a:t>
            </a:r>
            <a:r>
              <a:rPr lang="zh-CN" altLang="en-US" sz="11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，四</a:t>
            </a:r>
            <a:r>
              <a:rPr sz="110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个计算模型及其检验结果</a:t>
            </a:r>
            <a:endParaRPr sz="11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模型三（RQ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）：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固定时刻表只管“天天都有”的规律，用整数规划算出每条线发几班、几点发</a:t>
            </a:r>
            <a:endParaRPr sz="28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16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思路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：</a:t>
            </a:r>
            <a:r>
              <a:rPr sz="1500" b="0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一张固定时刻表要同时照顾上学日、周末和假期，所以把六类日子一起放进模型里排，让总成本最低</a:t>
            </a:r>
            <a:r>
              <a:rPr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2720340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2064" y="2103120"/>
            <a:ext cx="2610612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固定时刻表：管“天天都有”的规律——钟点、星期几、上学或放假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8979" y="2103120"/>
            <a:ext cx="2720340" cy="777240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3844" y="2103120"/>
            <a:ext cx="2610612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次日机动车：管“偶尔才有”的高峰——春运、节假日、恶劣天气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5532120" cy="310896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六类日子一起排，按天数加权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39"/>
            <a:ext cx="1795271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291839"/>
            <a:ext cx="1795271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学期周一至周四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5623" y="3291839"/>
            <a:ext cx="1795271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5623" y="3291839"/>
            <a:ext cx="1795271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学期周五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4047" y="3291839"/>
            <a:ext cx="1795271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94047" y="3291839"/>
            <a:ext cx="1795271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学期周六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30752"/>
            <a:ext cx="1795271" cy="38404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730752"/>
            <a:ext cx="1795271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学期周日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5623" y="3730752"/>
            <a:ext cx="1795271" cy="384048"/>
          </a:xfrm>
          <a:prstGeom prst="rect">
            <a:avLst/>
          </a:prstGeom>
          <a:solidFill>
            <a:srgbClr val="F1F4F8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25623" y="3730752"/>
            <a:ext cx="1795271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假期工作日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94047" y="3730752"/>
            <a:ext cx="1795271" cy="384048"/>
          </a:xfrm>
          <a:prstGeom prst="rect">
            <a:avLst/>
          </a:prstGeom>
          <a:solidFill>
            <a:srgbClr val="F1F4F8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94047" y="3730752"/>
            <a:ext cx="1795271" cy="384048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假期周末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24527"/>
            <a:ext cx="2583179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4224527"/>
            <a:ext cx="2583179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55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估计每班真实需求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（沿用模型一）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86099" y="4590288"/>
            <a:ext cx="274321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406139" y="4224527"/>
            <a:ext cx="2583179" cy="7315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06139" y="4224527"/>
            <a:ext cx="2583179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455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按问卷“想几点出发”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分到每 15 分钟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47488"/>
            <a:ext cx="5532120" cy="1307592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823501"/>
            <a:ext cx="86106" cy="16581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7712" y="5762858"/>
            <a:ext cx="86106" cy="22646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55344" y="5649228"/>
            <a:ext cx="86106" cy="34009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62977" y="5482098"/>
            <a:ext cx="86106" cy="50722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70609" y="5297963"/>
            <a:ext cx="86106" cy="6913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78242" y="5165770"/>
            <a:ext cx="86106" cy="82354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285875" y="5147531"/>
            <a:ext cx="86106" cy="84178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393507" y="5252467"/>
            <a:ext cx="86106" cy="7368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501140" y="5429675"/>
            <a:ext cx="86106" cy="5596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608772" y="5607037"/>
            <a:ext cx="86106" cy="38228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716405" y="5736926"/>
            <a:ext cx="86106" cy="252393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824037" y="5810892"/>
            <a:ext cx="86106" cy="178427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931669" y="5844493"/>
            <a:ext cx="86106" cy="144826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039302" y="5856782"/>
            <a:ext cx="86106" cy="132537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146935" y="5860279"/>
            <a:ext cx="86106" cy="12904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254567" y="5860669"/>
            <a:ext cx="86106" cy="12865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362199" y="5859671"/>
            <a:ext cx="86106" cy="12964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469832" y="5857208"/>
            <a:ext cx="86106" cy="13211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577464" y="5852305"/>
            <a:ext cx="86106" cy="137014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685097" y="5843302"/>
            <a:ext cx="86106" cy="146017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792729" y="5827921"/>
            <a:ext cx="86106" cy="16139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900362" y="5803504"/>
            <a:ext cx="86106" cy="185815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007994" y="5767580"/>
            <a:ext cx="86106" cy="221739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115627" y="5718782"/>
            <a:ext cx="86106" cy="270537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223259" y="5657927"/>
            <a:ext cx="86106" cy="331392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330892" y="5588878"/>
            <a:ext cx="86106" cy="40044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3438524" y="5518701"/>
            <a:ext cx="86106" cy="47061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546157" y="5456759"/>
            <a:ext cx="86106" cy="532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53789" y="5412769"/>
            <a:ext cx="86106" cy="5765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3761422" y="5394333"/>
            <a:ext cx="86106" cy="59498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869054" y="5404794"/>
            <a:ext cx="86106" cy="58452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976687" y="5442245"/>
            <a:ext cx="86106" cy="54707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084319" y="5500096"/>
            <a:ext cx="86106" cy="489223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191952" y="5568969"/>
            <a:ext cx="86106" cy="42035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299585" y="5639171"/>
            <a:ext cx="86106" cy="350148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407217" y="5702853"/>
            <a:ext cx="86106" cy="286466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514850" y="5755229"/>
            <a:ext cx="86106" cy="23409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622482" y="5794694"/>
            <a:ext cx="86106" cy="194625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4730115" y="5822112"/>
            <a:ext cx="86106" cy="167207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837747" y="5839749"/>
            <a:ext cx="86106" cy="14957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4945380" y="5850286"/>
            <a:ext cx="86106" cy="139033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5053012" y="5856143"/>
            <a:ext cx="86106" cy="133176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5160645" y="5859178"/>
            <a:ext cx="86106" cy="130141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268277" y="5860646"/>
            <a:ext cx="86106" cy="128673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375910" y="5861309"/>
            <a:ext cx="86106" cy="12801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483542" y="5861589"/>
            <a:ext cx="86106" cy="12773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5591175" y="5861699"/>
            <a:ext cx="86106" cy="127620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5698807" y="5861740"/>
            <a:ext cx="86106" cy="127579"/>
          </a:xfrm>
          <a:prstGeom prst="rect">
            <a:avLst/>
          </a:prstGeom>
          <a:solidFill>
            <a:srgbClr val="BF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40080" y="5989320"/>
            <a:ext cx="5166359" cy="13716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48640" y="6025896"/>
            <a:ext cx="5349240" cy="27432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15 分钟需求曲线（示意）：固定发车按此曲线在网格上排布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99632" y="2103120"/>
            <a:ext cx="5532120" cy="141732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6199632" y="2103120"/>
            <a:ext cx="5532120" cy="38404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目标：社会成本最低</a:t>
            </a:r>
            <a:r>
              <a:rPr sz="1600" b="1" i="0" baseline="3000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[40,41]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54496" y="2542032"/>
            <a:ext cx="5422392" cy="9418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社会成本 = 车辆运营花的钱 + 乘客等车的时间（折成钱）+ 没坐上车的损失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99632" y="3611879"/>
            <a:ext cx="5532120" cy="205740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6199632" y="3611879"/>
            <a:ext cx="55321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决定什么、要满足什么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54496" y="4050791"/>
            <a:ext cx="5422392" cy="1581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186690" indent="-186690" algn="l">
              <a:lnSpc>
                <a:spcPct val="112000"/>
              </a:lnSpc>
              <a:spcAft>
                <a:spcPts val="489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决定什么：每条线路每个方向在 10 分钟网格上“发不发车”</a:t>
            </a:r>
          </a:p>
          <a:p>
            <a:pPr marL="186690" indent="-18669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要满足的条件：每班不超过座位数；车辆能周转回来；司机工作时长不超限；保留首末班（以现行首末班为界，偏离预注册）；发车数为整数。用开源求解器 HiGHS 求解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9632" y="5742431"/>
            <a:ext cx="5532120" cy="6309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方法来源：时刻表编制与车辆排班综述</a:t>
            </a:r>
            <a:r>
              <a:rPr sz="10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[42]</a:t>
            </a: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；资源约束下的鲁棒时刻表</a:t>
            </a:r>
            <a:r>
              <a:rPr sz="10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[43]</a:t>
            </a: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；线网与发车频率综述</a:t>
            </a:r>
            <a:r>
              <a:rPr sz="10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[44]</a:t>
            </a: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；多车型发车时刻与车型联合优化</a:t>
            </a:r>
            <a:r>
              <a:rPr sz="10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[45]</a:t>
            </a: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；城乡一体化公交线路与频率联合优化</a:t>
            </a:r>
            <a:r>
              <a:rPr sz="10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[46]</a:t>
            </a:r>
            <a:r>
              <a:rPr sz="10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模型四（RQ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）：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在固定时刻表之上，前一天晚上按预测把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 4 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辆机动车派到最挤的线路</a:t>
            </a:r>
            <a:endParaRPr sz="28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17 / 21</a:t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74552" cy="54864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6424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zh-TW" altLang="en-US"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思路：</a:t>
            </a:r>
            <a:r>
              <a:rPr lang="zh-TW" altLang="en-US" sz="150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考虑到</a:t>
            </a:r>
            <a:r>
              <a:rPr lang="zh-TW" altLang="en-US"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农村地区乘客特性</a:t>
            </a:r>
            <a:r>
              <a:rPr lang="zh-CN" altLang="en-US"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，不</a:t>
            </a:r>
            <a:r>
              <a:rPr sz="1500" b="0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让</a:t>
            </a:r>
            <a:r>
              <a:rPr lang="zh-TW" altLang="en-US"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乘客</a:t>
            </a:r>
            <a:r>
              <a:rPr sz="1500" b="0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预约，而是车站前一晚看预测，把机动车提前排到明天最挤的线路和半天</a:t>
            </a:r>
            <a:r>
              <a:rPr sz="1500" b="0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532120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为什么这样做：半柔性公交是“固定骨架 + 有限机动”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；机动服务是公共交通的新机会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[47]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，但很多需求响应项目因成本高、人少而停办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[48]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，所以机动车只在不规则的高峰日使用。</a:t>
            </a:r>
          </a:p>
        </p:txBody>
      </p:sp>
      <p:sp>
        <p:nvSpPr>
          <p:cNvPr id="10" name="Pentagon 9"/>
          <p:cNvSpPr/>
          <p:nvPr/>
        </p:nvSpPr>
        <p:spPr>
          <a:xfrm>
            <a:off x="457200" y="3182112"/>
            <a:ext cx="1807464" cy="457200"/>
          </a:xfrm>
          <a:prstGeom prst="homePlat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次日预测（模型二）</a:t>
            </a:r>
          </a:p>
        </p:txBody>
      </p:sp>
      <p:sp>
        <p:nvSpPr>
          <p:cNvPr id="11" name="Chevron 10"/>
          <p:cNvSpPr/>
          <p:nvPr/>
        </p:nvSpPr>
        <p:spPr>
          <a:xfrm>
            <a:off x="2319528" y="3182112"/>
            <a:ext cx="1807464" cy="457200"/>
          </a:xfrm>
          <a:prstGeom prst="chevron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前一晚派车</a:t>
            </a:r>
          </a:p>
        </p:txBody>
      </p:sp>
      <p:sp>
        <p:nvSpPr>
          <p:cNvPr id="12" name="Chevron 11"/>
          <p:cNvSpPr/>
          <p:nvPr/>
        </p:nvSpPr>
        <p:spPr>
          <a:xfrm>
            <a:off x="4181856" y="3182112"/>
            <a:ext cx="1807464" cy="45720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次日运营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3730752"/>
            <a:ext cx="1805939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373075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上午 6:00—12:30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83379" y="3730752"/>
            <a:ext cx="1805939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83379" y="373075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下午 12:30—18:30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96512"/>
            <a:ext cx="1828800" cy="32918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96512"/>
            <a:ext cx="1828800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机动车 1（19 座）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409651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31720" y="409651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3379" y="409651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83379" y="409651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62272"/>
            <a:ext cx="1828800" cy="32918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462272"/>
            <a:ext cx="1828800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机动车 2（19 座）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31720" y="446227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31720" y="446227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3379" y="446227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83379" y="446227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28032"/>
            <a:ext cx="1828800" cy="32918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4828032"/>
            <a:ext cx="1828800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机动车 3（19 座）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482803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31720" y="482803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3379" y="482803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83379" y="482803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93792"/>
            <a:ext cx="1828800" cy="329184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193792"/>
            <a:ext cx="1828800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机动车 4（19 座）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519379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331720" y="519379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83379" y="5193792"/>
            <a:ext cx="1805939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BF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83379" y="5193792"/>
            <a:ext cx="1805939" cy="329184"/>
          </a:xfrm>
          <a:prstGeom prst="rect">
            <a:avLst/>
          </a:prstGeom>
          <a:noFill/>
        </p:spPr>
        <p:txBody>
          <a:bodyPr wrap="square" lIns="73152" tIns="18288" rIns="73152" bIns="18288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线路 · 首发 · 往返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614416"/>
            <a:ext cx="5532120" cy="740664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怎么派：一辆车、一个半天地逐个安排，每次选“省钱最多”的线路和时刻，直到不再省钱为止。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2029968"/>
            <a:ext cx="5532120" cy="347472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和 8 种方案比较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9632" y="2414016"/>
            <a:ext cx="2720340" cy="548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54496" y="241401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① 现行时刻表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11412" y="2414016"/>
            <a:ext cx="2720340" cy="548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66276" y="241401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② 现行 + 调度员临时加班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99632" y="3008376"/>
            <a:ext cx="2720340" cy="548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54496" y="300837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③ 只优化固定班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1412" y="3008376"/>
            <a:ext cx="2720340" cy="548640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066276" y="300837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④ 主方案（按主方法预测派车）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99632" y="3602736"/>
            <a:ext cx="2720340" cy="548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254496" y="360273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⑤ 按改进预测派车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11412" y="3602736"/>
            <a:ext cx="2720340" cy="548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066276" y="360273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⑥ 随机规划（样本平均近似，偏离预注册）</a:t>
            </a:r>
            <a:r>
              <a:rPr sz="105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[49]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99632" y="4197096"/>
            <a:ext cx="2720340" cy="548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54496" y="419709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⑦ 看到满员再临时加开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11412" y="4197096"/>
            <a:ext cx="2720340" cy="548640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66276" y="4197096"/>
            <a:ext cx="2610612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⑧ 完美预知（理论上限）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99632" y="4764024"/>
            <a:ext cx="5532120" cy="292608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低需求条件下半柔性交付模式的评估见</a:t>
            </a:r>
            <a:r>
              <a:rPr sz="1150" b="0" i="0" baseline="3000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[50]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99632" y="5074920"/>
            <a:ext cx="5532120" cy="128016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199632" y="5074920"/>
            <a:ext cx="5532120" cy="384048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信息价值：预测兑现了多少理论收益</a:t>
            </a:r>
            <a:r>
              <a:rPr sz="1600" b="1" i="0" baseline="3000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[22]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54496" y="5513831"/>
            <a:ext cx="5422392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（主方案省下的 − 只优化固定班省下的）÷（完美预知省下的 − 只优化固定班省下的）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五、四个计算模型及其检验结果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—RQ</a:t>
            </a:r>
            <a:r>
              <a:rPr lang="en-US" altLang="zh-CN"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2800" b="1" i="0" dirty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2800" b="1" i="0" dirty="0" err="1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结果：固定层减少车次并降低社会成本，柔性层收益集中在春运和节假日边沿</a:t>
            </a:r>
            <a:endParaRPr sz="2800" b="1" i="0" dirty="0">
              <a:solidFill>
                <a:srgbClr val="1F3A5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lang="en-US" altLang="zh-CN" sz="100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18 / 21</a:t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pic>
        <p:nvPicPr>
          <p:cNvPr id="7" name="Picture 6" descr="图_时刻表与柔性排班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6" y="1371599"/>
            <a:ext cx="5514860" cy="50096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31555"/>
            <a:ext cx="5297805" cy="256032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图：时刻表与</a:t>
            </a:r>
            <a:r>
              <a:rPr lang="zh-TW" altLang="en-US" sz="105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半</a:t>
            </a:r>
            <a:r>
              <a:rPr sz="1050" b="0" i="0" dirty="0" err="1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柔性排班</a:t>
            </a:r>
            <a:endParaRPr sz="105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29325" y="1371600"/>
            <a:ext cx="5702427" cy="34747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固定层（RQ</a:t>
            </a:r>
            <a:r>
              <a:rPr lang="en-US" altLang="zh-CN" sz="15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5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9325" y="1755648"/>
            <a:ext cx="5702427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检验期车次 36803 → 28648 班（减少 </a:t>
            </a: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22.2%</a:t>
            </a: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），车公里减少 24.9%</a:t>
            </a:r>
          </a:p>
          <a:p>
            <a:pPr marL="213360" indent="-213360" algn="l">
              <a:lnSpc>
                <a:spcPct val="112000"/>
              </a:lnSpc>
              <a:spcAft>
                <a:spcPts val="56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服务率 81.6% → 83.8%，社会成本降低 </a:t>
            </a:r>
            <a:r>
              <a:rPr sz="1600" b="1" i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13.8%</a:t>
            </a:r>
          </a:p>
          <a:p>
            <a:pPr marL="213360" indent="-213360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6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代价：人均等待增加 2.5 分钟，满载班次率 3.0% → 4.8%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9325" y="3429000"/>
            <a:ext cx="5702427" cy="347472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5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柔性层（RQ</a:t>
            </a:r>
            <a:r>
              <a:rPr lang="en-US" altLang="zh-CN" sz="15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1500" b="1" i="0" dirty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9325" y="3813048"/>
            <a:ext cx="5702427" cy="19202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00025" indent="-200025" algn="l">
              <a:lnSpc>
                <a:spcPct val="112000"/>
              </a:lnSpc>
              <a:spcAft>
                <a:spcPts val="525"/>
              </a:spcAft>
              <a:buClr>
                <a:srgbClr val="1F3A5F"/>
              </a:buClr>
              <a:buChar char="•"/>
            </a:pP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主方案社会成本降低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14.3%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比只优化固定层多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0.5 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个百分点</a:t>
            </a:r>
            <a:endParaRPr sz="15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200025" indent="-200025" algn="l">
              <a:lnSpc>
                <a:spcPct val="112000"/>
              </a:lnSpc>
              <a:spcAft>
                <a:spcPts val="525"/>
              </a:spcAft>
              <a:buClr>
                <a:srgbClr val="1F3A5F"/>
              </a:buClr>
              <a:buChar char="•"/>
            </a:pP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增量：节假日边沿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3.4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、春运核心期 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2.1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、普通日 -0.2 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个百分点</a:t>
            </a:r>
            <a:endParaRPr sz="15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  <a:p>
            <a:pPr marL="200025" indent="-200025" algn="l">
              <a:lnSpc>
                <a:spcPct val="112000"/>
              </a:lnSpc>
              <a:spcAft>
                <a:spcPts val="525"/>
              </a:spcAft>
              <a:buClr>
                <a:srgbClr val="1F3A5F"/>
              </a:buClr>
              <a:buChar char="•"/>
            </a:pP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信息价值：主方案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5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29.0%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改进预测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35.1%；</a:t>
            </a: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完美预知上界降幅</a:t>
            </a:r>
            <a:r>
              <a:rPr sz="1500" b="0" i="0" dirty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 15.4%</a:t>
            </a:r>
          </a:p>
          <a:p>
            <a:pPr marL="200025" indent="-200025" algn="l">
              <a:lnSpc>
                <a:spcPct val="112000"/>
              </a:lnSpc>
              <a:spcAft>
                <a:spcPts val="0"/>
              </a:spcAft>
              <a:buClr>
                <a:srgbClr val="1F3A5F"/>
              </a:buClr>
              <a:buChar char="•"/>
            </a:pPr>
            <a:r>
              <a:rPr sz="1500" b="0" i="0" dirty="0" err="1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建议：正式方案把“服务率不低于现行”作为硬约束</a:t>
            </a:r>
            <a:endParaRPr sz="1500" b="0" i="0" dirty="0">
              <a:solidFill>
                <a:srgbClr val="222222"/>
              </a:solidFill>
              <a:latin typeface="Arial"/>
              <a:ea typeface="微软雅黑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六、创新点、政策对接与研究进度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三项可能的创新，并与“十五五”综合交通枢纽规划的四项要求直接对接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34472" y="6446520"/>
            <a:ext cx="1097280" cy="292608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lang="en-US" altLang="zh-CN" sz="100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19 / 21</a:t>
            </a:r>
            <a:r>
              <a:rPr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r>
              <a:rPr lang="en-US" altLang="zh-CN" sz="1000" b="0" i="0" dirty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/>
            </a:r>
            <a:endParaRPr sz="1000" b="0" i="0" dirty="0">
              <a:solidFill>
                <a:srgbClr val="6C757D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39312" cy="2011680"/>
          </a:xfrm>
          <a:prstGeom prst="rect">
            <a:avLst/>
          </a:prstGeom>
          <a:solidFill>
            <a:srgbClr val="E3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3639312" cy="4114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创新一 · 研究对象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929384"/>
            <a:ext cx="3529584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在“多重节律叠加”框架下，于县域尺度同时估计八个因子族的权重，为“集日是否重要”等地方经验提供可检验的定量证据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4820" y="1463040"/>
            <a:ext cx="3639312" cy="20116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4820" y="1463040"/>
            <a:ext cx="3639312" cy="4114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创新二 · 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9684" y="1929384"/>
            <a:ext cx="3529584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引入收益管理的删失需求还原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，构建“删失负二项—因子族 Shapley 分解—按情景 Mondrian 共形”链条，并在已知真值的模拟系统中检验其相对熵权法、灰色关联和 SHAP 的优势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63040"/>
            <a:ext cx="3639312" cy="2011680"/>
          </a:xfrm>
          <a:prstGeom prst="rect">
            <a:avLst/>
          </a:prstGeom>
          <a:solidFill>
            <a:srgbClr val="FCE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63040"/>
            <a:ext cx="3639312" cy="41148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创新三 · 应用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1929384"/>
            <a:ext cx="3529584" cy="1508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“固定层承担稳定节律、次日柔性层承担不规则节律”的半柔性配置</a:t>
            </a:r>
            <a:r>
              <a:rPr sz="1400" b="0" i="0" baseline="3000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</a:t>
            </a:r>
            <a:r>
              <a:rPr sz="14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，用信息价值量化预测改进的边际收益，形成县级可操作的排班流程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84448"/>
            <a:ext cx="11274552" cy="365760"/>
          </a:xfrm>
          <a:prstGeom prst="rect">
            <a:avLst/>
          </a:prstGeom>
          <a:noFill/>
        </p:spPr>
        <p:txBody>
          <a:bodyPr wrap="square" lIns="73152" tIns="18288" rIns="73152" bIns="18288" anchor="t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与《综合交通枢纽发展“十五五”规划》的对接</a:t>
            </a:r>
            <a:r>
              <a:rPr sz="1600" b="1" i="0" baseline="3000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[3]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05072"/>
            <a:ext cx="2715768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4005072"/>
            <a:ext cx="260604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① 运行时刻对接与“最晚一班”兜底（第六条）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15084" y="4754880"/>
            <a:ext cx="0" cy="21945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4992624"/>
            <a:ext cx="2715768" cy="65836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4992624"/>
            <a:ext cx="2606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 dirty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300" b="1" i="0" dirty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3.1</a:t>
            </a:r>
            <a:r>
              <a:rPr sz="1300" b="1" i="0" dirty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300" b="1" i="0" dirty="0" err="1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固定时刻表保留首末班</a:t>
            </a:r>
            <a:endParaRPr sz="1300" b="1" i="0" dirty="0">
              <a:solidFill>
                <a:srgbClr val="2A9D8F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10128" y="4005072"/>
            <a:ext cx="2715768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64992" y="4005072"/>
            <a:ext cx="260604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② 客流监测与高峰期预警（第十四条）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68012" y="4754880"/>
            <a:ext cx="0" cy="21945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310128" y="4992624"/>
            <a:ext cx="2715768" cy="65836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64992" y="4992624"/>
            <a:ext cx="2606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RQ2 次日每班人数与坐满可能性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4005072"/>
            <a:ext cx="2715768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4005072"/>
            <a:ext cx="260604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③ 平时调度、数据集与算法（第十五条）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520940" y="4754880"/>
            <a:ext cx="0" cy="21945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63056" y="4992624"/>
            <a:ext cx="2715768" cy="658368"/>
          </a:xfrm>
          <a:prstGeom prst="rect">
            <a:avLst/>
          </a:prstGeom>
          <a:solidFill>
            <a:srgbClr val="E3F2F0"/>
          </a:solidFill>
          <a:ln w="127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17920" y="4992624"/>
            <a:ext cx="2606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A9D8F"/>
                </a:solidFill>
                <a:latin typeface="Arial"/>
                <a:ea typeface="微软雅黑"/>
                <a:cs typeface="Arial"/>
              </a:rPr>
              <a:t>统一数据口径与可复现代码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15984" y="4005072"/>
            <a:ext cx="2715768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70848" y="4005072"/>
            <a:ext cx="2606040" cy="7315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④ 适老化（2030 年目标）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73867" y="4754880"/>
            <a:ext cx="0" cy="219456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9015984" y="4992624"/>
            <a:ext cx="2715768" cy="658368"/>
          </a:xfrm>
          <a:prstGeom prst="rect">
            <a:avLst/>
          </a:prstGeom>
          <a:solidFill>
            <a:srgbClr val="FCEBE5"/>
          </a:solidFill>
          <a:ln w="1270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70848" y="4992624"/>
            <a:ext cx="2606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RQ</a:t>
            </a:r>
            <a:r>
              <a:rPr lang="en-US" altLang="zh-CN"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3.2</a:t>
            </a:r>
            <a:r>
              <a:rPr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 </a:t>
            </a:r>
            <a:r>
              <a:rPr sz="1300" b="1" i="0" dirty="0" err="1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前晚</a:t>
            </a:r>
            <a:r>
              <a:rPr lang="zh-TW" altLang="en-US" sz="1300" b="1" i="0" dirty="0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派</a:t>
            </a:r>
            <a:r>
              <a:rPr sz="1300" b="1" i="0" dirty="0" err="1">
                <a:solidFill>
                  <a:srgbClr val="E76F51"/>
                </a:solidFill>
                <a:latin typeface="Arial"/>
                <a:ea typeface="微软雅黑"/>
                <a:cs typeface="Arial"/>
              </a:rPr>
              <a:t>车，不需乘客预约</a:t>
            </a:r>
            <a:endParaRPr sz="1300" b="1" i="0" dirty="0">
              <a:solidFill>
                <a:srgbClr val="E76F51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5760720"/>
            <a:ext cx="11274552" cy="594360"/>
          </a:xfrm>
          <a:prstGeom prst="rect">
            <a:avLst/>
          </a:prstGeom>
          <a:solidFill>
            <a:srgbClr val="FFF4D1"/>
          </a:solidFill>
          <a:ln w="12700">
            <a:solidFill>
              <a:srgbClr val="E9C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760720"/>
            <a:ext cx="11091672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定位：规划重在枢纽建设与衔接，没有专门针对县域城乡公交排班的条款；本研究对接的是规划“软硬结合”中的运营服务一侧，位于多层级枢纽体系的县域末端。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参考文献（1/2）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3212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[1] 交通运输部. 关于积极推进城乡道路客运一体化发展的意见: 交运发〔2011〕490号[EB/OL]. (2011-09-13)[2026-09-30]. https://www.gov.cn/zwgk/2011-09/22/content_1953581.htm.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[2] 交通运输部办公厅. 交通运输部办公厅关于印发《农村道路客运运营服务指南（试行）》的通知: 交办运函〔2024〕1237号[EB/OL]. (2024-06-24)[2026-09-30]. https://www.gov.cn/zhengce/zhengceku/202406/content_6960241.htm.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[3] 交通运输部, 国家发展改革委, 财政部, 等. 关于印发《综合交通枢纽发展“十五五”规划》的通知: 交规划发〔2026〕118号[Z]. 2026-09-10.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[4] 宫玉茹, 胡昊宇, 王列, 等. 社会排斥视角下山区农村交通劣势与相对贫困的关系研究——以贵州省黄平县为例[J]. 地理科学进展, 2026, 45(4): 838-852. DOI: 10.18306/dlkxjz.2026.04.012.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[5] 邓丽, 邵景安, 郭跃, 等. 基于改进的两步移动搜索法的山区医疗服务空间可达性——以重庆市石柱县为例[J]. 地理科学进展, 2015, 34(6): 716-725. DOI: 10.18306/dlkxjz.2015.06.007.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[6] Farrington J, Farrington C. Rural accessibility, social inclusion and social justice: towards conceptualisation[J]. Journal of Transport Geography, 2005, 13(1): 1-12. DOI: 10.1016/j.jtrangeo.2004.10.002.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[7] Lucas K. Transport and social exclusion: Where are we now?[J]. Transport Policy, 2012, 20: 105-113. DOI: 10.1016/j.tranpol.2012.01.013.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[8] 王姣娥, 何宛芩, 黄洁, 等. 中国城乡交通融合的理论内涵与空间格局[J]. 地理学报, 2026, 81(4): 966-985. DOI: 10.11821/dlxb202604003.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[9] Hägerstrand T. What about people in Regional Science?[J]. Papers of the Regional Science Association, 1970, 24(1): 6-21. DOI: 10.1007/bf01936872.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[10] Kwan M P. Space‐Time and Integral Measures of Individual Accessibility: A Comparative Analysis Using a Point‐based Framework[J]. Geographical Analysis, 1998, 30(3): 191-216. DOI: 10.1111/j.1538-4632.1998.tb00396.x.</a:t>
            </a:r>
          </a:p>
          <a:p>
            <a:pPr marL="289560" indent="-289560" algn="l">
              <a:lnSpc>
                <a:spcPct val="100000"/>
              </a:lnSpc>
              <a:spcAft>
                <a:spcPts val="19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[11] Boisjoly G, El-Geneidy A. Daily fluctuations in transit and job availability: A comparative assessment of time-sensitive accessibility measures[J]. Journal of Transport Geography, 2016, 52: 73-81. DOI: 10.1016/j.jtrangeo.2016.03.004.</a:t>
            </a:r>
          </a:p>
          <a:p>
            <a:pPr marL="289560" indent="-289560"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[12] Farber S, Morang MZ, Widener MJ. Temporal variability in transit-based accessibility to supermarkets[J]. Applied Geography, 2014, 53: 149-159. DOI: 10.1016/j.apgeog.2014.06.012.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417320"/>
            <a:ext cx="553212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[13] Hongtai Yang, Christopher Cherry. Use characteristics and demographics of rural transit riders: a case study in Tennessee[J]. Transportation Planning and Technology, 2016, 40(2): 213-227. DOI: 10.1080/03081060.2016.1266168.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[14] Pas E, Koppelman F. An examination of the determinants of day-to-day variability in individuals' urban travel behavior[J]. Transportation, 1987, 14(1). DOI: 10.1007/bf00172463.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[15] Skinner G W. Marketing and Social Structure in Rural China, Part I[J]. The Journal of Asian Studies, 1964, 24(1): 3-43. DOI: 10.2307/2050412.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[16] Shao M, Han Y, Zheng B, et al. Grey Relational Model Considering Risk Psychology and Its Application in the Analysis of Influencing Factors of Transportation Carbon Emissions[J]. Advances in Engineering Technology Research, 2026, 17(1): 1. DOI: 10.56028/aetr.17.1.1.2026.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[17] Weatherford LR, Pölt S. Better unconstraining of airline demand data in revenue management systems for improved forecast accuracy and greater revenues[J]. Journal of Revenue and Pricing Management, 2002, 1(3): 234-254. DOI: 10.1057/palgrave.rpm.5170027.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[18] 赵阳阳，夏亮，江欣国. 基于经验模态分解与长短时记忆神经网络的短时地铁客流预测模型[J]. 交通运输工程学报, 2020, 20(4): 194-204. DOI: 10.19818/j.cnki.1671-1637.2020.04.016.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[19] 赵建东，申瑾，刘麟玮. 多源数据驱动CNN-GRU模型的公交客流量分类预测[J]. 交通运输工程学报, 2021, 21(5): 265-273. DOI: 10.19818/j.cnki.1671-1637.2021.05.022.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[20] Errico F, Crainic TG, Malucelli F, et al. A survey on planning semi-flexible transit systems: Methodological issues and a unifying framework[J]. Transportation Research Part C: Emerging Technologies, 2013, 36: 324-338. DOI: 10.1016/j.trc.2013.08.010.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[21] 姜晓红，李家伟，严亚丹，等. 考虑动态换乘的农村需求响应公交双向联合调度[J]. 中国公路学报, 2026, 39(8): 422-437. DOI: 10.19721/j.cnki.1001-7372.2026.08.027.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[22] Elmachtoub A N, Grigas P. Smart “Predict, then Optimize”[J]. Management Science, 2022, 68(1): 9-26. DOI: 10.1287/mnsc.2020.3922.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[23] Nosek BA, Ebersole CR, DeHaven AC, et al. The preregistration revolution[J]. Proceedings of the National Academy of Sciences, 2018, 115(11): 2600-2606. DOI: 10.1073/pnas.1708274114.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[24] Roberts D R, Bahn V, Ciuti S, et al. Cross‐validation strategies for data with temporal, spatial, hierarchical, or phylogenetic structure[J]. Ecography, 2017, 40(8): 913-929. DOI: 10.1111/ecog.02881.</a:t>
            </a:r>
          </a:p>
          <a:p>
            <a:pPr marL="274320" indent="-274320"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[25] Kapoor S, Narayanan A. Leakage and the reproducibility crisis in machine-learning-based science[J]. Patterns, 2023, 4(9): 100804. DOI: 10.1016/j.patter.2023.100804.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0" y="73152"/>
            <a:ext cx="5330952" cy="274320"/>
          </a:xfrm>
          <a:prstGeom prst="rect">
            <a:avLst/>
          </a:prstGeom>
          <a:noFill/>
        </p:spPr>
        <p:txBody>
          <a:bodyPr wrap="square" lIns="73152" tIns="0" rIns="73152" bIns="0" anchor="t">
            <a:no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6C757D"/>
                </a:solidFill>
                <a:latin typeface="Arial"/>
                <a:ea typeface="微软雅黑"/>
                <a:cs typeface="Arial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969264"/>
          </a:xfrm>
          <a:prstGeom prst="rect">
            <a:avLst/>
          </a:prstGeom>
          <a:noFill/>
        </p:spPr>
        <p:txBody>
          <a:bodyPr wrap="square" lIns="73152" tIns="0" rIns="73152" bIns="0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F3A5F"/>
                </a:solidFill>
                <a:latin typeface="Arial"/>
                <a:ea typeface="微软雅黑"/>
                <a:cs typeface="Arial"/>
              </a:rPr>
              <a:t>参考文献（2/2）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1872"/>
            <a:ext cx="11274552" cy="3200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0" rIns="73152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53212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[26] Guo Z, Wilson NHM, Rahbee A. Impact of Weather on Transit Ridership in Chicago, Illinois[J]. Transportation Research Record: Journal of the Transportation Research Board, 2007, 2034(1): 3-10. DOI: 10.3141/2034-01.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[27] Li J, Cao J. The impact of weather on public bus ridership: empirical findings from Chenzhou, China[J]. Public Transport, 2024, 17(2): 591-610. DOI: 10.1007/s12469-024-00374-7.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[28] 冯忠祥，刘浩学，张景峰. 农村人口出行方式选择模型[J]. 交通运输工程学报, 2010, 10(3): 77-83. DOI: 10.19818/j.cnki.1671-1637.2010.03.014.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[29] Hausman J A, Hall B H, Griliches Z. Econometric Models for Count Data with an Application to the Patents-R &amp; D Relationship[J]. Econometrica, 1984, 52(4): 909. DOI: 10.2307/1911191.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[30] Guo P, Xiao B, Li J. Unconstraining Methods in Revenue Management Systems: Research Overview and Prospects[J]. Advances in Operations Research, 2012, 2012: 1-23. DOI: 10.1155/2012/270910.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[31] Lipovetsky S, Conklin M. Analysis of regression in game theory approach[J]. Applied Stochastic Models in Business and Industry, 2001, 17(4): 319-330. DOI: 10.1002/asmb.446.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[32] Grömping U. Estimators of Relative Importance in Linear Regression Based on Variance Decomposition[J]. The American Statistician, 2007, 61(2): 139-147. DOI: 10.1198/000313007x188252.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[33] Aas K, Jullum M, Løland A. Explaining individual predictions when features are dependent: More accurate approximations to Shapley values[J]. Artificial Intelligence, 2021, 298: 103502. DOI: 10.1016/j.artint.2021.103502.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[34] Friedman JH. Greedy function approximation: A gradient boosting machine[J]. The Annals of Statistics, 2001, 29(5): 1189-1232. DOI: 10.1214/aos/1013203451.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[35] Jing Lei, Max G’Sell, Alessandro Rinaldo, et al. Distribution-Free Predictive Inference for Regression[J]. Journal of the American Statistical Association, 2017, 113(523): 1094-1111. DOI: 10.1080/01621459.2017.1307116.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[36] Anastasios N. Angelopoulos, Stephen Bates. Conformal Prediction: A Gentle Introduction[J]. Foundations and Trends® in Machine Learning, 2023, 16(4): 494-591. DOI: 10.1561/2200000101.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[37] Hyndman RJ, Koehler AB. Another look at measures of forecast accuracy[J]. International Journal of Forecasting, 2006, 22(4): 679-688. DOI: 10.1016/j.ijforecast.2006.03.001.</a:t>
            </a:r>
          </a:p>
          <a:p>
            <a:pPr marL="274320" indent="-274320"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[38] Diebold FX, Mariano RS. Comparing Predictive Accuracy[J]. Journal of Business &amp;amp; Economic Statistics, 1995, 13(3): 253-263. DOI: 10.1080/07350015.1995.10524599.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9632" y="1417320"/>
            <a:ext cx="5532120" cy="4937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[39] Czado C, Gneiting T, Held L. Predictive Model Assessment for Count Data[J]. Biometrics, 2009, 65(4): 1254-1261. DOI: 10.1111/j.1541-0420.2009.01191.x.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[40] Hadas Y, Shnaiderman M. Public-transit frequency setting using minimum-cost approach with stochastic demand and travel time[J]. Transportation Research Part B Methodological, 2012, 46(8): 1068-1084. DOI: 10.1016/j.trb.2012.02.010.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[41] Ceder A. Bus frequency determination using passenger count data[J]. Transportation Research Part A: General, 1984, 18(5-6): 439-453. DOI: 10.1016/0191-2607(84)90019-0.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[42] Ibarra-Rojas OJ, Delgado F, Giesen R, et al. Planning, operation, and control of bus transport systems: A literature review[J]. Transportation Research Part B: Methodological, 2015, 77: 38-75. DOI: 10.1016/j.trb.2015.03.002.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[43] Gkiotsalitis K, Alesiani F. Robust timetable optimization for bus lines subject to resource and regulatory constraints[J]. Transportation Research Part E: Logistics and Transportation Review, 2019, 128: 30-51. DOI: 10.1016/j.tre.2019.05.016.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[44] Durán-Micco J, Vansteenwegen P. A survey on the transit network design and frequency setting problem[J]. Public Transport, 2021, 14(1): 155-190. DOI: 10.1007/s12469-021-00284-y.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[45] 王晓伟，吴松屿，曹恺，等. 多车型混编公交车队发车时刻及车型联合优化[J]. 中国公路学报, 2024, 37(6): 253-266. DOI: 10.19721/j.cnki.1001-7372.2024.06.021.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[46] Liu Y, Wang G, Jia S. Optimization of Transit Route and Frequency for Integrated Urban-Rural Transit Network[J]. Journal of Advanced Transportation, 2025, 2025(1): 9728885. DOI: 10.1155/atr/9728885.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[47] Mulley C, Nelson JD. Flexible transport services: A new market opportunity for public transport[J]. Research in Transportation Economics, 2009, 25(1): 39-45. DOI: 10.1016/j.retrec.2009.08.008.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[48] Currie G, Fournier N. Why most DRT/Micro-Transits fail – What the survivors tell us about progress[J]. Research in Transportation Economics, 2020, 83: 100895. DOI: 10.1016/j.retrec.2020.100895.</a:t>
            </a:r>
          </a:p>
          <a:p>
            <a:pPr marL="274320" indent="-274320" algn="l">
              <a:lnSpc>
                <a:spcPct val="100000"/>
              </a:lnSpc>
              <a:spcAft>
                <a:spcPts val="18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[49] Kleywegt AJ, Shapiro A, Homem-de-Mello T. The Sample Average Approximation Method for Stochastic Discrete Optimization[J]. SIAM Journal on Optimization, 2002, 12(2): 479-502. DOI: 10.1137/s1052623499363220.</a:t>
            </a:r>
          </a:p>
          <a:p>
            <a:pPr marL="274320" indent="-274320" algn="l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222222"/>
                </a:solidFill>
                <a:latin typeface="Arial"/>
                <a:ea typeface="微软雅黑"/>
                <a:cs typeface="Arial"/>
              </a:rPr>
              <a:t>[50] Mishra S, Mehran B, Sahu PK. Assessment of delivery models for semi-flexible transit operation in low-demand conditions[J]. Transport Policy, 2020, 99: 275-287. DOI: 10.1016/j.tranpol.2020.09.004.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8277</Words>
  <Application>Microsoft Macintosh PowerPoint</Application>
  <PresentationFormat>寬螢幕</PresentationFormat>
  <Paragraphs>674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 cian</cp:lastModifiedBy>
  <cp:revision>9</cp:revision>
  <dcterms:created xsi:type="dcterms:W3CDTF">2013-01-27T09:14:16Z</dcterms:created>
  <dcterms:modified xsi:type="dcterms:W3CDTF">2026-10-29T02:14:30Z</dcterms:modified>
  <cp:category/>
</cp:coreProperties>
</file>