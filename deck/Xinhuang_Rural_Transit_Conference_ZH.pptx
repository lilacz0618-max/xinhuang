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2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3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charts/chart4.xml" ContentType="application/vnd.openxmlformats-officedocument.drawingml.chart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2937"/>
                </a:solidFill>
                <a:latin typeface="Calibri"/>
              </a:rPr>
              <a:t>在两个相邻维度上均达到较深水平的研究（n = 72）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编码文献占比（%）</c:v>
                </c:pt>
              </c:strCache>
            </c:strRef>
          </c:tx>
          <c:spPr>
            <a:solidFill>
              <a:srgbClr val="1C4E8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明确乡村情境 + 客流时间序列</c:v>
                  </c:pt>
                  <c:pt idx="1">
                    <c:v>一手调查识别客群 + 驱动因素</c:v>
                  </c:pt>
                  <c:pt idx="2">
                    <c:v>量化不确定性 + 输入运营决策</c:v>
                  </c:pt>
                  <c:pt idx="3">
                    <c:v>估计驱动效应 + 非城市情境</c:v>
                  </c:pt>
                  <c:pt idx="4">
                    <c:v>班次级数据 + 量化不确定性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1.4</c:v>
                </c:pt>
                <c:pt idx="1">
                  <c:v>1.4</c:v>
                </c:pt>
                <c:pt idx="2">
                  <c:v>4.2</c:v>
                </c:pt>
                <c:pt idx="3">
                  <c:v>6.9</c:v>
                </c:pt>
                <c:pt idx="4">
                  <c:v>1.4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sz="1150" b="0" i="0" u="none" strike="noStrike">
                <a:solidFill>
                  <a:srgbClr val="1F2937"/>
                </a:solidFill>
                <a:latin typeface="Calibri"/>
              </a:rPr>
              <a:t>c  方差膨胀因子（主效应模型）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班次层面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 住校生</c:v>
                  </c:pt>
                  <c:pt idx="1">
                    <c:v>W 务工者</c:v>
                  </c:pt>
                  <c:pt idx="2">
                    <c:v>R 节假日返乡</c:v>
                  </c:pt>
                  <c:pt idx="3">
                    <c:v>CY 春运</c:v>
                  </c:pt>
                  <c:pt idx="4">
                    <c:v>T 开学放假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1.28</c:v>
                </c:pt>
                <c:pt idx="1">
                  <c:v>1.28</c:v>
                </c:pt>
                <c:pt idx="2">
                  <c:v>1.02</c:v>
                </c:pt>
                <c:pt idx="3">
                  <c:v>1.01</c:v>
                </c:pt>
                <c:pt idx="4">
                  <c:v>1.02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日总量层面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 住校生</c:v>
                  </c:pt>
                  <c:pt idx="1">
                    <c:v>W 务工者</c:v>
                  </c:pt>
                  <c:pt idx="2">
                    <c:v>R 节假日返乡</c:v>
                  </c:pt>
                  <c:pt idx="3">
                    <c:v>CY 春运</c:v>
                  </c:pt>
                  <c:pt idx="4">
                    <c:v>T 开学放假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3.69</c:v>
                </c:pt>
                <c:pt idx="1">
                  <c:v>5.87</c:v>
                </c:pt>
                <c:pt idx="2">
                  <c:v>1.24</c:v>
                </c:pt>
                <c:pt idx="3">
                  <c:v>2.2</c:v>
                </c:pt>
                <c:pt idx="4">
                  <c:v>1.08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0" i="0" strike="noStrike" sz="9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.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2937"/>
                </a:solidFill>
                <a:latin typeface="Calibri"/>
              </a:rPr>
              <a:t>90% 预测区间的实际覆盖率（名义值 0.90）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联合模型</c:v>
                </c:pt>
              </c:strCache>
            </c:strRef>
          </c:tx>
          <c:spPr>
            <a:solidFill>
              <a:srgbClr val="1C4E8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单班次</c:v>
                  </c:pt>
                  <c:pt idx="1">
                    <c:v>日总量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0.927</c:v>
                </c:pt>
                <c:pt idx="1">
                  <c:v>0.874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分立流水线</c:v>
                </c:pt>
              </c:strCache>
            </c:strRef>
          </c:tx>
          <c:spPr>
            <a:solidFill>
              <a:srgbClr val="9AA3A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单班次</c:v>
                  </c:pt>
                  <c:pt idx="1">
                    <c:v>日总量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0.916</c:v>
                </c:pt>
                <c:pt idx="1">
                  <c:v>0.389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5A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2937"/>
                </a:solidFill>
                <a:latin typeface="Calibri"/>
              </a:rPr>
              <a:t>成本—拒载前沿（α 自左至右从 0.5 到 0.05）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联合模型</c:v>
                </c:pt>
              </c:strCache>
            </c:strRef>
          </c:tx>
          <c:spPr>
            <a:solidFill>
              <a:srgbClr val="1C4E80"/>
            </a:solidFill>
            <a:ln w="25400" cap="flat">
              <a:solidFill>
                <a:srgbClr val="1C4E80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1C4E80"/>
              </a:solidFill>
              <a:ln w="9525" cap="flat">
                <a:solidFill>
                  <a:srgbClr val="1C4E80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898</c:v>
                </c:pt>
                <c:pt idx="1">
                  <c:v>564.6</c:v>
                </c:pt>
                <c:pt idx="2">
                  <c:v>300.4</c:v>
                </c:pt>
                <c:pt idx="3">
                  <c:v>170.5</c:v>
                </c:pt>
                <c:pt idx="4">
                  <c:v>54.4</c:v>
                </c:pt>
                <c:pt idx="5">
                  <c:v>659.2</c:v>
                </c:pt>
                <c:pt idx="6">
                  <c:v>409.7</c:v>
                </c:pt>
                <c:pt idx="7">
                  <c:v>209.7</c:v>
                </c:pt>
                <c:pt idx="8">
                  <c:v>110.2</c:v>
                </c:pt>
                <c:pt idx="9">
                  <c:v>34.8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231.6</c:v>
                </c:pt>
                <c:pt idx="1">
                  <c:v>370.7</c:v>
                </c:pt>
                <c:pt idx="2">
                  <c:v>653.7</c:v>
                </c:pt>
                <c:pt idx="3">
                  <c:v>962.6</c:v>
                </c:pt>
                <c:pt idx="4">
                  <c:v>1400.8</c:v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分立流水线</c:v>
                </c:pt>
              </c:strCache>
            </c:strRef>
          </c:tx>
          <c:spPr>
            <a:solidFill>
              <a:srgbClr val="9AA3AD"/>
            </a:solidFill>
            <a:ln w="25400" cap="flat">
              <a:solidFill>
                <a:srgbClr val="9AA3AD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898</c:v>
                </c:pt>
                <c:pt idx="1">
                  <c:v>564.6</c:v>
                </c:pt>
                <c:pt idx="2">
                  <c:v>300.4</c:v>
                </c:pt>
                <c:pt idx="3">
                  <c:v>170.5</c:v>
                </c:pt>
                <c:pt idx="4">
                  <c:v>54.4</c:v>
                </c:pt>
                <c:pt idx="5">
                  <c:v>659.2</c:v>
                </c:pt>
                <c:pt idx="6">
                  <c:v>409.7</c:v>
                </c:pt>
                <c:pt idx="7">
                  <c:v>209.7</c:v>
                </c:pt>
                <c:pt idx="8">
                  <c:v>110.2</c:v>
                </c:pt>
                <c:pt idx="9">
                  <c:v>34.8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346.3</c:v>
                </c:pt>
                <c:pt idx="6">
                  <c:v>530.9</c:v>
                </c:pt>
                <c:pt idx="7">
                  <c:v>872</c:v>
                </c:pt>
                <c:pt idx="8">
                  <c:v>1172.3</c:v>
                </c:pt>
                <c:pt idx="9">
                  <c:v>1515.9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000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Calibri"/>
                  </a:rPr>
                  <a:t>补充班次数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5A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16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Calibri"/>
                  </a:rPr>
                  <a:t>拒载人次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5A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开场（约 30 秒）。本报告介绍的是研究设计，而非研究结果。我先介绍新晃县概况和已掌握的数据，再说明已有文献做到了哪一步、在哪里止步，最后介绍研究框架和下一步工作。大家将看到的全部模型输出都是对方法的合成数据检验；真实台账的结果要在 2027 年 1 月 1 日方法冻结之后才会产生。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路线图。第一部分交代实证背景；第二部分按主题综述文献，每个主题最后说明本研究如何回应；第三部分介绍研究框架、背后的推理过程和工作计划。请强调状态框：处于设计阶段，只有合成数据检验。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第一部分：县域概况、公交服务、空间可达性与已有数据。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新晃位于湘黔交界，沪昆高铁和 G60 高速公路穿境而过。七条城乡线路全部从晃州的县汽车站发车；R5 凉伞线有一段途经贵州。人口是 WorldPop 模型估计值，只用于抽样权重，不是普查数。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请从右往左读这张表：红色的进城末班时间是最明显的服务缺口。地图显示路段供给：通往禾滩的共线段每天 41 班，而晏家这样的支线末端只有两班。这是供给而非需求；台账和问卷会告诉我们谁在坐这些车、什么时候坐。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两种空间节律。左图：17 个周期集市在尾数固定的两个农历日开市，相邻集市集期错开。由于总有某条线路沿线有集市开市，集期按线路作为控制变量建模。右图：R6 爬升到约 800 米，R3/R4 急弯很多；暑期跟车观察到长线路上有晕车，问卷现在会记录这一点。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左图：人口密度集中在晃州。右图：145 个村中有 91 个、约一半的模型人口，距已记录线路的路网距离超过 3 公里。距离定义会影响结果，我会报告其敏感性。入户调查正是围绕这三个可达性分层设计的。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账是整个研究的骨架：每个单程班次一行，记录总登乘人数。请注意数据被分成探索期和封存期，封存期在方法冻结前不会打开。其他每一类数据要么解释班次（日历、天气），要么构成抽样框（GIS），要么测量台账看不到的东西（问卷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数据模型刻意保持简单。与班次有关的一切通过班次键连接；与日期有关的一切通过日期连接；与地点有关的一切通过行政村代码连接。连接不使用任何个人标识。2026 年暑期问卷若没有记录发车时刻，就匹配 ±15 分钟内最近的计划班次，否则只在“线路 × 日”层面使用。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这是真实日历，不是合成数据。蓝色项由法规或算法确定；绿色学期已由官方通知核实；橙色为推定，已标记待核实。由于驱动因素可以提前获知，同一组变量既能用于解释，也能用于提前 1–7 天的预测。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第二部分。文献按研究链条分为六个主题：乘客与调查、驱动因素、分析单元、因素重叠、预测和服务设计。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关于文献证据的透明说明。英文文献来自 OpenAlex 并经人工筛选；规则本身不足以信赖。中文补检只使用合规途径；诚实的结论仅限于公开可及的范围，仍需中国知网系统检索。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题一。关于谁在坐车以及调查方式，已有共识很充分。缺口在于二者脱节：问卷只描述，台账只计数，两者很少相遇。我的回应是用班次键把它们连接起来，并把入户问卷留给任何台账都看不到的东西：从未发生的出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题二。天气和季节性在城市中研究充分；春节研究关注的是全国迁徙或地铁系统。像新晃这样的县域所缺少的，是反复出现、带方向的节律——住校生和周往返务工者——以及按重要性和放假天数对节假日的更细处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题三。文献在日和站点层面很丰富，但运营方的决策单位是班次。这一选择带来两个统计问题——小计数和删失——都有成熟工具可用。真实日历还说明了班次层面为何重要：在日总量中无法区分的两类通勤人群，在班次层面按方向被完全分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主题四是方法上的核心。流行病学文献告诉我们交互依赖于尺度；运营方关心的是多出来的人数，也就是加法尺度。常用工具都不先问：某项交互能否从日历中被识别？这正是我增加的一步。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主题五。预测理论已经成熟；缺口在于应用到乡村班次，更关键的是班次预测与日总量之间的一致性。日冲击设计就是我的回答：它让日总量区间变得可信。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主题六对应我的第五步。乡村纯 DRT 的证据令人警醒，老年乘客也不预约。混合设计很有前景，但很少由真实的概率预测驱动。在新晃，关键驱动因素可以提前数天获知，这使得无需预约系统也能提供补充服务。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这张表是第二、三部分之间的桥梁：每一行是一种常见做法、它为何不适合新晃的数据与决策，以及我所采用的具体设计选择。−14% 指第三步中的合成回测结果。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仅凭关键词共现不足以证明缺口，因此我用了三步：用精确率校正命中数、全数阅读窄式检索、深度编码。结果一致：每个主题都已成熟，但本研究所需的组合很少。我也明确说明了哪些结论不能下。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研究问题是推出来的，不是假定的。G3 是核心方法缺口，对应被突出显示的 RQ2。如第三部分所示，阶段 S1–S5 是同一个模型的不同用法。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第三部分。我将介绍研究逻辑、框架的演进、一体化模型，然后依次介绍每一步，最后是进度安排。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这是我最初构想的研究逻辑，现在对应到阶段 S1–S5 和各研究问题。第二步包括我最初设想的全部因素——集期、天气、公历与农历节假日、学校寒暑假——但如后面几页所示，它们被更精确地编码，其中一些作为控制变量。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展示推理过程。每一次修订都来自证据：合成验证、数据可得性、评审意见，或我发现并纠正的错误。方向错误值得多讲几句：模型拟合良好却是错的，这就是问卷现在加入“您通常坐几点的车去、几点的车回”的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体化框架。左侧：所有输入都可提前获得。中间：一个模型，其参数就是效应（S3），其加总就是日总量（S2）。右侧：其预测分布就是预测（S4），决策（S5）直接在预测样本上计算，因此不确定性从参数一直传到决策。问卷通过周转系数提供删失点，并检验客群分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类问卷只承担一项任务。秋季周末一轮针对能区分住校生和务工者的分层，另设周二至周四下午的对照层。冬季一轮覆盖春运，这是最难预测的时段。入户问卷是看到非乘客的唯一途径。无论完成多少份问卷，每个抽中班次都要填写上下客记录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题识别在三类问卷中使用同一道强迫选择题，便于比较乘客与非乘客；未满足需求按回忆期内的行为测量，可以与台账核对。入户样本按第一部分所示的可达性分层抽取，近线村比按比例分配更多，以保证每一层都能单独估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我最初设想的五类时间驱动因素的操作化方式。节假日按重要性和放假天数区分；春节单独设因子；假期关闭住校生因子并产生开学放假集中流。集期和天气作为控制变量留在模型中，因此其效应仍会被估计。示意图说明了方向为何重要：周五下午学生回家，而务工者返回县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这一证据只用了真实时刻表和日历——没有用到客流数值，因此不依赖合成数据。它同时支持班次级分析单元和可识别性筛选。S = 住校生，W = 务工者，R = 节假日返乡，CY = 春运，T = 开学放假。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一句话概括模型：潜在需求服从负二项分布，在有效上限处删失，基线是乘法形式，日历效应以加法形式放在方括号内。效应通过开关因子来定义，因此不同方法之间可以比较。每个效应按格报告 95% 区间和班次数；少于 200 个班次的格标注为低支持。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合成回测：我在真实时刻表和日历上、按已知效应生成客流，设置四种不同的“真实世界”，看哪种估计方法能还原真值。主要结论：预测评分无法区分方法；尺度最重要；删失处理很重要；对叠加项加惩罚会压缩真实存在的吸收。方法选择在打开任何真实检验数据之前冻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预测是一组模拟出来的未来。因为每组样本中同一天的所有班次共享一个全县冲击，日总量自动包含了它们之间的相关性。在合成检验中，两种做法对单班次的预测同样好；只有联合模型的日总量区间接近名义覆盖率——而这正是日前备用运力决策所需要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服务规划以固定时刻表为基础层，因为老年乘客不会预约。在此之上：前一天根据日总量预测确定的备用运力，以及在预测显示可能超载的班次上触发的补班。我不声称存在唯一最优方案；我给交通运输局一条前沿，由成本比来决定。合成数据结果，情景 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假设和判读规则在分析数据之前写定，并与冻结的方法一起加时间戳登记，因此结果出来后不能再重新解释。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两条硬约束决定了进度：一是季节窗口（秋季学期是冬季之前检验住校生和务工者编码的唯一学期内窗口；寒假和春运一旦错过就要再等一年）；二是先冻结、后检验（方法和判读规则在 2027 年 1 月 1 日冻结，之后才打开封存数据）。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近期的关键路径是台账：没有班次级记录，RQ2 至 RQ4 只能退回到日层面模型。其余每一项都事先写好了备用方案。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三类贡献。两篇论文使用同一套数据和同一个模型，但回答不同的问题：论文一报告参数（效应），论文二报告参数的用途（预测与决策）。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最后我列出已知的局限，以及四个最希望听取各位经验的问题，尤其是加班以外的补充服务形式。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三点结论，然后欢迎提问。附录包括问卷结构、抽样分层和完整参考文献。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 A1：47 个题项的题库如何组织。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 A2：秋季与寒假跟车调查的分层，取自第五版抽样工作簿。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参考文献（APA 格式，简写）。含 DOI 的完整 GB/T 7714 著录见第五版资料包文件一至五。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参考文献（APA 格式，简写）。含 DOI 的完整 GB/T 7714 著录见第五版资料包文件一至五。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参考文献（APA 格式，简写）。含 DOI 的完整 GB/T 7714 著录见第五版资料包文件一至五。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46520" y="0"/>
            <a:ext cx="5745175" cy="685800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pic>
        <p:nvPicPr>
          <p:cNvPr id="3" name="Image 0" descr="新晃县及其七条城乡公交线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089168"/>
            <a:ext cx="5349240" cy="43139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766560" y="58978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以县汽车站（■）为起点放射分布的七条城乡公交线路；地形取自 Copernicus GLO-30 数字高程模型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进行中的工作 · 研究设计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63040"/>
            <a:ext cx="5577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新晃县城乡公共交通研究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42900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湘西山区县的单班次需求、相互重叠的日历节律与基于预测的公交服务规划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8920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</a:t>
            </a:r>
            <a:endParaRPr lang="en-US" sz="1300" dirty="0"/>
          </a:p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新加坡国立大学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概览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从一个地方性公交服务问题到一项可检验的研究设计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 · 新加坡国立大学 · 新晃县城乡公共交通研究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2 / 39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57276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C4E80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I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402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研究区域与数据</a:t>
            </a:r>
            <a:endParaRPr lang="en-US" sz="17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78892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新晃的七条放射状公交线路</a:t>
            </a:r>
            <a:endParaRPr lang="en-US" sz="13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地形、周期集市与可达性</a:t>
            </a:r>
            <a:endParaRPr lang="en-US" sz="13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已有数据、数据结构与公开日历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15968" y="141732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44568" y="157276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C4E80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II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544568" y="22402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已有研究告诉我们什么</a:t>
            </a:r>
            <a:endParaRPr lang="en-US" sz="175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278892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六个主题：共识、方法与局限</a:t>
            </a:r>
            <a:endParaRPr lang="en-US" sz="13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从既有做法到本研究的设计选择</a:t>
            </a:r>
            <a:endParaRPr lang="en-US" sz="13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五个研究缺口 → 四个研究问题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83296" y="141732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E3ECF6"/>
          </a:solidFill>
          <a:ln w="12700">
            <a:solidFill>
              <a:srgbClr val="E3EC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11896" y="157276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C4E80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III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8311896" y="22402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研究框架与下一步工作</a:t>
            </a:r>
            <a:endParaRPr lang="en-US" sz="1750" dirty="0"/>
          </a:p>
        </p:txBody>
      </p:sp>
      <p:sp>
        <p:nvSpPr>
          <p:cNvPr id="17" name="Text 15"/>
          <p:cNvSpPr txBox="1"/>
          <p:nvPr/>
        </p:nvSpPr>
        <p:spPr>
          <a:xfrm>
            <a:off x="8311896" y="278892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五步研究逻辑及其演进过程</a:t>
            </a:r>
            <a:endParaRPr lang="en-US" sz="13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问卷调查、日历因子与单班次模型</a:t>
            </a:r>
            <a:endParaRPr lang="en-US" sz="13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预测、服务规划与进度安排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892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核心问题 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当乡村日历节律（上学周、工作周、节假日、春节）相互重叠时，每一种节律会给单个公交班次带来多少需求？对这些需求的预测又如何让固定的乡村时刻表更具弹性？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715000"/>
            <a:ext cx="11094415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1430">
            <a:solidFill>
              <a:srgbClr val="7C5CA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576072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3F8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现状：研究设计阶段。报告中所有模型结果都是检验方法能否还原已知效应的合成数据（SYNTHETIC）试验；尚未报告任何新晃真实客流结果。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dirty="0">
                <a:solidFill>
                  <a:srgbClr val="1C4E80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I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88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研究区域与数据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问题所在：一个山区边界县、七条放射状线路，以及目前已收集的数据。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一  研究区域与数据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二  已有研究告诉我们什么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50392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三  研究框架与下一步工作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3 / 39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一 · 研究区域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新晃：由七条放射状线路服务的山区边界县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 · 新加坡国立大学 · 新晃县城乡公共交通研究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4 / 39</a:t>
            </a:r>
            <a:endParaRPr lang="en-US" sz="850" dirty="0"/>
          </a:p>
        </p:txBody>
      </p:sp>
      <p:pic>
        <p:nvPicPr>
          <p:cNvPr id="6" name="Image 0" descr="新晃县研究区域及七条公交线路地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6570380" cy="52303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543800" y="13258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C4E80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约 1,500 km²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7543800" y="17099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新晃侗族自治县，位于湘西，与贵州接壤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543800" y="22585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C4E80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11 + 1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7543800" y="264261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个乡镇另加一个国有林场；145 个行政村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543800" y="319125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C4E80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≈244,700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7543800" y="357530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常住人口（WorldPop 2020 模型估计值，并非普查数）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543800" y="412394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C4E80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7 条线路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7543800" y="45079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全部从晃州县汽车站发出，单程 26–61 公里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543800" y="50566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C4E80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每日 136 班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7543800" y="5440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单程计划班次；招手即停，无分站点计数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一 · 现行服务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固定时刻表：离开干线走廊后班次迅速稀疏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 · 新加坡国立大学 · 新晃县城乡公共交通研究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5 / 39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98448"/>
          <a:ext cx="6720840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1170432"/>
                <a:gridCol w="502920"/>
                <a:gridCol w="822960"/>
                <a:gridCol w="868680"/>
                <a:gridCol w="1417320"/>
                <a:gridCol w="13716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线路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终点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km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驾车分钟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日班次*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出城首末班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进城首末班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R1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扶罗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33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45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7:00–17:00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7:00–17:00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R2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贡溪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45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58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6:50–16:30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7:00–16:00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R3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步头降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46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74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8:00–16:00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6:30–14:30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R4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米贝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50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79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7:00–16:00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6:10–15:00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R5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凉伞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61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95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7:10–16:20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6:30–15:00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R6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晏家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27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47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10:30–15:30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6:50–12:30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R7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新店坪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26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34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6:40–16:30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7:00–17:00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3584448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* 每个方向每日单程班次。里程和驾车时间取自高德地图；时刻表取自运营方线路文档。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977640"/>
            <a:ext cx="6720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时刻表已经显示的问题（待问卷核实）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251960"/>
            <a:ext cx="67208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供给高度集中：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晃州—禾滩 17 公里干线每日 41 班（R1–R4 共线）；支线末端仅 2–10 班。</a:t>
            </a:r>
            <a:endParaRPr lang="en-US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进城末班过早：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7 条线路中有 4 条的进城末班在 15:00 前发车（R6 为 12:30），下午进县城已无车可乘。</a:t>
            </a:r>
            <a:endParaRPr lang="en-US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当日往返受限：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出城末班在 15:30–17:00 之间。</a:t>
            </a:r>
            <a:endParaRPr lang="en-US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数据粒度：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台账记录每个单程班次的全程总登乘人数——没有分站点上车数，也没有起讫点。</a:t>
            </a:r>
            <a:endParaRPr lang="en-US" sz="1200" dirty="0"/>
          </a:p>
        </p:txBody>
      </p:sp>
      <p:pic>
        <p:nvPicPr>
          <p:cNvPr id="10" name="Image 0" descr="各路段计划单程班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298448"/>
            <a:ext cx="4160520" cy="341757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98080" y="482574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各路段计划单程班次。这是供给而非需求：谁坐这些车、什么时候坐，要由台账和问卷来揭示。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一 · 空间背景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地形与周期集市决定村民何时出行、如何出行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 · 新加坡国立大学 · 新晃县城乡公共交通研究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6 / 39</a:t>
            </a:r>
            <a:endParaRPr lang="en-US" sz="850" dirty="0"/>
          </a:p>
        </p:txBody>
      </p:sp>
      <p:pic>
        <p:nvPicPr>
          <p:cNvPr id="6" name="Image 0" descr="按农历周期划分的集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650"/>
            <a:ext cx="5074920" cy="41686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53212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17 个集市，按农历五日一轮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76072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相邻集市的集期错开，因此每个农历日总有某条线路 2 公里内有集市（R2：全部十个日期尾数；R7：四个）。所以集期在模型中作为按线路设定的基线控制变量，而不是核心驱动因素。</a:t>
            </a:r>
            <a:endParaRPr lang="en-US" sz="1050" dirty="0"/>
          </a:p>
        </p:txBody>
      </p:sp>
      <p:pic>
        <p:nvPicPr>
          <p:cNvPr id="9" name="Image 1" descr="七条线路的高程剖面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709471"/>
            <a:ext cx="3611880" cy="3539642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46920" y="1298448"/>
          <a:ext cx="20116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548640"/>
                <a:gridCol w="502920"/>
                <a:gridCol w="5029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线路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累计爬升 m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弯道 %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km/h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R1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419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44.0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R2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613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46.6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R3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672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16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37.3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R4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762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18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38.0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R5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667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38.5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R6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576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28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34.5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R7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191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45.9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9646920" y="3401568"/>
            <a:ext cx="2011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累计爬升、急弯路段里程占比和导航车速（第四版线路分析）。弯多、爬坡多的线路正是跟车调查观察到晕车的线路——现在已按班次记录（题项 Z4）。</a:t>
            </a:r>
            <a:endParaRPr lang="en-US" sz="950" dirty="0"/>
          </a:p>
        </p:txBody>
      </p:sp>
      <p:sp>
        <p:nvSpPr>
          <p:cNvPr id="12" name="Text 7"/>
          <p:cNvSpPr txBox="1"/>
          <p:nvPr/>
        </p:nvSpPr>
        <p:spPr>
          <a:xfrm>
            <a:off x="5897880" y="57607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各线路沿程高程（Copernicus GLO-30 DEM，每 200 米取样）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一 · 可达性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一半的模型人口居住在距已记录线路路网距离 3 公里以外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 · 新加坡国立大学 · 新晃县城乡公共交通研究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7 / 39</a:t>
            </a:r>
            <a:endParaRPr lang="en-US" sz="850" dirty="0"/>
          </a:p>
        </p:txBody>
      </p:sp>
      <p:pic>
        <p:nvPicPr>
          <p:cNvPr id="6" name="Image 0" descr="145 个行政村的人口密度与可达性分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69395"/>
            <a:ext cx="7635240" cy="386201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01000" y="1371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C4E80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13%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9189720" y="138988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近线（≤1 公里）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19 个村 · 3.1 万人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20848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3987E5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37%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9189720" y="21031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中距（1–3 公里）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35 个村 · 9.0 万人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279806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4B5563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50%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9189720" y="281635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远线（&gt;3 公里）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91 个村 · 12.3 万人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36118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设计中已考虑的注意事项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001000" y="388620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“已记录线路”= 目前已确认走向的线路；线路清单将与运营方核对。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路网距离包含吸附段，因此分层偏向“远”：去掉吸附段后 88% 的村分层不变，改用直线距离则为 69%。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抽样仍然无偏（入样概率已知）；可达性模型将加密路网，并报告三种距离定义的结果。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30352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行政村为 2024 年湖南省行政村面（145 个）。人口：WorldPop 2020，1 公里，联合国调整，逐村汇总。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48640" y="5760720"/>
            <a:ext cx="7223760" cy="502920"/>
          </a:xfrm>
          <a:prstGeom prst="roundRect">
            <a:avLst>
              <a:gd name="adj" fmla="val 14545"/>
            </a:avLst>
          </a:prstGeom>
          <a:solidFill>
            <a:srgbClr val="E3ECF6"/>
          </a:solidFill>
          <a:ln w="12700">
            <a:solidFill>
              <a:srgbClr val="E3ECF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580644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含义：大量乡村需求从未进入台账。未满足需求必须在村里按可达性分层测量。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一 · 数据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目前已收集的数据——以及每类数据能说明什么、不能说明什么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 · 新加坡国立大学 · 新晃县城乡公共交通研究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8 / 39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703320"/>
                <a:gridCol w="3291840"/>
                <a:gridCol w="171907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数据来源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内容与粒度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覆盖范围 / 状态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用途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单班次客流台账（县汽车站）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每个单程班次的全程总登乘人数：日期 × 线路 × 方向 × 发车时刻。无分站点或起讫点数据。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探索期：2024-06-01 至 2026-09-30（852 天）。封存期：2026 年 10 月至 2027 年 2 月，方法冻结后才取用。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S2–S5 的因变量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时刻表与座位数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7 条线路、每日 136 个单程班次 → 真实日历上的 115,872 个班次位置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时刻表已有；逐班次座位数待确认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抽样框；删失阈值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公开日历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法定节假日与调休上班日、农历、春运窗口、学期、高考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逐日，2024 年 6 月至 2027 年 2 月；每个日期按来源可靠程度分级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五个日历因子 + 对照变量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天气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各班次时窗内降水量和最高气温；天气预报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公开再分析 / 气象站数据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对照变量；预测输入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GIS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145 个行政村面（2024）、WorldPop 2020、OSM 道路与设施、GLO-30 DEM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逐文件评估；乡镇界由行政村融合生成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抽样框、可达性、地图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暑期跟车问卷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抽中班次上 16 周岁及以上乘客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2026 年 7 月 15 日至 8 月 31 日已完成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RQ1；已与班次连接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问卷工具（后续轮次）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4 套问卷，来自 13 个指标组、47 个题项的题库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已设计（第五版）；待预调查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RQ1、RQ4、诊断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文献基础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250 篇英文文献（含 25 篇方法文献）；10 篇已核验中文期刊论文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已筛选并完成深度编码；中国知网检索待执行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第二部分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742432"/>
            <a:ext cx="11094415" cy="530352"/>
          </a:xfrm>
          <a:prstGeom prst="roundRect">
            <a:avLst>
              <a:gd name="adj" fmla="val 1379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578815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有意剔除：工业园区排班、医院门诊排班和宏观市场周期——它们无法逐日可靠取得。如果它们确有影响，其效应会进入星期效应或残差（已列为局限）。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一 · 数据结构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三个键连接所有数据：班次键、日期和行政村代码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 · 新加坡国立大学 · 新晃县城乡公共交通研究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9 / 39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60520" y="141732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70248" y="1508760"/>
            <a:ext cx="36210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班次键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日期 × 线路 × 方向 × 计划发车时刻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60520" y="329184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3B6E9A"/>
          </a:solidFill>
          <a:ln w="12700">
            <a:solidFill>
              <a:srgbClr val="3B6E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70248" y="3383280"/>
            <a:ext cx="36210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日期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每个日历日一行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60520" y="507492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70248" y="5166360"/>
            <a:ext cx="36210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行政村代码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145 个行政村的统计用区划代码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118872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123444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客流台账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一行 = 一个单程班次（y = 总登乘人数）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01168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05740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时刻表与座位数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班次位置；有效上限 C = κ × 座位数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394192" y="118872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85632" y="123444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跟车问卷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题项 Z1 记录班次键；乘客类型（A3）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94192" y="201168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85632" y="205740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上下客记录表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周转系数 κ、满座拒载、未满 16 岁人数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38328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42900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日历因子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S、W、T、R、CY + 星期、集期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394192" y="338328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85632" y="342900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天气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班次时窗内降水；天气预报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93776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入户问卷（H0）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30 个抽中村；未满足需求及原因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66928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571500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线上问卷（O2）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老家所在村；节假日返乡时间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394192" y="489204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485632" y="493776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GIS 行政村抽样框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人口、路网距离、可达性分层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394192" y="566928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85632" y="571500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上车地点（A1、A12）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地名匹配到行政村代码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794760" y="1545336"/>
            <a:ext cx="365760" cy="237744"/>
          </a:xfrm>
          <a:prstGeom prst="line">
            <a:avLst/>
          </a:prstGeom>
          <a:noFill/>
          <a:ln w="15875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3794760" y="2057400"/>
            <a:ext cx="365760" cy="310896"/>
          </a:xfrm>
          <a:prstGeom prst="line">
            <a:avLst/>
          </a:prstGeom>
          <a:noFill/>
          <a:ln w="15875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H="1">
            <a:off x="8001000" y="1545336"/>
            <a:ext cx="393192" cy="237744"/>
          </a:xfrm>
          <a:prstGeom prst="line">
            <a:avLst/>
          </a:prstGeom>
          <a:noFill/>
          <a:ln w="15875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H="1" flipV="1">
            <a:off x="8001000" y="2057400"/>
            <a:ext cx="393192" cy="310896"/>
          </a:xfrm>
          <a:prstGeom prst="line">
            <a:avLst/>
          </a:prstGeom>
          <a:noFill/>
          <a:ln w="15875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 flipV="1">
            <a:off x="3794760" y="3721608"/>
            <a:ext cx="365760" cy="18288"/>
          </a:xfrm>
          <a:prstGeom prst="line">
            <a:avLst/>
          </a:prstGeom>
          <a:noFill/>
          <a:ln w="15875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H="1" flipV="1">
            <a:off x="8001000" y="3721608"/>
            <a:ext cx="393192" cy="18288"/>
          </a:xfrm>
          <a:prstGeom prst="line">
            <a:avLst/>
          </a:prstGeom>
          <a:noFill/>
          <a:ln w="15875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794760" y="5248656"/>
            <a:ext cx="365760" cy="164592"/>
          </a:xfrm>
          <a:prstGeom prst="line">
            <a:avLst/>
          </a:prstGeom>
          <a:noFill/>
          <a:ln w="15875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3794760" y="5669280"/>
            <a:ext cx="365760" cy="356616"/>
          </a:xfrm>
          <a:prstGeom prst="line">
            <a:avLst/>
          </a:prstGeom>
          <a:noFill/>
          <a:ln w="15875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H="1">
            <a:off x="8001000" y="5248656"/>
            <a:ext cx="393192" cy="164592"/>
          </a:xfrm>
          <a:prstGeom prst="line">
            <a:avLst/>
          </a:prstGeom>
          <a:noFill/>
          <a:ln w="15875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H="1" flipV="1">
            <a:off x="8001000" y="5669280"/>
            <a:ext cx="393192" cy="356616"/>
          </a:xfrm>
          <a:prstGeom prst="line">
            <a:avLst/>
          </a:prstGeom>
          <a:noFill/>
          <a:ln w="15875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6080760" y="2286000"/>
            <a:ext cx="0" cy="1005840"/>
          </a:xfrm>
          <a:prstGeom prst="line">
            <a:avLst/>
          </a:prstGeom>
          <a:noFill/>
          <a:ln w="12700">
            <a:solidFill>
              <a:srgbClr val="8B95A1"/>
            </a:solidFill>
            <a:prstDash val="dash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6172200" y="2606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班次日期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080760" y="4160520"/>
            <a:ext cx="0" cy="914400"/>
          </a:xfrm>
          <a:prstGeom prst="line">
            <a:avLst/>
          </a:prstGeom>
          <a:noFill/>
          <a:ln w="12700">
            <a:solidFill>
              <a:srgbClr val="8B95A1"/>
            </a:solidFill>
            <a:prstDash val="dash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617220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调查日期（H2–H4、O5–O6）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一 · 公开日历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大多数需求驱动因素可以通过公开日历提前数天获知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 · 新加坡国立大学 · 新晃县城乡公共交通研究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10 / 39</a:t>
            </a:r>
            <a:endParaRPr lang="en-US" sz="850" dirty="0"/>
          </a:p>
        </p:txBody>
      </p:sp>
      <p:pic>
        <p:nvPicPr>
          <p:cNvPr id="6" name="Image 0" descr="2024–2027 年逐日日历因子及其来源可靠程度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31246"/>
            <a:ext cx="11185855" cy="33268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8920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按规则确定、可靠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148072"/>
            <a:ext cx="3520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法定节假日与调休上班日（国务院办公厅通知）、农历、春运窗口、高考日期。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315968" y="48920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B7791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需要核实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315968" y="5148072"/>
            <a:ext cx="3520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2025 年 12 月以前的学期日期是按全省惯例推定的，必须向县教育局和三所县城中学核实。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8083296" y="48920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尚未公布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083296" y="5148072"/>
            <a:ext cx="3520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2027 年寒假与节假日日期。冬季调查分层现在先按计划抽取，日期公布后用同一随机种子重抽。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dirty="0">
                <a:solidFill>
                  <a:srgbClr val="1C4E80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II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88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已有研究告诉我们什么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六个主题。每个主题回答：已经确立了什么、用了哪些方法、还有什么没有解决——以及本研究如何回应。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一  研究区域与数据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二  已有研究告诉我们什么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50392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三  研究框架与下一步工作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11 / 39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二 · 文献证据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文献证据是如何建立的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 · 新加坡国立大学 · 新晃县城乡公共交通研究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12 / 39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英文文献（OPENALEX，2026-09-26）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3931920" cy="512064"/>
          </a:xfrm>
          <a:prstGeom prst="roundRect">
            <a:avLst>
              <a:gd name="adj" fmla="val 1428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67335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按四个主题构造的 33 组检索式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17465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1,650 条记录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514600" y="2139696"/>
            <a:ext cx="0" cy="146304"/>
          </a:xfrm>
          <a:prstGeom prst="line">
            <a:avLst/>
          </a:prstGeom>
          <a:noFill/>
          <a:ln w="127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2286000"/>
            <a:ext cx="3931920" cy="512064"/>
          </a:xfrm>
          <a:prstGeom prst="roundRect">
            <a:avLst>
              <a:gd name="adj" fmla="val 1428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33172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去重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4048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1,423 条记录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514600" y="2798064"/>
            <a:ext cx="0" cy="146304"/>
          </a:xfrm>
          <a:prstGeom prst="line">
            <a:avLst/>
          </a:prstGeom>
          <a:noFill/>
          <a:ln w="127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2944368"/>
            <a:ext cx="3931920" cy="512064"/>
          </a:xfrm>
          <a:prstGeom prst="roundRect">
            <a:avLst>
              <a:gd name="adj" fmla="val 1428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99008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+ 84 篇此前已精读的核心文献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30632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1,507 条进入筛选（301 条无摘要）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514600" y="3456432"/>
            <a:ext cx="0" cy="146304"/>
          </a:xfrm>
          <a:prstGeom prst="line">
            <a:avLst/>
          </a:prstGeom>
          <a:noFill/>
          <a:ln w="127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8640" y="3602736"/>
            <a:ext cx="3931920" cy="512064"/>
          </a:xfrm>
          <a:prstGeom prst="roundRect">
            <a:avLst>
              <a:gd name="adj" fmla="val 1428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64845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规则初筛 → 全部人工复核；放宽规则召回 378 条重读，保留 86 条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14600" y="4114800"/>
            <a:ext cx="0" cy="146304"/>
          </a:xfrm>
          <a:prstGeom prst="line">
            <a:avLst/>
          </a:prstGeom>
          <a:noFill/>
          <a:ln w="127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8640" y="4261104"/>
            <a:ext cx="3931920" cy="512064"/>
          </a:xfrm>
          <a:prstGeom prst="roundRect">
            <a:avLst>
              <a:gd name="adj" fmla="val 14286"/>
            </a:avLst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430682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纳入（其中 25 篇为单独检出的方法文献）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617720" y="437997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250 篇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98348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按主题：</a:t>
            </a: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问卷与客群 48 · 驱动因素 44 · 预测 68 · 服务设计 90；明确以农村或低需求地区为对象的 60 篇。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规则与人工判断的一致性较低</a:t>
            </a: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（Cohen's κ = 0.41，召回率 0.46），因此规则只用来缩小阅读范围；是否纳入由人工决定。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406640" y="1261872"/>
            <a:ext cx="4236415" cy="502920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89520" y="13716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中文文献补检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589520" y="1691640"/>
            <a:ext cx="391637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7 条合规检索路线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（未绕过任何访问控制）：OpenAlex 16,448 条 + Crossref 8,800 条 → 去重后 12,565 条。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概念标注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（公交 · 乡村 · 日历时间 · 方法）：A 档 140 条，B 档 284 条；其中核心期刊 21 条。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核验 10 篇论文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对照出版方页面逐篇核验（如《地理科学进展》《人文地理》《公路交通科技》）。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结论：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在公开途径可及的范围内，没有研究以县域城乡公交的单班次客流为对象。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待办：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七组中国知网检索式，需在机构账号下执行，之后才能下最终结论。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589520" y="50292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方法原始文献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589520" y="5285232"/>
            <a:ext cx="39163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溯源至原始文献并核验 DOI：交互尺度、GA2M、梯度提升、岭回归、需求还原、GAMLSS、预测调和、机会约束、样本平均近似、整合种群模型。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二 · 主题 1/6 · 乘客与调查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谁在乘坐乡村公交——问卷能看到什么、看不到什么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 · 新加坡国立大学 · 新晃县城乡公共交通研究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13 / 39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61872"/>
            <a:ext cx="6812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95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已经确立的共识</a:t>
            </a:r>
            <a:endParaRPr lang="en-US" sz="125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乡村公交乘客集中在老年人、学生、无车家庭和低收入家庭；出行目的以就医、购物、上学和办事为主。</a:t>
            </a:r>
            <a:r>
              <a:rPr lang="en-US" sz="9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[1–3]</a:t>
            </a:r>
            <a:endParaRPr lang="en-US" sz="125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调查方式决定能看到谁：入户调查能覆盖非乘客；跟车调查能把回答对应到具体班次。</a:t>
            </a:r>
            <a:r>
              <a:rPr lang="en-US" sz="9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[4]</a:t>
            </a:r>
            <a:endParaRPr lang="en-US" sz="125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无应答具有选择性（出行频繁的人难以接触），但可通过校准加权 / 迭代比例拟合部分纠正。</a:t>
            </a:r>
            <a:r>
              <a:rPr lang="en-US" sz="9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[5, 6]</a:t>
            </a:r>
            <a:endParaRPr lang="en-US" sz="1250" dirty="0"/>
          </a:p>
          <a:p>
            <a:pPr indent="0" marL="0">
              <a:lnSpc>
                <a:spcPct val="98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95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常用方法</a:t>
            </a:r>
            <a:endParaRPr lang="en-US" sz="125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跟车拦截、入户与线上问卷；混合方式调查需要检验方式效应。</a:t>
            </a:r>
            <a:r>
              <a:rPr lang="en-US" sz="9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[4, 6]</a:t>
            </a:r>
            <a:endParaRPr lang="en-US" sz="125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基于刷卡规律或潜在类别分析的乘客分群；满意度与服务质量量表。</a:t>
            </a:r>
            <a:r>
              <a:rPr lang="en-US" sz="9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[7]</a:t>
            </a:r>
            <a:endParaRPr lang="en-US" sz="1250" dirty="0"/>
          </a:p>
          <a:p>
            <a:pPr indent="0" marL="0">
              <a:lnSpc>
                <a:spcPct val="98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95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局限与尚未解决的问题</a:t>
            </a:r>
            <a:endParaRPr lang="en-US" sz="125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问卷多用于描述乘客；其结果很少进入客流模型，客流计数也很少用来校准问卷。</a:t>
            </a:r>
            <a:endParaRPr lang="en-US" sz="125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受抑制需求——因没有合适班次而放弃的出行——在登乘数据中不可见。</a:t>
            </a:r>
            <a:r>
              <a:rPr lang="en-US" sz="9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[8]</a:t>
            </a:r>
            <a:endParaRPr lang="en-US" sz="125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冗长的态度量表会让在颠簸、弯多的车上作答的老年受访者负担过重（满意型作答）。</a:t>
            </a:r>
            <a:r>
              <a:rPr lang="en-US" sz="9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[9]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5029200"/>
            <a:ext cx="6812280" cy="1261872"/>
          </a:xfrm>
          <a:prstGeom prst="rect">
            <a:avLst/>
          </a:prstGeom>
          <a:solidFill>
            <a:srgbClr val="FBEDE5"/>
          </a:solidFill>
          <a:ln w="12700">
            <a:solidFill>
              <a:srgbClr val="FBED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5111496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C2410C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→ 本研究如何回应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340096"/>
            <a:ext cx="6537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问卷与台账共用班次键。跟车问卷的乘客类型计数作为多项似然进入联合模型，用于诊断模型的客群分解（借鉴整合种群模型的思路 [10]）。入户问卷测量非乘客的未满足需求。以行为题取代李克特量表；跟车访问不超过 5 分钟。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89520" y="1261872"/>
            <a:ext cx="4053535" cy="502920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54112" y="1371600"/>
            <a:ext cx="3779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支撑以上综述的关键文献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754112" y="1645920"/>
            <a:ext cx="3760927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2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[1] </a:t>
            </a:r>
            <a:r>
              <a:rPr lang="en-US" sz="102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Pucher &amp; Renne (2005)</a:t>
            </a:r>
            <a:r>
              <a:rPr lang="en-US" sz="102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Transportation</a:t>
            </a:r>
            <a:endParaRPr lang="en-US" sz="102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2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基于 2001 年美国 NHTS 的乡村出行与方式选择：乡村家庭高度依赖小汽车，无车者处于劣势。</a:t>
            </a:r>
            <a:endParaRPr lang="en-US" sz="102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102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[2] </a:t>
            </a:r>
            <a:r>
              <a:rPr lang="en-US" sz="102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Berg &amp; Ihlström (2019)</a:t>
            </a:r>
            <a:r>
              <a:rPr lang="en-US" sz="102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Social Sciences</a:t>
            </a:r>
            <a:endParaRPr lang="en-US" sz="102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2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对无车可用的乡村居民而言，公共交通对日常活动很重要（瑞典）。</a:t>
            </a:r>
            <a:endParaRPr lang="en-US" sz="102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102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[3] </a:t>
            </a:r>
            <a:r>
              <a:rPr lang="en-US" sz="102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Yang &amp; Cherry (2016); Espeland &amp; Rowangould (2024)</a:t>
            </a:r>
            <a:r>
              <a:rPr lang="en-US" sz="102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TPT; JTG</a:t>
            </a:r>
            <a:endParaRPr lang="en-US" sz="102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2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乡村乘客偏老年、偏低收入；美国乡村的出行负担与未满足需求。</a:t>
            </a:r>
            <a:endParaRPr lang="en-US" sz="102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102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[4] </a:t>
            </a:r>
            <a:r>
              <a:rPr lang="en-US" sz="102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Stopher &amp; Greaves (2007); Newmark (2014)</a:t>
            </a:r>
            <a:r>
              <a:rPr lang="en-US" sz="102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TR-A; JPT</a:t>
            </a:r>
            <a:endParaRPr lang="en-US" sz="102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2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入户调查与公交机构（跟车）调查的实践与覆盖。</a:t>
            </a:r>
            <a:endParaRPr lang="en-US" sz="102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102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[5] </a:t>
            </a:r>
            <a:r>
              <a:rPr lang="en-US" sz="102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Kuhnimhof, Chlond &amp; Zumkeller (2006)</a:t>
            </a:r>
            <a:r>
              <a:rPr lang="en-US" sz="102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TRR</a:t>
            </a:r>
            <a:endParaRPr lang="en-US" sz="102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2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出行调查中的无应答与选择性偏差。</a:t>
            </a:r>
            <a:endParaRPr lang="en-US" sz="102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102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[6] </a:t>
            </a:r>
            <a:r>
              <a:rPr lang="en-US" sz="102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Deville &amp; Särndal (1992); Kolenikov (2014)</a:t>
            </a:r>
            <a:r>
              <a:rPr lang="en-US" sz="102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JASA; Stata J.</a:t>
            </a:r>
            <a:endParaRPr lang="en-US" sz="102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2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校准估计量；迭代比例拟合（raking）。</a:t>
            </a:r>
            <a:endParaRPr lang="en-US" sz="102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102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[7] </a:t>
            </a:r>
            <a:r>
              <a:rPr lang="en-US" sz="102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Kieu, Bhaskar &amp; Chung (2014)</a:t>
            </a:r>
            <a:r>
              <a:rPr lang="en-US" sz="102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QUT ePrints</a:t>
            </a:r>
            <a:endParaRPr lang="en-US" sz="102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2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基于刷卡数据出行规律的乘客分群。</a:t>
            </a:r>
            <a:endParaRPr lang="en-US" sz="102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102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[8] </a:t>
            </a:r>
            <a:r>
              <a:rPr lang="en-US" sz="102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Church, Frost &amp; Sullivan (2000); Lucas (2012)</a:t>
            </a:r>
            <a:r>
              <a:rPr lang="en-US" sz="102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Transport Policy</a:t>
            </a:r>
            <a:endParaRPr lang="en-US" sz="102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2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交通与社会排斥：因交通不便而放弃的活动。</a:t>
            </a:r>
            <a:endParaRPr lang="en-US" sz="102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102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[9] </a:t>
            </a:r>
            <a:r>
              <a:rPr lang="en-US" sz="102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Krosnick (1991)</a:t>
            </a:r>
            <a:r>
              <a:rPr lang="en-US" sz="102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Appl. Cognitive Psychology</a:t>
            </a:r>
            <a:endParaRPr lang="en-US" sz="102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2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认知负担下的满意型作答会降低问卷回答质量。</a:t>
            </a:r>
            <a:endParaRPr lang="en-US" sz="102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102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[10] </a:t>
            </a:r>
            <a:r>
              <a:rPr lang="en-US" sz="102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Schaub &amp; Abadi (2011)</a:t>
            </a:r>
            <a:r>
              <a:rPr lang="en-US" sz="102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J. Ornithology</a:t>
            </a:r>
            <a:endParaRPr lang="en-US" sz="102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2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整合种群模型：计数数据与个体数据共用一个似然函数。</a:t>
            </a:r>
            <a:endParaRPr lang="en-US" sz="10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二 · 主题 2/6 · 需求驱动因素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什么驱动客流：天气、季节、节假日——以及乡村节律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 · 新加坡国立大学 · 新晃县城乡公共交通研究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14 / 39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61872"/>
            <a:ext cx="68122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95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已经确立的共识</a:t>
            </a:r>
            <a:endParaRPr lang="en-US" sz="120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天气是研究最充分的驱动因素：降雨和低温会减少客流，影响呈非线性，因地区、季节和出行目的而异；非城市地区的证据很少。</a:t>
            </a:r>
            <a:r>
              <a:rPr lang="en-US" sz="9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[1–5]</a:t>
            </a:r>
            <a:endParaRPr lang="en-US" sz="120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客流存在叠加的季节性——周、年和节假日周期相互叠加。</a:t>
            </a:r>
            <a:r>
              <a:rPr lang="en-US" sz="9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[6]</a:t>
            </a:r>
            <a:endParaRPr lang="en-US" sz="120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节假日和春节对人口流动影响很大，且有清晰的时空结构——但测度尺度是省际、城际或地铁系统。</a:t>
            </a:r>
            <a:r>
              <a:rPr lang="en-US" sz="9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[7–9]</a:t>
            </a:r>
            <a:endParaRPr lang="en-US" sz="1200" dirty="0"/>
          </a:p>
          <a:p>
            <a:pPr indent="0" marL="0">
              <a:lnSpc>
                <a:spcPct val="98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95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常用方法</a:t>
            </a:r>
            <a:endParaRPr lang="en-US" sz="120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回归中的节假日哑变量；分组均值比较；季节分解；星期效应。</a:t>
            </a:r>
            <a:r>
              <a:rPr lang="en-US" sz="9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[1, 6]</a:t>
            </a:r>
            <a:endParaRPr lang="en-US" sz="1200" dirty="0"/>
          </a:p>
          <a:p>
            <a:pPr indent="0" marL="0">
              <a:lnSpc>
                <a:spcPct val="98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95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局限与尚未解决的问题</a:t>
            </a:r>
            <a:endParaRPr lang="en-US" sz="120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一个节假日哑变量把 3 天的清明假期与 8 天的国庆假期同等对待，并且忽略方向（节前出、节后回）。</a:t>
            </a:r>
            <a:endParaRPr lang="en-US" sz="120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周期往返被星期哑变量吸收：模型拟合的是“周五”，而不是“学生回家”，学校一放假就会失效。</a:t>
            </a:r>
            <a:endParaRPr lang="en-US" sz="120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周期集市只被当作出行满意度来研究，而不是单班次客流；住校生和务工者的周往返没有被作为驱动因素研究过。</a:t>
            </a:r>
            <a:r>
              <a:rPr lang="en-US" sz="9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[10, 11]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5074920"/>
            <a:ext cx="6812280" cy="1216152"/>
          </a:xfrm>
          <a:prstGeom prst="rect">
            <a:avLst/>
          </a:prstGeom>
          <a:solidFill>
            <a:srgbClr val="FBEDE5"/>
          </a:solidFill>
          <a:ln w="12700">
            <a:solidFill>
              <a:srgbClr val="FBED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5157216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C2410C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→ 本研究如何回应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385816"/>
            <a:ext cx="65379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把驱动因素编码为基于公开来源、带方向的显式日历因子：住校生周往返（S）、务工者周往返（W）、开学放假集中流（T）、按文化重要性 × 放假天数分级的节假日返乡（R）和春运（CY）。天气、星期和集期作为基线控制变量保留。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589520" y="1261872"/>
            <a:ext cx="4053535" cy="502920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54112" y="1371600"/>
            <a:ext cx="3779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支撑以上综述的关键文献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754112" y="1645920"/>
            <a:ext cx="3760927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[1] </a:t>
            </a:r>
            <a:r>
              <a:rPr lang="en-US" sz="94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Guo, Wilson &amp; Rahbee (2007)</a:t>
            </a:r>
            <a:r>
              <a:rPr lang="en-US" sz="94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TRR</a:t>
            </a:r>
            <a:endParaRPr lang="en-US" sz="94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天气与芝加哥公交/轨道客流；周末和平峰反应更强。</a:t>
            </a:r>
            <a:endParaRPr lang="en-US" sz="94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94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[2] </a:t>
            </a:r>
            <a:r>
              <a:rPr lang="en-US" sz="94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Singhal, Kamga &amp; Yazici (2014)</a:t>
            </a:r>
            <a:r>
              <a:rPr lang="en-US" sz="94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TR-A</a:t>
            </a:r>
            <a:endParaRPr lang="en-US" sz="94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纽约地铁逐时客流：天气效应随时段和日期类型而不同。</a:t>
            </a:r>
            <a:endParaRPr lang="en-US" sz="94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94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[3] </a:t>
            </a:r>
            <a:r>
              <a:rPr lang="en-US" sz="94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Arana, Cabezudo &amp; Peñalba (2014)</a:t>
            </a:r>
            <a:r>
              <a:rPr lang="en-US" sz="94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TR-A</a:t>
            </a:r>
            <a:endParaRPr lang="en-US" sz="94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刷卡数据研究：雨和风会减少出行，尤其是休闲出行。</a:t>
            </a:r>
            <a:endParaRPr lang="en-US" sz="94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94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[4] </a:t>
            </a:r>
            <a:r>
              <a:rPr lang="en-US" sz="94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Wei (2021); Wei &amp; Liu (2022)</a:t>
            </a:r>
            <a:r>
              <a:rPr lang="en-US" sz="94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JTG; TBS</a:t>
            </a:r>
            <a:endParaRPr lang="en-US" sz="94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非线性、类似阈值的降雨效应（“多湿才算太湿？”）。</a:t>
            </a:r>
            <a:endParaRPr lang="en-US" sz="94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94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[5] </a:t>
            </a:r>
            <a:r>
              <a:rPr lang="en-US" sz="94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Stover &amp; McCormack (2012)</a:t>
            </a:r>
            <a:r>
              <a:rPr lang="en-US" sz="94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JPT</a:t>
            </a:r>
            <a:endParaRPr lang="en-US" sz="94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为数不多的非城市研究之一：华盛顿州皮尔斯县的天气与公交客流。</a:t>
            </a:r>
            <a:endParaRPr lang="en-US" sz="94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94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[6] </a:t>
            </a:r>
            <a:r>
              <a:rPr lang="en-US" sz="94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Kashfi, Bunker &amp; Yiğitcanlar (2015, 2016)</a:t>
            </a:r>
            <a:r>
              <a:rPr lang="en-US" sz="94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JTG</a:t>
            </a:r>
            <a:endParaRPr lang="en-US" sz="94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郊区日客流中的复杂季节性与天气。</a:t>
            </a:r>
            <a:endParaRPr lang="en-US" sz="94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94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[7] </a:t>
            </a:r>
            <a:r>
              <a:rPr lang="en-US" sz="94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Liu, Shi &amp; Chen (2020); Huang, Liu &amp; Zhao (2019)</a:t>
            </a:r>
            <a:r>
              <a:rPr lang="en-US" sz="94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IJGI</a:t>
            </a:r>
            <a:endParaRPr lang="en-US" sz="94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春节改变了深圳地铁、公交和出租车的使用。</a:t>
            </a:r>
            <a:endParaRPr lang="en-US" sz="94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94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[8] </a:t>
            </a:r>
            <a:r>
              <a:rPr lang="en-US" sz="94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 et al. (2016); Wang et al. (2014); Zhou et al. (2020)</a:t>
            </a:r>
            <a:r>
              <a:rPr lang="en-US" sz="94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Sustainability; arXiv; IJGI</a:t>
            </a:r>
            <a:endParaRPr lang="en-US" sz="94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用大数据追踪全国春节人口迁徙。</a:t>
            </a:r>
            <a:endParaRPr lang="en-US" sz="94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94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[9] </a:t>
            </a:r>
            <a:r>
              <a:rPr lang="en-US" sz="94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赵梓渝 等（2017, 2022）</a:t>
            </a:r>
            <a:r>
              <a:rPr lang="en-US" sz="94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《地理科学进展》；《人文地理》</a:t>
            </a:r>
            <a:endParaRPr lang="en-US" sz="94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春运人口省际流动；节日人口城际出行。</a:t>
            </a:r>
            <a:endParaRPr lang="en-US" sz="94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94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[10] </a:t>
            </a:r>
            <a:r>
              <a:rPr lang="en-US" sz="94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Hong, Liang &amp; Zhu (2024)</a:t>
            </a:r>
            <a:r>
              <a:rPr lang="en-US" sz="94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Front. Public Health</a:t>
            </a:r>
            <a:endParaRPr lang="en-US" sz="94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乡村周期集市出行：满意度与道路环境。</a:t>
            </a:r>
            <a:endParaRPr lang="en-US" sz="94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94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[11] </a:t>
            </a:r>
            <a:r>
              <a:rPr lang="en-US" sz="94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Schönfelder &amp; Axhausen (2010)</a:t>
            </a:r>
            <a:r>
              <a:rPr lang="en-US" sz="94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Ashgate</a:t>
            </a:r>
            <a:endParaRPr lang="en-US" sz="94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稳定的周、年出行节律，且因人群而异。</a:t>
            </a:r>
            <a:endParaRPr lang="en-US" sz="9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二 · 主题 3/6 · 分析单元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证据以日和站点为主；而决策以班次为单位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 · 新加坡国立大学 · 新晃县城乡公共交通研究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15 / 39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61872"/>
            <a:ext cx="6812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95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已经确立的共识</a:t>
            </a:r>
            <a:endParaRPr lang="en-US" sz="125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多数客流研究分析的是全网或全线日客流、站点客流或断面客流。</a:t>
            </a:r>
            <a:r>
              <a:rPr lang="en-US" sz="9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[1–4]</a:t>
            </a:r>
            <a:endParaRPr lang="en-US" sz="125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短时预测以城市地铁或公交站点为对象，用 LSTM 类模型做分钟到小时级预测，国内外皆然。</a:t>
            </a:r>
            <a:r>
              <a:rPr lang="en-US" sz="9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[1–5]</a:t>
            </a:r>
            <a:endParaRPr lang="en-US" sz="125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站点或断面客流不能简单换算成班次全程总量；刷卡数据支持城市起讫点分析和乘客分群。</a:t>
            </a:r>
            <a:r>
              <a:rPr lang="en-US" sz="9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[6, 7]</a:t>
            </a:r>
            <a:endParaRPr lang="en-US" sz="125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乡村需求估计多为年度或横截面估计，依据人口和土地利用。</a:t>
            </a:r>
            <a:r>
              <a:rPr lang="en-US" sz="9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[8]</a:t>
            </a:r>
            <a:endParaRPr lang="en-US" sz="1250" dirty="0"/>
          </a:p>
          <a:p>
            <a:pPr indent="0" marL="0">
              <a:lnSpc>
                <a:spcPct val="98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95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常用方法</a:t>
            </a:r>
            <a:endParaRPr lang="en-US" sz="125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对小而过度离散的计数用计数回归（泊松、负二项）；当座位上限截断观测时做需求还原。</a:t>
            </a:r>
            <a:r>
              <a:rPr lang="en-US" sz="9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[9, 10]</a:t>
            </a:r>
            <a:endParaRPr lang="en-US" sz="1250" dirty="0"/>
          </a:p>
          <a:p>
            <a:pPr indent="0" marL="0">
              <a:lnSpc>
                <a:spcPct val="98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95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局限与尚未解决的问题</a:t>
            </a:r>
            <a:endParaRPr lang="en-US" sz="125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日总量掩盖了日内差异：满座的周五下午班次与空荡的上午班次被平均掉了。</a:t>
            </a:r>
            <a:endParaRPr lang="en-US" sz="125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补班按班次决定，证据却以日或站点为单位。</a:t>
            </a:r>
            <a:endParaRPr lang="en-US" sz="125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分析单元推进到班次会带来小计数和删失问题：满座班次记录的是座位上限，而不是需求。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5029200"/>
            <a:ext cx="6812280" cy="1261872"/>
          </a:xfrm>
          <a:prstGeom prst="rect">
            <a:avLst/>
          </a:prstGeom>
          <a:solidFill>
            <a:srgbClr val="FBEDE5"/>
          </a:solidFill>
          <a:ln w="12700">
            <a:solidFill>
              <a:srgbClr val="FBED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5111496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C2410C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→ 本研究如何回应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340096"/>
            <a:ext cx="6537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分析单元 = 单个单程班次的总登乘人数。负二项计数配合删失似然（满座 ⇒ 需求 ≥ 座位数 × 周转系数 κ）；日总量由班次加总。真实日历证据：住校生与务工者周往返同日出现 189 天，但同班次为零，因此班次层面的 VIF 为 1.28，日总量层面为 3.7 和 5.9。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89520" y="1261872"/>
            <a:ext cx="4053535" cy="502920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54112" y="1371600"/>
            <a:ext cx="3779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支撑以上综述的关键文献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754112" y="1645920"/>
            <a:ext cx="3760927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2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[1] </a:t>
            </a:r>
            <a:r>
              <a:rPr lang="en-US" sz="102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Zhang, Chen &amp; Shen (2019)</a:t>
            </a:r>
            <a:r>
              <a:rPr lang="en-US" sz="102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IEEE Access</a:t>
            </a:r>
            <a:endParaRPr lang="en-US" sz="102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2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基于聚类的 LSTM 地铁短时客流预测。</a:t>
            </a:r>
            <a:endParaRPr lang="en-US" sz="102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102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[2] </a:t>
            </a:r>
            <a:r>
              <a:rPr lang="en-US" sz="102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Han, Wang &amp; Ren (2019)</a:t>
            </a:r>
            <a:r>
              <a:rPr lang="en-US" sz="102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IJGI</a:t>
            </a:r>
            <a:endParaRPr lang="en-US" sz="102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2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混合优化 LSTM 公交短时客流预测。</a:t>
            </a:r>
            <a:endParaRPr lang="en-US" sz="102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102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[3] </a:t>
            </a:r>
            <a:r>
              <a:rPr lang="en-US" sz="102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Liyanage, Abduljabbar &amp; Dia (2022)</a:t>
            </a:r>
            <a:r>
              <a:rPr lang="en-US" sz="102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J. Urban Management</a:t>
            </a:r>
            <a:endParaRPr lang="en-US" sz="102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2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基于刷卡数据的公交需求神经网络模型。</a:t>
            </a:r>
            <a:endParaRPr lang="en-US" sz="102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102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[4] </a:t>
            </a:r>
            <a:r>
              <a:rPr lang="en-US" sz="102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Alexandre, Bernardini &amp; Viterbo (2023)</a:t>
            </a:r>
            <a:r>
              <a:rPr lang="en-US" sz="102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TRR</a:t>
            </a:r>
            <a:endParaRPr lang="en-US" sz="102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2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机器学习在公交领域应用的系统综述。</a:t>
            </a:r>
            <a:endParaRPr lang="en-US" sz="102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102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[5] </a:t>
            </a:r>
            <a:r>
              <a:rPr lang="en-US" sz="102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谢振东 等（2018）；李高盛 等（2019）</a:t>
            </a:r>
            <a:r>
              <a:rPr lang="en-US" sz="102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《广东工业大学学报》；《公路交通科技》</a:t>
            </a:r>
            <a:endParaRPr lang="en-US" sz="102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2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国内城市基于 IC 卡与 LSTM 的站点级客流预测。</a:t>
            </a:r>
            <a:endParaRPr lang="en-US" sz="102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102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[6] </a:t>
            </a:r>
            <a:r>
              <a:rPr lang="en-US" sz="102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马超群, 艾倩楠, 张俊（2018）</a:t>
            </a:r>
            <a:r>
              <a:rPr lang="en-US" sz="102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《公路交通科技》</a:t>
            </a:r>
            <a:endParaRPr lang="en-US" sz="102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2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不完备信息下公交断面客流的推算。</a:t>
            </a:r>
            <a:endParaRPr lang="en-US" sz="102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102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[7] </a:t>
            </a:r>
            <a:r>
              <a:rPr lang="en-US" sz="102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Egu &amp; Bonnel (2020)</a:t>
            </a:r>
            <a:r>
              <a:rPr lang="en-US" sz="102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TR-A</a:t>
            </a:r>
            <a:endParaRPr lang="en-US" sz="102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2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里昂：票务数据推算的 OD 矩阵与调查结果的比较。</a:t>
            </a:r>
            <a:endParaRPr lang="en-US" sz="102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102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[8] </a:t>
            </a:r>
            <a:r>
              <a:rPr lang="en-US" sz="102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Painter et al. (2007); TRB (2013)</a:t>
            </a:r>
            <a:r>
              <a:rPr lang="en-US" sz="102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TRR; TCRP Report 161</a:t>
            </a:r>
            <a:endParaRPr lang="en-US" sz="102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2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依据人口和土地利用的乡村公交需求预测。</a:t>
            </a:r>
            <a:endParaRPr lang="en-US" sz="102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102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[9] </a:t>
            </a:r>
            <a:r>
              <a:rPr lang="en-US" sz="102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Jang (2005)</a:t>
            </a:r>
            <a:r>
              <a:rPr lang="en-US" sz="102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J. Transportation Engineering</a:t>
            </a:r>
            <a:endParaRPr lang="en-US" sz="102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2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出行生成的计数数据模型。</a:t>
            </a:r>
            <a:endParaRPr lang="en-US" sz="102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102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[10] </a:t>
            </a:r>
            <a:r>
              <a:rPr lang="en-US" sz="102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Weatherford &amp; Pölt (2002)</a:t>
            </a:r>
            <a:r>
              <a:rPr lang="en-US" sz="102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J. Revenue &amp; Pricing Mgmt</a:t>
            </a:r>
            <a:endParaRPr lang="en-US" sz="102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2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还原被截断的需求可提高预测精度和收益。</a:t>
            </a:r>
            <a:endParaRPr lang="en-US" sz="10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二 · 主题 4/6 · 因素重叠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当高峰重叠：交互、尺度与可识别性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 · 新加坡国立大学 · 新晃县城乡公共交通研究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16 / 39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61872"/>
            <a:ext cx="6812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95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已经确立的共识</a:t>
            </a:r>
            <a:endParaRPr lang="en-US" sz="125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日历效应通常一次只估计一个因素；同时出现的因素只作为控制变量。两个高峰碰在一起时是相加、放大还是抵消，在交通研究中很少被当作估计目标。</a:t>
            </a:r>
            <a:endParaRPr lang="en-US" sz="125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交互是否存在取决于尺度：在乘法（对数）尺度上没有交互，意味着在加法尺度上有交互，反之亦然。</a:t>
            </a:r>
            <a:r>
              <a:rPr lang="en-US" sz="9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[1]</a:t>
            </a:r>
            <a:endParaRPr lang="en-US" sz="1250" dirty="0"/>
          </a:p>
          <a:p>
            <a:pPr indent="0" marL="0">
              <a:lnSpc>
                <a:spcPct val="98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95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常用方法</a:t>
            </a:r>
            <a:endParaRPr lang="en-US" sz="125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带交互项的对数线性计数模型：系数位于比值尺度。</a:t>
            </a:r>
            <a:r>
              <a:rPr lang="en-US" sz="9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[2]</a:t>
            </a:r>
            <a:endParaRPr lang="en-US" sz="125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人数叠加（加法）模型：直接对应运营问题，但需要非负约束，拟合更难。</a:t>
            </a:r>
            <a:endParaRPr lang="en-US" sz="125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梯度提升 + SHAP；带两两形函数的可解释提升机（GA2M）。</a:t>
            </a:r>
            <a:r>
              <a:rPr lang="en-US" sz="9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[3–5]</a:t>
            </a:r>
            <a:endParaRPr lang="en-US" sz="125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对参数多或不稳定的情形使用收缩（岭回归）和分布回归（GAMLSS）。</a:t>
            </a:r>
            <a:r>
              <a:rPr lang="en-US" sz="9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[6, 7]</a:t>
            </a:r>
            <a:endParaRPr lang="en-US" sz="1250" dirty="0"/>
          </a:p>
          <a:p>
            <a:pPr indent="0" marL="0">
              <a:lnSpc>
                <a:spcPct val="98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95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局限与尚未解决的问题</a:t>
            </a:r>
            <a:endParaRPr lang="en-US" sz="125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主效应对数模型假定效应相乘，这本身就会在加法尺度上产生交互。</a:t>
            </a:r>
            <a:endParaRPr lang="en-US" sz="125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SHAP 在相关因素之间任意分配效应且不给区间；GA2M 不处理删失和共线性。</a:t>
            </a:r>
            <a:endParaRPr lang="en-US" sz="125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没有一种方法先检查数据能否识别某项交互。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5029200"/>
            <a:ext cx="6812280" cy="1261872"/>
          </a:xfrm>
          <a:prstGeom prst="rect">
            <a:avLst/>
          </a:prstGeom>
          <a:solidFill>
            <a:srgbClr val="FBEDE5"/>
          </a:solidFill>
          <a:ln w="12700">
            <a:solidFill>
              <a:srgbClr val="FBED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5111496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C2410C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→ 本研究如何回应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340096"/>
            <a:ext cx="6537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用“反事实开关”以每班次人数定义效应：独立效应、合并效应，以及叠加量 = 合并效应 − Σ 独立效应。先做可识别性筛选（同班次共同出现 ≥200 趟、各自单独出现 ≥200 趟）。以已知真值的合成回测在 12 种候选估计方法中选择，而不是凭偏好。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89520" y="1261872"/>
            <a:ext cx="4053535" cy="502920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54112" y="1371600"/>
            <a:ext cx="3779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支撑以上综述的关键文献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754112" y="1645920"/>
            <a:ext cx="3760927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8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[1] </a:t>
            </a:r>
            <a:r>
              <a:rPr lang="en-US" sz="108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VanderWeele &amp; Knol (2014)</a:t>
            </a:r>
            <a:r>
              <a:rPr lang="en-US" sz="108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Epidemiologic Methods</a:t>
            </a:r>
            <a:endParaRPr lang="en-US" sz="108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8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交互教程：加法尺度与乘法尺度。</a:t>
            </a:r>
            <a:endParaRPr lang="en-US" sz="108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108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[2] </a:t>
            </a:r>
            <a:r>
              <a:rPr lang="en-US" sz="108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Jang (2005)</a:t>
            </a:r>
            <a:r>
              <a:rPr lang="en-US" sz="108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J. Transportation Engineering</a:t>
            </a:r>
            <a:endParaRPr lang="en-US" sz="108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8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出行计数的泊松 / 负二项模型。</a:t>
            </a:r>
            <a:endParaRPr lang="en-US" sz="108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108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[3] </a:t>
            </a:r>
            <a:r>
              <a:rPr lang="en-US" sz="108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Friedman (2001)</a:t>
            </a:r>
            <a:r>
              <a:rPr lang="en-US" sz="108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Annals of Statistics</a:t>
            </a:r>
            <a:endParaRPr lang="en-US" sz="108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8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梯度提升机。</a:t>
            </a:r>
            <a:endParaRPr lang="en-US" sz="108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108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[4] </a:t>
            </a:r>
            <a:r>
              <a:rPr lang="en-US" sz="108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Ke et al. (2017)</a:t>
            </a:r>
            <a:r>
              <a:rPr lang="en-US" sz="108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NeurIPS</a:t>
            </a:r>
            <a:endParaRPr lang="en-US" sz="108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8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LightGBM：高效的梯度提升树。</a:t>
            </a:r>
            <a:endParaRPr lang="en-US" sz="108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108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[5] </a:t>
            </a:r>
            <a:r>
              <a:rPr lang="en-US" sz="108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Lou, Caruana, Gehrke &amp; Hooker (2013)</a:t>
            </a:r>
            <a:r>
              <a:rPr lang="en-US" sz="108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KDD</a:t>
            </a:r>
            <a:endParaRPr lang="en-US" sz="108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8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GA2M：带两两交互的可解释模型。</a:t>
            </a:r>
            <a:endParaRPr lang="en-US" sz="108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108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[6] </a:t>
            </a:r>
            <a:r>
              <a:rPr lang="en-US" sz="108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Hoerl &amp; Kennard (1970)</a:t>
            </a:r>
            <a:r>
              <a:rPr lang="en-US" sz="108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Technometrics</a:t>
            </a:r>
            <a:endParaRPr lang="en-US" sz="108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8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非正交问题的岭回归。</a:t>
            </a:r>
            <a:endParaRPr lang="en-US" sz="108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108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[7] </a:t>
            </a:r>
            <a:r>
              <a:rPr lang="en-US" sz="108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Rigby &amp; Stasinopoulos (2005)</a:t>
            </a:r>
            <a:r>
              <a:rPr lang="en-US" sz="108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JRSS-C</a:t>
            </a:r>
            <a:endParaRPr lang="en-US" sz="108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8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GAMLSS：位置、尺度和形状参数都可随协变量变化。</a:t>
            </a:r>
            <a:endParaRPr lang="en-US" sz="108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108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[8] </a:t>
            </a:r>
            <a:r>
              <a:rPr lang="en-US" sz="108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Weatherford &amp; Pölt (2002)</a:t>
            </a:r>
            <a:r>
              <a:rPr lang="en-US" sz="108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J. Revenue &amp; Pricing Mgmt</a:t>
            </a:r>
            <a:endParaRPr lang="en-US" sz="108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8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还原被座位上限截断的需求。</a:t>
            </a:r>
            <a:endParaRPr lang="en-US" sz="10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二 · 主题 5/6 · 预测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为决策服务的预测：预测分布、校准与公平评价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 · 新加坡国立大学 · 新晃县城乡公共交通研究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17 / 39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61872"/>
            <a:ext cx="6812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95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已经确立的共识</a:t>
            </a:r>
            <a:endParaRPr lang="en-US" sz="125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决策需要预测分布：在校准前提下尽量锐利，并用严格恰当评分（CRPS、对数评分）评价；计数数据用随机化 PIT。</a:t>
            </a:r>
            <a:r>
              <a:rPr lang="en-US" sz="9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[1–3]</a:t>
            </a:r>
            <a:endParaRPr lang="en-US" sz="125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复杂模型并不稳定地优于简单基准；评价必须按时间滚动，以免信息泄漏。</a:t>
            </a:r>
            <a:r>
              <a:rPr lang="en-US" sz="9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[4, 5]</a:t>
            </a:r>
            <a:endParaRPr lang="en-US" sz="1250" dirty="0"/>
          </a:p>
          <a:p>
            <a:pPr indent="0" marL="0">
              <a:lnSpc>
                <a:spcPct val="98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95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常用方法</a:t>
            </a:r>
            <a:endParaRPr lang="en-US" sz="125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针对稀疏序列的间歇需求方法（Croston 类）。</a:t>
            </a:r>
            <a:r>
              <a:rPr lang="en-US" sz="9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[6]</a:t>
            </a:r>
            <a:endParaRPr lang="en-US" sz="125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可套在任意点预测模型上的共形区间，包括适应序列漂移的自适应版本。</a:t>
            </a:r>
            <a:r>
              <a:rPr lang="en-US" sz="9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[7, 8]</a:t>
            </a:r>
            <a:endParaRPr lang="en-US" sz="125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适用于大量相关序列的深度概率模型；保证总量一致的层级预测调和。</a:t>
            </a:r>
            <a:r>
              <a:rPr lang="en-US" sz="9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[9, 10]</a:t>
            </a:r>
            <a:endParaRPr lang="en-US" sz="1250" dirty="0"/>
          </a:p>
          <a:p>
            <a:pPr indent="0" marL="0">
              <a:lnSpc>
                <a:spcPct val="98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95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局限与尚未解决的问题</a:t>
            </a:r>
            <a:endParaRPr lang="en-US" sz="125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公交预测以城市短时点预测为主；乡村班次层面的预测分布很少见。</a:t>
            </a:r>
            <a:endParaRPr lang="en-US" sz="125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班次预测与日总量预测分开建立、加总对不上；由于各班次共享全县冲击，日总量区间过窄。</a:t>
            </a:r>
            <a:endParaRPr lang="en-US" sz="125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深度模型所需的数据量远超一个县的台账。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5029200"/>
            <a:ext cx="6812280" cy="1261872"/>
          </a:xfrm>
          <a:prstGeom prst="rect">
            <a:avLst/>
          </a:prstGeom>
          <a:solidFill>
            <a:srgbClr val="FBEDE5"/>
          </a:solidFill>
          <a:ln w="12700">
            <a:solidFill>
              <a:srgbClr val="FBED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5111496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C2410C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→ 本研究如何回应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340096"/>
            <a:ext cx="6537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一个带全县日冲击的班次级模型：日总量是班次预测样本的加总，因此其区间包含班次之间的相关性。按总体以及线路、时段、事件分组评价 CRPS 和 90% 覆盖率，以季节朴素法和分立流水线为基准——采用滚动起点和一个封存冬季。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89520" y="1261872"/>
            <a:ext cx="4053535" cy="502920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54112" y="1371600"/>
            <a:ext cx="3779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支撑以上综述的关键文献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754112" y="1645920"/>
            <a:ext cx="3760927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[1] </a:t>
            </a:r>
            <a:r>
              <a:rPr lang="en-US" sz="98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Gneiting, Balabdaoui &amp; Raftery (2007)</a:t>
            </a:r>
            <a:r>
              <a:rPr lang="en-US" sz="98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JRSS-B</a:t>
            </a:r>
            <a:endParaRPr lang="en-US" sz="98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概率预测：校准与锐度。</a:t>
            </a:r>
            <a:endParaRPr lang="en-US" sz="98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98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[2] </a:t>
            </a:r>
            <a:r>
              <a:rPr lang="en-US" sz="98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Gneiting &amp; Raftery (2007)</a:t>
            </a:r>
            <a:r>
              <a:rPr lang="en-US" sz="98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JASA</a:t>
            </a:r>
            <a:endParaRPr lang="en-US" sz="98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严格恰当评分规则（CRPS、对数评分）。</a:t>
            </a:r>
            <a:endParaRPr lang="en-US" sz="98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98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[3] </a:t>
            </a:r>
            <a:r>
              <a:rPr lang="en-US" sz="98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Czado, Gneiting &amp; Held (2009)</a:t>
            </a:r>
            <a:r>
              <a:rPr lang="en-US" sz="98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Biometrics</a:t>
            </a:r>
            <a:endParaRPr lang="en-US" sz="98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计数数据的预测模型评价（PIT）。</a:t>
            </a:r>
            <a:endParaRPr lang="en-US" sz="98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98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[4] </a:t>
            </a:r>
            <a:r>
              <a:rPr lang="en-US" sz="98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Makridakis, Spiliotis &amp; Assimakopoulos (2019)</a:t>
            </a:r>
            <a:r>
              <a:rPr lang="en-US" sz="98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IJF</a:t>
            </a:r>
            <a:endParaRPr lang="en-US" sz="98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M4 竞赛：复杂并不保证准确。</a:t>
            </a:r>
            <a:endParaRPr lang="en-US" sz="98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98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[5] </a:t>
            </a:r>
            <a:r>
              <a:rPr lang="en-US" sz="98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Hewamalage, Ackermann &amp; Bergmeir (2022)</a:t>
            </a:r>
            <a:r>
              <a:rPr lang="en-US" sz="98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DMKD</a:t>
            </a:r>
            <a:endParaRPr lang="en-US" sz="98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预测评价的常见陷阱与最佳实践。</a:t>
            </a:r>
            <a:endParaRPr lang="en-US" sz="98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98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[6] </a:t>
            </a:r>
            <a:r>
              <a:rPr lang="en-US" sz="98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Croston (1972); Petropoulos et al. (2013)</a:t>
            </a:r>
            <a:r>
              <a:rPr lang="en-US" sz="98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JORS; IMDS</a:t>
            </a:r>
            <a:endParaRPr lang="en-US" sz="98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间歇需求预测。</a:t>
            </a:r>
            <a:endParaRPr lang="en-US" sz="98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98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[7] </a:t>
            </a:r>
            <a:r>
              <a:rPr lang="en-US" sz="98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Lei et al. (2017); Romano et al. (2019); Angelopoulos &amp; Bates (2023)</a:t>
            </a:r>
            <a:r>
              <a:rPr lang="en-US" sz="98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JASA; NeurIPS; FnT ML</a:t>
            </a:r>
            <a:endParaRPr lang="en-US" sz="98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无分布假设的共形预测。</a:t>
            </a:r>
            <a:endParaRPr lang="en-US" sz="98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98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[8] </a:t>
            </a:r>
            <a:r>
              <a:rPr lang="en-US" sz="98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Gibbs &amp; Candès (2021); Barber et al. (2023)</a:t>
            </a:r>
            <a:r>
              <a:rPr lang="en-US" sz="98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NeurIPS; Ann. Stat.</a:t>
            </a:r>
            <a:endParaRPr lang="en-US" sz="98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分布漂移下的共形推断。</a:t>
            </a:r>
            <a:endParaRPr lang="en-US" sz="98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98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[9] </a:t>
            </a:r>
            <a:r>
              <a:rPr lang="en-US" sz="98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Salinas, Flunkert &amp; Gasthaus (2019)</a:t>
            </a:r>
            <a:r>
              <a:rPr lang="en-US" sz="98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IJF</a:t>
            </a:r>
            <a:endParaRPr lang="en-US" sz="98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DeepAR：自回归循环神经网络概率预测。</a:t>
            </a:r>
            <a:endParaRPr lang="en-US" sz="98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98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[10] </a:t>
            </a:r>
            <a:r>
              <a:rPr lang="en-US" sz="98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Wickramasuriya, Athanasopoulos &amp; Hyndman (2019)</a:t>
            </a:r>
            <a:r>
              <a:rPr lang="en-US" sz="98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JASA</a:t>
            </a:r>
            <a:endParaRPr lang="en-US" sz="98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最优调和（MinT）需要误差协方差。</a:t>
            </a:r>
            <a:endParaRPr lang="en-US" sz="9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二 · 主题 6/6 · 服务设计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需求不确定下的固定、灵活或混合服务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 · 新加坡国立大学 · 新晃县城乡公共交通研究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18 / 39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61872"/>
            <a:ext cx="6812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95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已经确立的共识</a:t>
            </a:r>
            <a:endParaRPr lang="en-US" sz="122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经典规划通过设定发车频率和时刻表平衡客流与成本；较新的研究加入了鲁棒或随机需求。</a:t>
            </a:r>
            <a:r>
              <a:rPr lang="en-US" sz="9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[1–4]</a:t>
            </a:r>
            <a:endParaRPr lang="en-US" sz="122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乡村需求响应式公交（DRT）试点很多，但许多项目因成本高、使用率低而失败；存在效率与公平的两难，老年用户难以预约。</a:t>
            </a:r>
            <a:r>
              <a:rPr lang="en-US" sz="9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[5–8]</a:t>
            </a:r>
            <a:endParaRPr lang="en-US" sz="122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研究正在转向固定 + 灵活的混合设计。</a:t>
            </a:r>
            <a:r>
              <a:rPr lang="en-US" sz="9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[9, 10]</a:t>
            </a:r>
            <a:endParaRPr lang="en-US" sz="1220" dirty="0"/>
          </a:p>
          <a:p>
            <a:pPr indent="0" marL="0">
              <a:lnSpc>
                <a:spcPct val="98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95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常用方法</a:t>
            </a:r>
            <a:endParaRPr lang="en-US" sz="122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发车频率与时刻表优化；用样本平均近似求解的机会约束规划；仿真。</a:t>
            </a:r>
            <a:r>
              <a:rPr lang="en-US" sz="9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[1, 11]</a:t>
            </a:r>
            <a:endParaRPr lang="en-US" sz="1220" dirty="0"/>
          </a:p>
          <a:p>
            <a:pPr indent="0" marL="0">
              <a:lnSpc>
                <a:spcPct val="98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95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局限与尚未解决的问题</a:t>
            </a:r>
            <a:endParaRPr lang="en-US" sz="122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混合设计通常假定理想化或城市需求，而不是真实的概率预测。</a:t>
            </a:r>
            <a:endParaRPr lang="en-US" sz="122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乡村 DRT 证据多来自欧洲；其人口结构、道路条件和运营体制与由单一汽车站运营的中国山区县不同。</a:t>
            </a:r>
            <a:endParaRPr lang="en-US" sz="1220" dirty="0"/>
          </a:p>
          <a:p>
            <a:pPr marL="165100" indent="-1651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把点预测输入优化，忽略了高需求日的风险。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548640" y="5029200"/>
            <a:ext cx="6812280" cy="1261872"/>
          </a:xfrm>
          <a:prstGeom prst="rect">
            <a:avLst/>
          </a:prstGeom>
          <a:solidFill>
            <a:srgbClr val="FBEDE5"/>
          </a:solidFill>
          <a:ln w="12700">
            <a:solidFill>
              <a:srgbClr val="FBED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5111496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C2410C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→ 本研究如何回应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340096"/>
            <a:ext cx="6537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保留固定核心时刻表（无需预约）。增加根据日总量预测确定的日前备用运力，并在 Pr(需求 &gt; 有效上限) &gt; α 时按预测触发补班。报告成本—拒载前沿，而不是单一“最优”方案；触发依据是提前数天可知的日历信息，而不是预约。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589520" y="1261872"/>
            <a:ext cx="4053535" cy="502920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54112" y="1371600"/>
            <a:ext cx="3779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支撑以上综述的关键文献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754112" y="1645920"/>
            <a:ext cx="3760927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[1] </a:t>
            </a:r>
            <a:r>
              <a:rPr lang="en-US" sz="93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Newell (1971); Ceder (1984)</a:t>
            </a:r>
            <a:r>
              <a:rPr lang="en-US" sz="93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Transp. Science; TR-A</a:t>
            </a:r>
            <a:endParaRPr lang="en-US" sz="93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调度策略；依据客流计数设定发车频率。</a:t>
            </a:r>
            <a:endParaRPr lang="en-US" sz="93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93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[2] </a:t>
            </a:r>
            <a:r>
              <a:rPr lang="en-US" sz="93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Hadas &amp; Shnaiderman (2012)</a:t>
            </a:r>
            <a:r>
              <a:rPr lang="en-US" sz="93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TR-B</a:t>
            </a:r>
            <a:endParaRPr lang="en-US" sz="93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随机需求和行程时间下的最小成本发车频率。</a:t>
            </a:r>
            <a:endParaRPr lang="en-US" sz="93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93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[3] </a:t>
            </a:r>
            <a:r>
              <a:rPr lang="en-US" sz="93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Durán-Micco &amp; Vansteenwegen (2021)</a:t>
            </a:r>
            <a:r>
              <a:rPr lang="en-US" sz="93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Public Transport</a:t>
            </a:r>
            <a:endParaRPr lang="en-US" sz="93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线网设计与发车频率设定问题综述。</a:t>
            </a:r>
            <a:endParaRPr lang="en-US" sz="93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93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[4] </a:t>
            </a:r>
            <a:r>
              <a:rPr lang="en-US" sz="93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Gkiotsalitis et al. (2021); Xia et al. (2023)</a:t>
            </a:r>
            <a:r>
              <a:rPr lang="en-US" sz="93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TR-C</a:t>
            </a:r>
            <a:endParaRPr lang="en-US" sz="93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需求不确定下的发车频率与时刻表。</a:t>
            </a:r>
            <a:endParaRPr lang="en-US" sz="93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93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[5] </a:t>
            </a:r>
            <a:r>
              <a:rPr lang="en-US" sz="93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Mageean &amp; Nelson (2003); Laws et al. (2009); Vansteenwegen et al. (2022)</a:t>
            </a:r>
            <a:r>
              <a:rPr lang="en-US" sz="93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JTG; JPT; TR-C</a:t>
            </a:r>
            <a:endParaRPr lang="en-US" sz="93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DRT 评估与综述。</a:t>
            </a:r>
            <a:endParaRPr lang="en-US" sz="93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93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[6] </a:t>
            </a:r>
            <a:r>
              <a:rPr lang="en-US" sz="93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Currie &amp; Fournier (2020)</a:t>
            </a:r>
            <a:r>
              <a:rPr lang="en-US" sz="93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Res. Transp. Economics</a:t>
            </a:r>
            <a:endParaRPr lang="en-US" sz="93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为什么多数 DRT / 微公交项目失败。</a:t>
            </a:r>
            <a:endParaRPr lang="en-US" sz="93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93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[7] </a:t>
            </a:r>
            <a:r>
              <a:rPr lang="en-US" sz="93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Schasché, Sposato &amp; Hampl (2022)</a:t>
            </a:r>
            <a:r>
              <a:rPr lang="en-US" sz="93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Transport Policy</a:t>
            </a:r>
            <a:endParaRPr lang="en-US" sz="93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乡村 DRT：期望冲突、接受度弱。</a:t>
            </a:r>
            <a:endParaRPr lang="en-US" sz="93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93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[8] </a:t>
            </a:r>
            <a:r>
              <a:rPr lang="en-US" sz="93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Jittrapirom et al. (2019); Knierim &amp; Schlüter (2021)</a:t>
            </a:r>
            <a:r>
              <a:rPr lang="en-US" sz="93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RTBM; JTG</a:t>
            </a:r>
            <a:endParaRPr lang="en-US" sz="93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老年人及出行能力较弱人群对 DRT 的态度。</a:t>
            </a:r>
            <a:endParaRPr lang="en-US" sz="93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93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[9] </a:t>
            </a:r>
            <a:r>
              <a:rPr lang="en-US" sz="93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Nourbakhsh &amp; Ouyang (2011); Zhao, Sun &amp; Cats (2021); Calabrò et al. (2023)</a:t>
            </a:r>
            <a:r>
              <a:rPr lang="en-US" sz="93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TR-B; Transportmetrica A; TR-A</a:t>
            </a:r>
            <a:endParaRPr lang="en-US" sz="93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结构化灵活公交以及固定 + DRT 联合设计。</a:t>
            </a:r>
            <a:endParaRPr lang="en-US" sz="93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93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[10] </a:t>
            </a:r>
            <a:r>
              <a:rPr lang="en-US" sz="93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Sörensen et al. (2020)</a:t>
            </a:r>
            <a:r>
              <a:rPr lang="en-US" sz="93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Transport Policy</a:t>
            </a:r>
            <a:endParaRPr lang="en-US" sz="93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乡村公共交通需要多大的灵活性？</a:t>
            </a:r>
            <a:endParaRPr lang="en-US" sz="930" dirty="0"/>
          </a:p>
          <a:p>
            <a:pPr indent="0" marL="0">
              <a:lnSpc>
                <a:spcPct val="95000"/>
              </a:lnSpc>
              <a:spcBef>
                <a:spcPts val="450"/>
              </a:spcBef>
              <a:buNone/>
            </a:pPr>
            <a:r>
              <a:rPr lang="en-US" sz="93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[11] </a:t>
            </a:r>
            <a:r>
              <a:rPr lang="en-US" sz="93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Charnes &amp; Cooper (1959); Kleywegt et al. (2002)</a:t>
            </a:r>
            <a:r>
              <a:rPr lang="en-US" sz="93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Mgmt Science; SIAM J. Optim.</a:t>
            </a:r>
            <a:endParaRPr lang="en-US" sz="93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机会约束；样本平均近似。</a:t>
            </a:r>
            <a:endParaRPr lang="en-US" sz="93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二 · 综合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从既有做法到本研究的设计选择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 · 新加坡国立大学 · 新晃县城乡公共交通研究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19 / 39</a:t>
            </a:r>
            <a:endParaRPr lang="en-US" sz="8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98448"/>
          <a:ext cx="1109441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206240"/>
                <a:gridCol w="405079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既有做法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为什么不适用于新晃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本研究的设计选择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日总量或站点总量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同一天方向相反的客流混在一起；而决策以班次为单位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班次级分析单元：单程班次总登乘人数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一个节假日哑变量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3 天与 8 天的假期在返乡规模和方向上都不同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按节日类型 × 放假天数确定节假日强度（分层类型效应）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星期哑变量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拟合的是“周五”而不是“学生回家”；放假期间失效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按校历开关、带方向的住校生（S）与务工者（W）因子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对数尺度交互项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回答的是比值尺度的问题；运营方需要的是多出的人数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人数尺度的叠加量；尺度按似然选择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全部交互 / 机器学习 + SHAP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因素对不可识别；效应归属任意；没有区间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估计前先做可识别性筛选（≥200 班次）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把满座班次当作需求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高峰被低估（合成检验中为 −14%）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删失似然；上限 = 座位数 × 周转系数 κ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流水线：效应 → 点预测 → 优化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不确定性在步骤间丢失；日总量区间过窄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一个联合模型；决策直接取自预测样本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问卷只用于描述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从未与客流核对；未满足需求看不见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构成似然用于诊断；入户问卷测量未满足需求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二 · 缺口证据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缺口是否真实存在？超越关键词计数的三步检验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 · 新加坡国立大学 · 新晃县城乡公共交通研究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20 / 39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  用精确率校正命中数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459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“公交客流预测”：约 1,602 篇相关研究（95% 区间 1,220–1,919）。“农村公交 × 客流预测”：约 16 篇（11–23）。“农村公交 × 概率预测”：命中 1 条，且不相关。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9631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2  对窄式检索全数阅读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16352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节假日或春运 × 客流：相关 6 条，全部是铁路或城市交通。农村 DRT 需求预测：3 条，均为横截面估计。集日 × 公交：4 条，没有一条研究班次客流。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6674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3  按研究深度编码，而不只看是否提及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986784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对 72 篇分层抽样文献，在六个维度上按 0–2 分编码（乘客调查、驱动效应、时间粒度、不确定性、与运营衔接、乡村情境）。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502920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能得出什么、不能得出什么。</a:t>
            </a: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各主题内部都已相当成熟，但相邻环节之间的深度衔接很少。这并不是说“没有相关研究”：中国知网检索尚待执行，深度编码只有一名编码者（将由第二名编码者抽样复核）。</a:t>
            </a:r>
            <a:endParaRPr lang="en-US" sz="12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6263640" y="1280160"/>
          <a:ext cx="53949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6263640" y="55321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95% Wilson 区间：1.4%（0.2–7.5）· 6.9%（3.0–15.2）· 4.2%（1.4–11.5）。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二 · 研究问题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五个缺口推出四个研究问题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 · 新加坡国立大学 · 新晃县城乡公共交通研究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21 / 39</a:t>
            </a:r>
            <a:endParaRPr lang="en-US" sz="8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03504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3337560"/>
                <a:gridCol w="548640"/>
                <a:gridCol w="548640"/>
                <a:gridCol w="548640"/>
                <a:gridCol w="5486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缺口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RQ1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RQ2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RQ3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RQ4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G1</a:t>
                      </a:r>
                      <a:endParaRPr lang="en-US" sz="12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分析单元停留在日或站点；缺少班次全程口径</a:t>
                      </a:r>
                      <a:endParaRPr lang="en-US" sz="11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G2</a:t>
                      </a:r>
                      <a:endParaRPr lang="en-US" sz="12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驱动因素以天气为主；可预知的乡村日历节律研究不足</a:t>
                      </a:r>
                      <a:endParaRPr lang="en-US" sz="11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G3</a:t>
                      </a:r>
                      <a:endParaRPr lang="en-US" sz="12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多为单因素估计；因素重叠时的独立效应与合并效应未分解</a:t>
                      </a:r>
                      <a:endParaRPr lang="en-US" sz="11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G4</a:t>
                      </a:r>
                      <a:endParaRPr lang="en-US" sz="12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各阶段分开建模；不确定性不能向下游传递</a:t>
                      </a:r>
                      <a:endParaRPr lang="en-US" sz="11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6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G5</a:t>
                      </a:r>
                      <a:endParaRPr lang="en-US" sz="12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问卷与客流台账脱节</a:t>
                      </a:r>
                      <a:endParaRPr lang="en-US" sz="11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903720" y="1325880"/>
            <a:ext cx="4754880" cy="1078992"/>
          </a:xfrm>
          <a:prstGeom prst="roundRect">
            <a:avLst>
              <a:gd name="adj" fmla="val 678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059168" y="141732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RQ1 · S1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059168" y="167335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哪些客群在使用县域城乡公交？现行时刻表在哪些客群、哪些行政村留下了未满足的需求？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903720" y="2542032"/>
            <a:ext cx="4754880" cy="1078992"/>
          </a:xfrm>
          <a:prstGeom prst="roundRect">
            <a:avLst>
              <a:gd name="adj" fmla="val 6780"/>
            </a:avLst>
          </a:prstGeom>
          <a:solidFill>
            <a:srgbClr val="E3ECF6"/>
          </a:solidFill>
          <a:ln w="12700">
            <a:solidFill>
              <a:srgbClr val="E3EC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059168" y="263347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RQ2 · S2–S3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059168" y="2889504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当可预知的乡村日历因子相互重叠时，它们对单个班次客流的独立效应与合并效应有多大——是简单相加、放大还是抵消？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03720" y="3758184"/>
            <a:ext cx="4754880" cy="1078992"/>
          </a:xfrm>
          <a:prstGeom prst="roundRect">
            <a:avLst>
              <a:gd name="adj" fmla="val 678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059168" y="384962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RQ3 · S4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059168" y="4105656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能否在班次层面给出校准良好的预测分布，并在加总为日总量后仍保持校准？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903720" y="4974336"/>
            <a:ext cx="4754880" cy="1078992"/>
          </a:xfrm>
          <a:prstGeom prst="roundRect">
            <a:avLst>
              <a:gd name="adj" fmla="val 678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059168" y="506577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RQ4 · S5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059168" y="5321808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在座位上限造成需求删失的条件下，如何依据预测分布制定机会约束式的补充班次，并权衡成本与拒载？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39496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研究问题前后衔接：RQ1 的客群解释 RQ2 的效应；RQ2 的效应驱动 RQ3 的预测；RQ3 的预测分布是 RQ4 的输入。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dirty="0">
                <a:solidFill>
                  <a:srgbClr val="1C4E80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III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88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研究框架与下一步工作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从问卷调查到服务规划的五个衔接步骤——以一个班次级模型实现，方法经回测选定并在检验前冻结。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一  研究区域与数据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二  已有研究告诉我们什么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50392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三  研究框架与下一步工作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22 / 39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三 · 研究逻辑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从问卷调查到服务规划的五个衔接步骤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 · 新加坡国立大学 · 新晃县城乡公共交通研究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23 / 39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212848" cy="566928"/>
          </a:xfrm>
          <a:prstGeom prst="chevron">
            <a:avLst/>
          </a:prstGeom>
          <a:solidFill>
            <a:srgbClr val="3B6E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13716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  观察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848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S1 · RQ1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37744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哪些日子谁在坐车？客流量和客群是否按日期类型出现可重复的差异？乘客和非乘客反映了哪些问题？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2103120" cy="86868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895344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数据 · 方法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跟车（暑期、秋季周末、冬季）、入户和线上问卷；上下客记录表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773168"/>
            <a:ext cx="2103120" cy="868680"/>
          </a:xfrm>
          <a:prstGeom prst="rect">
            <a:avLst/>
          </a:prstGeom>
          <a:solidFill>
            <a:srgbClr val="E3ECF6"/>
          </a:solidFill>
          <a:ln w="12700">
            <a:solidFill>
              <a:srgbClr val="E3EC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82803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产出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按日期类型的客群构成；问题排序；未满足需求；周转系数 κ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95321" y="1371600"/>
            <a:ext cx="2212848" cy="566928"/>
          </a:xfrm>
          <a:prstGeom prst="chevron">
            <a:avLst/>
          </a:prstGeom>
          <a:solidFill>
            <a:srgbClr val="3B6E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79369" y="13716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2  解释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795321" y="20848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S2 · RQ2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795321" y="237744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集期、天气、公历与农历节假日、学校寒暑假是否改变需求——改变多少？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95321" y="3840480"/>
            <a:ext cx="2103120" cy="86868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86761" y="3895344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数据 · 方法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公开日历、学期、天气、时刻表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95321" y="4773168"/>
            <a:ext cx="2103120" cy="868680"/>
          </a:xfrm>
          <a:prstGeom prst="rect">
            <a:avLst/>
          </a:prstGeom>
          <a:solidFill>
            <a:srgbClr val="E3ECF6"/>
          </a:solidFill>
          <a:ln w="12700">
            <a:solidFill>
              <a:srgbClr val="E3EC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886761" y="482803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产出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逐日因子日历；可识别性表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42002" y="1371600"/>
            <a:ext cx="2212848" cy="566928"/>
          </a:xfrm>
          <a:prstGeom prst="chevron">
            <a:avLst/>
          </a:prstGeom>
          <a:solidFill>
            <a:srgbClr val="1C4E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26050" y="13716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3  量化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042002" y="20848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S3 · RQ2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042002" y="237744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哪些因素影响单个班次的需求？独立效应与合并效应有多大？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42002" y="3840480"/>
            <a:ext cx="2103120" cy="86868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33442" y="3895344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数据 · 方法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班次台账 + 因子；人数尺度的删失计数模型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42002" y="4773168"/>
            <a:ext cx="2103120" cy="868680"/>
          </a:xfrm>
          <a:prstGeom prst="rect">
            <a:avLst/>
          </a:prstGeom>
          <a:solidFill>
            <a:srgbClr val="E3ECF6"/>
          </a:solidFill>
          <a:ln w="12700">
            <a:solidFill>
              <a:srgbClr val="E3ECF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33442" y="482803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产出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带区间的独立效应、合并效应与叠加量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288682" y="1371600"/>
            <a:ext cx="2212848" cy="566928"/>
          </a:xfrm>
          <a:prstGeom prst="chevron">
            <a:avLst/>
          </a:prstGeom>
          <a:solidFill>
            <a:srgbClr val="3B6E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72730" y="13716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4  预测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288682" y="20848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S4 · RQ3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288682" y="237744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能否用未来的因子提前 1–7 天预测每个班次的需求——并如实给出不确定性？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288682" y="3840480"/>
            <a:ext cx="2103120" cy="86868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80122" y="3895344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数据 · 方法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已拟合模型 + 日历与天气预报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288682" y="4773168"/>
            <a:ext cx="2103120" cy="868680"/>
          </a:xfrm>
          <a:prstGeom prst="rect">
            <a:avLst/>
          </a:prstGeom>
          <a:solidFill>
            <a:srgbClr val="E3ECF6"/>
          </a:solidFill>
          <a:ln w="12700">
            <a:solidFill>
              <a:srgbClr val="E3ECF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380122" y="482803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产出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班次与日总量的预测分布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535363" y="1371600"/>
            <a:ext cx="2212848" cy="566928"/>
          </a:xfrm>
          <a:prstGeom prst="chevron">
            <a:avLst/>
          </a:prstGeom>
          <a:solidFill>
            <a:srgbClr val="3B6E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919411" y="13716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5  规划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9535363" y="20848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S5 · RQ4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9535363" y="237744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服务应如何调整：固定核心班次，加上按当日预测和问卷发现的问题调整的灵活班次？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535363" y="3840480"/>
            <a:ext cx="2103120" cy="86868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626803" y="3895344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数据 · 方法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预测样本、座位数、成本、问卷偏好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535363" y="4773168"/>
            <a:ext cx="2103120" cy="868680"/>
          </a:xfrm>
          <a:prstGeom prst="rect">
            <a:avLst/>
          </a:prstGeom>
          <a:solidFill>
            <a:srgbClr val="E3ECF6"/>
          </a:solidFill>
          <a:ln w="12700">
            <a:solidFill>
              <a:srgbClr val="E3ECF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626803" y="482803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产出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备用运力与触发补班规则；成本—拒载前沿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 flipH="1">
            <a:off x="1097280" y="5806440"/>
            <a:ext cx="10058400" cy="0"/>
          </a:xfrm>
          <a:prstGeom prst="line">
            <a:avLst/>
          </a:prstGeom>
          <a:noFill/>
          <a:ln w="12700">
            <a:solidFill>
              <a:srgbClr val="8B95A1"/>
            </a:solidFill>
            <a:prstDash val="dash"/>
            <a:tailEnd type="triangle"/>
          </a:ln>
        </p:spPr>
      </p:sp>
      <p:sp>
        <p:nvSpPr>
          <p:cNvPr id="47" name="Text 45"/>
          <p:cNvSpPr txBox="1"/>
          <p:nvPr/>
        </p:nvSpPr>
        <p:spPr>
          <a:xfrm>
            <a:off x="1097280" y="58795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反馈：补班结果决定下一轮问卷在哪些时段加密抽样、台账增加哪些字段（如满座未上车）。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三 · 推理过程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设计如何演进：六次修订及其依据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 · 新加坡国立大学 · 新晃县城乡公共交通研究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24 / 39</a:t>
            </a:r>
            <a:endParaRPr lang="en-US" sz="8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98448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520440"/>
                <a:gridCol w="48280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早期设计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当前设计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修改原因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阶段 2–5 为先后衔接的流水线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一个班次级联合模型；各阶段是它的不同用法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流水线会丢失不确定性。合成检验：日总量 90% 区间覆盖率为 0.39（流水线）对 0.87（联合模型）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驱动因素含工业园区排班和门诊排班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只用能可靠获取的变量（保留 21 项、剔除 3 项）；新增务工者周往返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排班无法逐日取得；园区和乡镇职工的周往返可以按日历编码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集期作为核心驱动因素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集期作为基线控制变量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按评审意见调整；问卷中的“购物/赶集”目的用于检验控制变量是否足够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“哪些因素有影响？”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“因素重叠时，独立效应和合并效应分别有多大？”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真实时刻表 × 日历显示：因素按日高度重叠，但按班次和方向可以分开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务工者往返被编码为与住校生同向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务工者周日下午出城，周五下午 / 周六上午回城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修正后“仅住校生”班次从 33 趟增至 5,104 趟；此前“不可分开”的结论已撤回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问卷作为效应估计的主要信息来源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问卷用于描述、诊断和提供外部约束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合成检验：增加 400–600 份问卷后叠加效应误差不变（0.038 → 0.038）；检出设定偏误约需 5,500 份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559552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C2410C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方向错误的教训：编错的因子照样拟合良好——只是把效应归给了错误的人群。因此在估计前，编码要与乘客自报的出行时段和调度员经验逐条核对。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三 · 研究框架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一个班次级模型串联效应、预测与决策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 · 新加坡国立大学 · 新晃县城乡公共交通研究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25 / 39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618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可事先获取的数据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977640" y="126187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一个班次级联合模型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549640" y="12618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预测与决策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572768"/>
            <a:ext cx="2971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618488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班次台账</a:t>
            </a:r>
            <a:endParaRPr lang="en-US" sz="11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每个单程班次的总登乘人数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20440" y="1929384"/>
            <a:ext cx="411480" cy="0"/>
          </a:xfrm>
          <a:prstGeom prst="line">
            <a:avLst/>
          </a:prstGeom>
          <a:noFill/>
          <a:ln w="15875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" y="2423160"/>
            <a:ext cx="2971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468880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时刻表与座位数</a:t>
            </a:r>
            <a:endParaRPr lang="en-US" sz="11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班次位置、座位数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20440" y="2779776"/>
            <a:ext cx="411480" cy="0"/>
          </a:xfrm>
          <a:prstGeom prst="line">
            <a:avLst/>
          </a:prstGeom>
          <a:noFill/>
          <a:ln w="15875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3273552"/>
            <a:ext cx="2971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319272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日历</a:t>
            </a:r>
            <a:endParaRPr lang="en-US" sz="11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学期、节假日、调休、春节、集期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20440" y="3630168"/>
            <a:ext cx="411480" cy="0"/>
          </a:xfrm>
          <a:prstGeom prst="line">
            <a:avLst/>
          </a:prstGeom>
          <a:noFill/>
          <a:ln w="15875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8640" y="4123944"/>
            <a:ext cx="2971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169664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天气</a:t>
            </a:r>
            <a:endParaRPr lang="en-US" sz="11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历史数据用于拟合；预报用于预测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20440" y="4480560"/>
            <a:ext cx="411480" cy="0"/>
          </a:xfrm>
          <a:prstGeom prst="line">
            <a:avLst/>
          </a:prstGeom>
          <a:noFill/>
          <a:ln w="15875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931920" y="1536192"/>
            <a:ext cx="4114800" cy="3429000"/>
          </a:xfrm>
          <a:prstGeom prst="rect">
            <a:avLst/>
          </a:prstGeom>
          <a:solidFill>
            <a:srgbClr val="E3ECF6"/>
          </a:solidFill>
          <a:ln w="12700">
            <a:solidFill>
              <a:srgbClr val="E3EC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0" y="1691640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1C4E8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06240" y="17373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S3  效应分解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独立效应 · 合并效应 · 叠加量（相加 / 放大 / 抵消）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0" y="2770632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1F293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06240" y="2816352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共同结构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负二项计数 + 座位上限删失 + 线路 × 方向 × 时段截距 + 全县日冲击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0" y="3941064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1C4E8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206240" y="3986784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S2  日总量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= 班次预测的加总（不再单独建模）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549640" y="1600200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1C4E8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41080" y="164592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S4  班次预测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提前 1–7 天、逐班次抽样；日总量区间来自同一组样本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549640" y="3291840"/>
            <a:ext cx="3108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1C4E8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641080" y="33375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S5  补充班次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(1) 日前备用车辆和驾驶员；(2) 若 Pr(需求 &gt; 上限) &gt; α 则加开；α 在成本—拒载前沿上选择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 flipV="1">
            <a:off x="8046720" y="2267712"/>
            <a:ext cx="502920" cy="18288"/>
          </a:xfrm>
          <a:prstGeom prst="line">
            <a:avLst/>
          </a:prstGeom>
          <a:noFill/>
          <a:ln w="19050">
            <a:solidFill>
              <a:srgbClr val="1C4E8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104120" y="2926080"/>
            <a:ext cx="0" cy="365760"/>
          </a:xfrm>
          <a:prstGeom prst="line">
            <a:avLst/>
          </a:prstGeom>
          <a:noFill/>
          <a:ln w="19050">
            <a:solidFill>
              <a:srgbClr val="1C4E8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48640" y="512064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FBEDE5"/>
          </a:solidFill>
          <a:ln w="15240">
            <a:solidFill>
              <a:srgbClr val="C2410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" y="516636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S1  问卷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跟车（上下车点、乘客类型）、入户（未出行的出行及原因）、线上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931920" y="525780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C2410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023360" y="53035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有效上限 = 座位数 × 周转系数 κ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客群构成似然（模型 vs. 问卷）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520440" y="5715000"/>
            <a:ext cx="411480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5989320" y="4965192"/>
            <a:ext cx="0" cy="292608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6080760" y="49651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C2410C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设定删失点；检验客群分解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0104120" y="4937760"/>
            <a:ext cx="0" cy="868680"/>
          </a:xfrm>
          <a:prstGeom prst="line">
            <a:avLst/>
          </a:prstGeom>
          <a:noFill/>
          <a:ln w="12700">
            <a:solidFill>
              <a:srgbClr val="8B95A1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 flipH="1">
            <a:off x="8046720" y="5806440"/>
            <a:ext cx="2057400" cy="0"/>
          </a:xfrm>
          <a:prstGeom prst="line">
            <a:avLst/>
          </a:prstGeom>
          <a:noFill/>
          <a:ln w="12700">
            <a:solidFill>
              <a:srgbClr val="8B95A1"/>
            </a:solidFill>
            <a:prstDash val="dash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10195560" y="50749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反馈：下一轮问卷时窗；台账新增字段（满座未上车）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三 · 第一步 · 观察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四类问卷，各自承担台账无法完成的任务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 · 新加坡国立大学 · 新晃县城乡公共交通研究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26 / 39</a:t>
            </a:r>
            <a:endParaRPr lang="en-US" sz="8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98448"/>
          <a:ext cx="11094415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3977640"/>
                <a:gridCol w="1874520"/>
                <a:gridCol w="1097280"/>
                <a:gridCol w="190195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调查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抽样设计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时间窗口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计划样本量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主要任务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跟车问卷，2026 年暑期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抽中班次上 16 周岁及以上乘客（旧版问卷）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2026 年 7 月 15 日—8 月 31 日 · 已完成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已收回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RQ1；按衔接规则与班次连接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跟车问卷，秋季学期周末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6 层：日历因子 × 方向（A1–A6），30 个班次，系统抽样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2026 年 10 月 16 日—12 月 20 日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240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检验住校生与务工者的编码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跟车问卷，寒假与春运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5 层（B1–B5），129 个班次；2027 年日期公布后重抽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2027 年 1 月 1 日—2 月 28 日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≈1,030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构成检验；返乡时间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入户问卷（行政村）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3 个可达性分层；PPS 抽村（30 个正式 + 6 个备用）；每村 15 个地址；不替换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与秋季跟车同期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360 户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非乘客；未满足需求；原因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线上问卷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外出务工人员、学生家长；渠道配额（非概率样本）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节假日前后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按配额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返乡时间；交叉核对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跟车问卷，2027 年暑期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重设计版问卷，按因子分层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2027 年 7—8 月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按设计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稳健性检验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02920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每个抽中班次都填上下客记录表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3035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逐站记录上下车人数，得到周转系数 κ、满座拒载人数，以及不接受访问的未满 16 周岁学生人数。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315968" y="502920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简短、以行为为主的问卷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315968" y="53035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受访者题目共 56 题，来自 13 个指标组、47 个题项的题库。规则估计时长：跟车 4.8 / 4.7 分钟（上限 5），入户 5.7 分钟（上限 15），线上 3.5 分钟（上限 10）。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083296" y="502920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每个题项都有存在理由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083296" y="53035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每个题项都必须进入某一阶段并服务某一研究问题：第四版 53 题中保留或改写 33 题、合并 11 题、删除 9 题；新增 10 题。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三 · 第一步 · 观察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识别现存问题——乘客与非乘客，按村庄可达性分层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 · 新加坡国立大学 · 新晃县城乡公共交通研究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27 / 39</a:t>
            </a:r>
            <a:endParaRPr lang="en-US" sz="850" dirty="0"/>
          </a:p>
        </p:txBody>
      </p:sp>
      <p:pic>
        <p:nvPicPr>
          <p:cNvPr id="6" name="Image 0" descr="入户调查样本：三个可达性分层中的 30 个正式村和 6 个备用村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225143" cy="4572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521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各可达性分层内按规模成比例系统抽样（随机种子 20261001）；一个必选村（沙湾村）。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1325880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三类问卷使用同一道问题题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16002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“下面哪一项对您坐车影响最大？”——以一道强迫单选题取代 11 项李克特量表：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35040" y="2148840"/>
            <a:ext cx="2697480" cy="338328"/>
          </a:xfrm>
          <a:prstGeom prst="roundRect">
            <a:avLst>
              <a:gd name="adj" fmla="val 21622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26480" y="2194560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班次太少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842248" y="2148840"/>
            <a:ext cx="2697480" cy="338328"/>
          </a:xfrm>
          <a:prstGeom prst="roundRect">
            <a:avLst>
              <a:gd name="adj" fmla="val 21622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933688" y="2194560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末班车太早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035040" y="2560320"/>
            <a:ext cx="2697480" cy="338328"/>
          </a:xfrm>
          <a:prstGeom prst="roundRect">
            <a:avLst>
              <a:gd name="adj" fmla="val 21622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26480" y="2606040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首班车太晚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842248" y="2560320"/>
            <a:ext cx="2697480" cy="338328"/>
          </a:xfrm>
          <a:prstGeom prst="roundRect">
            <a:avLst>
              <a:gd name="adj" fmla="val 21622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933688" y="2606040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不知道车几点到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035040" y="2971800"/>
            <a:ext cx="2697480" cy="338328"/>
          </a:xfrm>
          <a:prstGeom prst="roundRect">
            <a:avLst>
              <a:gd name="adj" fmla="val 21622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126480" y="3017520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车满了上不去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842248" y="2971800"/>
            <a:ext cx="2697480" cy="338328"/>
          </a:xfrm>
          <a:prstGeom prst="roundRect">
            <a:avLst>
              <a:gd name="adj" fmla="val 21622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933688" y="3017520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路远颠簸 / 晕车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035040" y="3383280"/>
            <a:ext cx="2697480" cy="338328"/>
          </a:xfrm>
          <a:prstGeom prst="roundRect">
            <a:avLst>
              <a:gd name="adj" fmla="val 21622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126480" y="3429000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家离上车点太远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842248" y="3383280"/>
            <a:ext cx="2697480" cy="338328"/>
          </a:xfrm>
          <a:prstGeom prst="roundRect">
            <a:avLst>
              <a:gd name="adj" fmla="val 21622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933688" y="3429000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没有明显问题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6035040" y="3931920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以行为测量未满足需求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6035040" y="4187952"/>
            <a:ext cx="5577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跟车：</a:t>
            </a: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过去一个月放弃或推迟的出行；如果这班车不开您会怎么办。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入户：</a:t>
            </a: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全家过去 7 天的乘车次数；很少或从不坐车的原因；因没有车而没去成的出行。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线上：</a:t>
            </a: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到了县城却没有回家的车；节假日前后希望的发车时间。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035040" y="5577840"/>
            <a:ext cx="5577840" cy="685800"/>
          </a:xfrm>
          <a:prstGeom prst="roundRect">
            <a:avLst>
              <a:gd name="adj" fmla="val 10667"/>
            </a:avLst>
          </a:prstGeom>
          <a:solidFill>
            <a:srgbClr val="E3ECF6"/>
          </a:solidFill>
          <a:ln w="12700">
            <a:solidFill>
              <a:srgbClr val="E3ECF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126480" y="562356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预先登记的检验：学期内周五/周日班次上住校生的占比高于假期同类班次；远线村报告的未满足需求更高。全县 95% 置信区间半宽约 6.3 个百分点（p = 30%，ICC 0.05）。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三 · 第二步 · 解释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把节假日、校历、集期和天气转化为班次级因子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 · 新加坡国立大学 · 新晃县城乡公共交通研究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28 / 39</a:t>
            </a:r>
            <a:endParaRPr lang="en-US" sz="8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98448"/>
          <a:ext cx="758952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4023360"/>
                <a:gridCol w="9601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原计划中的驱动因素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在每个班次上的编码（日期 × 时段 × 方向）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用途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学期：住校生每周往返</a:t>
                      </a:r>
                      <a:endParaRPr lang="en-US" sz="112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S — 周日下午进城（返校）；本周最后上课日下午出城（回家）；假期内为 0</a:t>
                      </a:r>
                      <a:endParaRPr lang="en-US" sz="112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核心因子</a:t>
                      </a:r>
                      <a:endParaRPr lang="en-US" sz="112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园区与乡镇职工的周往返</a:t>
                      </a:r>
                      <a:endParaRPr lang="en-US" sz="112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W — 周日下午出城；周五下午进城；休息首日上午进城（权重 0.5）；不受学期限制</a:t>
                      </a:r>
                      <a:endParaRPr lang="en-US" sz="112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核心因子</a:t>
                      </a:r>
                      <a:endParaRPr lang="en-US" sz="112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寒暑假：放假与开学</a:t>
                      </a:r>
                      <a:endParaRPr lang="en-US" sz="112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T — 开学前一日进城，放假首日出城（次日 0.4–0.5）；假期同时关闭 S</a:t>
                      </a:r>
                      <a:endParaRPr lang="en-US" sz="112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核心因子</a:t>
                      </a:r>
                      <a:endParaRPr lang="en-US" sz="112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公历节假日（元旦、清明、劳动节、国庆）和农历节假日（端午、中秋）</a:t>
                      </a:r>
                      <a:endParaRPr lang="en-US" sz="112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R — 节前出城、节后进城；强度按节日类型 × √(放假天数 / 7)，用分层类型效应估计</a:t>
                      </a:r>
                      <a:endParaRPr lang="en-US" sz="112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核心因子</a:t>
                      </a:r>
                      <a:endParaRPr lang="en-US" sz="112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春节（农历新年）</a:t>
                      </a:r>
                      <a:endParaRPr lang="en-US" sz="112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CY — 第 −20…0 天和 +2…+20 天；钟形高峰分别在节前 3 天和初七前后</a:t>
                      </a:r>
                      <a:endParaRPr lang="en-US" sz="112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核心因子</a:t>
                      </a:r>
                      <a:endParaRPr lang="en-US" sz="112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集期（农历五日一轮）</a:t>
                      </a:r>
                      <a:endParaRPr lang="en-US" sz="112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沿线集镇的集日指示变量</a:t>
                      </a:r>
                      <a:endParaRPr lang="en-US" sz="112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8B95A1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对照</a:t>
                      </a:r>
                      <a:endParaRPr lang="en-US" sz="112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天气</a:t>
                      </a:r>
                      <a:endParaRPr lang="en-US" sz="112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班次时窗内降水量、最高气温、极端天气标记</a:t>
                      </a:r>
                      <a:endParaRPr lang="en-US" sz="112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8B95A1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对照</a:t>
                      </a:r>
                      <a:endParaRPr lang="en-US" sz="112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星期、调休上班日、年份</a:t>
                      </a:r>
                      <a:endParaRPr lang="en-US" sz="112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星期与调休上班日指示变量；年份项</a:t>
                      </a:r>
                      <a:endParaRPr lang="en-US" sz="112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8B95A1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对照</a:t>
                      </a:r>
                      <a:endParaRPr lang="en-US" sz="112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503920" y="132588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同一天、相反方向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16916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周五下午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503920" y="20208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县城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018520" y="20208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乡村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144000" y="2404872"/>
            <a:ext cx="1874520" cy="0"/>
          </a:xfrm>
          <a:prstGeom prst="line">
            <a:avLst/>
          </a:prstGeom>
          <a:noFill/>
          <a:ln w="27940">
            <a:solidFill>
              <a:srgbClr val="2A78D6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9601200" y="21488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A78D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住校生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 flipH="1">
            <a:off x="9144000" y="2752344"/>
            <a:ext cx="1874520" cy="0"/>
          </a:xfrm>
          <a:prstGeom prst="line">
            <a:avLst/>
          </a:prstGeom>
          <a:noFill/>
          <a:ln w="27940">
            <a:solidFill>
              <a:srgbClr val="EB6834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9601200" y="27889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B6834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务工者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8503920" y="324612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周日下午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503920" y="35753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县城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1018520" y="35753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乡村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 flipH="1">
            <a:off x="9144000" y="3959352"/>
            <a:ext cx="1874520" cy="0"/>
          </a:xfrm>
          <a:prstGeom prst="line">
            <a:avLst/>
          </a:prstGeom>
          <a:noFill/>
          <a:ln w="27940">
            <a:solidFill>
              <a:srgbClr val="2A78D6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9601200" y="3703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A78D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住校生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9144000" y="4306824"/>
            <a:ext cx="1874520" cy="0"/>
          </a:xfrm>
          <a:prstGeom prst="line">
            <a:avLst/>
          </a:prstGeom>
          <a:noFill/>
          <a:ln w="27940">
            <a:solidFill>
              <a:srgbClr val="EB6834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9601200" y="43434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B6834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务工者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8503920" y="480060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同一天、相反方向的车：两类通勤人群同日出现 189 天，却从不在同一班次——这是分离其效应的关键。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三 · 第二步 · 解释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真实时刻表 × 日历：因素按日重叠，但按班次分开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 · 新加坡国立大学 · 新晃县城乡公共交通研究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29 / 39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a  同时受两个因子影响的班次数</a:t>
            </a:r>
            <a:endParaRPr lang="en-US" sz="11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347472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594360"/>
                <a:gridCol w="594360"/>
                <a:gridCol w="594360"/>
                <a:gridCol w="594360"/>
                <a:gridCol w="5943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S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W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R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CY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T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S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6,210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845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87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229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32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3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W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12,286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69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437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87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298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87E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R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845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87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69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3,536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CY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229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437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87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5,440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816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87E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T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32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298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87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816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87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2,040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25196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b  两个因子同时出现的天数</a:t>
            </a:r>
            <a:endParaRPr lang="en-US" sz="1150" dirty="0"/>
          </a:p>
        </p:txBody>
      </p:sp>
      <p:graphicFrame>
        <p:nvGraphicFramePr>
          <p:cNvPr id="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51960" y="1645920"/>
          <a:ext cx="347472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594360"/>
                <a:gridCol w="594360"/>
                <a:gridCol w="594360"/>
                <a:gridCol w="594360"/>
                <a:gridCol w="5943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S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W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R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CY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T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S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191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189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26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3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W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189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354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38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87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R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26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38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87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51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87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CY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80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87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T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Chart 0" descr=""/>
          <p:cNvGraphicFramePr/>
          <p:nvPr/>
        </p:nvGraphicFramePr>
        <p:xfrm>
          <a:off x="8001000" y="1280160"/>
          <a:ext cx="36576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48640" y="452628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按方向分开。</a:t>
            </a: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在住校生往返的 191 天中，有 189 天同时是务工者往返日，但同班次为 0；VIF 从 3.7 / 5.9（日总量）降至 1.28（班次）。</a:t>
            </a:r>
            <a:endParaRPr lang="en-US" sz="12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有些因子对从不相遇。</a:t>
            </a: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节假日返乡从不与春运或开学放假同日出现：不存在可估计的交互。</a:t>
            </a:r>
            <a:endParaRPr lang="en-US" sz="12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估计前先做支持度筛选。</a:t>
            </a: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一对因子只有在同班次共同出现 ≥200 趟、且各自单独出现 ≥200 趟时才设叠加项：10 对中有 5 对通过（S×R、S×CY、W×CY、W×T、CY×T）；其余按主效应相加报告，并标注“低支持”。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三 · 第三步 · 量化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人数尺度上的删失计数模型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 · 新加坡国立大学 · 新晃县城乡公共交通研究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30 / 39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6675120" cy="160020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444752"/>
            <a:ext cx="6400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Y</a:t>
            </a:r>
            <a:r>
              <a:rPr lang="en-US" sz="1500" baseline="-400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i</a:t>
            </a:r>
            <a:r>
              <a:rPr lang="en-US" sz="1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 ~ NegBin(μ</a:t>
            </a:r>
            <a:r>
              <a:rPr lang="en-US" sz="1500" baseline="-400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i</a:t>
            </a:r>
            <a:r>
              <a:rPr lang="en-US" sz="1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, θ),    y</a:t>
            </a:r>
            <a:r>
              <a:rPr lang="en-US" sz="1500" baseline="-400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i</a:t>
            </a:r>
            <a:r>
              <a:rPr lang="en-US" sz="1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 = min(Y</a:t>
            </a:r>
            <a:r>
              <a:rPr lang="en-US" sz="1500" baseline="-400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i</a:t>
            </a:r>
            <a:r>
              <a:rPr lang="en-US" sz="1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, C</a:t>
            </a:r>
            <a:r>
              <a:rPr lang="en-US" sz="1500" baseline="-400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i</a:t>
            </a:r>
            <a:r>
              <a:rPr lang="en-US" sz="1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),    C</a:t>
            </a:r>
            <a:r>
              <a:rPr lang="en-US" sz="1500" baseline="-400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i</a:t>
            </a:r>
            <a:r>
              <a:rPr lang="en-US" sz="1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 = κ</a:t>
            </a:r>
            <a:r>
              <a:rPr lang="en-US" sz="1500" baseline="-400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r</a:t>
            </a:r>
            <a:r>
              <a:rPr lang="en-US" sz="1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 × 座位数</a:t>
            </a:r>
            <a:r>
              <a:rPr lang="en-US" sz="1500" baseline="-400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i</a:t>
            </a:r>
            <a:endParaRPr lang="en-US" sz="1500" dirty="0"/>
          </a:p>
          <a:p>
            <a:pPr indent="0" marL="0">
              <a:buNone/>
            </a:pPr>
            <a:r>
              <a:rPr lang="en-US" sz="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μ</a:t>
            </a:r>
            <a:r>
              <a:rPr lang="en-US" sz="1500" baseline="-400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i</a:t>
            </a:r>
            <a:r>
              <a:rPr lang="en-US" sz="1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 = exp(α</a:t>
            </a:r>
            <a:r>
              <a:rPr lang="en-US" sz="1500" baseline="-400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线路×方向×时段</a:t>
            </a:r>
            <a:r>
              <a:rPr lang="en-US" sz="1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 + γx</a:t>
            </a:r>
            <a:r>
              <a:rPr lang="en-US" sz="1500" baseline="-400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i</a:t>
            </a:r>
            <a:r>
              <a:rPr lang="en-US" sz="1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 + u</a:t>
            </a:r>
            <a:r>
              <a:rPr lang="en-US" sz="1500" baseline="-400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d</a:t>
            </a:r>
            <a:r>
              <a:rPr lang="en-US" sz="1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) × [1 + Σ ρ</a:t>
            </a:r>
            <a:r>
              <a:rPr lang="en-US" sz="1500" baseline="-400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g</a:t>
            </a:r>
            <a:r>
              <a:rPr lang="en-US" sz="1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f</a:t>
            </a:r>
            <a:r>
              <a:rPr lang="en-US" sz="1500" baseline="-400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gi</a:t>
            </a:r>
            <a:r>
              <a:rPr lang="en-US" sz="1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 + Σ</a:t>
            </a:r>
            <a:r>
              <a:rPr lang="en-US" sz="1500" baseline="-400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Π</a:t>
            </a:r>
            <a:r>
              <a:rPr lang="en-US" sz="1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 δ</a:t>
            </a:r>
            <a:r>
              <a:rPr lang="en-US" sz="1500" baseline="-400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pq</a:t>
            </a:r>
            <a:r>
              <a:rPr lang="en-US" sz="1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f</a:t>
            </a:r>
            <a:r>
              <a:rPr lang="en-US" sz="1500" baseline="-400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pi</a:t>
            </a:r>
            <a:r>
              <a:rPr lang="en-US" sz="1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f</a:t>
            </a:r>
            <a:r>
              <a:rPr lang="en-US" sz="1500" baseline="-400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qi</a:t>
            </a:r>
            <a:r>
              <a:rPr lang="en-US" sz="1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 + Σ ρ</a:t>
            </a:r>
            <a:r>
              <a:rPr lang="en-US" sz="1500" baseline="-400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gt</a:t>
            </a:r>
            <a:r>
              <a:rPr lang="en-US" sz="1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f</a:t>
            </a:r>
            <a:r>
              <a:rPr lang="en-US" sz="1500" baseline="-400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gi</a:t>
            </a:r>
            <a:r>
              <a:rPr lang="en-US" sz="1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1</a:t>
            </a:r>
            <a:r>
              <a:rPr lang="en-US" sz="1500" baseline="-400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年份=t</a:t>
            </a:r>
            <a:r>
              <a:rPr lang="en-US" sz="1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]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63240"/>
            <a:ext cx="6675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基线：</a:t>
            </a: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线路 × 方向 × 时段的分层截距；控制变量 x（星期、集期、天气、年份）；全县日冲击 u</a:t>
            </a:r>
            <a:r>
              <a:rPr lang="en-US" sz="1250" baseline="-400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d</a:t>
            </a: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~ N(0, σ²).</a:t>
            </a:r>
            <a:endParaRPr lang="en-US" sz="12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ρ</a:t>
            </a:r>
            <a:r>
              <a:rPr lang="en-US" sz="1250" b="1" baseline="-400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g</a:t>
            </a: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：客群 g 的因子完全开启时，多出的乘客占基线的比例；</a:t>
            </a:r>
            <a:r>
              <a:rPr lang="en-US" sz="1250" b="1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δ</a:t>
            </a:r>
            <a:r>
              <a:rPr lang="en-US" sz="1250" b="1" baseline="-400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pq</a:t>
            </a: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：叠加量，只对通过筛选的因子对 Π 设置；</a:t>
            </a:r>
            <a:r>
              <a:rPr lang="en-US" sz="1250" b="1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ρ</a:t>
            </a:r>
            <a:r>
              <a:rPr lang="en-US" sz="1250" b="1" baseline="-400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gt</a:t>
            </a: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：2025–26 年的逐年偏离，按岭回归收缩。</a:t>
            </a:r>
            <a:endParaRPr lang="en-US" sz="12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满座班次</a:t>
            </a: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以 Pr(Y ≥ C) 进入似然；周转系数 κ 来自上下客记录表，并在每次抽样中重新抽取。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39496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2410C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为什么用人数尺度：每一项都是“多出来的一批人”，与问卷的乘客类型一一对应，也正是补班决策所需要的。比值尺度结果同时报告。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635240" y="132588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以反事实开关定义效应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157276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（示意图，每班次高于基线的乘客数）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818120" y="3529584"/>
            <a:ext cx="640080" cy="1316736"/>
          </a:xfrm>
          <a:prstGeom prst="rect">
            <a:avLst/>
          </a:prstGeom>
          <a:solidFill>
            <a:srgbClr val="2A78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35240" y="49011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仅 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796528" y="3749040"/>
            <a:ext cx="640080" cy="1097280"/>
          </a:xfrm>
          <a:prstGeom prst="rect">
            <a:avLst/>
          </a:prstGeom>
          <a:solidFill>
            <a:srgbClr val="EB68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13648" y="49011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仅 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774936" y="3529584"/>
            <a:ext cx="640080" cy="1316736"/>
          </a:xfrm>
          <a:prstGeom prst="rect">
            <a:avLst/>
          </a:prstGeom>
          <a:solidFill>
            <a:srgbClr val="2A78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74936" y="2432304"/>
            <a:ext cx="640080" cy="1097280"/>
          </a:xfrm>
          <a:prstGeom prst="rect">
            <a:avLst/>
          </a:prstGeom>
          <a:solidFill>
            <a:srgbClr val="EB68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592056" y="49011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相加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753344" y="2871216"/>
            <a:ext cx="640080" cy="1975104"/>
          </a:xfrm>
          <a:prstGeom prst="rect">
            <a:avLst/>
          </a:prstGeom>
          <a:solidFill>
            <a:srgbClr val="1C4E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70464" y="49011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 + R 同时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26680" y="4846320"/>
            <a:ext cx="3886200" cy="0"/>
          </a:xfrm>
          <a:prstGeom prst="line">
            <a:avLst/>
          </a:prstGeom>
          <a:noFill/>
          <a:ln w="10160">
            <a:solidFill>
              <a:srgbClr val="4B556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98480" y="2432304"/>
            <a:ext cx="914400" cy="0"/>
          </a:xfrm>
          <a:prstGeom prst="line">
            <a:avLst/>
          </a:prstGeom>
          <a:noFill/>
          <a:ln w="12700">
            <a:solidFill>
              <a:srgbClr val="C2410C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10652760" y="247802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叠加量 &lt; 0（抵消）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7635240" y="525780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独立效应：</a:t>
            </a: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只打开一个因子。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合并效应：</a:t>
            </a: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打开一个重叠格中的全部因子。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叠加量 = 合并效应 − Σ 独立效应：</a:t>
            </a: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&gt;0 放大；&lt;0 抵消（如学生在节假日的周日只坐一趟车）；≈0 简单相加。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三 · 第三步 · 量化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用合成回测选择估计方法，而不是凭偏好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 · 新加坡国立大学 · 新晃县城乡公共交通研究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31 / 39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11135" y="329184"/>
            <a:ext cx="393192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1430">
            <a:solidFill>
              <a:srgbClr val="7C5C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11135" y="3291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4A99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合成数据 · 检验方法，不代表新晃客流</a:t>
            </a:r>
            <a:endParaRPr lang="en-US" sz="9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98448"/>
          <a:ext cx="67665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方法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合并效应误差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独立效应误差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A</a:t>
                      </a:r>
                      <a:endParaRPr lang="en-US" sz="9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B</a:t>
                      </a:r>
                      <a:endParaRPr lang="en-US" sz="9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D</a:t>
                      </a:r>
                      <a:endParaRPr lang="en-US" sz="9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A</a:t>
                      </a:r>
                      <a:endParaRPr lang="en-US" sz="9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B</a:t>
                      </a:r>
                      <a:endParaRPr lang="en-US" sz="9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D</a:t>
                      </a:r>
                      <a:endParaRPr lang="en-US" sz="9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M1 对数 · 主效应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0.10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BF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0.08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D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0.16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6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0.10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BF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0.21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4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0.06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D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0.20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4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0.21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481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M2 人数 · 主效应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0.06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D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0.14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0.12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BF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0.05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0.08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D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0.11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BF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0.08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D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0.08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DB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M3 对数 · 交互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0.08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D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0.10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BF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0.11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BF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0.08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D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0.16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6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0.06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D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0.16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6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0.16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6F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M4 人数 · 重叠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0.06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D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0.11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BF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0.10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BF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0.06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D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0.08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D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0.09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D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0.07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D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0.07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DB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M5 对数 · 交互 · 删失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0.05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0.07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D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0.06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D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0.06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D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0.12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BF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0.04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0.12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BF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0.11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BF8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M6 人数 · 重叠 · 删失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0.05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0.09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D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0.09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D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0.06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D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0.03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0.13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0.03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0.04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M7 梯度提升树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0.15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0.18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6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0.14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0.15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0.14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0.18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6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0.15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0.15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A5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M8 可解释提升机（EBM）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0.15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0.18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6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0.15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0.16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6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0.11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BF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0.12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BF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0.11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BF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0.12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BF8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M9 M6 + 逐年偏离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0.05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0.09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D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0.09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D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0.05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0.04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0.13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0.04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0.04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M10 M9 + 筛选（加惩罚）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0.05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0.09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D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0.09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D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0.05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0.04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0.13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0.04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0.04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M11/12 筛选、不加惩罚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0.07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D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0.09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D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0.06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D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0.07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D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0.04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0.05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0.04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0.04</a:t>
                      </a:r>
                      <a:endParaRPr lang="en-US" sz="9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8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48640" y="5504688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两因子格的相对均方根误差；每个情景在真实时刻表 × 日历（115,872 个班次）上生成 50 套合成台账。情景：A 人数相加并有吸收 · B 对数尺度协同 · C 稀疏格协同 · D 效应逐年漂移。M11/12 = 可识别性筛选、叠加项不加惩罚、删失、逐年偏离、按似然选择尺度。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1325880"/>
            <a:ext cx="4069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预测评分选不出方法：</a:t>
            </a: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各计数模型的 CRPS 相差 ≤1%，但效应估计可相差数倍。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尺度设对比多加交互更重要：</a:t>
            </a: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情景 A 中独立效应误差为 0.034（人数尺度）对 0.117（对数尺度）。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删失处理消除偏差：</a:t>
            </a: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春运单因子格 −14.2% → −0.8%。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对叠加项加惩罚会掩盖真实的吸收：</a:t>
            </a: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合并效应偏差 +7.1%，不加惩罚为 −0.5%。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589520" y="4251960"/>
            <a:ext cx="4069080" cy="2011680"/>
          </a:xfrm>
          <a:prstGeom prst="roundRect">
            <a:avLst>
              <a:gd name="adj" fmla="val 3636"/>
            </a:avLst>
          </a:prstGeom>
          <a:solidFill>
            <a:srgbClr val="E3ECF6"/>
          </a:solidFill>
          <a:ln w="12700">
            <a:solidFill>
              <a:srgbClr val="E3EC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80960" y="4297680"/>
            <a:ext cx="3886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冻结的选择（2027 年 1 月 1 日）：M11/12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在两项指标上最差情形都最好（合并效应 ≤0.09，独立效应 ≤0.05）。回测后区间放大 2.3 倍；留一情景检验覆盖率 ≥0.93。M10、M6 和 M2 作为敏感性分析保留。检验中还发现了务工者方向的编码错误（第 24 页）。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三 · 第四步 · 预测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提前 1–7 天预测每个班次——并让日总量区间可信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 · 新加坡国立大学 · 新晃县城乡公共交通研究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32 / 39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11135" y="329184"/>
            <a:ext cx="393192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1430">
            <a:solidFill>
              <a:srgbClr val="7C5C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11135" y="3291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4A99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合成数据 · 检验方法，不代表新晃客流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32588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预测如何抽样生成（重复 300 次）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691640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170078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抽取模型参数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15798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203704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21284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为每个预测日抽取一个全县日冲击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6700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715768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72491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为每条线路抽取周转系数 κ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1821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227832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236976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抽取每个班次的潜在需求；按上限截断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6941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739896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374904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同一组样本内的班次加总 → 日总量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29768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评价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57200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在探索期数据上设滚动起点（2025 年 6 月、2025 年 12 月、2026 年 6 月）；总体及按线路、时段和事件分组的 CRPS 和 90% 覆盖率；日总量平均绝对百分比误差。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基准：季节朴素法（过去四周同星期同班次）和分立流水线。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一次性封存检验：2026 年 10 月至 2027 年 2 月的台账（含 2027 年春运）在冻结后只打开一次。</a:t>
            </a:r>
            <a:endParaRPr lang="en-US" sz="11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6720840" y="1325880"/>
          <a:ext cx="493776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 24"/>
          <p:cNvSpPr txBox="1"/>
          <p:nvPr/>
        </p:nvSpPr>
        <p:spPr>
          <a:xfrm>
            <a:off x="6720840" y="523036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情景 A，8 次重复。日总量区间平均宽 566 人次（联合模型）对 194 人次（流水线）：流水线较窄的区间是错的，因为同一天的班次共享冲击。班次层面 CRPS 几乎相同（2.82 对 2.84）。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三 · 第五步 · 规划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从预测到“固定核心 + 灵活补充”的服务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 · 新加坡国立大学 · 新晃县城乡公共交通研究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33 / 39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11135" y="329184"/>
            <a:ext cx="393192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1430">
            <a:solidFill>
              <a:srgbClr val="7C5C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11135" y="3291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4A99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合成数据 · 检验方法，不代表新晃客流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32588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三个服务层次（上面两层逐日变化）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5669280" cy="1060704"/>
          </a:xfrm>
          <a:prstGeom prst="rect">
            <a:avLst>
              <a:gd name="adj" fmla="val 6897"/>
            </a:avLst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986784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固定核心时刻表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稳定、无需预约；保证每条线路的基本服务——对老年乘客尤为重要。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5669280" cy="1060704"/>
          </a:xfrm>
          <a:prstGeom prst="rect">
            <a:avLst>
              <a:gd name="adj" fmla="val 6897"/>
            </a:avLst>
          </a:prstGeom>
          <a:solidFill>
            <a:srgbClr val="3B6E9A"/>
          </a:solidFill>
          <a:ln w="12700">
            <a:solidFill>
              <a:srgbClr val="3B6E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798064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日前备用运力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为次日预留的车辆和驾驶员，按日总量预测超出核心运力部分的上分位数（如 90%）确定。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5669280" cy="1060704"/>
          </a:xfrm>
          <a:prstGeom prst="rect">
            <a:avLst>
              <a:gd name="adj" fmla="val 6897"/>
            </a:avLst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1609344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预测触发补班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若 Pr(需求 &gt; κ × 座位数) &gt; α，就在计划班次 i 附近加开一班——在预测样本上求解的机会约束。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12064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C2410C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问卷为方案提供的输入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376672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期望发车时刻（时刻偏差）· 被拒载乘客会怎么做——等下一班、改乘其他方式、放弃出行——据此确定拒载成本权重 · 乘客如何得知加班信息（村组微信群、告示、司机）。</a:t>
            </a:r>
            <a:endParaRPr lang="en-US" sz="11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583680" y="1325880"/>
          <a:ext cx="50749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6583680" y="5166360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两种做法落在几乎同一条前沿上；α 相同时联合模型补班更多、命中的超载班次更多（α = 0.05：85% 对 76%）。它真正的优势是 α 的含义可信、备用运力得到校准。县里按加开一班的成本与拒载一人的社会成本之比选择 α。各方案与现行时刻表和简单日历规则进行比较。</a:t>
            </a:r>
            <a:endParaRPr lang="en-US" sz="102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三 · 预注册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假设与判读规则——在看到数据之前写定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 · 新加坡国立大学 · 新晃县城乡公共交通研究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34 / 39</a:t>
            </a:r>
            <a:endParaRPr lang="en-US" sz="8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98448"/>
          <a:ext cx="11094415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3200400"/>
                <a:gridCol w="304495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假设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若得到支持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若不支持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H1（RQ1）住校生和周往返务工者是学期内周末班次的主要客群；远线村放弃出行更多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围绕这些客群设计核心班次和触发规则；优先改善远线村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修改客群划分与编码；未满足需求另有原因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H2（RQ2）五个因子的独立效应均为正，且在班次层面可分开估计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分客群、分方向、分时段的补班规则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该客群规模小或已转向其他方式——用问卷解释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H3（RQ2）S×R 与 CY×T 的叠加量为负（同一批人只出行一次）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重叠日不把各因子效应简单相加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为正：需要额外运力；≈0：效应相加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H4（RQ2）节假日返乡效应随放假天数增加；类型效应与先验重要性一致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按类型 × 天数对节假日补班分档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采用数据估计的类型效应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H5（RQ3）班次与日总量 90% 覆盖率 ≈0.90；CRPS 优于季节朴素法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预测可用于提前 1–7 天的两层决策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加入线路层面日冲击；否则只用日历规则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H6（RQ4）在补班次数相同时，两层方案的拒载少于现行时刻表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推荐固定核心 + 备用运力 + 触发补班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推荐简单日历规则；如实报告预测价值有限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440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规则：不显著的结果同样报告并给出区间；区分“没有效应”（区间窄且包含零）与“无法识别”（区间宽、支持度低）；主方法与敏感性方法结论不一致时，两者都报告。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三 · 工作计划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进度安排：2026 年 10 月—2028 年 4 月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 · 新加坡国立大学 · 新晃县城乡公共交通研究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35 / 39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439656" y="11887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2027 年 1 月 1 日：方法与规则冻结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054619" y="11887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2027 年 6 月 30 日：RQ2 结果冻结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727692" y="11887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2027 年 12 月 31 日：全部分析完成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691640"/>
            <a:ext cx="0" cy="452628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88920" y="14447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2026.10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82656" y="1691640"/>
            <a:ext cx="0" cy="452628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25456" y="14447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2027.01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890138" y="1691640"/>
            <a:ext cx="0" cy="452628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32938" y="14447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2027.04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212146" y="1691640"/>
            <a:ext cx="0" cy="452628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54946" y="14447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2027.07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548683" y="1691640"/>
            <a:ext cx="0" cy="452628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91483" y="14447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2027.10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885219" y="1691640"/>
            <a:ext cx="0" cy="452628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428019" y="14447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2028.01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1207228" y="1691640"/>
            <a:ext cx="0" cy="452628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50028" y="14447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2028.04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82656" y="1417320"/>
            <a:ext cx="0" cy="4800600"/>
          </a:xfrm>
          <a:prstGeom prst="line">
            <a:avLst/>
          </a:prstGeom>
          <a:noFill/>
          <a:ln w="15875">
            <a:solidFill>
              <a:srgbClr val="C2410C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7197619" y="1417320"/>
            <a:ext cx="0" cy="4800600"/>
          </a:xfrm>
          <a:prstGeom prst="line">
            <a:avLst/>
          </a:prstGeom>
          <a:noFill/>
          <a:ln w="15875">
            <a:solidFill>
              <a:srgbClr val="C2410C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9870692" y="1417320"/>
            <a:ext cx="0" cy="4800600"/>
          </a:xfrm>
          <a:prstGeom prst="line">
            <a:avLst/>
          </a:prstGeom>
          <a:noFill/>
          <a:ln w="15875">
            <a:solidFill>
              <a:srgbClr val="C2410C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548640" y="17830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9AA3AD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准备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19659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伦理审查、知情同意书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46120" y="1993392"/>
            <a:ext cx="217914" cy="128016"/>
          </a:xfrm>
          <a:prstGeom prst="rect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21488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台账、座位数、时刻表变更记录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46120" y="2176272"/>
            <a:ext cx="450355" cy="128016"/>
          </a:xfrm>
          <a:prstGeom prst="rect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23317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校历、放假通知、天气存档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46120" y="2359152"/>
            <a:ext cx="653741" cy="128016"/>
          </a:xfrm>
          <a:prstGeom prst="rect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25146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预调查与调查员培训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304230" y="2542032"/>
            <a:ext cx="174331" cy="128016"/>
          </a:xfrm>
          <a:prstGeom prst="rect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26974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日期公布后重抽寒假层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132302" y="2724912"/>
            <a:ext cx="290551" cy="128016"/>
          </a:xfrm>
          <a:prstGeom prst="rect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8640" y="29260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调查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31089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秋季学期周末跟车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64034" y="3136392"/>
            <a:ext cx="944292" cy="128016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8640" y="32918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行政村入户调查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507616" y="3319272"/>
            <a:ext cx="871654" cy="128016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48640" y="34747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线上问卷（节假日前后）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306633" y="3502152"/>
            <a:ext cx="1118623" cy="128016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48640" y="36576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寒假与春运跟车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82656" y="3685032"/>
            <a:ext cx="842599" cy="128016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48640" y="38404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暑期跟车（重设计版）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357422" y="3867912"/>
            <a:ext cx="740906" cy="128016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48640" y="40690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D08A3B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分析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42519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真实台账替换合成数据；S2–S5 全流程跑通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449506" y="4279392"/>
            <a:ext cx="1118623" cy="128016"/>
          </a:xfrm>
          <a:prstGeom prst="rect">
            <a:avLst/>
          </a:prstGeom>
          <a:solidFill>
            <a:srgbClr val="D08A3B"/>
          </a:solidFill>
          <a:ln w="12700">
            <a:solidFill>
              <a:srgbClr val="D08A3B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48640" y="44348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S1 客群、κ、未满足需求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439783" y="4462272"/>
            <a:ext cx="871654" cy="128016"/>
          </a:xfrm>
          <a:prstGeom prst="rect">
            <a:avLst/>
          </a:prstGeom>
          <a:solidFill>
            <a:srgbClr val="D08A3B"/>
          </a:solidFill>
          <a:ln w="12700">
            <a:solidFill>
              <a:srgbClr val="D08A3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48640" y="46177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S2–S3 日历因子效应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439783" y="4645152"/>
            <a:ext cx="1757836" cy="128016"/>
          </a:xfrm>
          <a:prstGeom prst="rect">
            <a:avLst/>
          </a:prstGeom>
          <a:solidFill>
            <a:srgbClr val="D08A3B"/>
          </a:solidFill>
          <a:ln w="12700">
            <a:solidFill>
              <a:srgbClr val="D08A3B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48640" y="48006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S4 滚动起点预测检验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325965" y="4828032"/>
            <a:ext cx="1772363" cy="128016"/>
          </a:xfrm>
          <a:prstGeom prst="rect">
            <a:avLst/>
          </a:prstGeom>
          <a:solidFill>
            <a:srgbClr val="D08A3B"/>
          </a:solidFill>
          <a:ln w="12700">
            <a:solidFill>
              <a:srgbClr val="D08A3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48640" y="49834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S5 补班方案与前沿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212146" y="5010912"/>
            <a:ext cx="1322009" cy="128016"/>
          </a:xfrm>
          <a:prstGeom prst="rect">
            <a:avLst/>
          </a:prstGeom>
          <a:solidFill>
            <a:srgbClr val="D08A3B"/>
          </a:solidFill>
          <a:ln w="12700">
            <a:solidFill>
              <a:srgbClr val="D08A3B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48640" y="51663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暑期问卷复核与稳健性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112856" y="5193792"/>
            <a:ext cx="871654" cy="128016"/>
          </a:xfrm>
          <a:prstGeom prst="rect">
            <a:avLst/>
          </a:prstGeom>
          <a:solidFill>
            <a:srgbClr val="D08A3B"/>
          </a:solidFill>
          <a:ln w="12700">
            <a:solidFill>
              <a:srgbClr val="D08A3B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48640" y="53949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3F8F5B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写作</a:t>
            </a:r>
            <a:endParaRPr lang="en-US" sz="850" dirty="0"/>
          </a:p>
        </p:txBody>
      </p:sp>
      <p:sp>
        <p:nvSpPr>
          <p:cNvPr id="62" name="Text 60"/>
          <p:cNvSpPr txBox="1"/>
          <p:nvPr/>
        </p:nvSpPr>
        <p:spPr>
          <a:xfrm>
            <a:off x="548640" y="55778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论文一（RQ1–RQ2）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776319" y="5605272"/>
            <a:ext cx="2208191" cy="128016"/>
          </a:xfrm>
          <a:prstGeom prst="rect">
            <a:avLst/>
          </a:prstGeom>
          <a:solidFill>
            <a:srgbClr val="3F8F5B"/>
          </a:solidFill>
          <a:ln w="12700">
            <a:solidFill>
              <a:srgbClr val="3F8F5B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48640" y="57607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论文二（RQ3–RQ4）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8112856" y="5788152"/>
            <a:ext cx="2208191" cy="128016"/>
          </a:xfrm>
          <a:prstGeom prst="rect">
            <a:avLst/>
          </a:prstGeom>
          <a:solidFill>
            <a:srgbClr val="3F8F5B"/>
          </a:solidFill>
          <a:ln w="12700">
            <a:solidFill>
              <a:srgbClr val="3F8F5B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48640" y="59436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学位论文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548683" y="5971032"/>
            <a:ext cx="3079845" cy="128016"/>
          </a:xfrm>
          <a:prstGeom prst="rect">
            <a:avLst/>
          </a:prstGeom>
          <a:solidFill>
            <a:srgbClr val="3F8F5B"/>
          </a:solidFill>
          <a:ln w="12700">
            <a:solidFill>
              <a:srgbClr val="3F8F5B"/>
            </a:solidFill>
            <a:prstDash val="solid"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三 · 下一步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近期工作（2026 年 10—12 月）与主要风险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 · 新加坡国立大学 · 新晃县城乡公共交通研究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36 / 39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工作清单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与县汽车站确认台账字段；取得探索期台账和逐班次座位数；在台账中增加“满座未上车”勾选栏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提交伦理审查；准备知情同意书和调查员手册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每套问卷在 1–2 条线路上预调查（各 20–30 份）：理解程度、作答时长、跳答逻辑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开展秋季学期周末跟车调查和行政村入户调查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用真实台账替换合成数据；跑通 S2–S5 全流程；确认冻结的方法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2027 年放假安排公布后重抽寒假层班次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2026 年 12 月 31 日前冻结方法与判读规则，并做时间戳登记</a:t>
            </a:r>
            <a:endParaRPr lang="en-US" sz="13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1325880"/>
          <a:ext cx="5562295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691640"/>
                <a:gridCol w="217627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风险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后果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应对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台账只能按日总量取得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RQ2–RQ4 无法在班次层面回答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优先落实；否则改用日层面模型，班次层面只作情景分析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2027 年寒假日期公布较晚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寒假分层只能按假定日期抽取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用同一随机种子重抽；非寒假层不变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春运高峰调查员不足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高峰层样本不足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高峰层优先；调整权重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上下客记录表质量差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κ 有误 → 删失判断和决策出错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每日检查人数平衡；κ 取第 10/90 百分位做敏感性分析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封存期检验结果不理想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H5 不被支持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按预设规则报告；不在同一批数据上重新检验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补班成本和备用车辆无法核实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S5 方案无法落地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按两档成本假设给出前沿</a:t>
                      </a:r>
                      <a:endParaRPr lang="en-US" sz="110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三 · 贡献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预期贡献与成果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 · 新加坡国立大学 · 新晃县城乡公共交通研究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37 / 39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C4E80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实证贡献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7452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首次在班次层面揭示乡村日历节律——住校生与务工者周往返、开学放假集中流、节假日返乡、春运——如何塑造县域公交需求。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固定时刻表在哪里、为谁留下了未满足的需求，并按村庄可达性分析。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315968" y="13716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C4E80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方法贡献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315968" y="187452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经可识别性筛选、在人数尺度上并考虑座位删失的独立效应与合并效应估计。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一个班次预测加总后仍能得到校准日总量的联合模型。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估计方法经合成回测选定，并在检验前冻结。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083296" y="13716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C4E80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实践贡献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083296" y="187452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为县交通运输局提供“固定核心 + 备用运力 + 预测触发补班”的规则及成本—拒载前沿。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可供其他县借鉴的可复现代码和数据流程。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11094415" cy="160020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7731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计划成果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029200"/>
            <a:ext cx="107286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论文一（RQ1–RQ2）：</a:t>
            </a: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日历节律对乡村公交班次的独立效应与叠加效应——Journal of Transport Geography / Travel Behaviour and Society / Transportation Research Part A。</a:t>
            </a:r>
            <a:endParaRPr lang="en-US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论文二（RQ3–RQ4）：</a:t>
            </a: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班次级概率预测与机会约束补班——Public Transport / Transportation Research Record / TR Part A。</a:t>
            </a:r>
            <a:endParaRPr lang="en-US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学位论文：</a:t>
            </a: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共九章，包括完整的方法比选及方法失效的情形。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讨论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局限——以及希望听取各位意见的问题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 · 新加坡国立大学 · 新晃县城乡公共交通研究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38 / 39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已知局限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45920"/>
            <a:ext cx="5394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合成数据结果只说明方法能还原已知真值；它们不是关于新晃的研究发现。</a:t>
            </a:r>
            <a:endParaRPr lang="en-US" sz="14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三年日历对部分重叠提供的支持有限（W×R：69 个班次）；只有延长台账年限才能根本解决。</a:t>
            </a:r>
            <a:endParaRPr lang="en-US" sz="14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由抽样班次上下客记录表估计的周转系数 κ，其误差会传递到删失判断和决策。</a:t>
            </a:r>
            <a:endParaRPr lang="en-US" sz="14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无法获取的驱动因素（园区排班、门诊排班）可能进入星期效应或残差。</a:t>
            </a:r>
            <a:endParaRPr lang="en-US" sz="14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封存期只包含一个冬季、一次春运。</a:t>
            </a:r>
            <a:endParaRPr lang="en-US" sz="14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中文文献：中国知网系统检索尚待执行。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261872"/>
            <a:ext cx="5379415" cy="5029200"/>
          </a:xfrm>
          <a:prstGeom prst="rect">
            <a:avLst/>
          </a:prstGeom>
          <a:solidFill>
            <a:srgbClr val="E3ECF6"/>
          </a:solidFill>
          <a:ln w="12700">
            <a:solidFill>
              <a:srgbClr val="E3EC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138988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希望与各位讨论的问题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173736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对运营方而言，人数（加法）尺度作为主要估计目标、比值尺度作为次要，是否合适？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≥200 个班次是合理的可识别性门槛吗——还是应以区间宽度来判断支持度？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除预测触发的加班外，哪些补充服务形式（向远线村偏移线路、定时响应式班次）值得在中国山区县检验？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当拒载只被部分记录时，如何验证潜在需求？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46520" y="0"/>
            <a:ext cx="5745175" cy="685800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pic>
        <p:nvPicPr>
          <p:cNvPr id="3" name="Image 0" descr="新晃县公交线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089168"/>
            <a:ext cx="5349240" cy="43139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716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谢谢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51460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考虑方向的班次级日历因子，能把日总量中混在一起的客群分开。</a:t>
            </a:r>
            <a:endParaRPr lang="en-US" sz="14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只在日历能够识别的地方估计重叠效应，采用人数尺度并处理删失。</a:t>
            </a:r>
            <a:endParaRPr lang="en-US" sz="14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一个联合模型把效应转化为校准的预测，并为补充服务提供透明的成本—拒载选择。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</a:t>
            </a:r>
            <a:endParaRPr lang="en-US" sz="1300" dirty="0"/>
          </a:p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新加坡国立大学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附录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A1 · 问卷指标组及其服务的研究问题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 · 新加坡国立大学 · 新晃县城乡公共交通研究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A1</a:t>
            </a:r>
            <a:endParaRPr lang="en-US" sz="85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98448"/>
          <a:ext cx="768096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3840480"/>
                <a:gridCol w="2148840"/>
                <a:gridCol w="10058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组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指标组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题项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服务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G0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班次键与无应答记录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Z1–Z4, H0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RQ1, RQ2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G1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出行起讫与出行链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A1, A2, A5, H7, O8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RQ1, RQ4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G2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客群类型与周期节律（对应 S、W、T、R/CY）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A3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RQ2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G3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出行目的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A4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RQ1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G4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时间约束与时刻偏好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A6, H11, O10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RQ4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G5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依赖程度与替代方式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A8, H8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RQ4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G6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未满足需求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A9, H6, H9, H10, O9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RQ1, RQ4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G7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服务缺口优先级（强迫单选）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A10, H12, O12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RQ1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G8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人口特征与权重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A7, A11–A13, H14, O2, O3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RQ1, RQ2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G9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住户人口结构与客群暴露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H1–H5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RQ2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G10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节假日返乡时序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S15, W15, O4–O7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RQ2, RQ3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G11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加班接受度；信息渠道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A14, H13, O11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RQ4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G12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渠道与重复作答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O1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4E80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RQ1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503920" y="1325880"/>
            <a:ext cx="313913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题号前缀：A 跟车，H 入户，O 线上，S/W 暑期/寒假跟车，Z 调查员记录。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未纳入的内容及理由：计划行为理论量表（没有研究问题需要意向变量；行为可直接观察）、SERVPERF 量表（负担重）、排班与门诊表（无法获取）、等车时间（在招手即停线路上反映的是出门时间选择）。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不用多题量表时的信度与效度：A3、A4、A7 的重测 κ ≥ 0.6；现场编码题的编码员间 κ；记录表总人数与台账核对；预先登记的结构效度检验。</a:t>
            </a:r>
            <a:endParaRPr lang="en-US" sz="11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附录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A2 · 跟车调查抽样分层（班次数、天数与计划问卷数）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 · 新加坡国立大学 · 新晃县城乡公共交通研究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A2</a:t>
            </a:r>
            <a:endParaRPr lang="en-US" sz="8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98448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029200"/>
                <a:gridCol w="1325880"/>
                <a:gridCol w="777240"/>
                <a:gridCol w="1234440"/>
                <a:gridCol w="153619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轮次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分层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层内班次数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天数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抽中班次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计划问卷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2026 秋季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A1 最后上课日下午 · 出城（住校生回家）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330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40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2026 秋季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A2 最后工作日下午 · 进城（务工者回县城）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320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40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2026 秋季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A3 上课周前一日下午 · 进城（住校生返校）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320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40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2026 秋季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A4 工作周前一日下午 · 出城（务工者去工作地）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330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40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2026 秋季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A5 第一个休息日上午 · 进城（务工者回县城）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360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40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2026 秋季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A6 周二至周四下午 · 双向（对照）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1,755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27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40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2027 寒假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B1 春运节前高峰 · 出城（返乡）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680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39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312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2027 寒假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B2 春运节后高峰 · 进城（返岗返城）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816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39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312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2027 寒假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B3 元旦假期首末日 · 双向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204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104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2027 寒假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B4 春运以外的周往返时段 · 双向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675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18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23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184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2027 寒假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B5 周二至周四下午 · 双向（对照）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943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23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Microsoft YaHei" pitchFamily="34" charset="-122"/>
                          <a:cs typeface="Calibri" pitchFamily="34" charset="-120"/>
                        </a:rPr>
                        <a:t>120</a:t>
                      </a:r>
                      <a:endParaRPr lang="en-US" sz="1050" dirty="0">
                        <a:latin typeface="Calibri" charset="0"/>
                        <a:ea typeface="Microsoft YaHe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4864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秋季各层平均分配（每层都是一项独立检验）；寒假按研究优先级分配（春运节前、节后高峰各占 30%）。每班次约 8 份问卷是待预调查检验的假定。寒假 129 个班次中有 98 个落在未核实日期上，将重抽。</a:t>
            </a:r>
            <a:endParaRPr lang="en-US" sz="10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附录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A3 · 幻灯片中引用的参考文献（1/3）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 · 新加坡国立大学 · 新晃县城乡公共交通研究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A3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54406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Alexandre, T. d. S., Bernardini, F., &amp; Viterbo, J. (2023). Machine learning applied to public transportation by bus: A systematic literature review. Transportation Research Record.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Angelopoulos, A. N., &amp; Bates, S. (2023). Conformal prediction: A gentle introduction. Foundations and Trends in Machine Learning, 16(4), 494–591.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Arana, P., Cabezudo, S., &amp; Peñalba, M. (2014). Influence of weather conditions on transit ridership: A statistical study using data from smartcards. Transportation Research Part A, 59, 1–12.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Barber, R. F., Candès, E. J., Ramdas, A., &amp; Tibshirani, R. J. (2023). Conformal prediction beyond exchangeability. Annals of Statistics, 51(2).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Berg, J., &amp; Ihlström, J. (2019). The importance of public transport for mobility and everyday activities among rural residents. Social Sciences, 8(2), 58.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Calabrò, G., Araldo, A., Oh, S., et al. (2023). Adaptive transit design: Optimizing fixed and demand responsive multi-modal transportation via continuous approximation. Transportation Research Part A.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Ceder, A. (1984). Bus frequency determination using passenger count data. Transportation Research Part A, 18(5–6), 439–453.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Charnes, A., &amp; Cooper, W. W. (1959). Chance-constrained programming. Management Science, 6(1), 73–79.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Church, A., Frost, M., &amp; Sullivan, K. (2000). Transport and social exclusion in London. Transport Policy, 7(3), 195–205.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Croston, J. D. (1972). Forecasting and stock control for intermittent demands. Journal of the Operational Research Society, 23(3), 289–303.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Currie, G., &amp; Fournier, N. (2020). Why most DRT/micro-transits fail — What the survivors tell us about progress. Research in Transportation Economics, 83, 100895.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Czado, C., Gneiting, T., &amp; Held, L. (2009). Predictive model assessment for count data. Biometrics, 65(4), 1254–1261.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Deville, J.-C., &amp; Särndal, C.-E. (1992). Calibration estimators in survey sampling. Journal of the American Statistical Association, 87(418), 376–382.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Durán-Micco, J., &amp; Vansteenwegen, P. (2021). A survey on the transit network design and frequency setting problem. Public Transport.</a:t>
            </a:r>
            <a:endParaRPr lang="en-US" sz="94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298448"/>
            <a:ext cx="54406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Egu, O., &amp; Bonnel, P. (2020). How comparable are origin–destination matrices estimated from automatic fare collection, OD surveys and household travel survey? Transportation Research Part A.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Espeland, S., &amp; Rowangould, D. (2024). Rural travel burdens in the United States: Unmet need and travel costs. Journal of Transport Geography, 104016.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Friedman, J. H. (2001). Greedy function approximation: A gradient boosting machine. Annals of Statistics, 29(5), 1189–1232.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Gibbs, I., &amp; Candès, E. J. (2021). Adaptive conformal inference under distribution shift. NeurIPS 34.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Gkiotsalitis, K., Schmidt, M. E., &amp; van der Hurk, E. (2021). Subline frequency setting for autonomous minibusses under demand uncertainty. Transportation Research Part C.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Gneiting, T., Balabdaoui, F., &amp; Raftery, A. E. (2007). Probabilistic forecasts, calibration and sharpness. JRSS Series B, 69(2), 243–268.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Gneiting, T., &amp; Raftery, A. E. (2007). Strictly proper scoring rules, prediction, and estimation. JASA, 102(477), 359–378.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Guo, Z., Wilson, N. H. M., &amp; Rahbee, A. B. (2007). Impact of weather on transit ridership in Chicago, Illinois. Transportation Research Record, 2034.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Hadas, Y., &amp; Shnaiderman, M. (2012). Public-transit frequency setting using minimum-cost approach with stochastic demand and travel time. Transportation Research Part B, 46(8), 1068–1084.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Han, Y., Wang, C., Ren, Y., et al. (2019). Short-term prediction of bus passenger flow based on a hybrid optimized LSTM network. ISPRS Int. J. Geo-Information, 8(9), 366.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Hewamalage, H., Ackermann, K., &amp; Bergmeir, C. (2022). Forecast evaluation for data scientists: Common pitfalls and best practices. Data Mining and Knowledge Discovery.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Hoerl, A. E., &amp; Kennard, R. W. (1970). Ridge regression: Biased estimation for nonorthogonal problems. Technometrics, 12(1), 55–67.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Hong, X., Liang, P., &amp; Zhu, H. (2024). The impact of road environments on rural periodic market travel satisfaction. Frontiers in Public Health.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Huang, J. W., Liu, X., &amp; Zhao, P. (2019). Interactions between bus, metro, and taxi use before and after the Chinese Spring Festival. ISPRS Int. J. Geo-Information, 8(10), 445.</a:t>
            </a:r>
            <a:endParaRPr lang="en-US" sz="94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附录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A4 · 幻灯片中引用的参考文献（2/3）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 · 新加坡国立大学 · 新晃县城乡公共交通研究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A4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54406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Jang, T. Y. (2005). Count data models for trip generation. Journal of Transportation Engineering, 131(6), 444–450.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Jittrapirom, P., van Neerven, W., Martens, K., et al. (2019). The Dutch elderly's preferences toward a smart demand-responsive transport service. Research in Transportation Business &amp; Management.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Kashfi, S. A., Bunker, J. M., &amp; Yiğitcanlar, T. (2015). Understanding the effects of complex seasonality on suburban daily transit ridership. Journal of Transport Geography.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Kashfi, S. A., Bunker, J. M., &amp; Yiğitcanlar, T. (2016). Modelling and analysing effects of complex seasonality and weather on an area's daily transit ridership rate. Journal of Transport Geography.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Ke, G., Meng, Q., Finley, T., et al. (2017). LightGBM: A highly efficient gradient boosting decision tree. NeurIPS 30, 3146–3154.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Kieu, L. M., Bhaskar, A., &amp; Chung, E. (2014). Transit passenger segmentation using travel regularity mined from smart card transactions data. QUT ePrints.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Kleywegt, A. J., Shapiro, A., &amp; Homem-de-Mello, T. (2002). The sample average approximation method for stochastic discrete optimization. SIAM Journal on Optimization, 12(2), 479–502.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Knierim, L., &amp; Schlüter, J. (2021). The attitude of potentially less mobile people towards demand responsive transport in a rural area in central Germany. Journal of Transport Geography.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Kolenikov, S. (2014). Calibrating survey data using iterative proportional fitting (raking). The Stata Journal, 14(1), 22–59.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Krosnick, J. A. (1991). Response strategies for coping with the cognitive demands of attitude measures in surveys. Applied Cognitive Psychology, 5(3), 213–236.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Kuhnimhof, T., Chlond, B., &amp; Zumkeller, D. (2006). Nonresponse, selectivity, and data quality in travel surveys. Transportation Research Record, 1972, 29–37.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Laws, R., Enoch, M., Ison, S., et al. (2009). Demand responsive transport: A review of schemes in England and Wales. Journal of Public Transportation, 12(1).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Lei, J., G'Sell, M., Rinaldo, A., et al. (2017). Distribution-free predictive inference for regression. JASA, 113(523), 1094–1111.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李高盛, 彭玲, 李祥, 等. 基于LSTM的城市公交车站短时客流量预测研究[J]. 公路交通科技, 2019, 36(2): 128-135.</a:t>
            </a:r>
            <a:endParaRPr lang="en-US" sz="94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298448"/>
            <a:ext cx="54406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Li, J., Ye, Q., Deng, X., et al. (2016). Spatial-temporal analysis on Spring Festival travel rush in China based on multisource big data. Sustainability, 8(11), 1184.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Liu, J., Shi, W., &amp; Chen, P. (2020). Exploring travel patterns during the holiday season — Shenzhen Metro during the Chinese Spring Festival. ISPRS Int. J. Geo-Information, 9(11), 651.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Liyanage, S., Abduljabbar, R., Dia, H., et al. (2022). AI-based neural network models for bus passenger demand forecasting using smart card data. Journal of Urban Management.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Lou, Y., Caruana, R., Gehrke, J., &amp; Hooker, G. (2013). Accurate intelligible models with pairwise interactions. Proc. 19th ACM SIGKDD, 623–631.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Lucas, K. (2012). Transport and social exclusion: Where are we now? Transport Policy, 20, 105–113.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马超群, 艾倩楠, 张俊. 不完备信息下公交断面客流的推算模型[J]. 公路交通科技, 2018, 35(5): 121-127.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Mageean, J., &amp; Nelson, J. D. (2003). The evaluation of demand responsive transport services in Europe. Journal of Transport Geography, 11(4).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Makridakis, S., Spiliotis, E., &amp; Assimakopoulos, V. (2019). The M4 Competition: 100,000 time series and 61 forecasting methods. International Journal of Forecasting.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Mauz, E., Hoffmann, R., Houben, R., et al. (2018). Mode equivalence of health indicators between data collection modes and mixed-mode survey designs. Journal of Medical Internet Research.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Newell, G. F. (1971). Dispatching policies for a transportation route. Transportation Science, 5(1), 91–105.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Newmark, G. L. (2014). Conducting visitor travel surveys: A transit agency perspective. Journal of Public Transportation, 17(4).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Nourbakhsh, S. M., &amp; Ouyang, Y. (2011). A structured flexible transit system for low demand areas. Transportation Research Part B.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Painter, K. M., Jessup, E., Gossard, M. H., et al. (2007). Demand forecasting for rural transit. Transportation Research Record, 1997, 35–40.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Petropoulos, F., Nikolopoulos, K., Spithourakis, G. P., et al. (2013). Empirical heuristics for improving intermittent demand forecasting. Industrial Management &amp; Data Systems.</a:t>
            </a:r>
            <a:endParaRPr lang="en-US" sz="94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4E8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附录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7"/>
                </a:solidFill>
                <a:latin typeface="Cambria" pitchFamily="34" charset="0"/>
                <a:ea typeface="SimSun" pitchFamily="34" charset="-122"/>
                <a:cs typeface="Cambria" pitchFamily="34" charset="-120"/>
              </a:rPr>
              <a:t>A5 · 幻灯片中引用的参考文献（3/3）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Lilac · 新加坡国立大学 · 新晃县城乡公共交通研究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473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A5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54406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Pucher, J., &amp; Renne, J. L. (2005). Rural mobility and mode choice: Evidence from the 2001 National Household Travel Survey. Transportation, 32.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Rigby, R. A., &amp; Stasinopoulos, D. M. (2005). Generalized additive models for location, scale and shape. JRSS Series C, 54(3), 507–554.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Romano, Y., Patterson, E., &amp; Candès, E. J. (2019). Conformalized quantile regression. NeurIPS 32, 3538–3548.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Salinas, D., Flunkert, V., &amp; Gasthaus, J. (2019). DeepAR: Probabilistic forecasting with autoregressive recurrent networks. International Journal of Forecasting.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Schasché, S. E., Sposato, R. G., &amp; Hampl, N. (2022). The dilemma of demand-responsive transport services in rural areas. Transport Policy.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Schaub, M., &amp; Abadi, F. (2011). Integrated population models: A novel analysis framework for deeper insights into population dynamics. Journal of Ornithology, 152(S1), 227–237.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Schönfelder, S., &amp; Axhausen, K. W. (2010). Urban rhythms and travel behaviour: Spatial and temporal phenomena of daily travel. Ashgate.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Singhal, A., Kamga, C., &amp; Yazici, A. (2014). Impact of weather on urban transit ridership. Transportation Research Part A.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Sörensen, L., Bossert, A., Jokinen, J.-P., et al. (2020). How much flexibility does rural public transport need? Transport Policy.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Stopher, P. R., &amp; Greaves, S. P. (2007). Household travel surveys: Where are we going? Transportation Research Part A, 41(5), 367–381.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Stover, V. W., &amp; McCormack, E. D. (2012). The impact of weather on bus ridership in Pierce County, Washington. Journal of Public Transportation, 15(1).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Transportation Research Board (2013). Methods for forecasting demand and quantifying need for rural passenger transportation (TCRP Report 161). National Academies Press.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VanderWeele, T. J., &amp; Knol, M. J. (2014). A tutorial on interaction. Epidemiologic Methods, 3(1), 33–72.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Vansteenwegen, P., Melis, L., Aktaş, D., et al. (2022). A survey on demand-responsive public bus systems. Transportation Research Part C.</a:t>
            </a:r>
            <a:endParaRPr lang="en-US" sz="94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298448"/>
            <a:ext cx="54406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Wang, X., Liu, C., Mao, W., et al. (2014). Tracing the largest seasonal migration on Earth. arXiv:1411.0983.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Weatherford, L. R., &amp; Pölt, S. (2002). Better unconstraining of airline demand data in revenue management systems. Journal of Revenue and Pricing Management, 1(3), 234–254.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Wei, M. (2021). How does the weather affect public transit ridership? A model with weather-passenger variations. Journal of Transport Geography, 103242.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Wei, M., &amp; Liu, X. (2022). How wet is too wet? Modelling the influence of weather condition on urban transit ridership. Travel Behaviour and Society.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Wickramasuriya, S. L., Athanasopoulos, G., &amp; Hyndman, R. J. (2019). Optimal forecast reconciliation for hierarchical and grouped time series through trace minimization. JASA, 114(526), 804–819.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Xia, D., Ma, J., &amp; Sharif Azadeh, S. (2023). Data-driven distributionally robust timetabling and dynamic-capacity allocation for automated bus systems with modular vehicles. Transportation Research Part C.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谢振东, 刘雪琴, 吴金成, 等. 公交IC卡数据客流预测模型研究[J]. 广东工业大学学报, 2018, 35(1): 16-22.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Yang, H., &amp; Cherry, C. (2016). Use characteristics and demographics of rural transit riders: A case study in Tennessee. Transportation Planning and Technology, 40(2), 213–227.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Zhang, J., Chen, F., &amp; Shen, Q. (2019). Cluster-based LSTM network for short-term passenger flow forecasting in urban rail transit. IEEE Access.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Zhao, J., Sun, S., &amp; Cats, O. (2021). Joint optimisation of regular and demand-responsive transit services. Transportmetrica A.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赵梓渝, 魏冶, 庞瑞秋, 等. 中国春运人口省际流动的时空与结构特征[J]. 地理科学进展, 2017, 36(8): 952-964.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赵梓渝, 赵世瑶, 韩钟辉, 等. COVID-19疫情对中国节日人口城际出行影响研究[J]. 人文地理, 2022, 37(2): 141-149.</a:t>
            </a:r>
            <a:endParaRPr lang="en-US" sz="94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Zhou, T., Huang, B., Liu, X., et al. (2020). Spatiotemporal exploration of Chinese Spring Festival population flow patterns and their determinants. ISPRS Int. J. Geo-Information, 9(11), 670.</a:t>
            </a:r>
            <a:endParaRPr lang="en-US" sz="9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National University of Singapore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新晃县城乡公共交通研究</dc:title>
  <dc:subject>研究设计与下一步工作（进行中）</dc:subject>
  <dc:creator>Lilac</dc:creator>
  <cp:lastModifiedBy>Lilac</cp:lastModifiedBy>
  <cp:revision>1</cp:revision>
  <dcterms:created xsi:type="dcterms:W3CDTF">2026-09-28T09:14:37Z</dcterms:created>
  <dcterms:modified xsi:type="dcterms:W3CDTF">2026-09-28T09:14:37Z</dcterms:modified>
</cp:coreProperties>
</file>