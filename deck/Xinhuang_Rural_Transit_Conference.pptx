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Studies reaching depth on two linked dimensions (n = 72)</a:t>
            </a:r>
          </a:p>
        </c:rich>
      </c:tx>
      <c:layout/>
      <c:overlay val="0"/>
    </c:title>
    <c:autoTitleDeleted val="0"/>
    <c:plotArea>
      <c:layout/>
      <c:barChart>
        <c:barDir val="bar"/>
        <c:grouping val="clustered"/>
        <c:varyColors val="0"/>
        <c:ser>
          <c:idx val="0"/>
          <c:order val="0"/>
          <c:tx>
            <c:strRef>
              <c:f>Sheet1!$B$1</c:f>
              <c:strCache>
                <c:ptCount val="1"/>
                <c:pt idx="0">
                  <c:v>Share of coded studies (%)</c:v>
                </c:pt>
              </c:strCache>
            </c:strRef>
          </c:tx>
          <c:spPr>
            <a:solidFill>
              <a:srgbClr val="1C4E80"/>
            </a:solidFill>
            <a:effectLst/>
          </c:spPr>
          <c:invertIfNegative val="0"/>
          <c:dLbls>
            <c:numFmt formatCode="0.0&quot;%&quot;"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Explicitly rural + ridership time series</c:v>
                  </c:pt>
                  <c:pt idx="1">
                    <c:v>Primary survey of rider groups + drivers</c:v>
                  </c:pt>
                  <c:pt idx="2">
                    <c:v>Uncertainty quantified + fed into operations</c:v>
                  </c:pt>
                  <c:pt idx="3">
                    <c:v>Driver effects estimated + non-urban setting</c:v>
                  </c:pt>
                  <c:pt idx="4">
                    <c:v>Run-level data + uncertainty quantified</c:v>
                  </c:pt>
                </c:lvl>
              </c:multiLvlStrCache>
            </c:multiLvlStrRef>
          </c:cat>
          <c:val>
            <c:numRef>
              <c:f>Sheet1!$B$2:$B$6</c:f>
              <c:numCache>
                <c:formatCode>General</c:formatCode>
                <c:ptCount val="5"/>
                <c:pt idx="0">
                  <c:v>1.4</c:v>
                </c:pt>
                <c:pt idx="1">
                  <c:v>1.4</c:v>
                </c:pt>
                <c:pt idx="2">
                  <c:v>4.2</c:v>
                </c:pt>
                <c:pt idx="3">
                  <c:v>6.9</c:v>
                </c:pt>
                <c:pt idx="4">
                  <c:v>1.4</c:v>
                </c:pt>
              </c:numCache>
            </c:numRef>
          </c:val>
        </c:ser>
        <c:dLbls>
          <c:numFmt formatCode="0.0&quot;%&quot;"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F2937"/>
                </a:solidFill>
                <a:latin typeface="Calibri"/>
              </a:defRPr>
            </a:pPr>
            <a:r>
              <a:rPr sz="1150" b="0" i="0" u="none" strike="noStrike">
                <a:solidFill>
                  <a:srgbClr val="1F2937"/>
                </a:solidFill>
                <a:latin typeface="Calibri"/>
              </a:rPr>
              <a:t>c  Variance inflation (main-effects model)</a:t>
            </a:r>
          </a:p>
        </c:rich>
      </c:tx>
      <c:layout/>
      <c:overlay val="0"/>
    </c:title>
    <c:autoTitleDeleted val="0"/>
    <c:plotArea>
      <c:layout/>
      <c:barChart>
        <c:barDir val="bar"/>
        <c:grouping val="clustered"/>
        <c:varyColors val="0"/>
        <c:ser>
          <c:idx val="0"/>
          <c:order val="0"/>
          <c:tx>
            <c:strRef>
              <c:f>Sheet1!$B$1</c:f>
              <c:strCache>
                <c:ptCount val="1"/>
                <c:pt idx="0">
                  <c:v>Run level</c:v>
                </c:pt>
              </c:strCache>
            </c:strRef>
          </c:tx>
          <c:spPr>
            <a:solidFill>
              <a:srgbClr val="2A78D6"/>
            </a:solidFill>
            <a:effectLst/>
          </c:spPr>
          <c:invertIfNegative val="0"/>
          <c:dLbls>
            <c:numFmt formatCode="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 students</c:v>
                  </c:pt>
                  <c:pt idx="1">
                    <c:v>W workers</c:v>
                  </c:pt>
                  <c:pt idx="2">
                    <c:v>R holidays</c:v>
                  </c:pt>
                  <c:pt idx="3">
                    <c:v>CY Spring Fest.</c:v>
                  </c:pt>
                  <c:pt idx="4">
                    <c:v>T term start/end</c:v>
                  </c:pt>
                </c:lvl>
              </c:multiLvlStrCache>
            </c:multiLvlStrRef>
          </c:cat>
          <c:val>
            <c:numRef>
              <c:f>Sheet1!$B$2:$B$6</c:f>
              <c:numCache>
                <c:formatCode>General</c:formatCode>
                <c:ptCount val="5"/>
                <c:pt idx="0">
                  <c:v>1.28</c:v>
                </c:pt>
                <c:pt idx="1">
                  <c:v>1.28</c:v>
                </c:pt>
                <c:pt idx="2">
                  <c:v>1.02</c:v>
                </c:pt>
                <c:pt idx="3">
                  <c:v>1.01</c:v>
                </c:pt>
                <c:pt idx="4">
                  <c:v>1.02</c:v>
                </c:pt>
              </c:numCache>
            </c:numRef>
          </c:val>
        </c:ser>
        <c:ser>
          <c:idx val="1"/>
          <c:order val="1"/>
          <c:tx>
            <c:strRef>
              <c:f>Sheet1!$C$1</c:f>
              <c:strCache>
                <c:ptCount val="1"/>
                <c:pt idx="0">
                  <c:v>Daily total</c:v>
                </c:pt>
              </c:strCache>
            </c:strRef>
          </c:tx>
          <c:spPr>
            <a:solidFill>
              <a:srgbClr val="EB6834"/>
            </a:solidFill>
            <a:effectLst/>
          </c:spPr>
          <c:invertIfNegative val="0"/>
          <c:dLbls>
            <c:numFmt formatCode="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 students</c:v>
                  </c:pt>
                  <c:pt idx="1">
                    <c:v>W workers</c:v>
                  </c:pt>
                  <c:pt idx="2">
                    <c:v>R holidays</c:v>
                  </c:pt>
                  <c:pt idx="3">
                    <c:v>CY Spring Fest.</c:v>
                  </c:pt>
                  <c:pt idx="4">
                    <c:v>T term start/end</c:v>
                  </c:pt>
                </c:lvl>
              </c:multiLvlStrCache>
            </c:multiLvlStrRef>
          </c:cat>
          <c:val>
            <c:numRef>
              <c:f>Sheet1!$C$2:$C$6</c:f>
              <c:numCache>
                <c:formatCode>General</c:formatCode>
                <c:ptCount val="5"/>
                <c:pt idx="0">
                  <c:v>3.69</c:v>
                </c:pt>
                <c:pt idx="1">
                  <c:v>5.87</c:v>
                </c:pt>
                <c:pt idx="2">
                  <c:v>1.24</c:v>
                </c:pt>
                <c:pt idx="3">
                  <c:v>2.2</c:v>
                </c:pt>
                <c:pt idx="4">
                  <c:v>1.08</c:v>
                </c:pt>
              </c:numCache>
            </c:numRef>
          </c:val>
        </c:ser>
        <c:dLbls>
          <c:numFmt formatCode="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7.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Actual coverage of 90% prediction intervals (target 0.90)</a:t>
            </a:r>
          </a:p>
        </c:rich>
      </c:tx>
      <c:layout/>
      <c:overlay val="0"/>
    </c:title>
    <c:autoTitleDeleted val="0"/>
    <c:plotArea>
      <c:layout/>
      <c:barChart>
        <c:barDir val="col"/>
        <c:grouping val="clustered"/>
        <c:varyColors val="0"/>
        <c:ser>
          <c:idx val="0"/>
          <c:order val="0"/>
          <c:tx>
            <c:strRef>
              <c:f>Sheet1!$B$1</c:f>
              <c:strCache>
                <c:ptCount val="1"/>
                <c:pt idx="0">
                  <c:v>Joint model</c:v>
                </c:pt>
              </c:strCache>
            </c:strRef>
          </c:tx>
          <c:spPr>
            <a:solidFill>
              <a:srgbClr val="1C4E80"/>
            </a:solidFill>
            <a:effectLst/>
          </c:spPr>
          <c:invertIfNegative val="0"/>
          <c:dLbls>
            <c:numFmt formatCode="0.00" sourceLinked="0"/>
            <c:txPr>
              <a:bodyPr/>
              <a:lstStyle/>
              <a:p>
                <a:pPr>
                  <a:defRPr b="0" i="0" strike="noStrike" sz="1200" u="none">
                    <a:solidFill>
                      <a:srgbClr val="1F29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Single runs</c:v>
                  </c:pt>
                  <c:pt idx="1">
                    <c:v>Daily totals</c:v>
                  </c:pt>
                </c:lvl>
              </c:multiLvlStrCache>
            </c:multiLvlStrRef>
          </c:cat>
          <c:val>
            <c:numRef>
              <c:f>Sheet1!$B$2:$B$3</c:f>
              <c:numCache>
                <c:formatCode>General</c:formatCode>
                <c:ptCount val="2"/>
                <c:pt idx="0">
                  <c:v>0.927</c:v>
                </c:pt>
                <c:pt idx="1">
                  <c:v>0.874</c:v>
                </c:pt>
              </c:numCache>
            </c:numRef>
          </c:val>
        </c:ser>
        <c:ser>
          <c:idx val="1"/>
          <c:order val="1"/>
          <c:tx>
            <c:strRef>
              <c:f>Sheet1!$C$1</c:f>
              <c:strCache>
                <c:ptCount val="1"/>
                <c:pt idx="0">
                  <c:v>Separate pipeline</c:v>
                </c:pt>
              </c:strCache>
            </c:strRef>
          </c:tx>
          <c:spPr>
            <a:solidFill>
              <a:srgbClr val="9AA3AD"/>
            </a:solidFill>
            <a:effectLst/>
          </c:spPr>
          <c:invertIfNegative val="0"/>
          <c:dLbls>
            <c:numFmt formatCode="0.00" sourceLinked="0"/>
            <c:txPr>
              <a:bodyPr/>
              <a:lstStyle/>
              <a:p>
                <a:pPr>
                  <a:defRPr b="0" i="0" strike="noStrike" sz="1200" u="none">
                    <a:solidFill>
                      <a:srgbClr val="1F29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Single runs</c:v>
                  </c:pt>
                  <c:pt idx="1">
                    <c:v>Daily totals</c:v>
                  </c:pt>
                </c:lvl>
              </c:multiLvlStrCache>
            </c:multiLvlStrRef>
          </c:cat>
          <c:val>
            <c:numRef>
              <c:f>Sheet1!$C$2:$C$3</c:f>
              <c:numCache>
                <c:formatCode>General</c:formatCode>
                <c:ptCount val="2"/>
                <c:pt idx="0">
                  <c:v>0.916</c:v>
                </c:pt>
                <c:pt idx="1">
                  <c:v>0.389</c:v>
                </c:pt>
              </c:numCache>
            </c:numRef>
          </c:val>
        </c:ser>
        <c:dLbls>
          <c:numFmt formatCode="0.00" sourceLinked="0"/>
          <c:txPr>
            <a:bodyPr/>
            <a:lstStyle/>
            <a:p>
              <a:pPr>
                <a:defRPr b="0" i="0" strike="noStrike" sz="1200" u="none">
                  <a:solidFill>
                    <a:srgbClr val="1F2937"/>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5A1"/>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Cost–denial frontier (α from 0.5 to 0.05, left to right)</a:t>
            </a:r>
          </a:p>
        </c:rich>
      </c:tx>
      <c:layout/>
      <c:overlay val="0"/>
    </c:title>
    <c:autoTitleDeleted val="0"/>
    <c:plotArea>
      <c:layout/>
      <c:scatterChart>
        <c:scatterStyle val="lineMarker"/>
        <c:varyColors val="0"/>
        <c:ser>
          <c:idx val="0"/>
          <c:order val="0"/>
          <c:tx>
            <c:strRef>
              <c:f>Sheet1!$B$1</c:f>
              <c:strCache>
                <c:ptCount val="1"/>
                <c:pt idx="0">
                  <c:v>Joint model</c:v>
                </c:pt>
              </c:strCache>
            </c:strRef>
          </c:tx>
          <c:spPr>
            <a:solidFill>
              <a:srgbClr val="1C4E80"/>
            </a:solidFill>
            <a:ln w="25400" cap="flat">
              <a:solidFill>
                <a:srgbClr val="1C4E80"/>
              </a:solidFill>
              <a:prstDash val="solid"/>
              <a:round/>
            </a:ln>
            <a:effectLst/>
          </c:spPr>
          <c:marker>
            <c:symbol val="circle"/>
            <c:size val="8"/>
            <c:spPr>
              <a:solidFill>
                <a:srgbClr val="1C4E80"/>
              </a:solidFill>
              <a:ln w="9525" cap="flat">
                <a:solidFill>
                  <a:srgbClr val="1C4E80"/>
                </a:solidFill>
                <a:prstDash val="solid"/>
                <a:round/>
              </a:ln>
              <a:effectLst/>
            </c:spPr>
          </c:marker>
          <c:xVal>
            <c:numRef>
              <c:f>Sheet1!$A$2:$A$11</c:f>
              <c:numCache>
                <c:formatCode>General</c:formatCode>
                <c:ptCount val="10"/>
                <c:pt idx="0">
                  <c:v>898</c:v>
                </c:pt>
                <c:pt idx="1">
                  <c:v>564.6</c:v>
                </c:pt>
                <c:pt idx="2">
                  <c:v>300.4</c:v>
                </c:pt>
                <c:pt idx="3">
                  <c:v>170.5</c:v>
                </c:pt>
                <c:pt idx="4">
                  <c:v>54.4</c:v>
                </c:pt>
                <c:pt idx="5">
                  <c:v>659.2</c:v>
                </c:pt>
                <c:pt idx="6">
                  <c:v>409.7</c:v>
                </c:pt>
                <c:pt idx="7">
                  <c:v>209.7</c:v>
                </c:pt>
                <c:pt idx="8">
                  <c:v>110.2</c:v>
                </c:pt>
                <c:pt idx="9">
                  <c:v>34.8</c:v>
                </c:pt>
              </c:numCache>
            </c:numRef>
          </c:xVal>
          <c:yVal>
            <c:numRef>
              <c:f>Sheet1!$B$2:$B$11</c:f>
              <c:numCache>
                <c:formatCode>General</c:formatCode>
                <c:ptCount val="10"/>
                <c:pt idx="0">
                  <c:v>231.6</c:v>
                </c:pt>
                <c:pt idx="1">
                  <c:v>370.7</c:v>
                </c:pt>
                <c:pt idx="2">
                  <c:v>653.7</c:v>
                </c:pt>
                <c:pt idx="3">
                  <c:v>962.6</c:v>
                </c:pt>
                <c:pt idx="4">
                  <c:v>1400.8</c:v>
                </c:pt>
                <c:pt idx="5">
                  <c:v/>
                </c:pt>
                <c:pt idx="6">
                  <c:v/>
                </c:pt>
                <c:pt idx="7">
                  <c:v/>
                </c:pt>
                <c:pt idx="8">
                  <c:v/>
                </c:pt>
                <c:pt idx="9">
                  <c:v/>
                </c:pt>
              </c:numCache>
            </c:numRef>
          </c:yVal>
          <c:smooth val="0"/>
        </c:ser>
        <c:ser>
          <c:idx val="1"/>
          <c:order val="1"/>
          <c:tx>
            <c:strRef>
              <c:f>Sheet1!$C$1</c:f>
              <c:strCache>
                <c:ptCount val="1"/>
                <c:pt idx="0">
                  <c:v>Separate pipeline</c:v>
                </c:pt>
              </c:strCache>
            </c:strRef>
          </c:tx>
          <c:spPr>
            <a:solidFill>
              <a:srgbClr val="9AA3AD"/>
            </a:solidFill>
            <a:ln w="25400" cap="flat">
              <a:solidFill>
                <a:srgbClr val="9AA3AD"/>
              </a:solidFill>
              <a:prstDash val="solid"/>
              <a:round/>
            </a:ln>
            <a:effectLst/>
          </c:spPr>
          <c:marker>
            <c:symbol val="circle"/>
            <c:size val="8"/>
            <c:spPr>
              <a:solidFill>
                <a:srgbClr val="9AA3AD"/>
              </a:solidFill>
              <a:ln w="9525" cap="flat">
                <a:solidFill>
                  <a:srgbClr val="9AA3AD"/>
                </a:solidFill>
                <a:prstDash val="solid"/>
                <a:round/>
              </a:ln>
              <a:effectLst/>
            </c:spPr>
          </c:marker>
          <c:xVal>
            <c:numRef>
              <c:f>Sheet1!$A$2:$A$11</c:f>
              <c:numCache>
                <c:formatCode>General</c:formatCode>
                <c:ptCount val="10"/>
                <c:pt idx="0">
                  <c:v>898</c:v>
                </c:pt>
                <c:pt idx="1">
                  <c:v>564.6</c:v>
                </c:pt>
                <c:pt idx="2">
                  <c:v>300.4</c:v>
                </c:pt>
                <c:pt idx="3">
                  <c:v>170.5</c:v>
                </c:pt>
                <c:pt idx="4">
                  <c:v>54.4</c:v>
                </c:pt>
                <c:pt idx="5">
                  <c:v>659.2</c:v>
                </c:pt>
                <c:pt idx="6">
                  <c:v>409.7</c:v>
                </c:pt>
                <c:pt idx="7">
                  <c:v>209.7</c:v>
                </c:pt>
                <c:pt idx="8">
                  <c:v>110.2</c:v>
                </c:pt>
                <c:pt idx="9">
                  <c:v>34.8</c:v>
                </c:pt>
              </c:numCache>
            </c:numRef>
          </c:xVal>
          <c:yVal>
            <c:numRef>
              <c:f>Sheet1!$C$2:$C$11</c:f>
              <c:numCache>
                <c:formatCode>General</c:formatCode>
                <c:ptCount val="10"/>
                <c:pt idx="0">
                  <c:v/>
                </c:pt>
                <c:pt idx="1">
                  <c:v/>
                </c:pt>
                <c:pt idx="2">
                  <c:v/>
                </c:pt>
                <c:pt idx="3">
                  <c:v/>
                </c:pt>
                <c:pt idx="4">
                  <c:v/>
                </c:pt>
                <c:pt idx="5">
                  <c:v>346.3</c:v>
                </c:pt>
                <c:pt idx="6">
                  <c:v>530.9</c:v>
                </c:pt>
                <c:pt idx="7">
                  <c:v>872</c:v>
                </c:pt>
                <c:pt idx="8">
                  <c:v>1172.3</c:v>
                </c:pt>
                <c:pt idx="9">
                  <c:v>1515.9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0"/>
          <c:min val="0"/>
        </c:scaling>
        <c:delete val="0"/>
        <c:axPos val="b"/>
        <c:title>
          <c:tx>
            <c:rich>
              <a:bodyPr/>
              <a:lstStyle/>
              <a:p>
                <a:pPr>
                  <a:defRPr sz="1100" b="0" i="0" u="none" strike="noStrike">
                    <a:solidFill>
                      <a:srgbClr val="000000"/>
                    </a:solidFill>
                    <a:latin typeface="Calibri"/>
                  </a:defRPr>
                </a:pPr>
                <a:r>
                  <a:rPr sz="1100" b="0" i="0" u="none" strike="noStrike">
                    <a:solidFill>
                      <a:srgbClr val="000000"/>
                    </a:solidFill>
                    <a:latin typeface="Calibri"/>
                  </a:rPr>
                  <a:t>Supplementary runs added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8B95A1"/>
                </a:solidFill>
                <a:latin typeface="Calibri"/>
              </a:defRPr>
            </a:pPr>
            <a:endParaRPr lang="en-US"/>
          </a:p>
        </c:txPr>
        <c:crossAx val="2094734552"/>
        <c:crosses val="autoZero"/>
        <c:auto val="1"/>
        <c:lblAlgn val="ctr"/>
        <c:noMultiLvlLbl val="1"/>
      </c:valAx>
      <c:valAx>
        <c:axId val="2094734552"/>
        <c:scaling>
          <c:orientation val="minMax"/>
          <c:max val="1600"/>
          <c:min val="0"/>
        </c:scaling>
        <c:delete val="0"/>
        <c:axPos val="l"/>
        <c:majorGridlines>
          <c:spPr>
            <a:ln w="6350" cap="flat">
              <a:solidFill>
                <a:srgbClr val="E5E7EB"/>
              </a:solidFill>
              <a:prstDash val="solid"/>
              <a:round/>
            </a:ln>
          </c:spPr>
        </c:majorGridlines>
        <c:title>
          <c:tx>
            <c:rich>
              <a:bodyPr/>
              <a:lstStyle/>
              <a:p>
                <a:pPr>
                  <a:defRPr sz="1100" b="0" i="0" u="none" strike="noStrike">
                    <a:solidFill>
                      <a:srgbClr val="000000"/>
                    </a:solidFill>
                    <a:latin typeface="Calibri"/>
                  </a:defRPr>
                </a:pPr>
                <a:r>
                  <a:rPr sz="1100" b="0" i="0" u="none" strike="noStrike">
                    <a:solidFill>
                      <a:srgbClr val="000000"/>
                    </a:solidFill>
                    <a:latin typeface="Calibri"/>
                  </a:rPr>
                  <a:t>Denied boardings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8B95A1"/>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 This talk presents a research design, not results. I will first show the county and the data I have, then what the literature establishes and where it stops, and finally the framework and next steps. All model outputs you will see are synthetic tests of the method; real ledger results come after the methods are frozen on 1 January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 I sets the empirical scene; Part II is the literature review organised by themes, each ending with how this study responds; Part III explains the framework, the reasoning behind it, and the work plan. Emphasise the status box: design stage, synthetic tests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the county, its bus service, spatial access, and the data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county sits on the Hunan–Guizhou border, on the Shanghai–Kunming high-speed railway and G60 expressway. All seven rural routes start at the county bus station in Huangzhou; R5 to Liangsan runs partly through Guizhou. Population is a WorldPop model estimate used only for sampling weights, not a census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right to left: the red inbound last-run times are the most visible service gap. The map shows segment supply: the shared trunk to Hetan has 41 runs a day, while branch ends such as Yanjia have two. This is supply, not demand; the ledger and surveys tell us who fills these runs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spatial rhythms. Left: 17 periodic markets meet on lunar days ending in a fixed pair of digits; neighbouring markets are staggered. Because some market is always open along some route, market days are modelled as a route-specific control. Right: R6 climbs to about 800 m and R3/R4 have many tight curves; summer fieldwork observed motion sickness on long routes, which the survey now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density is concentrated in Huangzhou. Right: 91 of 145 villages, about half of the modelled population, are more than 3 km by road from a recorded route. The distance definition matters, and I report its sensitivity. The household survey is designed around these three access strata.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is the backbone: one row per one-way run with the total number of people who boarded. Note the split into an exploration period and a sealed test period that I will not open until the methods are frozen. Every other source either explains runs (calendar, weather), frames sampling (GIS), or measures what the ledger cannot see (surveys).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is deliberately simple. Everything about a bus run joins through the run key; everything about days through the date; everything about places through the village code. No personal identifiers are used for linkage. Summer 2026 questionnaires without departure times are matched to the nearest scheduled run within ±15 minutes, otherwise used at route × day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calendar, not synthetic. Blue items are fixed by regulation or algorithm; green school terms are verified from official notices; orange ones are presumed and flagged for verification. Because the drivers are known ahead, the same variables serve both explanation and 1–7 day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The literature is organised in six themes that follow the research chain: riders and surveys, drivers, unit of analysis, overlapping factors, forecasting, and service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about the evidence base. The English corpus came from OpenAlex with manual screening; rules were too weak to trust alone. The Chinese supplement used only compliant routes; the honest conclusion is limited to what is publicly reachable, and a CNKI search is still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1. Consensus on who rides and on survey modes is strong. The gap is the disconnect: surveys describe, ledgers count, and the two rarely meet. My response is to join them by the run key and to reserve the household survey for what no ledger can see: trips that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2. Weather and seasonality are well studied in cities; Spring Festival studies are about national migration or metro systems. What is missing for a county like Xinhuang are the recurring, directional rhythms — boarding students and weekly commuters — and a finer treatment of holidays by importance and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3. The literature is rich at the level of days and stations but the operator's decision is a run. That choice creates two statistical problems — small counts and censoring — which have established tools. And the real calendar shows why the run level matters: two commuting groups that are inseparable in daily totals are perfectly separated by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4 is the methodological heart. The epidemiology literature tells us interaction is scale-dependent; operators care about extra passengers, which is the additive scale. None of the common tools asks first whether an interaction is even identifiable from the calendar. That is the step I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5. Forecasting theory is mature; the gap is application to rural runs and, crucially, coherence between run forecasts and daily totals. The day-shock design is my answer: it is what makes the daily interval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6 connects to my step 5. The evidence against pure DRT in rural areas is sobering, and older riders do not book. Hybrid designs are promising but rarely driven by real probabilistic forecasts. In Xinhuang the key drivers are knowable days ahead, which allows supplementary service without a booking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bridge between Parts II and III: each row is a common practice, why it does not fit Xinhuang's data and decisions, and the concrete design choice I make instead. The −14% refers to the synthetic backtest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 co-occurrence alone is weak evidence of a gap, so I used three steps: precision-corrected counts, full reading of narrow searches, and depth coding. The pattern is consistent: each topic is mature, but the combinations this study needs are rare. I state explicitly what cannot be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questions are derived, not assumed. G3 is the core methodological gap and maps to RQ2, which is highlighted. Stages S1–S5 are the uses of a single model, as Part III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I will show the research logic, how the framework evolved, the integrated model, and then each step in turn, ending with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logic as I originally framed it, now mapped to stages S1–S5 and research questions. Step 2 includes all the factors I started with — market days, weather, Gregorian and lunar holidays, and school vacations — but, as the next slides show, they are encoded more precisely and some serve as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reasoning process. Each revision came from evidence: synthetic validation, data availability, advisory review, or an error I found and corrected. The direction error is worth dwelling on: the model fitted well while being wrong, which is why the survey now includes 'which bus do you usually take out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integrated framework. Left: all inputs are known in advance. Centre: one model whose parameters are the effects (S3) and whose sums are the daily totals (S2). Right: its predictive distribution is the forecast (S4), and decisions (S5) are computed directly on forecast samples, so uncertainty flows from parameters to decisions. The surveys supply the censoring point through the turnover coefficient and check the rider-group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survey has one job. The fall weekend wave is targeted at the strata that distinguish students from workers, with a control stratum on Tuesday–Thursday afternoons. The winter wave covers Spring Festival travel, the hardest period to forecast. The household survey is the only way to see non-riders. The tally sheet is filled on every sampled run regardless of how many interviews are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identification uses the same forced-choice question in all three surveys so riders and non-riders can be compared, and unmet demand is measured as behaviour in a recall window, which can be checked against ledgers. The household sample is stratified by the access strata shown in Part I, with more villages near routes than proportional allocation would give, so each stratum can be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five temporal drivers I started with are operationalised. Holidays are split by importance and length; the Spring Festival has its own factor; vacations switch the student factor off and create term start/end surges. Market days and weather remain in the model as controls, so their effects are still estimated. The schematic shows why directions matter: students go home on Friday afternoon while workers come back to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evidence uses only the real timetable and calendar — no ridership numbers, so it does not depend on synthetic data. It justifies both the run-level unit and the identifiability screen. S = boarding students, W = workers, R = holiday returns, CY = Spring Festival travel, T = term start and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in one line: a negative binomial for latent demand, censored at effective capacity, with a multiplicative baseline and an additive bracket of calendar effects. Effects are defined by switching factors on and off, so they are comparable across methods. Every effect is reported per cell with a 95% interval and the number of runs; cells below 200 runs are flagged low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backtest: I generate ridership on the real timetable and calendar with known effects, under four different 'true worlds', and ask which estimator recovers them. The main lessons: predictive scores cannot choose among methods; the scale matters most; censoring matters; and penalising overlap terms shrinks real absorption. The choice is frozen before any real test data are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is a set of simulated futures. Because all runs on a day share one county shock in each draw, the daily total automatically carries their correlation. In the synthetic test both approaches forecast single runs equally well; only the joint model gives daily intervals that are close to their nominal coverage — which is what the day-ahead reserve decision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planning keeps the fixed timetable as the base layer because older riders do not book. On top of it: a reserve decided the day before from the daily-total forecast, and supplementary runs triggered where the forecast says the run is likely to overflow. I do not claim one optimal plan; I give the transport bureau a frontier and let the cost ratio decide. Synthetic results, world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Hypotheses and interpretation rules are written down before the data are analysed, and will be time-stamped with the frozen methods, so the results cannot be reinterpreted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hard constraints drive the plan: seasonal windows (the fall term is the only in-term window for testing student and worker encodings before winter; winter/Spring Festival cannot be postponed without losing a year) and freeze-then-test (methods and interpretation rules are frozen on 1 January 2027 before the sealed data are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critical path is the ledger: without run-level records, RQ2 to RQ4 fall back to daily models. Everything else has a fallback written down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contribution. The two papers use the same data and model but answer different questions: paper 1 reports parameters (effects), paper 2 reports their use (forecasts and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close with the limitations I already know and four questions where the audience's experience would help most, especially on supplementary service types beyond extra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open for questions. Appendix slides hold the questionnaire structure, the sampling strata and full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 how the 47-item bank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A2: on-board strata for the fall and winter waves, from the v5 sampling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(APA-style, abbreviated). Full GB/T 7714 entries with DOIs are in documents 1–5 of the v5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(APA-style, abbreviated). Full GB/T 7714 entries with DOIs are in documents 1–5 of the v5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(APA-style, abbreviated). Full GB/T 7714 entries with DOIs are in documents 1–5 of the v5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46520" y="0"/>
            <a:ext cx="5745175" cy="6858000"/>
          </a:xfrm>
          <a:prstGeom prst="rect">
            <a:avLst/>
          </a:prstGeom>
          <a:solidFill>
            <a:srgbClr val="F3F5F8"/>
          </a:solidFill>
          <a:ln w="12700">
            <a:solidFill>
              <a:srgbClr val="F3F5F8"/>
            </a:solidFill>
            <a:prstDash val="solid"/>
          </a:ln>
        </p:spPr>
      </p:sp>
      <p:pic>
        <p:nvPicPr>
          <p:cNvPr id="3" name="Image 0" descr="Xinhuang County with its seven urban–rural bus routes">    </p:cNvPr>
          <p:cNvPicPr>
            <a:picLocks noChangeAspect="1"/>
          </p:cNvPicPr>
          <p:nvPr/>
        </p:nvPicPr>
        <p:blipFill>
          <a:blip r:embed="rId1"/>
          <a:stretch>
            <a:fillRect/>
          </a:stretch>
        </p:blipFill>
        <p:spPr>
          <a:xfrm>
            <a:off x="6629400" y="1089168"/>
            <a:ext cx="5349240" cy="4313903"/>
          </a:xfrm>
          <a:prstGeom prst="rect">
            <a:avLst/>
          </a:prstGeom>
        </p:spPr>
      </p:pic>
      <p:sp>
        <p:nvSpPr>
          <p:cNvPr id="4" name="Text 1"/>
          <p:cNvSpPr txBox="1"/>
          <p:nvPr/>
        </p:nvSpPr>
        <p:spPr>
          <a:xfrm>
            <a:off x="6766560" y="5897880"/>
            <a:ext cx="5120640" cy="411480"/>
          </a:xfrm>
          <a:prstGeom prst="rect">
            <a:avLst/>
          </a:prstGeom>
          <a:noFill/>
          <a:ln/>
        </p:spPr>
        <p:txBody>
          <a:bodyPr wrap="square" lIns="0" tIns="0" rIns="0" bIns="0" rtlCol="0" anchor="t"/>
          <a:lstStyle/>
          <a:p>
            <a:pPr indent="0" marL="0">
              <a:buNone/>
            </a:pPr>
            <a:r>
              <a:rPr lang="en-US" sz="900" i="1" dirty="0">
                <a:solidFill>
                  <a:srgbClr val="8B95A1"/>
                </a:solidFill>
                <a:latin typeface="Calibri" pitchFamily="34" charset="0"/>
                <a:ea typeface="Calibri" pitchFamily="34" charset="-122"/>
                <a:cs typeface="Calibri" pitchFamily="34" charset="-120"/>
              </a:rPr>
              <a:t>Seven urban–rural bus routes radiating from the county bus station (■), on terrain from Copernicus GLO-30 DEM</a:t>
            </a:r>
            <a:endParaRPr lang="en-US" sz="900" dirty="0"/>
          </a:p>
        </p:txBody>
      </p:sp>
      <p:sp>
        <p:nvSpPr>
          <p:cNvPr id="5" name="Text 2"/>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050" b="1" spc="150" kern="0" dirty="0">
                <a:solidFill>
                  <a:srgbClr val="1C4E80"/>
                </a:solidFill>
                <a:latin typeface="Calibri" pitchFamily="34" charset="0"/>
                <a:ea typeface="Calibri" pitchFamily="34" charset="-122"/>
                <a:cs typeface="Calibri" pitchFamily="34" charset="-120"/>
              </a:rPr>
              <a:t>WORK IN PROGRESS · RESEARCH DESIGN</a:t>
            </a:r>
            <a:endParaRPr lang="en-US" sz="1050" dirty="0"/>
          </a:p>
        </p:txBody>
      </p:sp>
      <p:sp>
        <p:nvSpPr>
          <p:cNvPr id="6" name="Text 3"/>
          <p:cNvSpPr txBox="1"/>
          <p:nvPr/>
        </p:nvSpPr>
        <p:spPr>
          <a:xfrm>
            <a:off x="548640" y="1463040"/>
            <a:ext cx="5577840" cy="1828800"/>
          </a:xfrm>
          <a:prstGeom prst="rect">
            <a:avLst/>
          </a:prstGeom>
          <a:noFill/>
          <a:ln/>
        </p:spPr>
        <p:txBody>
          <a:bodyPr wrap="square" lIns="0" tIns="0" rIns="0" bIns="0" rtlCol="0" anchor="t"/>
          <a:lstStyle/>
          <a:p>
            <a:pPr indent="0" marL="0">
              <a:buNone/>
            </a:pPr>
            <a:r>
              <a:rPr lang="en-US" sz="3600" dirty="0">
                <a:solidFill>
                  <a:srgbClr val="1F2937"/>
                </a:solidFill>
                <a:latin typeface="Cambria" pitchFamily="34" charset="0"/>
                <a:ea typeface="Cambria" pitchFamily="34" charset="-122"/>
                <a:cs typeface="Cambria" pitchFamily="34" charset="-120"/>
              </a:rPr>
              <a:t>Research on Urban–Rural Public Transport in Xinhuang County</a:t>
            </a:r>
            <a:endParaRPr lang="en-US" sz="3600" dirty="0"/>
          </a:p>
        </p:txBody>
      </p:sp>
      <p:sp>
        <p:nvSpPr>
          <p:cNvPr id="7" name="Text 4"/>
          <p:cNvSpPr txBox="1"/>
          <p:nvPr/>
        </p:nvSpPr>
        <p:spPr>
          <a:xfrm>
            <a:off x="548640" y="3429000"/>
            <a:ext cx="5394960" cy="914400"/>
          </a:xfrm>
          <a:prstGeom prst="rect">
            <a:avLst/>
          </a:prstGeom>
          <a:noFill/>
          <a:ln/>
        </p:spPr>
        <p:txBody>
          <a:bodyPr wrap="square" lIns="0" tIns="0" rIns="0" bIns="0" rtlCol="0" anchor="t"/>
          <a:lstStyle/>
          <a:p>
            <a:pPr indent="0" marL="0">
              <a:buNone/>
            </a:pPr>
            <a:r>
              <a:rPr lang="en-US" sz="1550" dirty="0">
                <a:solidFill>
                  <a:srgbClr val="4B5563"/>
                </a:solidFill>
                <a:latin typeface="Calibri" pitchFamily="34" charset="0"/>
                <a:ea typeface="Calibri" pitchFamily="34" charset="-122"/>
                <a:cs typeface="Calibri" pitchFamily="34" charset="-120"/>
              </a:rPr>
              <a:t>Run-level demand, overlapping calendar rhythms, and forecast-informed service planning in a mountainous county of western Hunan, China</a:t>
            </a:r>
            <a:endParaRPr lang="en-US" sz="1550" dirty="0"/>
          </a:p>
        </p:txBody>
      </p:sp>
      <p:sp>
        <p:nvSpPr>
          <p:cNvPr id="8" name="Text 5"/>
          <p:cNvSpPr txBox="1"/>
          <p:nvPr/>
        </p:nvSpPr>
        <p:spPr>
          <a:xfrm>
            <a:off x="548640" y="4892040"/>
            <a:ext cx="5394960" cy="731520"/>
          </a:xfrm>
          <a:prstGeom prst="rect">
            <a:avLst/>
          </a:prstGeom>
          <a:noFill/>
          <a:ln/>
        </p:spPr>
        <p:txBody>
          <a:bodyPr wrap="square" lIns="0" tIns="0" rIns="0" bIns="0" rtlCol="0" anchor="t"/>
          <a:lstStyle/>
          <a:p>
            <a:pPr indent="0" marL="0">
              <a:buNone/>
            </a:pPr>
            <a:r>
              <a:rPr lang="en-US" sz="1600" b="1" dirty="0">
                <a:solidFill>
                  <a:srgbClr val="1F2937"/>
                </a:solidFill>
                <a:latin typeface="Calibri" pitchFamily="34" charset="0"/>
                <a:ea typeface="Calibri" pitchFamily="34" charset="-122"/>
                <a:cs typeface="Calibri" pitchFamily="34" charset="-120"/>
              </a:rPr>
              <a:t>Lilac</a:t>
            </a:r>
            <a:endParaRPr lang="en-US" sz="1300" dirty="0"/>
          </a:p>
          <a:p>
            <a:pPr indent="0" marL="0">
              <a:buNone/>
            </a:pPr>
            <a:r>
              <a:rPr lang="en-US" sz="1350" dirty="0">
                <a:solidFill>
                  <a:srgbClr val="4B5563"/>
                </a:solidFill>
                <a:latin typeface="Calibri" pitchFamily="34" charset="0"/>
                <a:ea typeface="Calibri" pitchFamily="34" charset="-122"/>
                <a:cs typeface="Calibri" pitchFamily="34" charset="-120"/>
              </a:rPr>
              <a:t>National University of Singapore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From a local service problem to a testable research design</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 / 39</a:t>
            </a:r>
            <a:endParaRPr lang="en-US" sz="850" dirty="0"/>
          </a:p>
        </p:txBody>
      </p:sp>
      <p:sp>
        <p:nvSpPr>
          <p:cNvPr id="6" name="Shape 4"/>
          <p:cNvSpPr/>
          <p:nvPr/>
        </p:nvSpPr>
        <p:spPr>
          <a:xfrm>
            <a:off x="548640" y="1417320"/>
            <a:ext cx="3520440" cy="3246120"/>
          </a:xfrm>
          <a:prstGeom prst="roundRect">
            <a:avLst>
              <a:gd name="adj" fmla="val 2254"/>
            </a:avLst>
          </a:prstGeom>
          <a:solidFill>
            <a:srgbClr val="F3F5F8"/>
          </a:solidFill>
          <a:ln w="12700">
            <a:solidFill>
              <a:srgbClr val="F3F5F8"/>
            </a:solidFill>
            <a:prstDash val="solid"/>
          </a:ln>
        </p:spPr>
      </p:sp>
      <p:sp>
        <p:nvSpPr>
          <p:cNvPr id="7" name="Text 5"/>
          <p:cNvSpPr txBox="1"/>
          <p:nvPr/>
        </p:nvSpPr>
        <p:spPr>
          <a:xfrm>
            <a:off x="777240" y="1572768"/>
            <a:ext cx="914400" cy="640080"/>
          </a:xfrm>
          <a:prstGeom prst="rect">
            <a:avLst/>
          </a:prstGeom>
          <a:noFill/>
          <a:ln/>
        </p:spPr>
        <p:txBody>
          <a:bodyPr wrap="square" lIns="0" tIns="0" rIns="0" bIns="0" rtlCol="0" anchor="t"/>
          <a:lstStyle/>
          <a:p>
            <a:pPr indent="0" marL="0">
              <a:buNone/>
            </a:pPr>
            <a:r>
              <a:rPr lang="en-US" sz="3600" dirty="0">
                <a:solidFill>
                  <a:srgbClr val="1C4E80"/>
                </a:solidFill>
                <a:latin typeface="Cambria" pitchFamily="34" charset="0"/>
                <a:ea typeface="Cambria" pitchFamily="34" charset="-122"/>
                <a:cs typeface="Cambria" pitchFamily="34" charset="-120"/>
              </a:rPr>
              <a:t>I</a:t>
            </a:r>
            <a:endParaRPr lang="en-US" sz="3600" dirty="0"/>
          </a:p>
        </p:txBody>
      </p:sp>
      <p:sp>
        <p:nvSpPr>
          <p:cNvPr id="8" name="Text 6"/>
          <p:cNvSpPr txBox="1"/>
          <p:nvPr/>
        </p:nvSpPr>
        <p:spPr>
          <a:xfrm>
            <a:off x="777240" y="2240280"/>
            <a:ext cx="3063240" cy="411480"/>
          </a:xfrm>
          <a:prstGeom prst="rect">
            <a:avLst/>
          </a:prstGeom>
          <a:noFill/>
          <a:ln/>
        </p:spPr>
        <p:txBody>
          <a:bodyPr wrap="square" lIns="0" tIns="0" rIns="0" bIns="0" rtlCol="0" anchor="t"/>
          <a:lstStyle/>
          <a:p>
            <a:pPr indent="0" marL="0">
              <a:buNone/>
            </a:pPr>
            <a:r>
              <a:rPr lang="en-US" sz="1750" dirty="0">
                <a:solidFill>
                  <a:srgbClr val="1F2937"/>
                </a:solidFill>
                <a:latin typeface="Cambria" pitchFamily="34" charset="0"/>
                <a:ea typeface="Cambria" pitchFamily="34" charset="-122"/>
                <a:cs typeface="Cambria" pitchFamily="34" charset="-120"/>
              </a:rPr>
              <a:t>Study area and data</a:t>
            </a:r>
            <a:endParaRPr lang="en-US" sz="1750" dirty="0"/>
          </a:p>
        </p:txBody>
      </p:sp>
      <p:sp>
        <p:nvSpPr>
          <p:cNvPr id="9" name="Text 7"/>
          <p:cNvSpPr txBox="1"/>
          <p:nvPr/>
        </p:nvSpPr>
        <p:spPr>
          <a:xfrm>
            <a:off x="777240" y="2788920"/>
            <a:ext cx="3108960" cy="173736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Xinhuang's seven radial bus routes</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Terrain, periodic markets and access</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Data in hand, data structure, public calendars</a:t>
            </a:r>
            <a:endParaRPr lang="en-US" sz="1300" dirty="0"/>
          </a:p>
        </p:txBody>
      </p:sp>
      <p:sp>
        <p:nvSpPr>
          <p:cNvPr id="10" name="Shape 8"/>
          <p:cNvSpPr/>
          <p:nvPr/>
        </p:nvSpPr>
        <p:spPr>
          <a:xfrm>
            <a:off x="4315968" y="1417320"/>
            <a:ext cx="3520440" cy="3246120"/>
          </a:xfrm>
          <a:prstGeom prst="roundRect">
            <a:avLst>
              <a:gd name="adj" fmla="val 2254"/>
            </a:avLst>
          </a:prstGeom>
          <a:solidFill>
            <a:srgbClr val="F3F5F8"/>
          </a:solidFill>
          <a:ln w="12700">
            <a:solidFill>
              <a:srgbClr val="F3F5F8"/>
            </a:solidFill>
            <a:prstDash val="solid"/>
          </a:ln>
        </p:spPr>
      </p:sp>
      <p:sp>
        <p:nvSpPr>
          <p:cNvPr id="11" name="Text 9"/>
          <p:cNvSpPr txBox="1"/>
          <p:nvPr/>
        </p:nvSpPr>
        <p:spPr>
          <a:xfrm>
            <a:off x="4544568" y="1572768"/>
            <a:ext cx="914400" cy="640080"/>
          </a:xfrm>
          <a:prstGeom prst="rect">
            <a:avLst/>
          </a:prstGeom>
          <a:noFill/>
          <a:ln/>
        </p:spPr>
        <p:txBody>
          <a:bodyPr wrap="square" lIns="0" tIns="0" rIns="0" bIns="0" rtlCol="0" anchor="t"/>
          <a:lstStyle/>
          <a:p>
            <a:pPr indent="0" marL="0">
              <a:buNone/>
            </a:pPr>
            <a:r>
              <a:rPr lang="en-US" sz="3600" dirty="0">
                <a:solidFill>
                  <a:srgbClr val="1C4E80"/>
                </a:solidFill>
                <a:latin typeface="Cambria" pitchFamily="34" charset="0"/>
                <a:ea typeface="Cambria" pitchFamily="34" charset="-122"/>
                <a:cs typeface="Cambria" pitchFamily="34" charset="-120"/>
              </a:rPr>
              <a:t>II</a:t>
            </a:r>
            <a:endParaRPr lang="en-US" sz="3600" dirty="0"/>
          </a:p>
        </p:txBody>
      </p:sp>
      <p:sp>
        <p:nvSpPr>
          <p:cNvPr id="12" name="Text 10"/>
          <p:cNvSpPr txBox="1"/>
          <p:nvPr/>
        </p:nvSpPr>
        <p:spPr>
          <a:xfrm>
            <a:off x="4544568" y="2240280"/>
            <a:ext cx="3063240" cy="411480"/>
          </a:xfrm>
          <a:prstGeom prst="rect">
            <a:avLst/>
          </a:prstGeom>
          <a:noFill/>
          <a:ln/>
        </p:spPr>
        <p:txBody>
          <a:bodyPr wrap="square" lIns="0" tIns="0" rIns="0" bIns="0" rtlCol="0" anchor="t"/>
          <a:lstStyle/>
          <a:p>
            <a:pPr indent="0" marL="0">
              <a:buNone/>
            </a:pPr>
            <a:r>
              <a:rPr lang="en-US" sz="1750" dirty="0">
                <a:solidFill>
                  <a:srgbClr val="1F2937"/>
                </a:solidFill>
                <a:latin typeface="Cambria" pitchFamily="34" charset="0"/>
                <a:ea typeface="Cambria" pitchFamily="34" charset="-122"/>
                <a:cs typeface="Cambria" pitchFamily="34" charset="-120"/>
              </a:rPr>
              <a:t>What prior research tells us</a:t>
            </a:r>
            <a:endParaRPr lang="en-US" sz="1750" dirty="0"/>
          </a:p>
        </p:txBody>
      </p:sp>
      <p:sp>
        <p:nvSpPr>
          <p:cNvPr id="13" name="Text 11"/>
          <p:cNvSpPr txBox="1"/>
          <p:nvPr/>
        </p:nvSpPr>
        <p:spPr>
          <a:xfrm>
            <a:off x="4544568" y="2788920"/>
            <a:ext cx="3108960" cy="173736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Six themes: consensus, methods, limitations</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From prior practice to design choices</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Five gaps → four research questions</a:t>
            </a:r>
            <a:endParaRPr lang="en-US" sz="1300" dirty="0"/>
          </a:p>
        </p:txBody>
      </p:sp>
      <p:sp>
        <p:nvSpPr>
          <p:cNvPr id="14" name="Shape 12"/>
          <p:cNvSpPr/>
          <p:nvPr/>
        </p:nvSpPr>
        <p:spPr>
          <a:xfrm>
            <a:off x="8083296" y="1417320"/>
            <a:ext cx="3520440" cy="3246120"/>
          </a:xfrm>
          <a:prstGeom prst="roundRect">
            <a:avLst>
              <a:gd name="adj" fmla="val 2254"/>
            </a:avLst>
          </a:prstGeom>
          <a:solidFill>
            <a:srgbClr val="E3ECF6"/>
          </a:solidFill>
          <a:ln w="12700">
            <a:solidFill>
              <a:srgbClr val="E3ECF6"/>
            </a:solidFill>
            <a:prstDash val="solid"/>
          </a:ln>
        </p:spPr>
      </p:sp>
      <p:sp>
        <p:nvSpPr>
          <p:cNvPr id="15" name="Text 13"/>
          <p:cNvSpPr txBox="1"/>
          <p:nvPr/>
        </p:nvSpPr>
        <p:spPr>
          <a:xfrm>
            <a:off x="8311896" y="1572768"/>
            <a:ext cx="914400" cy="640080"/>
          </a:xfrm>
          <a:prstGeom prst="rect">
            <a:avLst/>
          </a:prstGeom>
          <a:noFill/>
          <a:ln/>
        </p:spPr>
        <p:txBody>
          <a:bodyPr wrap="square" lIns="0" tIns="0" rIns="0" bIns="0" rtlCol="0" anchor="t"/>
          <a:lstStyle/>
          <a:p>
            <a:pPr indent="0" marL="0">
              <a:buNone/>
            </a:pPr>
            <a:r>
              <a:rPr lang="en-US" sz="3600" dirty="0">
                <a:solidFill>
                  <a:srgbClr val="1C4E80"/>
                </a:solidFill>
                <a:latin typeface="Cambria" pitchFamily="34" charset="0"/>
                <a:ea typeface="Cambria" pitchFamily="34" charset="-122"/>
                <a:cs typeface="Cambria" pitchFamily="34" charset="-120"/>
              </a:rPr>
              <a:t>III</a:t>
            </a:r>
            <a:endParaRPr lang="en-US" sz="3600" dirty="0"/>
          </a:p>
        </p:txBody>
      </p:sp>
      <p:sp>
        <p:nvSpPr>
          <p:cNvPr id="16" name="Text 14"/>
          <p:cNvSpPr txBox="1"/>
          <p:nvPr/>
        </p:nvSpPr>
        <p:spPr>
          <a:xfrm>
            <a:off x="8311896" y="2240280"/>
            <a:ext cx="3063240" cy="411480"/>
          </a:xfrm>
          <a:prstGeom prst="rect">
            <a:avLst/>
          </a:prstGeom>
          <a:noFill/>
          <a:ln/>
        </p:spPr>
        <p:txBody>
          <a:bodyPr wrap="square" lIns="0" tIns="0" rIns="0" bIns="0" rtlCol="0" anchor="t"/>
          <a:lstStyle/>
          <a:p>
            <a:pPr indent="0" marL="0">
              <a:buNone/>
            </a:pPr>
            <a:r>
              <a:rPr lang="en-US" sz="1750" dirty="0">
                <a:solidFill>
                  <a:srgbClr val="1F2937"/>
                </a:solidFill>
                <a:latin typeface="Cambria" pitchFamily="34" charset="0"/>
                <a:ea typeface="Cambria" pitchFamily="34" charset="-122"/>
                <a:cs typeface="Cambria" pitchFamily="34" charset="-120"/>
              </a:rPr>
              <a:t>Framework and next steps</a:t>
            </a:r>
            <a:endParaRPr lang="en-US" sz="1750" dirty="0"/>
          </a:p>
        </p:txBody>
      </p:sp>
      <p:sp>
        <p:nvSpPr>
          <p:cNvPr id="17" name="Text 15"/>
          <p:cNvSpPr txBox="1"/>
          <p:nvPr/>
        </p:nvSpPr>
        <p:spPr>
          <a:xfrm>
            <a:off x="8311896" y="2788920"/>
            <a:ext cx="3108960" cy="173736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Five-step research logic and how it evolved</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Surveys, calendar factors, run-level model</a:t>
            </a:r>
            <a:endParaRPr lang="en-US" sz="1300" dirty="0"/>
          </a:p>
          <a:p>
            <a:pPr marL="165100" indent="-165100">
              <a:spcAft>
                <a:spcPts val="600"/>
              </a:spcAft>
              <a:buSzPct val="100000"/>
              <a:buChar char="•"/>
            </a:pPr>
            <a:r>
              <a:rPr lang="en-US" sz="1300" dirty="0">
                <a:solidFill>
                  <a:srgbClr val="4B5563"/>
                </a:solidFill>
                <a:latin typeface="Calibri" pitchFamily="34" charset="0"/>
                <a:ea typeface="Calibri" pitchFamily="34" charset="-122"/>
                <a:cs typeface="Calibri" pitchFamily="34" charset="-120"/>
              </a:rPr>
              <a:t>Forecasting, service planning, timeline</a:t>
            </a:r>
            <a:endParaRPr lang="en-US" sz="1300" dirty="0"/>
          </a:p>
        </p:txBody>
      </p:sp>
      <p:sp>
        <p:nvSpPr>
          <p:cNvPr id="18" name="Text 16"/>
          <p:cNvSpPr txBox="1"/>
          <p:nvPr/>
        </p:nvSpPr>
        <p:spPr>
          <a:xfrm>
            <a:off x="548640" y="4892040"/>
            <a:ext cx="11094415" cy="685800"/>
          </a:xfrm>
          <a:prstGeom prst="rect">
            <a:avLst/>
          </a:prstGeom>
          <a:noFill/>
          <a:ln/>
        </p:spPr>
        <p:txBody>
          <a:bodyPr wrap="square" lIns="0" tIns="0" rIns="0" bIns="0" rtlCol="0" anchor="t"/>
          <a:lstStyle/>
          <a:p>
            <a:pPr indent="0" marL="0">
              <a:buNone/>
            </a:pPr>
            <a:r>
              <a:rPr lang="en-US" sz="1400" b="1" dirty="0">
                <a:solidFill>
                  <a:srgbClr val="1C4E80"/>
                </a:solidFill>
                <a:latin typeface="Calibri" pitchFamily="34" charset="0"/>
                <a:ea typeface="Calibri" pitchFamily="34" charset="-122"/>
                <a:cs typeface="Calibri" pitchFamily="34" charset="-120"/>
              </a:rPr>
              <a:t>Guiding question  </a:t>
            </a:r>
            <a:r>
              <a:rPr lang="en-US" sz="1400" dirty="0">
                <a:solidFill>
                  <a:srgbClr val="1F2937"/>
                </a:solidFill>
                <a:latin typeface="Calibri" pitchFamily="34" charset="0"/>
                <a:ea typeface="Calibri" pitchFamily="34" charset="-122"/>
                <a:cs typeface="Calibri" pitchFamily="34" charset="-120"/>
              </a:rPr>
              <a:t>When rural calendar rhythms (school weeks, work weeks, holidays, Spring Festival) overlap, how much demand does each add to a single bus run — and how can forecasts of that demand make a fixed rural timetable more responsive?</a:t>
            </a:r>
            <a:endParaRPr lang="en-US" sz="1400" dirty="0"/>
          </a:p>
        </p:txBody>
      </p:sp>
      <p:sp>
        <p:nvSpPr>
          <p:cNvPr id="19" name="Shape 17"/>
          <p:cNvSpPr/>
          <p:nvPr/>
        </p:nvSpPr>
        <p:spPr>
          <a:xfrm>
            <a:off x="548640" y="5715000"/>
            <a:ext cx="11094415" cy="475488"/>
          </a:xfrm>
          <a:prstGeom prst="roundRect">
            <a:avLst>
              <a:gd name="adj" fmla="val 15385"/>
            </a:avLst>
          </a:prstGeom>
          <a:solidFill>
            <a:srgbClr val="FFFFFF"/>
          </a:solidFill>
          <a:ln w="11430">
            <a:solidFill>
              <a:srgbClr val="7C5CA8"/>
            </a:solidFill>
            <a:prstDash val="solid"/>
          </a:ln>
        </p:spPr>
      </p:sp>
      <p:sp>
        <p:nvSpPr>
          <p:cNvPr id="20" name="Text 18"/>
          <p:cNvSpPr txBox="1"/>
          <p:nvPr/>
        </p:nvSpPr>
        <p:spPr>
          <a:xfrm>
            <a:off x="640080" y="5760720"/>
            <a:ext cx="10911535" cy="384048"/>
          </a:xfrm>
          <a:prstGeom prst="rect">
            <a:avLst/>
          </a:prstGeom>
          <a:noFill/>
          <a:ln/>
        </p:spPr>
        <p:txBody>
          <a:bodyPr wrap="square" lIns="0" tIns="0" rIns="0" bIns="0" rtlCol="0" anchor="ctr"/>
          <a:lstStyle/>
          <a:p>
            <a:pPr algn="ctr" indent="0" marL="0">
              <a:buNone/>
            </a:pPr>
            <a:r>
              <a:rPr lang="en-US" sz="1150" dirty="0">
                <a:solidFill>
                  <a:srgbClr val="5B3F86"/>
                </a:solidFill>
                <a:latin typeface="Calibri" pitchFamily="34" charset="0"/>
                <a:ea typeface="Calibri" pitchFamily="34" charset="-122"/>
                <a:cs typeface="Calibri" pitchFamily="34" charset="-120"/>
              </a:rPr>
              <a:t>Status: design stage. Every model result shown is a SYNTHETIC test of whether the method recovers known effects; no Xinhuang ridership results are reported yet.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463040"/>
            <a:ext cx="2286000" cy="1188720"/>
          </a:xfrm>
          <a:prstGeom prst="rect">
            <a:avLst/>
          </a:prstGeom>
          <a:noFill/>
          <a:ln/>
        </p:spPr>
        <p:txBody>
          <a:bodyPr wrap="square" lIns="0" tIns="0" rIns="0" bIns="0" rtlCol="0" anchor="t"/>
          <a:lstStyle/>
          <a:p>
            <a:pPr indent="0" marL="0">
              <a:buNone/>
            </a:pPr>
            <a:r>
              <a:rPr lang="en-US" sz="8000" dirty="0">
                <a:solidFill>
                  <a:srgbClr val="1C4E80"/>
                </a:solidFill>
                <a:latin typeface="Cambria" pitchFamily="34" charset="0"/>
                <a:ea typeface="Cambria" pitchFamily="34" charset="-122"/>
                <a:cs typeface="Cambria" pitchFamily="34" charset="-120"/>
              </a:rPr>
              <a:t>I</a:t>
            </a:r>
            <a:endParaRPr lang="en-US" sz="8000" dirty="0"/>
          </a:p>
        </p:txBody>
      </p:sp>
      <p:sp>
        <p:nvSpPr>
          <p:cNvPr id="3" name="Text 1"/>
          <p:cNvSpPr txBox="1"/>
          <p:nvPr/>
        </p:nvSpPr>
        <p:spPr>
          <a:xfrm>
            <a:off x="548640" y="2788920"/>
            <a:ext cx="8229600" cy="822960"/>
          </a:xfrm>
          <a:prstGeom prst="rect">
            <a:avLst/>
          </a:prstGeom>
          <a:noFill/>
          <a:ln/>
        </p:spPr>
        <p:txBody>
          <a:bodyPr wrap="square" lIns="0" tIns="0" rIns="0" bIns="0" rtlCol="0" anchor="t"/>
          <a:lstStyle/>
          <a:p>
            <a:pPr indent="0" marL="0">
              <a:buNone/>
            </a:pPr>
            <a:r>
              <a:rPr lang="en-US" sz="3600" dirty="0">
                <a:solidFill>
                  <a:srgbClr val="1F2937"/>
                </a:solidFill>
                <a:latin typeface="Cambria" pitchFamily="34" charset="0"/>
                <a:ea typeface="Cambria" pitchFamily="34" charset="-122"/>
                <a:cs typeface="Cambria" pitchFamily="34" charset="-120"/>
              </a:rPr>
              <a:t>Study area and data</a:t>
            </a:r>
            <a:endParaRPr lang="en-US" sz="3600" dirty="0"/>
          </a:p>
        </p:txBody>
      </p:sp>
      <p:sp>
        <p:nvSpPr>
          <p:cNvPr id="4" name="Text 2"/>
          <p:cNvSpPr txBox="1"/>
          <p:nvPr/>
        </p:nvSpPr>
        <p:spPr>
          <a:xfrm>
            <a:off x="548640" y="3657600"/>
            <a:ext cx="7772400" cy="91440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Where the problem sits: a mountainous border county, seven radial routes, and the data assembled so far.</a:t>
            </a:r>
            <a:endParaRPr lang="en-US" sz="1600" dirty="0"/>
          </a:p>
        </p:txBody>
      </p:sp>
      <p:sp>
        <p:nvSpPr>
          <p:cNvPr id="5" name="Text 3"/>
          <p:cNvSpPr txBox="1"/>
          <p:nvPr/>
        </p:nvSpPr>
        <p:spPr>
          <a:xfrm>
            <a:off x="8503920" y="2011680"/>
            <a:ext cx="3200400" cy="365760"/>
          </a:xfrm>
          <a:prstGeom prst="rect">
            <a:avLst/>
          </a:prstGeom>
          <a:noFill/>
          <a:ln/>
        </p:spPr>
        <p:txBody>
          <a:bodyPr wrap="square" lIns="0" tIns="0" rIns="0" bIns="0" rtlCol="0" anchor="t"/>
          <a:lstStyle/>
          <a:p>
            <a:pPr indent="0" marL="0">
              <a:buNone/>
            </a:pPr>
            <a:r>
              <a:rPr lang="en-US" sz="1300" b="1" dirty="0">
                <a:solidFill>
                  <a:srgbClr val="1C4E80"/>
                </a:solidFill>
                <a:latin typeface="Calibri" pitchFamily="34" charset="0"/>
                <a:ea typeface="Calibri" pitchFamily="34" charset="-122"/>
                <a:cs typeface="Calibri" pitchFamily="34" charset="-120"/>
              </a:rPr>
              <a:t>I  Study area and data</a:t>
            </a:r>
            <a:endParaRPr lang="en-US" sz="1300" dirty="0"/>
          </a:p>
        </p:txBody>
      </p:sp>
      <p:sp>
        <p:nvSpPr>
          <p:cNvPr id="6" name="Text 4"/>
          <p:cNvSpPr txBox="1"/>
          <p:nvPr/>
        </p:nvSpPr>
        <p:spPr>
          <a:xfrm>
            <a:off x="8503920" y="24688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II  What prior research tells us</a:t>
            </a:r>
            <a:endParaRPr lang="en-US" sz="1300" dirty="0"/>
          </a:p>
        </p:txBody>
      </p:sp>
      <p:sp>
        <p:nvSpPr>
          <p:cNvPr id="7" name="Text 5"/>
          <p:cNvSpPr txBox="1"/>
          <p:nvPr/>
        </p:nvSpPr>
        <p:spPr>
          <a:xfrm>
            <a:off x="8503920" y="29260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III  Framework and next steps</a:t>
            </a:r>
            <a:endParaRPr lang="en-US" sz="1300" dirty="0"/>
          </a:p>
        </p:txBody>
      </p:sp>
      <p:sp>
        <p:nvSpPr>
          <p:cNvPr id="8" name="Text 6"/>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 / 39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STUDY AREA</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Xinhuang: a mountainous border county served by seven radial routes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4 / 39</a:t>
            </a:r>
            <a:endParaRPr lang="en-US" sz="850" dirty="0"/>
          </a:p>
        </p:txBody>
      </p:sp>
      <p:pic>
        <p:nvPicPr>
          <p:cNvPr id="6" name="Image 0" descr="Study-area map of Xinhuang County with seven bus routes">    </p:cNvPr>
          <p:cNvPicPr>
            <a:picLocks noChangeAspect="1"/>
          </p:cNvPicPr>
          <p:nvPr/>
        </p:nvPicPr>
        <p:blipFill>
          <a:blip r:embed="rId1"/>
          <a:stretch>
            <a:fillRect/>
          </a:stretch>
        </p:blipFill>
        <p:spPr>
          <a:xfrm>
            <a:off x="457200" y="1188720"/>
            <a:ext cx="6570380" cy="5230368"/>
          </a:xfrm>
          <a:prstGeom prst="rect">
            <a:avLst/>
          </a:prstGeom>
        </p:spPr>
      </p:pic>
      <p:sp>
        <p:nvSpPr>
          <p:cNvPr id="7" name="Text 4"/>
          <p:cNvSpPr txBox="1"/>
          <p:nvPr/>
        </p:nvSpPr>
        <p:spPr>
          <a:xfrm>
            <a:off x="7543800" y="1325880"/>
            <a:ext cx="4114800" cy="384048"/>
          </a:xfrm>
          <a:prstGeom prst="rect">
            <a:avLst/>
          </a:prstGeom>
          <a:noFill/>
          <a:ln/>
        </p:spPr>
        <p:txBody>
          <a:bodyPr wrap="square" lIns="0" tIns="0" rIns="0" bIns="0" rtlCol="0" anchor="t"/>
          <a:lstStyle/>
          <a:p>
            <a:pPr indent="0" marL="0">
              <a:buNone/>
            </a:pPr>
            <a:r>
              <a:rPr lang="en-US" sz="2100" dirty="0">
                <a:solidFill>
                  <a:srgbClr val="1C4E80"/>
                </a:solidFill>
                <a:latin typeface="Cambria" pitchFamily="34" charset="0"/>
                <a:ea typeface="Cambria" pitchFamily="34" charset="-122"/>
                <a:cs typeface="Cambria" pitchFamily="34" charset="-120"/>
              </a:rPr>
              <a:t>≈1,500 km²</a:t>
            </a:r>
            <a:endParaRPr lang="en-US" sz="2100" dirty="0"/>
          </a:p>
        </p:txBody>
      </p:sp>
      <p:sp>
        <p:nvSpPr>
          <p:cNvPr id="8" name="Text 5"/>
          <p:cNvSpPr txBox="1"/>
          <p:nvPr/>
        </p:nvSpPr>
        <p:spPr>
          <a:xfrm>
            <a:off x="7543800" y="1709928"/>
            <a:ext cx="4114800" cy="4572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Xinhuang Dong Autonomous County, western Hunan, bordering Guizhou</a:t>
            </a:r>
            <a:endParaRPr lang="en-US" sz="1200" dirty="0"/>
          </a:p>
        </p:txBody>
      </p:sp>
      <p:sp>
        <p:nvSpPr>
          <p:cNvPr id="9" name="Text 6"/>
          <p:cNvSpPr txBox="1"/>
          <p:nvPr/>
        </p:nvSpPr>
        <p:spPr>
          <a:xfrm>
            <a:off x="7543800" y="2258568"/>
            <a:ext cx="4114800" cy="384048"/>
          </a:xfrm>
          <a:prstGeom prst="rect">
            <a:avLst/>
          </a:prstGeom>
          <a:noFill/>
          <a:ln/>
        </p:spPr>
        <p:txBody>
          <a:bodyPr wrap="square" lIns="0" tIns="0" rIns="0" bIns="0" rtlCol="0" anchor="t"/>
          <a:lstStyle/>
          <a:p>
            <a:pPr indent="0" marL="0">
              <a:buNone/>
            </a:pPr>
            <a:r>
              <a:rPr lang="en-US" sz="2100" dirty="0">
                <a:solidFill>
                  <a:srgbClr val="1C4E80"/>
                </a:solidFill>
                <a:latin typeface="Cambria" pitchFamily="34" charset="0"/>
                <a:ea typeface="Cambria" pitchFamily="34" charset="-122"/>
                <a:cs typeface="Cambria" pitchFamily="34" charset="-120"/>
              </a:rPr>
              <a:t>11 + 1</a:t>
            </a:r>
            <a:endParaRPr lang="en-US" sz="2100" dirty="0"/>
          </a:p>
        </p:txBody>
      </p:sp>
      <p:sp>
        <p:nvSpPr>
          <p:cNvPr id="10" name="Text 7"/>
          <p:cNvSpPr txBox="1"/>
          <p:nvPr/>
        </p:nvSpPr>
        <p:spPr>
          <a:xfrm>
            <a:off x="7543800" y="2642616"/>
            <a:ext cx="4114800" cy="4572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townships plus one forest farm; 145 administrative villages</a:t>
            </a:r>
            <a:endParaRPr lang="en-US" sz="1200" dirty="0"/>
          </a:p>
        </p:txBody>
      </p:sp>
      <p:sp>
        <p:nvSpPr>
          <p:cNvPr id="11" name="Text 8"/>
          <p:cNvSpPr txBox="1"/>
          <p:nvPr/>
        </p:nvSpPr>
        <p:spPr>
          <a:xfrm>
            <a:off x="7543800" y="3191256"/>
            <a:ext cx="4114800" cy="384048"/>
          </a:xfrm>
          <a:prstGeom prst="rect">
            <a:avLst/>
          </a:prstGeom>
          <a:noFill/>
          <a:ln/>
        </p:spPr>
        <p:txBody>
          <a:bodyPr wrap="square" lIns="0" tIns="0" rIns="0" bIns="0" rtlCol="0" anchor="t"/>
          <a:lstStyle/>
          <a:p>
            <a:pPr indent="0" marL="0">
              <a:buNone/>
            </a:pPr>
            <a:r>
              <a:rPr lang="en-US" sz="2100" dirty="0">
                <a:solidFill>
                  <a:srgbClr val="1C4E80"/>
                </a:solidFill>
                <a:latin typeface="Cambria" pitchFamily="34" charset="0"/>
                <a:ea typeface="Cambria" pitchFamily="34" charset="-122"/>
                <a:cs typeface="Cambria" pitchFamily="34" charset="-120"/>
              </a:rPr>
              <a:t>≈244,700</a:t>
            </a:r>
            <a:endParaRPr lang="en-US" sz="2100" dirty="0"/>
          </a:p>
        </p:txBody>
      </p:sp>
      <p:sp>
        <p:nvSpPr>
          <p:cNvPr id="12" name="Text 9"/>
          <p:cNvSpPr txBox="1"/>
          <p:nvPr/>
        </p:nvSpPr>
        <p:spPr>
          <a:xfrm>
            <a:off x="7543800" y="3575304"/>
            <a:ext cx="4114800" cy="4572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residents (WorldPop 2020 model estimate — not a census count)</a:t>
            </a:r>
            <a:endParaRPr lang="en-US" sz="1200" dirty="0"/>
          </a:p>
        </p:txBody>
      </p:sp>
      <p:sp>
        <p:nvSpPr>
          <p:cNvPr id="13" name="Text 10"/>
          <p:cNvSpPr txBox="1"/>
          <p:nvPr/>
        </p:nvSpPr>
        <p:spPr>
          <a:xfrm>
            <a:off x="7543800" y="4123944"/>
            <a:ext cx="4114800" cy="384048"/>
          </a:xfrm>
          <a:prstGeom prst="rect">
            <a:avLst/>
          </a:prstGeom>
          <a:noFill/>
          <a:ln/>
        </p:spPr>
        <p:txBody>
          <a:bodyPr wrap="square" lIns="0" tIns="0" rIns="0" bIns="0" rtlCol="0" anchor="t"/>
          <a:lstStyle/>
          <a:p>
            <a:pPr indent="0" marL="0">
              <a:buNone/>
            </a:pPr>
            <a:r>
              <a:rPr lang="en-US" sz="2100" dirty="0">
                <a:solidFill>
                  <a:srgbClr val="1C4E80"/>
                </a:solidFill>
                <a:latin typeface="Cambria" pitchFamily="34" charset="0"/>
                <a:ea typeface="Cambria" pitchFamily="34" charset="-122"/>
                <a:cs typeface="Cambria" pitchFamily="34" charset="-120"/>
              </a:rPr>
              <a:t>7 routes</a:t>
            </a:r>
            <a:endParaRPr lang="en-US" sz="2100" dirty="0"/>
          </a:p>
        </p:txBody>
      </p:sp>
      <p:sp>
        <p:nvSpPr>
          <p:cNvPr id="14" name="Text 11"/>
          <p:cNvSpPr txBox="1"/>
          <p:nvPr/>
        </p:nvSpPr>
        <p:spPr>
          <a:xfrm>
            <a:off x="7543800" y="4507992"/>
            <a:ext cx="4114800" cy="4572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all radiating from the county bus station in Huangzhou, 26–61 km long</a:t>
            </a:r>
            <a:endParaRPr lang="en-US" sz="1200" dirty="0"/>
          </a:p>
        </p:txBody>
      </p:sp>
      <p:sp>
        <p:nvSpPr>
          <p:cNvPr id="15" name="Text 12"/>
          <p:cNvSpPr txBox="1"/>
          <p:nvPr/>
        </p:nvSpPr>
        <p:spPr>
          <a:xfrm>
            <a:off x="7543800" y="5056632"/>
            <a:ext cx="4114800" cy="384048"/>
          </a:xfrm>
          <a:prstGeom prst="rect">
            <a:avLst/>
          </a:prstGeom>
          <a:noFill/>
          <a:ln/>
        </p:spPr>
        <p:txBody>
          <a:bodyPr wrap="square" lIns="0" tIns="0" rIns="0" bIns="0" rtlCol="0" anchor="t"/>
          <a:lstStyle/>
          <a:p>
            <a:pPr indent="0" marL="0">
              <a:buNone/>
            </a:pPr>
            <a:r>
              <a:rPr lang="en-US" sz="2100" dirty="0">
                <a:solidFill>
                  <a:srgbClr val="1C4E80"/>
                </a:solidFill>
                <a:latin typeface="Cambria" pitchFamily="34" charset="0"/>
                <a:ea typeface="Cambria" pitchFamily="34" charset="-122"/>
                <a:cs typeface="Cambria" pitchFamily="34" charset="-120"/>
              </a:rPr>
              <a:t>136 runs/day</a:t>
            </a:r>
            <a:endParaRPr lang="en-US" sz="2100" dirty="0"/>
          </a:p>
        </p:txBody>
      </p:sp>
      <p:sp>
        <p:nvSpPr>
          <p:cNvPr id="16" name="Text 13"/>
          <p:cNvSpPr txBox="1"/>
          <p:nvPr/>
        </p:nvSpPr>
        <p:spPr>
          <a:xfrm>
            <a:off x="7543800" y="5440680"/>
            <a:ext cx="4114800" cy="45720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one-way scheduled runs; hail-and-ride, no stop-level counts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CURRENT SERVICE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 fixed timetable that thins out quickly beyond the trunk corridor</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5 / 39</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6720840" cy="914400"/>
        </p:xfrm>
        <a:graphic>
          <a:graphicData uri="http://schemas.openxmlformats.org/drawingml/2006/table">
            <a:tbl>
              <a:tblPr/>
              <a:tblGrid>
                <a:gridCol w="566928"/>
                <a:gridCol w="1170432"/>
                <a:gridCol w="502920"/>
                <a:gridCol w="822960"/>
                <a:gridCol w="868680"/>
                <a:gridCol w="1417320"/>
                <a:gridCol w="13716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Terminus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km</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Drive min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Runs/day*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Outbound first–last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Inbound first–last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Fuluo</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7:00–17:00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7:00–17:00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Gongxi</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6:50–16:30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7:00–16:00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Butoujiang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8:00–16:00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C2410C"/>
                          </a:solidFill>
                          <a:latin typeface="Calibri" pitchFamily="34" charset="0"/>
                          <a:ea typeface="Calibri" pitchFamily="34" charset="-122"/>
                          <a:cs typeface="Calibri" pitchFamily="34" charset="-120"/>
                        </a:rPr>
                        <a:t>6:30–14:30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Mibei</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79</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7:00–16:00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C2410C"/>
                          </a:solidFill>
                          <a:latin typeface="Calibri" pitchFamily="34" charset="0"/>
                          <a:ea typeface="Calibri" pitchFamily="34" charset="-122"/>
                          <a:cs typeface="Calibri" pitchFamily="34" charset="-120"/>
                        </a:rPr>
                        <a:t>6:10–15:00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Liangsan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7:10–16:20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C2410C"/>
                          </a:solidFill>
                          <a:latin typeface="Calibri" pitchFamily="34" charset="0"/>
                          <a:ea typeface="Calibri" pitchFamily="34" charset="-122"/>
                          <a:cs typeface="Calibri" pitchFamily="34" charset="-120"/>
                        </a:rPr>
                        <a:t>6:30–15:00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Yanjia</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10:30–15:30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C2410C"/>
                          </a:solidFill>
                          <a:latin typeface="Calibri" pitchFamily="34" charset="0"/>
                          <a:ea typeface="Calibri" pitchFamily="34" charset="-122"/>
                          <a:cs typeface="Calibri" pitchFamily="34" charset="-120"/>
                        </a:rPr>
                        <a:t>6:50–12:30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27432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Xindianping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6:40–16:30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7:00–17:00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bl>
          </a:graphicData>
        </a:graphic>
      </p:graphicFrame>
      <p:sp>
        <p:nvSpPr>
          <p:cNvPr id="7" name="Text 4"/>
          <p:cNvSpPr txBox="1"/>
          <p:nvPr/>
        </p:nvSpPr>
        <p:spPr>
          <a:xfrm>
            <a:off x="548640" y="3584448"/>
            <a:ext cx="6720840" cy="274320"/>
          </a:xfrm>
          <a:prstGeom prst="rect">
            <a:avLst/>
          </a:prstGeom>
          <a:noFill/>
          <a:ln/>
        </p:spPr>
        <p:txBody>
          <a:bodyPr wrap="square" lIns="0" tIns="0" rIns="0" bIns="0" rtlCol="0" anchor="t"/>
          <a:lstStyle/>
          <a:p>
            <a:pPr indent="0" marL="0">
              <a:buNone/>
            </a:pPr>
            <a:r>
              <a:rPr lang="en-US" sz="900" dirty="0">
                <a:solidFill>
                  <a:srgbClr val="8B95A1"/>
                </a:solidFill>
                <a:latin typeface="Calibri" pitchFamily="34" charset="0"/>
                <a:ea typeface="Calibri" pitchFamily="34" charset="-122"/>
                <a:cs typeface="Calibri" pitchFamily="34" charset="-120"/>
              </a:rPr>
              <a:t>* one-way runs per day in each direction. km and drive time from Gaode Maps; timetable from the operator's route document.</a:t>
            </a:r>
            <a:endParaRPr lang="en-US" sz="900" dirty="0"/>
          </a:p>
        </p:txBody>
      </p:sp>
      <p:sp>
        <p:nvSpPr>
          <p:cNvPr id="8" name="Text 5"/>
          <p:cNvSpPr txBox="1"/>
          <p:nvPr/>
        </p:nvSpPr>
        <p:spPr>
          <a:xfrm>
            <a:off x="548640" y="3977640"/>
            <a:ext cx="672084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WHAT THE TIMETABLE ALREADY SHOWS (TO BE VERIFIED IN SURVEYS)</a:t>
            </a:r>
            <a:endParaRPr lang="en-US" sz="1000" dirty="0"/>
          </a:p>
        </p:txBody>
      </p:sp>
      <p:sp>
        <p:nvSpPr>
          <p:cNvPr id="9" name="Text 6"/>
          <p:cNvSpPr txBox="1"/>
          <p:nvPr/>
        </p:nvSpPr>
        <p:spPr>
          <a:xfrm>
            <a:off x="548640" y="4251960"/>
            <a:ext cx="6720840" cy="2057400"/>
          </a:xfrm>
          <a:prstGeom prst="rect">
            <a:avLst/>
          </a:prstGeom>
          <a:noFill/>
          <a:ln/>
        </p:spPr>
        <p:txBody>
          <a:bodyPr wrap="square" lIns="0" tIns="0" rIns="0" bIns="0" rtlCol="0" anchor="t"/>
          <a:lstStyle/>
          <a:p>
            <a:pPr marL="165100" indent="-165100">
              <a:spcAft>
                <a:spcPts val="400"/>
              </a:spcAft>
              <a:buSzPct val="100000"/>
              <a:buChar char="•"/>
            </a:pPr>
            <a:r>
              <a:rPr lang="en-US" sz="1200" b="1" dirty="0">
                <a:solidFill>
                  <a:srgbClr val="1F2937"/>
                </a:solidFill>
                <a:latin typeface="Calibri" pitchFamily="34" charset="0"/>
                <a:ea typeface="Calibri" pitchFamily="34" charset="-122"/>
                <a:cs typeface="Calibri" pitchFamily="34" charset="-120"/>
              </a:rPr>
              <a:t>Supply is concentrated: </a:t>
            </a:r>
            <a:r>
              <a:rPr lang="en-US" sz="1200" dirty="0">
                <a:solidFill>
                  <a:srgbClr val="1F2937"/>
                </a:solidFill>
                <a:latin typeface="Calibri" pitchFamily="34" charset="0"/>
                <a:ea typeface="Calibri" pitchFamily="34" charset="-122"/>
                <a:cs typeface="Calibri" pitchFamily="34" charset="-120"/>
              </a:rPr>
              <a:t>the 17-km Huangzhou–Hetan trunk carries 41 runs/day (R1–R4 overlap); branch ends see 2–10.</a:t>
            </a:r>
            <a:endParaRPr lang="en-US" sz="1200" dirty="0"/>
          </a:p>
          <a:p>
            <a:pPr marL="165100" indent="-165100">
              <a:spcAft>
                <a:spcPts val="400"/>
              </a:spcAft>
              <a:buSzPct val="100000"/>
              <a:buChar char="•"/>
            </a:pPr>
            <a:r>
              <a:rPr lang="en-US" sz="1200" b="1" dirty="0">
                <a:solidFill>
                  <a:srgbClr val="1F2937"/>
                </a:solidFill>
                <a:latin typeface="Calibri" pitchFamily="34" charset="0"/>
                <a:ea typeface="Calibri" pitchFamily="34" charset="-122"/>
                <a:cs typeface="Calibri" pitchFamily="34" charset="-120"/>
              </a:rPr>
              <a:t>Early last buses into town: </a:t>
            </a:r>
            <a:r>
              <a:rPr lang="en-US" sz="1200" dirty="0">
                <a:solidFill>
                  <a:srgbClr val="1F2937"/>
                </a:solidFill>
                <a:latin typeface="Calibri" pitchFamily="34" charset="0"/>
                <a:ea typeface="Calibri" pitchFamily="34" charset="-122"/>
                <a:cs typeface="Calibri" pitchFamily="34" charset="-120"/>
              </a:rPr>
              <a:t>on 4 of 7 routes the last inbound run leaves by 15:00 (R6 by 12:30), so an afternoon trip to the county town is impossible.</a:t>
            </a:r>
            <a:endParaRPr lang="en-US" sz="1200" dirty="0"/>
          </a:p>
          <a:p>
            <a:pPr marL="165100" indent="-165100">
              <a:spcAft>
                <a:spcPts val="400"/>
              </a:spcAft>
              <a:buSzPct val="100000"/>
              <a:buChar char="•"/>
            </a:pPr>
            <a:r>
              <a:rPr lang="en-US" sz="1200" b="1" dirty="0">
                <a:solidFill>
                  <a:srgbClr val="1F2937"/>
                </a:solidFill>
                <a:latin typeface="Calibri" pitchFamily="34" charset="0"/>
                <a:ea typeface="Calibri" pitchFamily="34" charset="-122"/>
                <a:cs typeface="Calibri" pitchFamily="34" charset="-120"/>
              </a:rPr>
              <a:t>Same-day round trips are constrained </a:t>
            </a:r>
            <a:r>
              <a:rPr lang="en-US" sz="1200" dirty="0">
                <a:solidFill>
                  <a:srgbClr val="1F2937"/>
                </a:solidFill>
                <a:latin typeface="Calibri" pitchFamily="34" charset="0"/>
                <a:ea typeface="Calibri" pitchFamily="34" charset="-122"/>
                <a:cs typeface="Calibri" pitchFamily="34" charset="-120"/>
              </a:rPr>
              <a:t>by outbound last runs at 15:30–17:00.</a:t>
            </a:r>
            <a:endParaRPr lang="en-US" sz="1200" dirty="0"/>
          </a:p>
          <a:p>
            <a:pPr marL="165100" indent="-165100">
              <a:spcAft>
                <a:spcPts val="400"/>
              </a:spcAft>
              <a:buSzPct val="100000"/>
              <a:buChar char="•"/>
            </a:pPr>
            <a:r>
              <a:rPr lang="en-US" sz="1200" b="1" dirty="0">
                <a:solidFill>
                  <a:srgbClr val="1F2937"/>
                </a:solidFill>
                <a:latin typeface="Calibri" pitchFamily="34" charset="0"/>
                <a:ea typeface="Calibri" pitchFamily="34" charset="-122"/>
                <a:cs typeface="Calibri" pitchFamily="34" charset="-120"/>
              </a:rPr>
              <a:t>Data grain: </a:t>
            </a:r>
            <a:r>
              <a:rPr lang="en-US" sz="1200" dirty="0">
                <a:solidFill>
                  <a:srgbClr val="1F2937"/>
                </a:solidFill>
                <a:latin typeface="Calibri" pitchFamily="34" charset="0"/>
                <a:ea typeface="Calibri" pitchFamily="34" charset="-122"/>
                <a:cs typeface="Calibri" pitchFamily="34" charset="-120"/>
              </a:rPr>
              <a:t>the ledger records total boardings per one-way run — no stop-level boardings, no origin–destination.</a:t>
            </a:r>
            <a:endParaRPr lang="en-US" sz="1200" dirty="0"/>
          </a:p>
        </p:txBody>
      </p:sp>
      <p:pic>
        <p:nvPicPr>
          <p:cNvPr id="10" name="Image 0" descr="Scheduled one-way runs per road segment">    </p:cNvPr>
          <p:cNvPicPr>
            <a:picLocks noChangeAspect="1"/>
          </p:cNvPicPr>
          <p:nvPr/>
        </p:nvPicPr>
        <p:blipFill>
          <a:blip r:embed="rId1"/>
          <a:stretch>
            <a:fillRect/>
          </a:stretch>
        </p:blipFill>
        <p:spPr>
          <a:xfrm>
            <a:off x="7498080" y="1298448"/>
            <a:ext cx="4160520" cy="3417570"/>
          </a:xfrm>
          <a:prstGeom prst="rect">
            <a:avLst/>
          </a:prstGeom>
        </p:spPr>
      </p:pic>
      <p:sp>
        <p:nvSpPr>
          <p:cNvPr id="11" name="Text 7"/>
          <p:cNvSpPr txBox="1"/>
          <p:nvPr/>
        </p:nvSpPr>
        <p:spPr>
          <a:xfrm>
            <a:off x="7498080" y="4825746"/>
            <a:ext cx="4160520" cy="548640"/>
          </a:xfrm>
          <a:prstGeom prst="rect">
            <a:avLst/>
          </a:prstGeom>
          <a:noFill/>
          <a:ln/>
        </p:spPr>
        <p:txBody>
          <a:bodyPr wrap="square" lIns="0" tIns="0" rIns="0" bIns="0" rtlCol="0" anchor="t"/>
          <a:lstStyle/>
          <a:p>
            <a:pPr indent="0" marL="0">
              <a:buNone/>
            </a:pPr>
            <a:r>
              <a:rPr lang="en-US" sz="1000" i="1" dirty="0">
                <a:solidFill>
                  <a:srgbClr val="8B95A1"/>
                </a:solidFill>
                <a:latin typeface="Calibri" pitchFamily="34" charset="0"/>
                <a:ea typeface="Calibri" pitchFamily="34" charset="-122"/>
                <a:cs typeface="Calibri" pitchFamily="34" charset="-120"/>
              </a:rPr>
              <a:t>Scheduled one-way runs per road segment. This is supply, not demand: who fills these runs, and when, is what the ledger and surveys must reveal.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SPATIAL CONTEXT</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Terrain and periodic markets shape when and how villagers travel</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6 / 39</a:t>
            </a:r>
            <a:endParaRPr lang="en-US" sz="850" dirty="0"/>
          </a:p>
        </p:txBody>
      </p:sp>
      <p:pic>
        <p:nvPicPr>
          <p:cNvPr id="6" name="Image 0" descr="Periodic markets by lunar cycle">    </p:cNvPr>
          <p:cNvPicPr>
            <a:picLocks noChangeAspect="1"/>
          </p:cNvPicPr>
          <p:nvPr/>
        </p:nvPicPr>
        <p:blipFill>
          <a:blip r:embed="rId1"/>
          <a:stretch>
            <a:fillRect/>
          </a:stretch>
        </p:blipFill>
        <p:spPr>
          <a:xfrm>
            <a:off x="502920" y="1280650"/>
            <a:ext cx="5074920" cy="4168684"/>
          </a:xfrm>
          <a:prstGeom prst="rect">
            <a:avLst/>
          </a:prstGeom>
        </p:spPr>
      </p:pic>
      <p:sp>
        <p:nvSpPr>
          <p:cNvPr id="7" name="Text 4"/>
          <p:cNvSpPr txBox="1"/>
          <p:nvPr/>
        </p:nvSpPr>
        <p:spPr>
          <a:xfrm>
            <a:off x="548640" y="5532120"/>
            <a:ext cx="502920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17 MARKETS ON A 5-DAY LUNAR CYCLE</a:t>
            </a:r>
            <a:endParaRPr lang="en-US" sz="1000" dirty="0"/>
          </a:p>
        </p:txBody>
      </p:sp>
      <p:sp>
        <p:nvSpPr>
          <p:cNvPr id="8" name="Text 5"/>
          <p:cNvSpPr txBox="1"/>
          <p:nvPr/>
        </p:nvSpPr>
        <p:spPr>
          <a:xfrm>
            <a:off x="548640" y="5760720"/>
            <a:ext cx="5029200" cy="658368"/>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Neighbouring markets are staggered, so on every lunar day some route has a market within 2 km (R2: all ten day-digits; R7: four). Market days therefore enter the model as a route-specific baseline control, not as a core driver.</a:t>
            </a:r>
            <a:endParaRPr lang="en-US" sz="1050" dirty="0"/>
          </a:p>
        </p:txBody>
      </p:sp>
      <p:pic>
        <p:nvPicPr>
          <p:cNvPr id="9" name="Image 1" descr="Elevation profiles of the seven routes">    </p:cNvPr>
          <p:cNvPicPr>
            <a:picLocks noChangeAspect="1"/>
          </p:cNvPicPr>
          <p:nvPr/>
        </p:nvPicPr>
        <p:blipFill>
          <a:blip r:embed="rId2"/>
          <a:stretch>
            <a:fillRect/>
          </a:stretch>
        </p:blipFill>
        <p:spPr>
          <a:xfrm>
            <a:off x="5897880" y="1709471"/>
            <a:ext cx="3611880" cy="3539642"/>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646920" y="1298448"/>
          <a:ext cx="2011680" cy="914400"/>
        </p:xfrm>
        <a:graphic>
          <a:graphicData uri="http://schemas.openxmlformats.org/drawingml/2006/table">
            <a:tbl>
              <a:tblPr/>
              <a:tblGrid>
                <a:gridCol w="457200"/>
                <a:gridCol w="548640"/>
                <a:gridCol w="502920"/>
                <a:gridCol w="50292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Route</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Climb m</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Curvy %</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km/h</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R1</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419</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R2</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613</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46.6</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R3</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672</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b="1" dirty="0">
                          <a:solidFill>
                            <a:srgbClr val="C2410C"/>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37.3</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R4</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762</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b="1" dirty="0">
                          <a:solidFill>
                            <a:srgbClr val="C2410C"/>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38.0</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R5</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667</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38.5</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R6</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576</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b="1" dirty="0">
                          <a:solidFill>
                            <a:srgbClr val="C2410C"/>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34.5</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246888">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R7</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191</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950" dirty="0">
                          <a:solidFill>
                            <a:srgbClr val="1F2937"/>
                          </a:solidFill>
                          <a:latin typeface="Calibri" pitchFamily="34" charset="0"/>
                          <a:ea typeface="Calibri" pitchFamily="34" charset="-122"/>
                          <a:cs typeface="Calibri" pitchFamily="34" charset="-120"/>
                        </a:rPr>
                        <a:t>45.9</a:t>
                      </a:r>
                      <a:endParaRPr lang="en-US" sz="950" dirty="0">
                        <a:latin typeface="Calibri" charset="0"/>
                        <a:ea typeface="Calibri" charset="0"/>
                        <a:cs typeface="Calibri" charset="0"/>
                      </a:endParaRPr>
                    </a:p>
                  </a:txBody>
                  <a:tcPr marL="50800" marR="50800" marT="25400" marB="254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bl>
          </a:graphicData>
        </a:graphic>
      </p:graphicFrame>
      <p:sp>
        <p:nvSpPr>
          <p:cNvPr id="11" name="Text 6"/>
          <p:cNvSpPr txBox="1"/>
          <p:nvPr/>
        </p:nvSpPr>
        <p:spPr>
          <a:xfrm>
            <a:off x="9646920" y="3401568"/>
            <a:ext cx="2011680" cy="237744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Cumulative climb, share of km in tight-curve sections, and navigation speed (v4 route analysis). Curvy, climbing routes are where on-board fieldwork observed motion sickness — now recorded per run (item Z4).</a:t>
            </a:r>
            <a:endParaRPr lang="en-US" sz="950" dirty="0"/>
          </a:p>
        </p:txBody>
      </p:sp>
      <p:sp>
        <p:nvSpPr>
          <p:cNvPr id="12" name="Text 7"/>
          <p:cNvSpPr txBox="1"/>
          <p:nvPr/>
        </p:nvSpPr>
        <p:spPr>
          <a:xfrm>
            <a:off x="5897880" y="5760720"/>
            <a:ext cx="3611880" cy="411480"/>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Elevation along each route (Copernicus GLO-30 DEM, 200 m sampling)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ACCESS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Half of the modelled population lives &gt;3 km by road from a recorded route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7 / 39</a:t>
            </a:r>
            <a:endParaRPr lang="en-US" sz="850" dirty="0"/>
          </a:p>
        </p:txBody>
      </p:sp>
      <p:pic>
        <p:nvPicPr>
          <p:cNvPr id="6" name="Image 0" descr="Population density and access strata of 145 villages">    </p:cNvPr>
          <p:cNvPicPr>
            <a:picLocks noChangeAspect="1"/>
          </p:cNvPicPr>
          <p:nvPr/>
        </p:nvPicPr>
        <p:blipFill>
          <a:blip r:embed="rId1"/>
          <a:stretch>
            <a:fillRect/>
          </a:stretch>
        </p:blipFill>
        <p:spPr>
          <a:xfrm>
            <a:off x="457200" y="1269395"/>
            <a:ext cx="7635240" cy="3862011"/>
          </a:xfrm>
          <a:prstGeom prst="rect">
            <a:avLst/>
          </a:prstGeom>
        </p:spPr>
      </p:pic>
      <p:sp>
        <p:nvSpPr>
          <p:cNvPr id="7" name="Text 4"/>
          <p:cNvSpPr txBox="1"/>
          <p:nvPr/>
        </p:nvSpPr>
        <p:spPr>
          <a:xfrm>
            <a:off x="8001000" y="1371600"/>
            <a:ext cx="1188720" cy="502920"/>
          </a:xfrm>
          <a:prstGeom prst="rect">
            <a:avLst/>
          </a:prstGeom>
          <a:noFill/>
          <a:ln/>
        </p:spPr>
        <p:txBody>
          <a:bodyPr wrap="square" lIns="0" tIns="0" rIns="0" bIns="0" rtlCol="0" anchor="t"/>
          <a:lstStyle/>
          <a:p>
            <a:pPr indent="0" marL="0">
              <a:buNone/>
            </a:pPr>
            <a:r>
              <a:rPr lang="en-US" sz="2600" dirty="0">
                <a:solidFill>
                  <a:srgbClr val="1C4E80"/>
                </a:solidFill>
                <a:latin typeface="Cambria" pitchFamily="34" charset="0"/>
                <a:ea typeface="Cambria" pitchFamily="34" charset="-122"/>
                <a:cs typeface="Cambria" pitchFamily="34" charset="-120"/>
              </a:rPr>
              <a:t>13%</a:t>
            </a:r>
            <a:endParaRPr lang="en-US" sz="2600" dirty="0"/>
          </a:p>
        </p:txBody>
      </p:sp>
      <p:sp>
        <p:nvSpPr>
          <p:cNvPr id="8" name="Text 5"/>
          <p:cNvSpPr txBox="1"/>
          <p:nvPr/>
        </p:nvSpPr>
        <p:spPr>
          <a:xfrm>
            <a:off x="9189720" y="1389888"/>
            <a:ext cx="2514600" cy="548640"/>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Near (≤1 km)</a:t>
            </a:r>
            <a:endParaRPr lang="en-US" sz="1150" dirty="0"/>
          </a:p>
          <a:p>
            <a:pPr indent="0" marL="0">
              <a:buNone/>
            </a:pPr>
            <a:r>
              <a:rPr lang="en-US" sz="1150" dirty="0">
                <a:solidFill>
                  <a:srgbClr val="4B5563"/>
                </a:solidFill>
                <a:latin typeface="Calibri" pitchFamily="34" charset="0"/>
                <a:ea typeface="Calibri" pitchFamily="34" charset="-122"/>
                <a:cs typeface="Calibri" pitchFamily="34" charset="-120"/>
              </a:rPr>
              <a:t>19 villages · 31k people</a:t>
            </a:r>
            <a:endParaRPr lang="en-US" sz="1150" dirty="0"/>
          </a:p>
        </p:txBody>
      </p:sp>
      <p:sp>
        <p:nvSpPr>
          <p:cNvPr id="9" name="Text 6"/>
          <p:cNvSpPr txBox="1"/>
          <p:nvPr/>
        </p:nvSpPr>
        <p:spPr>
          <a:xfrm>
            <a:off x="8001000" y="2084832"/>
            <a:ext cx="1188720" cy="502920"/>
          </a:xfrm>
          <a:prstGeom prst="rect">
            <a:avLst/>
          </a:prstGeom>
          <a:noFill/>
          <a:ln/>
        </p:spPr>
        <p:txBody>
          <a:bodyPr wrap="square" lIns="0" tIns="0" rIns="0" bIns="0" rtlCol="0" anchor="t"/>
          <a:lstStyle/>
          <a:p>
            <a:pPr indent="0" marL="0">
              <a:buNone/>
            </a:pPr>
            <a:r>
              <a:rPr lang="en-US" sz="2600" dirty="0">
                <a:solidFill>
                  <a:srgbClr val="3987E5"/>
                </a:solidFill>
                <a:latin typeface="Cambria" pitchFamily="34" charset="0"/>
                <a:ea typeface="Cambria" pitchFamily="34" charset="-122"/>
                <a:cs typeface="Cambria" pitchFamily="34" charset="-120"/>
              </a:rPr>
              <a:t>37%</a:t>
            </a:r>
            <a:endParaRPr lang="en-US" sz="2600" dirty="0"/>
          </a:p>
        </p:txBody>
      </p:sp>
      <p:sp>
        <p:nvSpPr>
          <p:cNvPr id="10" name="Text 7"/>
          <p:cNvSpPr txBox="1"/>
          <p:nvPr/>
        </p:nvSpPr>
        <p:spPr>
          <a:xfrm>
            <a:off x="9189720" y="2103120"/>
            <a:ext cx="2514600" cy="548640"/>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Middle (1–3 km)</a:t>
            </a:r>
            <a:endParaRPr lang="en-US" sz="1150" dirty="0"/>
          </a:p>
          <a:p>
            <a:pPr indent="0" marL="0">
              <a:buNone/>
            </a:pPr>
            <a:r>
              <a:rPr lang="en-US" sz="1150" dirty="0">
                <a:solidFill>
                  <a:srgbClr val="4B5563"/>
                </a:solidFill>
                <a:latin typeface="Calibri" pitchFamily="34" charset="0"/>
                <a:ea typeface="Calibri" pitchFamily="34" charset="-122"/>
                <a:cs typeface="Calibri" pitchFamily="34" charset="-120"/>
              </a:rPr>
              <a:t>35 villages · 90k people</a:t>
            </a:r>
            <a:endParaRPr lang="en-US" sz="1150" dirty="0"/>
          </a:p>
        </p:txBody>
      </p:sp>
      <p:sp>
        <p:nvSpPr>
          <p:cNvPr id="11" name="Text 8"/>
          <p:cNvSpPr txBox="1"/>
          <p:nvPr/>
        </p:nvSpPr>
        <p:spPr>
          <a:xfrm>
            <a:off x="8001000" y="2798064"/>
            <a:ext cx="1188720" cy="502920"/>
          </a:xfrm>
          <a:prstGeom prst="rect">
            <a:avLst/>
          </a:prstGeom>
          <a:noFill/>
          <a:ln/>
        </p:spPr>
        <p:txBody>
          <a:bodyPr wrap="square" lIns="0" tIns="0" rIns="0" bIns="0" rtlCol="0" anchor="t"/>
          <a:lstStyle/>
          <a:p>
            <a:pPr indent="0" marL="0">
              <a:buNone/>
            </a:pPr>
            <a:r>
              <a:rPr lang="en-US" sz="2600" dirty="0">
                <a:solidFill>
                  <a:srgbClr val="4B5563"/>
                </a:solidFill>
                <a:latin typeface="Cambria" pitchFamily="34" charset="0"/>
                <a:ea typeface="Cambria" pitchFamily="34" charset="-122"/>
                <a:cs typeface="Cambria" pitchFamily="34" charset="-120"/>
              </a:rPr>
              <a:t>50%</a:t>
            </a:r>
            <a:endParaRPr lang="en-US" sz="2600" dirty="0"/>
          </a:p>
        </p:txBody>
      </p:sp>
      <p:sp>
        <p:nvSpPr>
          <p:cNvPr id="12" name="Text 9"/>
          <p:cNvSpPr txBox="1"/>
          <p:nvPr/>
        </p:nvSpPr>
        <p:spPr>
          <a:xfrm>
            <a:off x="9189720" y="2816352"/>
            <a:ext cx="2514600" cy="548640"/>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Far (&gt;3 km)</a:t>
            </a:r>
            <a:endParaRPr lang="en-US" sz="1150" dirty="0"/>
          </a:p>
          <a:p>
            <a:pPr indent="0" marL="0">
              <a:buNone/>
            </a:pPr>
            <a:r>
              <a:rPr lang="en-US" sz="1150" dirty="0">
                <a:solidFill>
                  <a:srgbClr val="4B5563"/>
                </a:solidFill>
                <a:latin typeface="Calibri" pitchFamily="34" charset="0"/>
                <a:ea typeface="Calibri" pitchFamily="34" charset="-122"/>
                <a:cs typeface="Calibri" pitchFamily="34" charset="-120"/>
              </a:rPr>
              <a:t>91 villages · 123k people</a:t>
            </a:r>
            <a:endParaRPr lang="en-US" sz="1150" dirty="0"/>
          </a:p>
        </p:txBody>
      </p:sp>
      <p:sp>
        <p:nvSpPr>
          <p:cNvPr id="13" name="Text 10"/>
          <p:cNvSpPr txBox="1"/>
          <p:nvPr/>
        </p:nvSpPr>
        <p:spPr>
          <a:xfrm>
            <a:off x="8001000" y="3611880"/>
            <a:ext cx="365760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CAVEATS BUILT INTO THE DESIGN</a:t>
            </a:r>
            <a:endParaRPr lang="en-US" sz="1000" dirty="0"/>
          </a:p>
        </p:txBody>
      </p:sp>
      <p:sp>
        <p:nvSpPr>
          <p:cNvPr id="14" name="Text 11"/>
          <p:cNvSpPr txBox="1"/>
          <p:nvPr/>
        </p:nvSpPr>
        <p:spPr>
          <a:xfrm>
            <a:off x="8001000" y="3886200"/>
            <a:ext cx="3657600" cy="2377440"/>
          </a:xfrm>
          <a:prstGeom prst="rect">
            <a:avLst/>
          </a:prstGeom>
          <a:noFill/>
          <a:ln/>
        </p:spPr>
        <p:txBody>
          <a:bodyPr wrap="square" lIns="0" tIns="0" rIns="0" bIns="0" rtlCol="0" anchor="t"/>
          <a:lstStyle/>
          <a:p>
            <a:pPr marL="165100" indent="-165100">
              <a:spcAft>
                <a:spcPts val="400"/>
              </a:spcAft>
              <a:buSzPct val="100000"/>
              <a:buChar char="•"/>
            </a:pPr>
            <a:r>
              <a:rPr lang="en-US" sz="1050" dirty="0">
                <a:solidFill>
                  <a:srgbClr val="4B5563"/>
                </a:solidFill>
                <a:latin typeface="Calibri" pitchFamily="34" charset="0"/>
                <a:ea typeface="Calibri" pitchFamily="34" charset="-122"/>
                <a:cs typeface="Calibri" pitchFamily="34" charset="-120"/>
              </a:rPr>
              <a:t>“Recorded routes” = alignments confirmed so far; the route list will be checked with the operator.</a:t>
            </a:r>
            <a:endParaRPr lang="en-US" sz="1050" dirty="0"/>
          </a:p>
          <a:p>
            <a:pPr marL="165100" indent="-165100">
              <a:spcAft>
                <a:spcPts val="400"/>
              </a:spcAft>
              <a:buSzPct val="100000"/>
              <a:buChar char="•"/>
            </a:pPr>
            <a:r>
              <a:rPr lang="en-US" sz="1050" dirty="0">
                <a:solidFill>
                  <a:srgbClr val="4B5563"/>
                </a:solidFill>
                <a:latin typeface="Calibri" pitchFamily="34" charset="0"/>
                <a:ea typeface="Calibri" pitchFamily="34" charset="-122"/>
                <a:cs typeface="Calibri" pitchFamily="34" charset="-120"/>
              </a:rPr>
              <a:t>Network distance includes a snap segment, so strata lean “far”: 88% of villages keep their stratum without it, 69% with straight-line distance.</a:t>
            </a:r>
            <a:endParaRPr lang="en-US" sz="1050" dirty="0"/>
          </a:p>
          <a:p>
            <a:pPr marL="165100" indent="-165100">
              <a:spcAft>
                <a:spcPts val="400"/>
              </a:spcAft>
              <a:buSzPct val="100000"/>
              <a:buChar char="•"/>
            </a:pPr>
            <a:r>
              <a:rPr lang="en-US" sz="1050" dirty="0">
                <a:solidFill>
                  <a:srgbClr val="4B5563"/>
                </a:solidFill>
                <a:latin typeface="Calibri" pitchFamily="34" charset="0"/>
                <a:ea typeface="Calibri" pitchFamily="34" charset="-122"/>
                <a:cs typeface="Calibri" pitchFamily="34" charset="-120"/>
              </a:rPr>
              <a:t>Sampling stays unbiased (known inclusion probabilities); access models will densify the road graph and report all three definitions.</a:t>
            </a:r>
            <a:endParaRPr lang="en-US" sz="1050" dirty="0"/>
          </a:p>
        </p:txBody>
      </p:sp>
      <p:sp>
        <p:nvSpPr>
          <p:cNvPr id="15" name="Text 12"/>
          <p:cNvSpPr txBox="1"/>
          <p:nvPr/>
        </p:nvSpPr>
        <p:spPr>
          <a:xfrm>
            <a:off x="548640" y="5303520"/>
            <a:ext cx="7223760" cy="411480"/>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Villages are the 2024 Hunan administrative-village polygons (145). Population: WorldPop 2020, 1 km, UN-adjusted, summed per village.</a:t>
            </a:r>
            <a:endParaRPr lang="en-US" sz="950" dirty="0"/>
          </a:p>
        </p:txBody>
      </p:sp>
      <p:sp>
        <p:nvSpPr>
          <p:cNvPr id="16" name="Shape 13"/>
          <p:cNvSpPr/>
          <p:nvPr/>
        </p:nvSpPr>
        <p:spPr>
          <a:xfrm>
            <a:off x="548640" y="5760720"/>
            <a:ext cx="7223760" cy="502920"/>
          </a:xfrm>
          <a:prstGeom prst="roundRect">
            <a:avLst>
              <a:gd name="adj" fmla="val 14545"/>
            </a:avLst>
          </a:prstGeom>
          <a:solidFill>
            <a:srgbClr val="E3ECF6"/>
          </a:solidFill>
          <a:ln w="12700">
            <a:solidFill>
              <a:srgbClr val="E3ECF6"/>
            </a:solidFill>
            <a:prstDash val="solid"/>
          </a:ln>
        </p:spPr>
      </p:sp>
      <p:sp>
        <p:nvSpPr>
          <p:cNvPr id="17" name="Text 14"/>
          <p:cNvSpPr txBox="1"/>
          <p:nvPr/>
        </p:nvSpPr>
        <p:spPr>
          <a:xfrm>
            <a:off x="640080" y="5806440"/>
            <a:ext cx="7040880" cy="41148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Implication: much rural demand never reaches the ledger. Unmet demand must be measured in villages, stratified by access.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DATA</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Data assembled so far — and what each source can and cannot tell us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8 / 39</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377440"/>
                <a:gridCol w="3703320"/>
                <a:gridCol w="3291840"/>
                <a:gridCol w="1719072"/>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Content and grain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Coverage / status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64008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Run-level ridership ledger (county bus station)</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Total boardings per one-way run: date × route × direction × departure. No stop-level or OD data.</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Exploration: 1 Jun 2024–30 Sep 2026 (852 days). Sealed test: Oct 2026–Feb 2027, released only after methods are frozen.</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Outcome for S2–S5</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Timetable and seat capacity</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7 routes, 136 one-way runs/day → 115,872 run slots on the real calendar</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Timetable in hand; per-run seat counts to be confirmed</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Sampling frame; censoring threshold</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Public calendar</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Holidays &amp; make-up workdays, lunar calendar, Spring Festival window, school terms, gaokao</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Daily, Jun 2024–Feb 2027; each date graded by source reliability</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Five calendar factors + controls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Weather</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Precipitation and max. temperature in each run's time window; forecasts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Public reanalysis / station data</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Control; forecast input</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GIS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145 village polygons (2024), WorldPop 2020, OSM roads &amp; facilities, GLO-30 DEM</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Assessed file by file; townships rebuilt from villages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Sampling frame, access, maps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84048">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Summer on-board survey</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Passengers aged ≥16 on sampled runs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Completed 15 Jul–31 Aug 2026</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RQ1; linked to runs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Survey instruments (next waves)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questionnaires from a 47-item bank in 13 indicator groups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Designed (v5); pre-test pending</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RQ1, RQ4, diagnostics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45720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Literature base</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250 English studies (incl. 25 method papers); 10 verified Chinese journal papers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Screened and depth-coded; CNKI search pending</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b="1" dirty="0">
                          <a:solidFill>
                            <a:srgbClr val="1C4E80"/>
                          </a:solidFill>
                          <a:latin typeface="Calibri" pitchFamily="34" charset="0"/>
                          <a:ea typeface="Calibri" pitchFamily="34" charset="-122"/>
                          <a:cs typeface="Calibri" pitchFamily="34" charset="-120"/>
                        </a:rPr>
                        <a:t>Part II</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742432"/>
            <a:ext cx="11094415" cy="530352"/>
          </a:xfrm>
          <a:prstGeom prst="roundRect">
            <a:avLst>
              <a:gd name="adj" fmla="val 13793"/>
            </a:avLst>
          </a:prstGeom>
          <a:solidFill>
            <a:srgbClr val="F3F5F8"/>
          </a:solidFill>
          <a:ln w="12700">
            <a:solidFill>
              <a:srgbClr val="F3F5F8"/>
            </a:solidFill>
            <a:prstDash val="solid"/>
          </a:ln>
        </p:spPr>
      </p:sp>
      <p:sp>
        <p:nvSpPr>
          <p:cNvPr id="8" name="Text 5"/>
          <p:cNvSpPr txBox="1"/>
          <p:nvPr/>
        </p:nvSpPr>
        <p:spPr>
          <a:xfrm>
            <a:off x="640080" y="5788152"/>
            <a:ext cx="10911535" cy="438912"/>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Deliberately excluded: industrial-park shift rosters, hospital clinic schedules and macro market cycles — they cannot be obtained reliably day by day. If they matter, their effect falls into weekday or residual terms (a stated limitation).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DATA STRUCTURE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Three keys link every source: run key, date, and village code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9 / 39</a:t>
            </a:r>
            <a:endParaRPr lang="en-US" sz="850" dirty="0"/>
          </a:p>
        </p:txBody>
      </p:sp>
      <p:sp>
        <p:nvSpPr>
          <p:cNvPr id="6" name="Shape 4"/>
          <p:cNvSpPr/>
          <p:nvPr/>
        </p:nvSpPr>
        <p:spPr>
          <a:xfrm>
            <a:off x="4160520" y="1417320"/>
            <a:ext cx="3840480" cy="868680"/>
          </a:xfrm>
          <a:prstGeom prst="roundRect">
            <a:avLst>
              <a:gd name="adj" fmla="val 8421"/>
            </a:avLst>
          </a:prstGeom>
          <a:solidFill>
            <a:srgbClr val="1C4E80"/>
          </a:solidFill>
          <a:ln w="12700">
            <a:solidFill>
              <a:srgbClr val="1C4E80"/>
            </a:solidFill>
            <a:prstDash val="solid"/>
          </a:ln>
        </p:spPr>
      </p:sp>
      <p:sp>
        <p:nvSpPr>
          <p:cNvPr id="7" name="Text 5"/>
          <p:cNvSpPr txBox="1"/>
          <p:nvPr/>
        </p:nvSpPr>
        <p:spPr>
          <a:xfrm>
            <a:off x="4270248" y="1508760"/>
            <a:ext cx="3621024"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 KEY</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date × route × direction × scheduled departure</a:t>
            </a:r>
            <a:endParaRPr lang="en-US" sz="1300" dirty="0"/>
          </a:p>
        </p:txBody>
      </p:sp>
      <p:sp>
        <p:nvSpPr>
          <p:cNvPr id="8" name="Shape 6"/>
          <p:cNvSpPr/>
          <p:nvPr/>
        </p:nvSpPr>
        <p:spPr>
          <a:xfrm>
            <a:off x="4160520" y="3291840"/>
            <a:ext cx="3840480" cy="868680"/>
          </a:xfrm>
          <a:prstGeom prst="roundRect">
            <a:avLst>
              <a:gd name="adj" fmla="val 8421"/>
            </a:avLst>
          </a:prstGeom>
          <a:solidFill>
            <a:srgbClr val="3B6E9A"/>
          </a:solidFill>
          <a:ln w="12700">
            <a:solidFill>
              <a:srgbClr val="3B6E9A"/>
            </a:solidFill>
            <a:prstDash val="solid"/>
          </a:ln>
        </p:spPr>
      </p:sp>
      <p:sp>
        <p:nvSpPr>
          <p:cNvPr id="9" name="Text 7"/>
          <p:cNvSpPr txBox="1"/>
          <p:nvPr/>
        </p:nvSpPr>
        <p:spPr>
          <a:xfrm>
            <a:off x="4270248" y="3383280"/>
            <a:ext cx="3621024"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DATE</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one row per calendar day</a:t>
            </a:r>
            <a:endParaRPr lang="en-US" sz="1300" dirty="0"/>
          </a:p>
        </p:txBody>
      </p:sp>
      <p:sp>
        <p:nvSpPr>
          <p:cNvPr id="10" name="Shape 8"/>
          <p:cNvSpPr/>
          <p:nvPr/>
        </p:nvSpPr>
        <p:spPr>
          <a:xfrm>
            <a:off x="4160520" y="5074920"/>
            <a:ext cx="3840480" cy="868680"/>
          </a:xfrm>
          <a:prstGeom prst="roundRect">
            <a:avLst>
              <a:gd name="adj" fmla="val 8421"/>
            </a:avLst>
          </a:prstGeom>
          <a:solidFill>
            <a:srgbClr val="C2410C"/>
          </a:solidFill>
          <a:ln w="12700">
            <a:solidFill>
              <a:srgbClr val="C2410C"/>
            </a:solidFill>
            <a:prstDash val="solid"/>
          </a:ln>
        </p:spPr>
      </p:sp>
      <p:sp>
        <p:nvSpPr>
          <p:cNvPr id="11" name="Text 9"/>
          <p:cNvSpPr txBox="1"/>
          <p:nvPr/>
        </p:nvSpPr>
        <p:spPr>
          <a:xfrm>
            <a:off x="4270248" y="5166360"/>
            <a:ext cx="3621024"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VILLAGE CODE</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statistical division code of 145 villages</a:t>
            </a:r>
            <a:endParaRPr lang="en-US" sz="1300" dirty="0"/>
          </a:p>
        </p:txBody>
      </p:sp>
      <p:sp>
        <p:nvSpPr>
          <p:cNvPr id="12" name="Shape 10"/>
          <p:cNvSpPr/>
          <p:nvPr/>
        </p:nvSpPr>
        <p:spPr>
          <a:xfrm>
            <a:off x="548640" y="1188720"/>
            <a:ext cx="3246120" cy="713232"/>
          </a:xfrm>
          <a:prstGeom prst="roundRect">
            <a:avLst>
              <a:gd name="adj" fmla="val 10256"/>
            </a:avLst>
          </a:prstGeom>
          <a:solidFill>
            <a:srgbClr val="F3F5F8"/>
          </a:solidFill>
          <a:ln w="12700">
            <a:solidFill>
              <a:srgbClr val="F3F5F8"/>
            </a:solidFill>
            <a:prstDash val="solid"/>
          </a:ln>
        </p:spPr>
      </p:sp>
      <p:sp>
        <p:nvSpPr>
          <p:cNvPr id="13" name="Text 11"/>
          <p:cNvSpPr txBox="1"/>
          <p:nvPr/>
        </p:nvSpPr>
        <p:spPr>
          <a:xfrm>
            <a:off x="640080" y="123444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Ridership ledger</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one row = one one-way run (y = total boardings)</a:t>
            </a:r>
            <a:endParaRPr lang="en-US" sz="1100" dirty="0"/>
          </a:p>
        </p:txBody>
      </p:sp>
      <p:sp>
        <p:nvSpPr>
          <p:cNvPr id="14" name="Shape 12"/>
          <p:cNvSpPr/>
          <p:nvPr/>
        </p:nvSpPr>
        <p:spPr>
          <a:xfrm>
            <a:off x="548640" y="2011680"/>
            <a:ext cx="3246120" cy="713232"/>
          </a:xfrm>
          <a:prstGeom prst="roundRect">
            <a:avLst>
              <a:gd name="adj" fmla="val 10256"/>
            </a:avLst>
          </a:prstGeom>
          <a:solidFill>
            <a:srgbClr val="F3F5F8"/>
          </a:solidFill>
          <a:ln w="12700">
            <a:solidFill>
              <a:srgbClr val="F3F5F8"/>
            </a:solidFill>
            <a:prstDash val="solid"/>
          </a:ln>
        </p:spPr>
      </p:sp>
      <p:sp>
        <p:nvSpPr>
          <p:cNvPr id="15" name="Text 13"/>
          <p:cNvSpPr txBox="1"/>
          <p:nvPr/>
        </p:nvSpPr>
        <p:spPr>
          <a:xfrm>
            <a:off x="640080" y="20574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Timetable &amp; seat capacity</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run slots; effective capacity C = κ × seats</a:t>
            </a:r>
            <a:endParaRPr lang="en-US" sz="1100" dirty="0"/>
          </a:p>
        </p:txBody>
      </p:sp>
      <p:sp>
        <p:nvSpPr>
          <p:cNvPr id="16" name="Shape 14"/>
          <p:cNvSpPr/>
          <p:nvPr/>
        </p:nvSpPr>
        <p:spPr>
          <a:xfrm>
            <a:off x="8394192" y="1188720"/>
            <a:ext cx="3246120" cy="713232"/>
          </a:xfrm>
          <a:prstGeom prst="roundRect">
            <a:avLst>
              <a:gd name="adj" fmla="val 10256"/>
            </a:avLst>
          </a:prstGeom>
          <a:solidFill>
            <a:srgbClr val="F3F5F8"/>
          </a:solidFill>
          <a:ln w="12700">
            <a:solidFill>
              <a:srgbClr val="F3F5F8"/>
            </a:solidFill>
            <a:prstDash val="solid"/>
          </a:ln>
        </p:spPr>
      </p:sp>
      <p:sp>
        <p:nvSpPr>
          <p:cNvPr id="17" name="Text 15"/>
          <p:cNvSpPr txBox="1"/>
          <p:nvPr/>
        </p:nvSpPr>
        <p:spPr>
          <a:xfrm>
            <a:off x="8485632" y="123444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On-board questionnaires</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item Z1 records the run key; rider type (A3)</a:t>
            </a:r>
            <a:endParaRPr lang="en-US" sz="1100" dirty="0"/>
          </a:p>
        </p:txBody>
      </p:sp>
      <p:sp>
        <p:nvSpPr>
          <p:cNvPr id="18" name="Shape 16"/>
          <p:cNvSpPr/>
          <p:nvPr/>
        </p:nvSpPr>
        <p:spPr>
          <a:xfrm>
            <a:off x="8394192" y="2011680"/>
            <a:ext cx="3246120" cy="713232"/>
          </a:xfrm>
          <a:prstGeom prst="roundRect">
            <a:avLst>
              <a:gd name="adj" fmla="val 10256"/>
            </a:avLst>
          </a:prstGeom>
          <a:solidFill>
            <a:srgbClr val="F3F5F8"/>
          </a:solidFill>
          <a:ln w="12700">
            <a:solidFill>
              <a:srgbClr val="F3F5F8"/>
            </a:solidFill>
            <a:prstDash val="solid"/>
          </a:ln>
        </p:spPr>
      </p:sp>
      <p:sp>
        <p:nvSpPr>
          <p:cNvPr id="19" name="Text 17"/>
          <p:cNvSpPr txBox="1"/>
          <p:nvPr/>
        </p:nvSpPr>
        <p:spPr>
          <a:xfrm>
            <a:off x="8485632" y="20574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Boarding/alighting tally sheet</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turnover κ, full-bus denials, under-16 counts</a:t>
            </a:r>
            <a:endParaRPr lang="en-US" sz="1100" dirty="0"/>
          </a:p>
        </p:txBody>
      </p:sp>
      <p:sp>
        <p:nvSpPr>
          <p:cNvPr id="20" name="Shape 18"/>
          <p:cNvSpPr/>
          <p:nvPr/>
        </p:nvSpPr>
        <p:spPr>
          <a:xfrm>
            <a:off x="548640" y="3383280"/>
            <a:ext cx="3246120" cy="713232"/>
          </a:xfrm>
          <a:prstGeom prst="roundRect">
            <a:avLst>
              <a:gd name="adj" fmla="val 10256"/>
            </a:avLst>
          </a:prstGeom>
          <a:solidFill>
            <a:srgbClr val="F3F5F8"/>
          </a:solidFill>
          <a:ln w="12700">
            <a:solidFill>
              <a:srgbClr val="F3F5F8"/>
            </a:solidFill>
            <a:prstDash val="solid"/>
          </a:ln>
        </p:spPr>
      </p:sp>
      <p:sp>
        <p:nvSpPr>
          <p:cNvPr id="21" name="Text 19"/>
          <p:cNvSpPr txBox="1"/>
          <p:nvPr/>
        </p:nvSpPr>
        <p:spPr>
          <a:xfrm>
            <a:off x="640080" y="34290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Calendar factors</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S, W, T, R, CY + weekday, market day</a:t>
            </a:r>
            <a:endParaRPr lang="en-US" sz="1100" dirty="0"/>
          </a:p>
        </p:txBody>
      </p:sp>
      <p:sp>
        <p:nvSpPr>
          <p:cNvPr id="22" name="Shape 20"/>
          <p:cNvSpPr/>
          <p:nvPr/>
        </p:nvSpPr>
        <p:spPr>
          <a:xfrm>
            <a:off x="8394192" y="3383280"/>
            <a:ext cx="3246120" cy="713232"/>
          </a:xfrm>
          <a:prstGeom prst="roundRect">
            <a:avLst>
              <a:gd name="adj" fmla="val 10256"/>
            </a:avLst>
          </a:prstGeom>
          <a:solidFill>
            <a:srgbClr val="F3F5F8"/>
          </a:solidFill>
          <a:ln w="12700">
            <a:solidFill>
              <a:srgbClr val="F3F5F8"/>
            </a:solidFill>
            <a:prstDash val="solid"/>
          </a:ln>
        </p:spPr>
      </p:sp>
      <p:sp>
        <p:nvSpPr>
          <p:cNvPr id="23" name="Text 21"/>
          <p:cNvSpPr txBox="1"/>
          <p:nvPr/>
        </p:nvSpPr>
        <p:spPr>
          <a:xfrm>
            <a:off x="8485632" y="34290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Weather</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precipitation in run window; forecasts</a:t>
            </a:r>
            <a:endParaRPr lang="en-US" sz="1100" dirty="0"/>
          </a:p>
        </p:txBody>
      </p:sp>
      <p:sp>
        <p:nvSpPr>
          <p:cNvPr id="24" name="Shape 22"/>
          <p:cNvSpPr/>
          <p:nvPr/>
        </p:nvSpPr>
        <p:spPr>
          <a:xfrm>
            <a:off x="548640" y="4892040"/>
            <a:ext cx="3246120" cy="713232"/>
          </a:xfrm>
          <a:prstGeom prst="roundRect">
            <a:avLst>
              <a:gd name="adj" fmla="val 10256"/>
            </a:avLst>
          </a:prstGeom>
          <a:solidFill>
            <a:srgbClr val="F3F5F8"/>
          </a:solidFill>
          <a:ln w="12700">
            <a:solidFill>
              <a:srgbClr val="F3F5F8"/>
            </a:solidFill>
            <a:prstDash val="solid"/>
          </a:ln>
        </p:spPr>
      </p:sp>
      <p:sp>
        <p:nvSpPr>
          <p:cNvPr id="25" name="Text 23"/>
          <p:cNvSpPr txBox="1"/>
          <p:nvPr/>
        </p:nvSpPr>
        <p:spPr>
          <a:xfrm>
            <a:off x="640080" y="493776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Household survey (H0)</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30 sampled villages; unmet demand, reasons</a:t>
            </a:r>
            <a:endParaRPr lang="en-US" sz="1100" dirty="0"/>
          </a:p>
        </p:txBody>
      </p:sp>
      <p:sp>
        <p:nvSpPr>
          <p:cNvPr id="26" name="Shape 24"/>
          <p:cNvSpPr/>
          <p:nvPr/>
        </p:nvSpPr>
        <p:spPr>
          <a:xfrm>
            <a:off x="548640" y="5669280"/>
            <a:ext cx="3246120" cy="713232"/>
          </a:xfrm>
          <a:prstGeom prst="roundRect">
            <a:avLst>
              <a:gd name="adj" fmla="val 10256"/>
            </a:avLst>
          </a:prstGeom>
          <a:solidFill>
            <a:srgbClr val="F3F5F8"/>
          </a:solidFill>
          <a:ln w="12700">
            <a:solidFill>
              <a:srgbClr val="F3F5F8"/>
            </a:solidFill>
            <a:prstDash val="solid"/>
          </a:ln>
        </p:spPr>
      </p:sp>
      <p:sp>
        <p:nvSpPr>
          <p:cNvPr id="27" name="Text 25"/>
          <p:cNvSpPr txBox="1"/>
          <p:nvPr/>
        </p:nvSpPr>
        <p:spPr>
          <a:xfrm>
            <a:off x="640080" y="57150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Online survey (O2)</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home village; holiday return timing</a:t>
            </a:r>
            <a:endParaRPr lang="en-US" sz="1100" dirty="0"/>
          </a:p>
        </p:txBody>
      </p:sp>
      <p:sp>
        <p:nvSpPr>
          <p:cNvPr id="28" name="Shape 26"/>
          <p:cNvSpPr/>
          <p:nvPr/>
        </p:nvSpPr>
        <p:spPr>
          <a:xfrm>
            <a:off x="8394192" y="4892040"/>
            <a:ext cx="3246120" cy="713232"/>
          </a:xfrm>
          <a:prstGeom prst="roundRect">
            <a:avLst>
              <a:gd name="adj" fmla="val 10256"/>
            </a:avLst>
          </a:prstGeom>
          <a:solidFill>
            <a:srgbClr val="F3F5F8"/>
          </a:solidFill>
          <a:ln w="12700">
            <a:solidFill>
              <a:srgbClr val="F3F5F8"/>
            </a:solidFill>
            <a:prstDash val="solid"/>
          </a:ln>
        </p:spPr>
      </p:sp>
      <p:sp>
        <p:nvSpPr>
          <p:cNvPr id="29" name="Text 27"/>
          <p:cNvSpPr txBox="1"/>
          <p:nvPr/>
        </p:nvSpPr>
        <p:spPr>
          <a:xfrm>
            <a:off x="8485632" y="493776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GIS village frame</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population, network distance, access stratum</a:t>
            </a:r>
            <a:endParaRPr lang="en-US" sz="1100" dirty="0"/>
          </a:p>
        </p:txBody>
      </p:sp>
      <p:sp>
        <p:nvSpPr>
          <p:cNvPr id="30" name="Shape 28"/>
          <p:cNvSpPr/>
          <p:nvPr/>
        </p:nvSpPr>
        <p:spPr>
          <a:xfrm>
            <a:off x="8394192" y="5669280"/>
            <a:ext cx="3246120" cy="713232"/>
          </a:xfrm>
          <a:prstGeom prst="roundRect">
            <a:avLst>
              <a:gd name="adj" fmla="val 10256"/>
            </a:avLst>
          </a:prstGeom>
          <a:solidFill>
            <a:srgbClr val="F3F5F8"/>
          </a:solidFill>
          <a:ln w="12700">
            <a:solidFill>
              <a:srgbClr val="F3F5F8"/>
            </a:solidFill>
            <a:prstDash val="solid"/>
          </a:ln>
        </p:spPr>
      </p:sp>
      <p:sp>
        <p:nvSpPr>
          <p:cNvPr id="31" name="Text 29"/>
          <p:cNvSpPr txBox="1"/>
          <p:nvPr/>
        </p:nvSpPr>
        <p:spPr>
          <a:xfrm>
            <a:off x="8485632" y="5715000"/>
            <a:ext cx="306324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Boarding places (A1, A12)</a:t>
            </a:r>
            <a:endParaRPr lang="en-US" sz="1100" dirty="0"/>
          </a:p>
          <a:p>
            <a:pPr algn="l" indent="0" marL="0">
              <a:buNone/>
            </a:pPr>
            <a:r>
              <a:rPr lang="en-US" sz="1000" dirty="0">
                <a:solidFill>
                  <a:srgbClr val="4B5563"/>
                </a:solidFill>
                <a:latin typeface="Calibri" pitchFamily="34" charset="0"/>
                <a:ea typeface="Calibri" pitchFamily="34" charset="-122"/>
                <a:cs typeface="Calibri" pitchFamily="34" charset="-120"/>
              </a:rPr>
              <a:t>place names matched to village codes</a:t>
            </a:r>
            <a:endParaRPr lang="en-US" sz="1100" dirty="0"/>
          </a:p>
        </p:txBody>
      </p:sp>
      <p:sp>
        <p:nvSpPr>
          <p:cNvPr id="32" name="Shape 30"/>
          <p:cNvSpPr/>
          <p:nvPr/>
        </p:nvSpPr>
        <p:spPr>
          <a:xfrm>
            <a:off x="3794760" y="1545336"/>
            <a:ext cx="365760" cy="237744"/>
          </a:xfrm>
          <a:prstGeom prst="line">
            <a:avLst/>
          </a:prstGeom>
          <a:noFill/>
          <a:ln w="15875">
            <a:solidFill>
              <a:srgbClr val="4B5563"/>
            </a:solidFill>
            <a:prstDash val="solid"/>
            <a:tailEnd type="triangle"/>
          </a:ln>
        </p:spPr>
      </p:sp>
      <p:sp>
        <p:nvSpPr>
          <p:cNvPr id="33" name="Shape 31"/>
          <p:cNvSpPr/>
          <p:nvPr/>
        </p:nvSpPr>
        <p:spPr>
          <a:xfrm flipV="1">
            <a:off x="3794760" y="2057400"/>
            <a:ext cx="365760" cy="310896"/>
          </a:xfrm>
          <a:prstGeom prst="line">
            <a:avLst/>
          </a:prstGeom>
          <a:noFill/>
          <a:ln w="15875">
            <a:solidFill>
              <a:srgbClr val="4B5563"/>
            </a:solidFill>
            <a:prstDash val="solid"/>
            <a:tailEnd type="triangle"/>
          </a:ln>
        </p:spPr>
      </p:sp>
      <p:sp>
        <p:nvSpPr>
          <p:cNvPr id="34" name="Shape 32"/>
          <p:cNvSpPr/>
          <p:nvPr/>
        </p:nvSpPr>
        <p:spPr>
          <a:xfrm flipH="1">
            <a:off x="8001000" y="1545336"/>
            <a:ext cx="393192" cy="237744"/>
          </a:xfrm>
          <a:prstGeom prst="line">
            <a:avLst/>
          </a:prstGeom>
          <a:noFill/>
          <a:ln w="15875">
            <a:solidFill>
              <a:srgbClr val="4B5563"/>
            </a:solidFill>
            <a:prstDash val="solid"/>
            <a:tailEnd type="triangle"/>
          </a:ln>
        </p:spPr>
      </p:sp>
      <p:sp>
        <p:nvSpPr>
          <p:cNvPr id="35" name="Shape 33"/>
          <p:cNvSpPr/>
          <p:nvPr/>
        </p:nvSpPr>
        <p:spPr>
          <a:xfrm flipH="1" flipV="1">
            <a:off x="8001000" y="2057400"/>
            <a:ext cx="393192" cy="310896"/>
          </a:xfrm>
          <a:prstGeom prst="line">
            <a:avLst/>
          </a:prstGeom>
          <a:noFill/>
          <a:ln w="15875">
            <a:solidFill>
              <a:srgbClr val="4B5563"/>
            </a:solidFill>
            <a:prstDash val="solid"/>
            <a:tailEnd type="triangle"/>
          </a:ln>
        </p:spPr>
      </p:sp>
      <p:sp>
        <p:nvSpPr>
          <p:cNvPr id="36" name="Shape 34"/>
          <p:cNvSpPr/>
          <p:nvPr/>
        </p:nvSpPr>
        <p:spPr>
          <a:xfrm flipV="1">
            <a:off x="3794760" y="3721608"/>
            <a:ext cx="365760" cy="18288"/>
          </a:xfrm>
          <a:prstGeom prst="line">
            <a:avLst/>
          </a:prstGeom>
          <a:noFill/>
          <a:ln w="15875">
            <a:solidFill>
              <a:srgbClr val="4B5563"/>
            </a:solidFill>
            <a:prstDash val="solid"/>
            <a:tailEnd type="triangle"/>
          </a:ln>
        </p:spPr>
      </p:sp>
      <p:sp>
        <p:nvSpPr>
          <p:cNvPr id="37" name="Shape 35"/>
          <p:cNvSpPr/>
          <p:nvPr/>
        </p:nvSpPr>
        <p:spPr>
          <a:xfrm flipH="1" flipV="1">
            <a:off x="8001000" y="3721608"/>
            <a:ext cx="393192" cy="18288"/>
          </a:xfrm>
          <a:prstGeom prst="line">
            <a:avLst/>
          </a:prstGeom>
          <a:noFill/>
          <a:ln w="15875">
            <a:solidFill>
              <a:srgbClr val="4B5563"/>
            </a:solidFill>
            <a:prstDash val="solid"/>
            <a:tailEnd type="triangle"/>
          </a:ln>
        </p:spPr>
      </p:sp>
      <p:sp>
        <p:nvSpPr>
          <p:cNvPr id="38" name="Shape 36"/>
          <p:cNvSpPr/>
          <p:nvPr/>
        </p:nvSpPr>
        <p:spPr>
          <a:xfrm>
            <a:off x="3794760" y="5248656"/>
            <a:ext cx="365760" cy="164592"/>
          </a:xfrm>
          <a:prstGeom prst="line">
            <a:avLst/>
          </a:prstGeom>
          <a:noFill/>
          <a:ln w="15875">
            <a:solidFill>
              <a:srgbClr val="4B5563"/>
            </a:solidFill>
            <a:prstDash val="solid"/>
            <a:tailEnd type="triangle"/>
          </a:ln>
        </p:spPr>
      </p:sp>
      <p:sp>
        <p:nvSpPr>
          <p:cNvPr id="39" name="Shape 37"/>
          <p:cNvSpPr/>
          <p:nvPr/>
        </p:nvSpPr>
        <p:spPr>
          <a:xfrm flipV="1">
            <a:off x="3794760" y="5669280"/>
            <a:ext cx="365760" cy="356616"/>
          </a:xfrm>
          <a:prstGeom prst="line">
            <a:avLst/>
          </a:prstGeom>
          <a:noFill/>
          <a:ln w="15875">
            <a:solidFill>
              <a:srgbClr val="4B5563"/>
            </a:solidFill>
            <a:prstDash val="solid"/>
            <a:tailEnd type="triangle"/>
          </a:ln>
        </p:spPr>
      </p:sp>
      <p:sp>
        <p:nvSpPr>
          <p:cNvPr id="40" name="Shape 38"/>
          <p:cNvSpPr/>
          <p:nvPr/>
        </p:nvSpPr>
        <p:spPr>
          <a:xfrm flipH="1">
            <a:off x="8001000" y="5248656"/>
            <a:ext cx="393192" cy="164592"/>
          </a:xfrm>
          <a:prstGeom prst="line">
            <a:avLst/>
          </a:prstGeom>
          <a:noFill/>
          <a:ln w="15875">
            <a:solidFill>
              <a:srgbClr val="4B5563"/>
            </a:solidFill>
            <a:prstDash val="solid"/>
            <a:tailEnd type="triangle"/>
          </a:ln>
        </p:spPr>
      </p:sp>
      <p:sp>
        <p:nvSpPr>
          <p:cNvPr id="41" name="Shape 39"/>
          <p:cNvSpPr/>
          <p:nvPr/>
        </p:nvSpPr>
        <p:spPr>
          <a:xfrm flipH="1" flipV="1">
            <a:off x="8001000" y="5669280"/>
            <a:ext cx="393192" cy="356616"/>
          </a:xfrm>
          <a:prstGeom prst="line">
            <a:avLst/>
          </a:prstGeom>
          <a:noFill/>
          <a:ln w="15875">
            <a:solidFill>
              <a:srgbClr val="4B5563"/>
            </a:solidFill>
            <a:prstDash val="solid"/>
            <a:tailEnd type="triangle"/>
          </a:ln>
        </p:spPr>
      </p:sp>
      <p:sp>
        <p:nvSpPr>
          <p:cNvPr id="42" name="Shape 40"/>
          <p:cNvSpPr/>
          <p:nvPr/>
        </p:nvSpPr>
        <p:spPr>
          <a:xfrm flipV="1">
            <a:off x="6080760" y="2286000"/>
            <a:ext cx="0" cy="1005840"/>
          </a:xfrm>
          <a:prstGeom prst="line">
            <a:avLst/>
          </a:prstGeom>
          <a:noFill/>
          <a:ln w="12700">
            <a:solidFill>
              <a:srgbClr val="8B95A1"/>
            </a:solidFill>
            <a:prstDash val="dash"/>
            <a:tailEnd type="triangle"/>
          </a:ln>
        </p:spPr>
      </p:sp>
      <p:sp>
        <p:nvSpPr>
          <p:cNvPr id="43" name="Text 41"/>
          <p:cNvSpPr txBox="1"/>
          <p:nvPr/>
        </p:nvSpPr>
        <p:spPr>
          <a:xfrm>
            <a:off x="6172200" y="2606040"/>
            <a:ext cx="1097280" cy="274320"/>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run date</a:t>
            </a:r>
            <a:endParaRPr lang="en-US" sz="950" dirty="0"/>
          </a:p>
        </p:txBody>
      </p:sp>
      <p:sp>
        <p:nvSpPr>
          <p:cNvPr id="44" name="Shape 42"/>
          <p:cNvSpPr/>
          <p:nvPr/>
        </p:nvSpPr>
        <p:spPr>
          <a:xfrm>
            <a:off x="6080760" y="4160520"/>
            <a:ext cx="0" cy="914400"/>
          </a:xfrm>
          <a:prstGeom prst="line">
            <a:avLst/>
          </a:prstGeom>
          <a:noFill/>
          <a:ln w="12700">
            <a:solidFill>
              <a:srgbClr val="8B95A1"/>
            </a:solidFill>
            <a:prstDash val="dash"/>
            <a:tailEnd type="triangle"/>
          </a:ln>
        </p:spPr>
      </p:sp>
      <p:sp>
        <p:nvSpPr>
          <p:cNvPr id="45" name="Text 43"/>
          <p:cNvSpPr txBox="1"/>
          <p:nvPr/>
        </p:nvSpPr>
        <p:spPr>
          <a:xfrm>
            <a:off x="6172200" y="4480560"/>
            <a:ext cx="1828800" cy="274320"/>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survey dates (H2–H4, O5–O6)</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 · PUBLIC CALENDARS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Most demand drivers can be known days in advance from public calendars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10 / 39</a:t>
            </a:r>
            <a:endParaRPr lang="en-US" sz="850" dirty="0"/>
          </a:p>
        </p:txBody>
      </p:sp>
      <p:pic>
        <p:nvPicPr>
          <p:cNvPr id="6" name="Image 0" descr="Daily calendar factors 2024–2027 by source reliability">    </p:cNvPr>
          <p:cNvPicPr>
            <a:picLocks noChangeAspect="1"/>
          </p:cNvPicPr>
          <p:nvPr/>
        </p:nvPicPr>
        <p:blipFill>
          <a:blip r:embed="rId1"/>
          <a:stretch>
            <a:fillRect/>
          </a:stretch>
        </p:blipFill>
        <p:spPr>
          <a:xfrm>
            <a:off x="502920" y="1331246"/>
            <a:ext cx="11185855" cy="3326828"/>
          </a:xfrm>
          <a:prstGeom prst="rect">
            <a:avLst/>
          </a:prstGeom>
        </p:spPr>
      </p:pic>
      <p:sp>
        <p:nvSpPr>
          <p:cNvPr id="7" name="Text 4"/>
          <p:cNvSpPr txBox="1"/>
          <p:nvPr/>
        </p:nvSpPr>
        <p:spPr>
          <a:xfrm>
            <a:off x="548640" y="4892040"/>
            <a:ext cx="35661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RELIABLE BY RULE</a:t>
            </a:r>
            <a:endParaRPr lang="en-US" sz="1000" dirty="0"/>
          </a:p>
        </p:txBody>
      </p:sp>
      <p:sp>
        <p:nvSpPr>
          <p:cNvPr id="8" name="Text 5"/>
          <p:cNvSpPr txBox="1"/>
          <p:nvPr/>
        </p:nvSpPr>
        <p:spPr>
          <a:xfrm>
            <a:off x="548640" y="5148072"/>
            <a:ext cx="3520440" cy="114300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Statutory holidays and make-up workdays (State Council notices), lunar calendar, Spring Festival travel window, gaokao dates.</a:t>
            </a:r>
            <a:endParaRPr lang="en-US" sz="1150" dirty="0"/>
          </a:p>
        </p:txBody>
      </p:sp>
      <p:sp>
        <p:nvSpPr>
          <p:cNvPr id="9" name="Text 6"/>
          <p:cNvSpPr txBox="1"/>
          <p:nvPr/>
        </p:nvSpPr>
        <p:spPr>
          <a:xfrm>
            <a:off x="4315968" y="4892040"/>
            <a:ext cx="3566160" cy="219456"/>
          </a:xfrm>
          <a:prstGeom prst="rect">
            <a:avLst/>
          </a:prstGeom>
          <a:noFill/>
          <a:ln/>
        </p:spPr>
        <p:txBody>
          <a:bodyPr wrap="square" lIns="0" tIns="0" rIns="0" bIns="0" rtlCol="0" anchor="t"/>
          <a:lstStyle/>
          <a:p>
            <a:pPr indent="0" marL="0">
              <a:buNone/>
            </a:pPr>
            <a:r>
              <a:rPr lang="en-US" sz="1000" b="1" spc="80" kern="0" dirty="0">
                <a:solidFill>
                  <a:srgbClr val="B7791F"/>
                </a:solidFill>
                <a:latin typeface="Calibri" pitchFamily="34" charset="0"/>
                <a:ea typeface="Calibri" pitchFamily="34" charset="-122"/>
                <a:cs typeface="Calibri" pitchFamily="34" charset="-120"/>
              </a:rPr>
              <a:t>NEEDS VERIFICATION</a:t>
            </a:r>
            <a:endParaRPr lang="en-US" sz="1000" dirty="0"/>
          </a:p>
        </p:txBody>
      </p:sp>
      <p:sp>
        <p:nvSpPr>
          <p:cNvPr id="10" name="Text 7"/>
          <p:cNvSpPr txBox="1"/>
          <p:nvPr/>
        </p:nvSpPr>
        <p:spPr>
          <a:xfrm>
            <a:off x="4315968" y="5148072"/>
            <a:ext cx="3520440" cy="114300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School terms before December 2025 are presumed from provincial practice and must be confirmed with the county education bureau and the three county-town secondary schools.</a:t>
            </a:r>
            <a:endParaRPr lang="en-US" sz="1150" dirty="0"/>
          </a:p>
        </p:txBody>
      </p:sp>
      <p:sp>
        <p:nvSpPr>
          <p:cNvPr id="11" name="Text 8"/>
          <p:cNvSpPr txBox="1"/>
          <p:nvPr/>
        </p:nvSpPr>
        <p:spPr>
          <a:xfrm>
            <a:off x="8083296" y="4892040"/>
            <a:ext cx="3566160" cy="219456"/>
          </a:xfrm>
          <a:prstGeom prst="rect">
            <a:avLst/>
          </a:prstGeom>
          <a:noFill/>
          <a:ln/>
        </p:spPr>
        <p:txBody>
          <a:bodyPr wrap="square" lIns="0" tIns="0" rIns="0" bIns="0" rtlCol="0" anchor="t"/>
          <a:lstStyle/>
          <a:p>
            <a:pPr indent="0" marL="0">
              <a:buNone/>
            </a:pPr>
            <a:r>
              <a:rPr lang="en-US" sz="1000" b="1" spc="80" kern="0" dirty="0">
                <a:solidFill>
                  <a:srgbClr val="8B95A1"/>
                </a:solidFill>
                <a:latin typeface="Calibri" pitchFamily="34" charset="0"/>
                <a:ea typeface="Calibri" pitchFamily="34" charset="-122"/>
                <a:cs typeface="Calibri" pitchFamily="34" charset="-120"/>
              </a:rPr>
              <a:t>NOT YET PUBLISHED</a:t>
            </a:r>
            <a:endParaRPr lang="en-US" sz="1000" dirty="0"/>
          </a:p>
        </p:txBody>
      </p:sp>
      <p:sp>
        <p:nvSpPr>
          <p:cNvPr id="12" name="Text 9"/>
          <p:cNvSpPr txBox="1"/>
          <p:nvPr/>
        </p:nvSpPr>
        <p:spPr>
          <a:xfrm>
            <a:off x="8083296" y="5148072"/>
            <a:ext cx="3520440" cy="114300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2027 winter-vacation and holiday dates. Winter survey strata are drawn now for planning and re-drawn with the same random seed once dates are announced.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463040"/>
            <a:ext cx="2286000" cy="1188720"/>
          </a:xfrm>
          <a:prstGeom prst="rect">
            <a:avLst/>
          </a:prstGeom>
          <a:noFill/>
          <a:ln/>
        </p:spPr>
        <p:txBody>
          <a:bodyPr wrap="square" lIns="0" tIns="0" rIns="0" bIns="0" rtlCol="0" anchor="t"/>
          <a:lstStyle/>
          <a:p>
            <a:pPr indent="0" marL="0">
              <a:buNone/>
            </a:pPr>
            <a:r>
              <a:rPr lang="en-US" sz="8000" dirty="0">
                <a:solidFill>
                  <a:srgbClr val="1C4E80"/>
                </a:solidFill>
                <a:latin typeface="Cambria" pitchFamily="34" charset="0"/>
                <a:ea typeface="Cambria" pitchFamily="34" charset="-122"/>
                <a:cs typeface="Cambria" pitchFamily="34" charset="-120"/>
              </a:rPr>
              <a:t>II</a:t>
            </a:r>
            <a:endParaRPr lang="en-US" sz="8000" dirty="0"/>
          </a:p>
        </p:txBody>
      </p:sp>
      <p:sp>
        <p:nvSpPr>
          <p:cNvPr id="3" name="Text 1"/>
          <p:cNvSpPr txBox="1"/>
          <p:nvPr/>
        </p:nvSpPr>
        <p:spPr>
          <a:xfrm>
            <a:off x="548640" y="2788920"/>
            <a:ext cx="8229600" cy="822960"/>
          </a:xfrm>
          <a:prstGeom prst="rect">
            <a:avLst/>
          </a:prstGeom>
          <a:noFill/>
          <a:ln/>
        </p:spPr>
        <p:txBody>
          <a:bodyPr wrap="square" lIns="0" tIns="0" rIns="0" bIns="0" rtlCol="0" anchor="t"/>
          <a:lstStyle/>
          <a:p>
            <a:pPr indent="0" marL="0">
              <a:buNone/>
            </a:pPr>
            <a:r>
              <a:rPr lang="en-US" sz="3600" dirty="0">
                <a:solidFill>
                  <a:srgbClr val="1F2937"/>
                </a:solidFill>
                <a:latin typeface="Cambria" pitchFamily="34" charset="0"/>
                <a:ea typeface="Cambria" pitchFamily="34" charset="-122"/>
                <a:cs typeface="Cambria" pitchFamily="34" charset="-120"/>
              </a:rPr>
              <a:t>What prior research tells us</a:t>
            </a:r>
            <a:endParaRPr lang="en-US" sz="3600" dirty="0"/>
          </a:p>
        </p:txBody>
      </p:sp>
      <p:sp>
        <p:nvSpPr>
          <p:cNvPr id="4" name="Text 2"/>
          <p:cNvSpPr txBox="1"/>
          <p:nvPr/>
        </p:nvSpPr>
        <p:spPr>
          <a:xfrm>
            <a:off x="548640" y="3657600"/>
            <a:ext cx="7772400" cy="91440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Six themes. For each: what is established, which methods are used, what remains unresolved — and how this study responds.</a:t>
            </a:r>
            <a:endParaRPr lang="en-US" sz="1600" dirty="0"/>
          </a:p>
        </p:txBody>
      </p:sp>
      <p:sp>
        <p:nvSpPr>
          <p:cNvPr id="5" name="Text 3"/>
          <p:cNvSpPr txBox="1"/>
          <p:nvPr/>
        </p:nvSpPr>
        <p:spPr>
          <a:xfrm>
            <a:off x="8503920" y="20116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  Study area and data</a:t>
            </a:r>
            <a:endParaRPr lang="en-US" sz="1300" dirty="0"/>
          </a:p>
        </p:txBody>
      </p:sp>
      <p:sp>
        <p:nvSpPr>
          <p:cNvPr id="6" name="Text 4"/>
          <p:cNvSpPr txBox="1"/>
          <p:nvPr/>
        </p:nvSpPr>
        <p:spPr>
          <a:xfrm>
            <a:off x="8503920" y="2468880"/>
            <a:ext cx="3200400" cy="365760"/>
          </a:xfrm>
          <a:prstGeom prst="rect">
            <a:avLst/>
          </a:prstGeom>
          <a:noFill/>
          <a:ln/>
        </p:spPr>
        <p:txBody>
          <a:bodyPr wrap="square" lIns="0" tIns="0" rIns="0" bIns="0" rtlCol="0" anchor="t"/>
          <a:lstStyle/>
          <a:p>
            <a:pPr indent="0" marL="0">
              <a:buNone/>
            </a:pPr>
            <a:r>
              <a:rPr lang="en-US" sz="1300" b="1" dirty="0">
                <a:solidFill>
                  <a:srgbClr val="1C4E80"/>
                </a:solidFill>
                <a:latin typeface="Calibri" pitchFamily="34" charset="0"/>
                <a:ea typeface="Calibri" pitchFamily="34" charset="-122"/>
                <a:cs typeface="Calibri" pitchFamily="34" charset="-120"/>
              </a:rPr>
              <a:t>II  What prior research tells us</a:t>
            </a:r>
            <a:endParaRPr lang="en-US" sz="1300" dirty="0"/>
          </a:p>
        </p:txBody>
      </p:sp>
      <p:sp>
        <p:nvSpPr>
          <p:cNvPr id="7" name="Text 5"/>
          <p:cNvSpPr txBox="1"/>
          <p:nvPr/>
        </p:nvSpPr>
        <p:spPr>
          <a:xfrm>
            <a:off x="8503920" y="29260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III  Framework and next steps</a:t>
            </a:r>
            <a:endParaRPr lang="en-US" sz="1300" dirty="0"/>
          </a:p>
        </p:txBody>
      </p:sp>
      <p:sp>
        <p:nvSpPr>
          <p:cNvPr id="8" name="Text 6"/>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11 / 39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EVIDENCE BASE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How the evidence base was built</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12 / 39</a:t>
            </a:r>
            <a:endParaRPr lang="en-US" sz="850" dirty="0"/>
          </a:p>
        </p:txBody>
      </p:sp>
      <p:sp>
        <p:nvSpPr>
          <p:cNvPr id="6" name="Text 4"/>
          <p:cNvSpPr txBox="1"/>
          <p:nvPr/>
        </p:nvSpPr>
        <p:spPr>
          <a:xfrm>
            <a:off x="548640" y="1298448"/>
            <a:ext cx="65836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ENGLISH LITERATURE (OPENALEX, 26 SEP 2026)</a:t>
            </a:r>
            <a:endParaRPr lang="en-US" sz="1000" dirty="0"/>
          </a:p>
        </p:txBody>
      </p:sp>
      <p:sp>
        <p:nvSpPr>
          <p:cNvPr id="7" name="Shape 5"/>
          <p:cNvSpPr/>
          <p:nvPr/>
        </p:nvSpPr>
        <p:spPr>
          <a:xfrm>
            <a:off x="548640" y="1627632"/>
            <a:ext cx="3931920" cy="512064"/>
          </a:xfrm>
          <a:prstGeom prst="roundRect">
            <a:avLst>
              <a:gd name="adj" fmla="val 14286"/>
            </a:avLst>
          </a:prstGeom>
          <a:solidFill>
            <a:srgbClr val="F3F5F8"/>
          </a:solidFill>
          <a:ln w="12700">
            <a:solidFill>
              <a:srgbClr val="F3F5F8"/>
            </a:solidFill>
            <a:prstDash val="solid"/>
          </a:ln>
        </p:spPr>
      </p:sp>
      <p:sp>
        <p:nvSpPr>
          <p:cNvPr id="8" name="Text 6"/>
          <p:cNvSpPr txBox="1"/>
          <p:nvPr/>
        </p:nvSpPr>
        <p:spPr>
          <a:xfrm>
            <a:off x="640080" y="1673352"/>
            <a:ext cx="374904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33 structured queries across four themes</a:t>
            </a:r>
            <a:endParaRPr lang="en-US" sz="1100" dirty="0"/>
          </a:p>
        </p:txBody>
      </p:sp>
      <p:sp>
        <p:nvSpPr>
          <p:cNvPr id="9" name="Text 7"/>
          <p:cNvSpPr txBox="1"/>
          <p:nvPr/>
        </p:nvSpPr>
        <p:spPr>
          <a:xfrm>
            <a:off x="4617720" y="1746504"/>
            <a:ext cx="2468880" cy="292608"/>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1,650 records</a:t>
            </a:r>
            <a:endParaRPr lang="en-US" sz="1250" dirty="0"/>
          </a:p>
        </p:txBody>
      </p:sp>
      <p:sp>
        <p:nvSpPr>
          <p:cNvPr id="10" name="Shape 8"/>
          <p:cNvSpPr/>
          <p:nvPr/>
        </p:nvSpPr>
        <p:spPr>
          <a:xfrm>
            <a:off x="2514600" y="2139696"/>
            <a:ext cx="0" cy="146304"/>
          </a:xfrm>
          <a:prstGeom prst="line">
            <a:avLst/>
          </a:prstGeom>
          <a:noFill/>
          <a:ln w="12700">
            <a:solidFill>
              <a:srgbClr val="8B95A1"/>
            </a:solidFill>
            <a:prstDash val="solid"/>
            <a:tailEnd type="triangle"/>
          </a:ln>
        </p:spPr>
      </p:sp>
      <p:sp>
        <p:nvSpPr>
          <p:cNvPr id="11" name="Shape 9"/>
          <p:cNvSpPr/>
          <p:nvPr/>
        </p:nvSpPr>
        <p:spPr>
          <a:xfrm>
            <a:off x="548640" y="2286000"/>
            <a:ext cx="3931920" cy="512064"/>
          </a:xfrm>
          <a:prstGeom prst="roundRect">
            <a:avLst>
              <a:gd name="adj" fmla="val 14286"/>
            </a:avLst>
          </a:prstGeom>
          <a:solidFill>
            <a:srgbClr val="F3F5F8"/>
          </a:solidFill>
          <a:ln w="12700">
            <a:solidFill>
              <a:srgbClr val="F3F5F8"/>
            </a:solidFill>
            <a:prstDash val="solid"/>
          </a:ln>
        </p:spPr>
      </p:sp>
      <p:sp>
        <p:nvSpPr>
          <p:cNvPr id="12" name="Text 10"/>
          <p:cNvSpPr txBox="1"/>
          <p:nvPr/>
        </p:nvSpPr>
        <p:spPr>
          <a:xfrm>
            <a:off x="640080" y="2331720"/>
            <a:ext cx="374904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De-duplication</a:t>
            </a:r>
            <a:endParaRPr lang="en-US" sz="1100" dirty="0"/>
          </a:p>
        </p:txBody>
      </p:sp>
      <p:sp>
        <p:nvSpPr>
          <p:cNvPr id="13" name="Text 11"/>
          <p:cNvSpPr txBox="1"/>
          <p:nvPr/>
        </p:nvSpPr>
        <p:spPr>
          <a:xfrm>
            <a:off x="4617720" y="2404872"/>
            <a:ext cx="2468880" cy="292608"/>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1,423 records</a:t>
            </a:r>
            <a:endParaRPr lang="en-US" sz="1250" dirty="0"/>
          </a:p>
        </p:txBody>
      </p:sp>
      <p:sp>
        <p:nvSpPr>
          <p:cNvPr id="14" name="Shape 12"/>
          <p:cNvSpPr/>
          <p:nvPr/>
        </p:nvSpPr>
        <p:spPr>
          <a:xfrm>
            <a:off x="2514600" y="2798064"/>
            <a:ext cx="0" cy="146304"/>
          </a:xfrm>
          <a:prstGeom prst="line">
            <a:avLst/>
          </a:prstGeom>
          <a:noFill/>
          <a:ln w="12700">
            <a:solidFill>
              <a:srgbClr val="8B95A1"/>
            </a:solidFill>
            <a:prstDash val="solid"/>
            <a:tailEnd type="triangle"/>
          </a:ln>
        </p:spPr>
      </p:sp>
      <p:sp>
        <p:nvSpPr>
          <p:cNvPr id="15" name="Shape 13"/>
          <p:cNvSpPr/>
          <p:nvPr/>
        </p:nvSpPr>
        <p:spPr>
          <a:xfrm>
            <a:off x="548640" y="2944368"/>
            <a:ext cx="3931920" cy="512064"/>
          </a:xfrm>
          <a:prstGeom prst="roundRect">
            <a:avLst>
              <a:gd name="adj" fmla="val 14286"/>
            </a:avLst>
          </a:prstGeom>
          <a:solidFill>
            <a:srgbClr val="F3F5F8"/>
          </a:solidFill>
          <a:ln w="12700">
            <a:solidFill>
              <a:srgbClr val="F3F5F8"/>
            </a:solidFill>
            <a:prstDash val="solid"/>
          </a:ln>
        </p:spPr>
      </p:sp>
      <p:sp>
        <p:nvSpPr>
          <p:cNvPr id="16" name="Text 14"/>
          <p:cNvSpPr txBox="1"/>
          <p:nvPr/>
        </p:nvSpPr>
        <p:spPr>
          <a:xfrm>
            <a:off x="640080" y="2990088"/>
            <a:ext cx="374904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+ 84 previously read core studies</a:t>
            </a:r>
            <a:endParaRPr lang="en-US" sz="1100" dirty="0"/>
          </a:p>
        </p:txBody>
      </p:sp>
      <p:sp>
        <p:nvSpPr>
          <p:cNvPr id="17" name="Text 15"/>
          <p:cNvSpPr txBox="1"/>
          <p:nvPr/>
        </p:nvSpPr>
        <p:spPr>
          <a:xfrm>
            <a:off x="4617720" y="3063240"/>
            <a:ext cx="2468880" cy="292608"/>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1,507 screened (301 without abstracts)</a:t>
            </a:r>
            <a:endParaRPr lang="en-US" sz="1250" dirty="0"/>
          </a:p>
        </p:txBody>
      </p:sp>
      <p:sp>
        <p:nvSpPr>
          <p:cNvPr id="18" name="Shape 16"/>
          <p:cNvSpPr/>
          <p:nvPr/>
        </p:nvSpPr>
        <p:spPr>
          <a:xfrm>
            <a:off x="2514600" y="3456432"/>
            <a:ext cx="0" cy="146304"/>
          </a:xfrm>
          <a:prstGeom prst="line">
            <a:avLst/>
          </a:prstGeom>
          <a:noFill/>
          <a:ln w="12700">
            <a:solidFill>
              <a:srgbClr val="8B95A1"/>
            </a:solidFill>
            <a:prstDash val="solid"/>
            <a:tailEnd type="triangle"/>
          </a:ln>
        </p:spPr>
      </p:sp>
      <p:sp>
        <p:nvSpPr>
          <p:cNvPr id="19" name="Shape 17"/>
          <p:cNvSpPr/>
          <p:nvPr/>
        </p:nvSpPr>
        <p:spPr>
          <a:xfrm>
            <a:off x="548640" y="3602736"/>
            <a:ext cx="3931920" cy="512064"/>
          </a:xfrm>
          <a:prstGeom prst="roundRect">
            <a:avLst>
              <a:gd name="adj" fmla="val 14286"/>
            </a:avLst>
          </a:prstGeom>
          <a:solidFill>
            <a:srgbClr val="F3F5F8"/>
          </a:solidFill>
          <a:ln w="12700">
            <a:solidFill>
              <a:srgbClr val="F3F5F8"/>
            </a:solidFill>
            <a:prstDash val="solid"/>
          </a:ln>
        </p:spPr>
      </p:sp>
      <p:sp>
        <p:nvSpPr>
          <p:cNvPr id="20" name="Text 18"/>
          <p:cNvSpPr txBox="1"/>
          <p:nvPr/>
        </p:nvSpPr>
        <p:spPr>
          <a:xfrm>
            <a:off x="640080" y="3648456"/>
            <a:ext cx="374904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Rule-based pre-screen → full manual review; 378 relaxed-rule recalls re-read, 86 kept</a:t>
            </a:r>
            <a:endParaRPr lang="en-US" sz="1100" dirty="0"/>
          </a:p>
        </p:txBody>
      </p:sp>
      <p:sp>
        <p:nvSpPr>
          <p:cNvPr id="21" name="Shape 19"/>
          <p:cNvSpPr/>
          <p:nvPr/>
        </p:nvSpPr>
        <p:spPr>
          <a:xfrm>
            <a:off x="2514600" y="4114800"/>
            <a:ext cx="0" cy="146304"/>
          </a:xfrm>
          <a:prstGeom prst="line">
            <a:avLst/>
          </a:prstGeom>
          <a:noFill/>
          <a:ln w="12700">
            <a:solidFill>
              <a:srgbClr val="8B95A1"/>
            </a:solidFill>
            <a:prstDash val="solid"/>
            <a:tailEnd type="triangle"/>
          </a:ln>
        </p:spPr>
      </p:sp>
      <p:sp>
        <p:nvSpPr>
          <p:cNvPr id="22" name="Shape 20"/>
          <p:cNvSpPr/>
          <p:nvPr/>
        </p:nvSpPr>
        <p:spPr>
          <a:xfrm>
            <a:off x="548640" y="4261104"/>
            <a:ext cx="3931920" cy="512064"/>
          </a:xfrm>
          <a:prstGeom prst="roundRect">
            <a:avLst>
              <a:gd name="adj" fmla="val 14286"/>
            </a:avLst>
          </a:prstGeom>
          <a:solidFill>
            <a:srgbClr val="1C4E80"/>
          </a:solidFill>
          <a:ln w="12700">
            <a:solidFill>
              <a:srgbClr val="1C4E80"/>
            </a:solidFill>
            <a:prstDash val="solid"/>
          </a:ln>
        </p:spPr>
      </p:sp>
      <p:sp>
        <p:nvSpPr>
          <p:cNvPr id="23" name="Text 21"/>
          <p:cNvSpPr txBox="1"/>
          <p:nvPr/>
        </p:nvSpPr>
        <p:spPr>
          <a:xfrm>
            <a:off x="640080" y="4306824"/>
            <a:ext cx="3749040" cy="42062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Included (25 of them method papers retrieved separately)</a:t>
            </a:r>
            <a:endParaRPr lang="en-US" sz="1100" dirty="0"/>
          </a:p>
        </p:txBody>
      </p:sp>
      <p:sp>
        <p:nvSpPr>
          <p:cNvPr id="24" name="Text 22"/>
          <p:cNvSpPr txBox="1"/>
          <p:nvPr/>
        </p:nvSpPr>
        <p:spPr>
          <a:xfrm>
            <a:off x="4617720" y="4379976"/>
            <a:ext cx="2468880" cy="292608"/>
          </a:xfrm>
          <a:prstGeom prst="rect">
            <a:avLst/>
          </a:prstGeom>
          <a:noFill/>
          <a:ln/>
        </p:spPr>
        <p:txBody>
          <a:bodyPr wrap="square" lIns="0" tIns="0" rIns="0" bIns="0" rtlCol="0" anchor="t"/>
          <a:lstStyle/>
          <a:p>
            <a:pPr indent="0" marL="0">
              <a:buNone/>
            </a:pPr>
            <a:r>
              <a:rPr lang="en-US" sz="1250" b="1" dirty="0">
                <a:solidFill>
                  <a:srgbClr val="1C4E80"/>
                </a:solidFill>
                <a:latin typeface="Calibri" pitchFamily="34" charset="0"/>
                <a:ea typeface="Calibri" pitchFamily="34" charset="-122"/>
                <a:cs typeface="Calibri" pitchFamily="34" charset="-120"/>
              </a:rPr>
              <a:t>250 studies</a:t>
            </a:r>
            <a:endParaRPr lang="en-US" sz="1250" dirty="0"/>
          </a:p>
        </p:txBody>
      </p:sp>
      <p:sp>
        <p:nvSpPr>
          <p:cNvPr id="25" name="Text 23"/>
          <p:cNvSpPr txBox="1"/>
          <p:nvPr/>
        </p:nvSpPr>
        <p:spPr>
          <a:xfrm>
            <a:off x="548640" y="4983480"/>
            <a:ext cx="6583680" cy="1234440"/>
          </a:xfrm>
          <a:prstGeom prst="rect">
            <a:avLst/>
          </a:prstGeom>
          <a:noFill/>
          <a:ln/>
        </p:spPr>
        <p:txBody>
          <a:bodyPr wrap="square" lIns="0" tIns="0" rIns="0" bIns="0" rtlCol="0" anchor="t"/>
          <a:lstStyle/>
          <a:p>
            <a:pPr marL="165100" indent="-165100">
              <a:spcAft>
                <a:spcPts val="400"/>
              </a:spcAft>
              <a:buSzPct val="100000"/>
              <a:buChar char="•"/>
            </a:pPr>
            <a:r>
              <a:rPr lang="en-US" sz="1150" b="1" dirty="0">
                <a:solidFill>
                  <a:srgbClr val="4B5563"/>
                </a:solidFill>
                <a:latin typeface="Calibri" pitchFamily="34" charset="0"/>
                <a:ea typeface="Calibri" pitchFamily="34" charset="-122"/>
                <a:cs typeface="Calibri" pitchFamily="34" charset="-120"/>
              </a:rPr>
              <a:t>By theme: </a:t>
            </a:r>
            <a:r>
              <a:rPr lang="en-US" sz="1150" dirty="0">
                <a:solidFill>
                  <a:srgbClr val="4B5563"/>
                </a:solidFill>
                <a:latin typeface="Calibri" pitchFamily="34" charset="0"/>
                <a:ea typeface="Calibri" pitchFamily="34" charset="-122"/>
                <a:cs typeface="Calibri" pitchFamily="34" charset="-120"/>
              </a:rPr>
              <a:t>surveys &amp; rider groups 48 · drivers 44 · forecasting 68 · service design 90; 60 explicitly rural or low-demand.</a:t>
            </a:r>
            <a:endParaRPr lang="en-US" sz="1150" dirty="0"/>
          </a:p>
          <a:p>
            <a:pPr marL="165100" indent="-165100">
              <a:spcAft>
                <a:spcPts val="400"/>
              </a:spcAft>
              <a:buSzPct val="100000"/>
              <a:buChar char="•"/>
            </a:pPr>
            <a:r>
              <a:rPr lang="en-US" sz="1150" b="1" dirty="0">
                <a:solidFill>
                  <a:srgbClr val="4B5563"/>
                </a:solidFill>
                <a:latin typeface="Calibri" pitchFamily="34" charset="0"/>
                <a:ea typeface="Calibri" pitchFamily="34" charset="-122"/>
                <a:cs typeface="Calibri" pitchFamily="34" charset="-120"/>
              </a:rPr>
              <a:t>Rule vs. manual agreement was low </a:t>
            </a:r>
            <a:r>
              <a:rPr lang="en-US" sz="1150" dirty="0">
                <a:solidFill>
                  <a:srgbClr val="4B5563"/>
                </a:solidFill>
                <a:latin typeface="Calibri" pitchFamily="34" charset="0"/>
                <a:ea typeface="Calibri" pitchFamily="34" charset="-122"/>
                <a:cs typeface="Calibri" pitchFamily="34" charset="-120"/>
              </a:rPr>
              <a:t>(Cohen's κ = 0.41, recall 0.46), so rules only narrowed reading; inclusion was decided manually.</a:t>
            </a:r>
            <a:endParaRPr lang="en-US" sz="1150" dirty="0"/>
          </a:p>
        </p:txBody>
      </p:sp>
      <p:sp>
        <p:nvSpPr>
          <p:cNvPr id="26" name="Shape 24"/>
          <p:cNvSpPr/>
          <p:nvPr/>
        </p:nvSpPr>
        <p:spPr>
          <a:xfrm>
            <a:off x="7406640" y="1261872"/>
            <a:ext cx="4236415" cy="5029200"/>
          </a:xfrm>
          <a:prstGeom prst="rect">
            <a:avLst/>
          </a:prstGeom>
          <a:solidFill>
            <a:srgbClr val="F3F5F8"/>
          </a:solidFill>
          <a:ln w="12700">
            <a:solidFill>
              <a:srgbClr val="F3F5F8"/>
            </a:solidFill>
            <a:prstDash val="solid"/>
          </a:ln>
        </p:spPr>
      </p:sp>
      <p:sp>
        <p:nvSpPr>
          <p:cNvPr id="27" name="Text 25"/>
          <p:cNvSpPr txBox="1"/>
          <p:nvPr/>
        </p:nvSpPr>
        <p:spPr>
          <a:xfrm>
            <a:off x="7589520" y="1371600"/>
            <a:ext cx="38404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CHINESE-LANGUAGE SUPPLEMENT</a:t>
            </a:r>
            <a:endParaRPr lang="en-US" sz="1000" dirty="0"/>
          </a:p>
        </p:txBody>
      </p:sp>
      <p:sp>
        <p:nvSpPr>
          <p:cNvPr id="28" name="Text 26"/>
          <p:cNvSpPr txBox="1"/>
          <p:nvPr/>
        </p:nvSpPr>
        <p:spPr>
          <a:xfrm>
            <a:off x="7589520" y="1691640"/>
            <a:ext cx="3916375" cy="3291840"/>
          </a:xfrm>
          <a:prstGeom prst="rect">
            <a:avLst/>
          </a:prstGeom>
          <a:noFill/>
          <a:ln/>
        </p:spPr>
        <p:txBody>
          <a:bodyPr wrap="square" lIns="0" tIns="0" rIns="0" bIns="0" rtlCol="0" anchor="t"/>
          <a:lstStyle/>
          <a:p>
            <a:pPr marL="165100" indent="-165100">
              <a:spcAft>
                <a:spcPts val="400"/>
              </a:spcAft>
              <a:buSzPct val="100000"/>
              <a:buChar char="•"/>
            </a:pPr>
            <a:r>
              <a:rPr lang="en-US" sz="1100" b="1" dirty="0">
                <a:solidFill>
                  <a:srgbClr val="1F2937"/>
                </a:solidFill>
                <a:latin typeface="Calibri" pitchFamily="34" charset="0"/>
                <a:ea typeface="Calibri" pitchFamily="34" charset="-122"/>
                <a:cs typeface="Calibri" pitchFamily="34" charset="-120"/>
              </a:rPr>
              <a:t>7 compliant retrieval routes </a:t>
            </a:r>
            <a:r>
              <a:rPr lang="en-US" sz="1100" dirty="0">
                <a:solidFill>
                  <a:srgbClr val="1F2937"/>
                </a:solidFill>
                <a:latin typeface="Calibri" pitchFamily="34" charset="0"/>
                <a:ea typeface="Calibri" pitchFamily="34" charset="-122"/>
                <a:cs typeface="Calibri" pitchFamily="34" charset="-120"/>
              </a:rPr>
              <a:t>(no access controls bypassed): OpenAlex 16,448 + Crossref 8,800 records → 12,565 unique.</a:t>
            </a:r>
            <a:endParaRPr lang="en-US" sz="1100" dirty="0"/>
          </a:p>
          <a:p>
            <a:pPr marL="165100" indent="-165100">
              <a:spcAft>
                <a:spcPts val="400"/>
              </a:spcAft>
              <a:buSzPct val="100000"/>
              <a:buChar char="•"/>
            </a:pPr>
            <a:r>
              <a:rPr lang="en-US" sz="1100" b="1" dirty="0">
                <a:solidFill>
                  <a:srgbClr val="1F2937"/>
                </a:solidFill>
                <a:latin typeface="Calibri" pitchFamily="34" charset="0"/>
                <a:ea typeface="Calibri" pitchFamily="34" charset="-122"/>
                <a:cs typeface="Calibri" pitchFamily="34" charset="-120"/>
              </a:rPr>
              <a:t>Concept tagging </a:t>
            </a:r>
            <a:r>
              <a:rPr lang="en-US" sz="1100" dirty="0">
                <a:solidFill>
                  <a:srgbClr val="1F2937"/>
                </a:solidFill>
                <a:latin typeface="Calibri" pitchFamily="34" charset="0"/>
                <a:ea typeface="Calibri" pitchFamily="34" charset="-122"/>
                <a:cs typeface="Calibri" pitchFamily="34" charset="-120"/>
              </a:rPr>
              <a:t>(bus · rural · calendar time · method): 140 A-tier, 284 B-tier; 21 in core journals.</a:t>
            </a:r>
            <a:endParaRPr lang="en-US" sz="1100" dirty="0"/>
          </a:p>
          <a:p>
            <a:pPr marL="165100" indent="-165100">
              <a:spcAft>
                <a:spcPts val="400"/>
              </a:spcAft>
              <a:buSzPct val="100000"/>
              <a:buChar char="•"/>
            </a:pPr>
            <a:r>
              <a:rPr lang="en-US" sz="1100" b="1" dirty="0">
                <a:solidFill>
                  <a:srgbClr val="1F2937"/>
                </a:solidFill>
                <a:latin typeface="Calibri" pitchFamily="34" charset="0"/>
                <a:ea typeface="Calibri" pitchFamily="34" charset="-122"/>
                <a:cs typeface="Calibri" pitchFamily="34" charset="-120"/>
              </a:rPr>
              <a:t>10 papers verified </a:t>
            </a:r>
            <a:r>
              <a:rPr lang="en-US" sz="1100" dirty="0">
                <a:solidFill>
                  <a:srgbClr val="1F2937"/>
                </a:solidFill>
                <a:latin typeface="Calibri" pitchFamily="34" charset="0"/>
                <a:ea typeface="Calibri" pitchFamily="34" charset="-122"/>
                <a:cs typeface="Calibri" pitchFamily="34" charset="-120"/>
              </a:rPr>
              <a:t>against publisher pages (e.g., Progress in Geography, Human Geography, J. Highway &amp; Transportation R&amp;D).</a:t>
            </a:r>
            <a:endParaRPr lang="en-US" sz="1100" dirty="0"/>
          </a:p>
          <a:p>
            <a:pPr marL="165100" indent="-165100">
              <a:spcAft>
                <a:spcPts val="400"/>
              </a:spcAft>
              <a:buSzPct val="100000"/>
              <a:buChar char="•"/>
            </a:pPr>
            <a:r>
              <a:rPr lang="en-US" sz="1100" b="1" dirty="0">
                <a:solidFill>
                  <a:srgbClr val="1F2937"/>
                </a:solidFill>
                <a:latin typeface="Calibri" pitchFamily="34" charset="0"/>
                <a:ea typeface="Calibri" pitchFamily="34" charset="-122"/>
                <a:cs typeface="Calibri" pitchFamily="34" charset="-120"/>
              </a:rPr>
              <a:t>Finding: </a:t>
            </a:r>
            <a:r>
              <a:rPr lang="en-US" sz="1100" dirty="0">
                <a:solidFill>
                  <a:srgbClr val="1F2937"/>
                </a:solidFill>
                <a:latin typeface="Calibri" pitchFamily="34" charset="0"/>
                <a:ea typeface="Calibri" pitchFamily="34" charset="-122"/>
                <a:cs typeface="Calibri" pitchFamily="34" charset="-120"/>
              </a:rPr>
              <a:t>none studies run-level ridership of county urban–rural buses — within publicly reachable sources.</a:t>
            </a:r>
            <a:endParaRPr lang="en-US" sz="1100" dirty="0"/>
          </a:p>
          <a:p>
            <a:pPr marL="165100" indent="-165100">
              <a:spcAft>
                <a:spcPts val="400"/>
              </a:spcAft>
              <a:buSzPct val="100000"/>
              <a:buChar char="•"/>
            </a:pPr>
            <a:r>
              <a:rPr lang="en-US" sz="1100" b="1" dirty="0">
                <a:solidFill>
                  <a:srgbClr val="1F2937"/>
                </a:solidFill>
                <a:latin typeface="Calibri" pitchFamily="34" charset="0"/>
                <a:ea typeface="Calibri" pitchFamily="34" charset="-122"/>
                <a:cs typeface="Calibri" pitchFamily="34" charset="-120"/>
              </a:rPr>
              <a:t>Pending: </a:t>
            </a:r>
            <a:r>
              <a:rPr lang="en-US" sz="1100" dirty="0">
                <a:solidFill>
                  <a:srgbClr val="1F2937"/>
                </a:solidFill>
                <a:latin typeface="Calibri" pitchFamily="34" charset="0"/>
                <a:ea typeface="Calibri" pitchFamily="34" charset="-122"/>
                <a:cs typeface="Calibri" pitchFamily="34" charset="-120"/>
              </a:rPr>
              <a:t>seven CNKI search strings, run under an institutional account, before conclusions are final.</a:t>
            </a:r>
            <a:endParaRPr lang="en-US" sz="1100" dirty="0"/>
          </a:p>
        </p:txBody>
      </p:sp>
      <p:sp>
        <p:nvSpPr>
          <p:cNvPr id="29" name="Text 27"/>
          <p:cNvSpPr txBox="1"/>
          <p:nvPr/>
        </p:nvSpPr>
        <p:spPr>
          <a:xfrm>
            <a:off x="7589520" y="5029200"/>
            <a:ext cx="38404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METHOD SOURCES</a:t>
            </a:r>
            <a:endParaRPr lang="en-US" sz="1000" dirty="0"/>
          </a:p>
        </p:txBody>
      </p:sp>
      <p:sp>
        <p:nvSpPr>
          <p:cNvPr id="30" name="Text 28"/>
          <p:cNvSpPr txBox="1"/>
          <p:nvPr/>
        </p:nvSpPr>
        <p:spPr>
          <a:xfrm>
            <a:off x="7589520" y="5285232"/>
            <a:ext cx="3916375" cy="91440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Traced to originals and DOI-checked: interaction scale, GA2M, boosting, ridge, demand unconstraining, GAMLSS, forecast reconciliation, chance constraints, SAA, integrated population models.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1 OF 6 · RIDERS AND SURVEYS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Who rides rural buses — and what surveys can and cannot see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13 / 39</a:t>
            </a:r>
            <a:endParaRPr lang="en-US" sz="850" dirty="0"/>
          </a:p>
        </p:txBody>
      </p:sp>
      <p:sp>
        <p:nvSpPr>
          <p:cNvPr id="6" name="Text 4"/>
          <p:cNvSpPr txBox="1"/>
          <p:nvPr/>
        </p:nvSpPr>
        <p:spPr>
          <a:xfrm>
            <a:off x="548640" y="1261872"/>
            <a:ext cx="6812280" cy="365760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Rural riders are concentrated among older adults, students, car-less and low-income households; trips serve health care, shopping, school and errands.</a:t>
            </a:r>
            <a:r>
              <a:rPr lang="en-US" sz="950" dirty="0">
                <a:solidFill>
                  <a:srgbClr val="8B95A1"/>
                </a:solidFill>
                <a:latin typeface="Calibri" pitchFamily="34" charset="0"/>
                <a:ea typeface="Calibri" pitchFamily="34" charset="-122"/>
                <a:cs typeface="Calibri" pitchFamily="34" charset="-120"/>
              </a:rPr>
              <a:t> [1–3]</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Survey mode decides who is visible: household surveys reach non-riders; on-board surveys tie answers to a specific run.</a:t>
            </a:r>
            <a:r>
              <a:rPr lang="en-US" sz="950" dirty="0">
                <a:solidFill>
                  <a:srgbClr val="8B95A1"/>
                </a:solidFill>
                <a:latin typeface="Calibri" pitchFamily="34" charset="0"/>
                <a:ea typeface="Calibri" pitchFamily="34" charset="-122"/>
                <a:cs typeface="Calibri" pitchFamily="34" charset="-120"/>
              </a:rPr>
              <a:t> [4]</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Non-response is selective (frequent travellers are hard to reach) but can be partly corrected by calibration weighting / raking.</a:t>
            </a:r>
            <a:r>
              <a:rPr lang="en-US" sz="950" dirty="0">
                <a:solidFill>
                  <a:srgbClr val="8B95A1"/>
                </a:solidFill>
                <a:latin typeface="Calibri" pitchFamily="34" charset="0"/>
                <a:ea typeface="Calibri" pitchFamily="34" charset="-122"/>
                <a:cs typeface="Calibri" pitchFamily="34" charset="-120"/>
              </a:rPr>
              <a:t> [5, 6]</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On-board intercept, household and online surveys; mixed-mode designs need checks for mode effects.</a:t>
            </a:r>
            <a:r>
              <a:rPr lang="en-US" sz="950" dirty="0">
                <a:solidFill>
                  <a:srgbClr val="8B95A1"/>
                </a:solidFill>
                <a:latin typeface="Calibri" pitchFamily="34" charset="0"/>
                <a:ea typeface="Calibri" pitchFamily="34" charset="-122"/>
                <a:cs typeface="Calibri" pitchFamily="34" charset="-120"/>
              </a:rPr>
              <a:t> [4, 6]</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Rider typologies from smart-card regularities or latent-class analysis; satisfaction and service-quality scales.</a:t>
            </a:r>
            <a:r>
              <a:rPr lang="en-US" sz="950" dirty="0">
                <a:solidFill>
                  <a:srgbClr val="8B95A1"/>
                </a:solidFill>
                <a:latin typeface="Calibri" pitchFamily="34" charset="0"/>
                <a:ea typeface="Calibri" pitchFamily="34" charset="-122"/>
                <a:cs typeface="Calibri" pitchFamily="34" charset="-120"/>
              </a:rPr>
              <a:t> [7]</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Surveys are used to describe riders; their results rarely enter ridership models, and counts rarely calibrate surveys.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Suppressed demand — trips not made for lack of a suitable bus — is invisible in boarding data.</a:t>
            </a:r>
            <a:r>
              <a:rPr lang="en-US" sz="950" dirty="0">
                <a:solidFill>
                  <a:srgbClr val="8B95A1"/>
                </a:solidFill>
                <a:latin typeface="Calibri" pitchFamily="34" charset="0"/>
                <a:ea typeface="Calibri" pitchFamily="34" charset="-122"/>
                <a:cs typeface="Calibri" pitchFamily="34" charset="-120"/>
              </a:rPr>
              <a:t> [8]</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Long attitude batteries overload older respondents on moving, winding buses (satisficing).</a:t>
            </a:r>
            <a:r>
              <a:rPr lang="en-US" sz="950" dirty="0">
                <a:solidFill>
                  <a:srgbClr val="8B95A1"/>
                </a:solidFill>
                <a:latin typeface="Calibri" pitchFamily="34" charset="0"/>
                <a:ea typeface="Calibri" pitchFamily="34" charset="-122"/>
                <a:cs typeface="Calibri" pitchFamily="34" charset="-120"/>
              </a:rPr>
              <a:t> [9]</a:t>
            </a:r>
            <a:endParaRPr lang="en-US" sz="1250" dirty="0"/>
          </a:p>
        </p:txBody>
      </p:sp>
      <p:sp>
        <p:nvSpPr>
          <p:cNvPr id="7" name="Shape 5"/>
          <p:cNvSpPr/>
          <p:nvPr/>
        </p:nvSpPr>
        <p:spPr>
          <a:xfrm>
            <a:off x="548640" y="5029200"/>
            <a:ext cx="6812280" cy="1261872"/>
          </a:xfrm>
          <a:prstGeom prst="rect">
            <a:avLst/>
          </a:prstGeom>
          <a:solidFill>
            <a:srgbClr val="FBEDE5"/>
          </a:solidFill>
          <a:ln w="12700">
            <a:solidFill>
              <a:srgbClr val="FBEDE5"/>
            </a:solidFill>
            <a:prstDash val="solid"/>
          </a:ln>
        </p:spPr>
      </p:sp>
      <p:sp>
        <p:nvSpPr>
          <p:cNvPr id="8" name="Text 6"/>
          <p:cNvSpPr txBox="1"/>
          <p:nvPr/>
        </p:nvSpPr>
        <p:spPr>
          <a:xfrm>
            <a:off x="685800" y="511149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40096"/>
            <a:ext cx="6537960" cy="8778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Surveys and ledger share a run key. On-board rider-type counts enter the joint model as a multinomial likelihood — used to diagnose the model's decomposition (idea borrowed from integrated population models [10]). Household surveys measure non-riders' unmet demand. Behaviour questions replace Likert batteries; on-board interviews are capped at 5 minutes.</a:t>
            </a:r>
            <a:endParaRPr lang="en-US" sz="120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1020" b="1" dirty="0">
                <a:solidFill>
                  <a:srgbClr val="1C4E80"/>
                </a:solidFill>
                <a:latin typeface="Calibri" pitchFamily="34" charset="0"/>
                <a:ea typeface="Calibri" pitchFamily="34" charset="-122"/>
                <a:cs typeface="Calibri" pitchFamily="34" charset="-120"/>
              </a:rPr>
              <a:t>[1] </a:t>
            </a:r>
            <a:r>
              <a:rPr lang="en-US" sz="1020" b="1" dirty="0">
                <a:solidFill>
                  <a:srgbClr val="1F2937"/>
                </a:solidFill>
                <a:latin typeface="Calibri" pitchFamily="34" charset="0"/>
                <a:ea typeface="Calibri" pitchFamily="34" charset="-122"/>
                <a:cs typeface="Calibri" pitchFamily="34" charset="-120"/>
              </a:rPr>
              <a:t>Pucher &amp; Renne (2005)</a:t>
            </a:r>
            <a:r>
              <a:rPr lang="en-US" sz="1020" i="1" dirty="0">
                <a:solidFill>
                  <a:srgbClr val="8B95A1"/>
                </a:solidFill>
                <a:latin typeface="Calibri" pitchFamily="34" charset="0"/>
                <a:ea typeface="Calibri" pitchFamily="34" charset="-122"/>
                <a:cs typeface="Calibri" pitchFamily="34" charset="-120"/>
              </a:rPr>
              <a:t>  Transportation</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Rural mobility and mode choice from the 2001 US NHTS: rural households are highly car-dependent; those without cars are disadvantaged.</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[2] </a:t>
            </a:r>
            <a:r>
              <a:rPr lang="en-US" sz="1020" b="1" dirty="0">
                <a:solidFill>
                  <a:srgbClr val="1F2937"/>
                </a:solidFill>
                <a:latin typeface="Calibri" pitchFamily="34" charset="0"/>
                <a:ea typeface="Calibri" pitchFamily="34" charset="-122"/>
                <a:cs typeface="Calibri" pitchFamily="34" charset="-120"/>
              </a:rPr>
              <a:t>Berg &amp; Ihlström (2019)</a:t>
            </a:r>
            <a:r>
              <a:rPr lang="en-US" sz="1020" i="1" dirty="0">
                <a:solidFill>
                  <a:srgbClr val="8B95A1"/>
                </a:solidFill>
                <a:latin typeface="Calibri" pitchFamily="34" charset="0"/>
                <a:ea typeface="Calibri" pitchFamily="34" charset="-122"/>
                <a:cs typeface="Calibri" pitchFamily="34" charset="-120"/>
              </a:rPr>
              <a:t>  Social Sciences</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Public transport matters for everyday activities of rural residents without car access (Sweden).</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[3] </a:t>
            </a:r>
            <a:r>
              <a:rPr lang="en-US" sz="1020" b="1" dirty="0">
                <a:solidFill>
                  <a:srgbClr val="1F2937"/>
                </a:solidFill>
                <a:latin typeface="Calibri" pitchFamily="34" charset="0"/>
                <a:ea typeface="Calibri" pitchFamily="34" charset="-122"/>
                <a:cs typeface="Calibri" pitchFamily="34" charset="-120"/>
              </a:rPr>
              <a:t>Yang &amp; Cherry (2016); Espeland &amp; Rowangould (2024)</a:t>
            </a:r>
            <a:r>
              <a:rPr lang="en-US" sz="1020" i="1" dirty="0">
                <a:solidFill>
                  <a:srgbClr val="8B95A1"/>
                </a:solidFill>
                <a:latin typeface="Calibri" pitchFamily="34" charset="0"/>
                <a:ea typeface="Calibri" pitchFamily="34" charset="-122"/>
                <a:cs typeface="Calibri" pitchFamily="34" charset="-120"/>
              </a:rPr>
              <a:t>  TPT; JTG</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Rural riders skew older and lower-income; rural travel burdens and unmet need in the US.</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[4] </a:t>
            </a:r>
            <a:r>
              <a:rPr lang="en-US" sz="1020" b="1" dirty="0">
                <a:solidFill>
                  <a:srgbClr val="1F2937"/>
                </a:solidFill>
                <a:latin typeface="Calibri" pitchFamily="34" charset="0"/>
                <a:ea typeface="Calibri" pitchFamily="34" charset="-122"/>
                <a:cs typeface="Calibri" pitchFamily="34" charset="-120"/>
              </a:rPr>
              <a:t>Stopher &amp; Greaves (2007); Newmark (2014)</a:t>
            </a:r>
            <a:r>
              <a:rPr lang="en-US" sz="1020" i="1" dirty="0">
                <a:solidFill>
                  <a:srgbClr val="8B95A1"/>
                </a:solidFill>
                <a:latin typeface="Calibri" pitchFamily="34" charset="0"/>
                <a:ea typeface="Calibri" pitchFamily="34" charset="-122"/>
                <a:cs typeface="Calibri" pitchFamily="34" charset="-120"/>
              </a:rPr>
              <a:t>  TR-A; JPT</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Household vs. transit-agency (on-board) survey practice and coverage.</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[5] </a:t>
            </a:r>
            <a:r>
              <a:rPr lang="en-US" sz="1020" b="1" dirty="0">
                <a:solidFill>
                  <a:srgbClr val="1F2937"/>
                </a:solidFill>
                <a:latin typeface="Calibri" pitchFamily="34" charset="0"/>
                <a:ea typeface="Calibri" pitchFamily="34" charset="-122"/>
                <a:cs typeface="Calibri" pitchFamily="34" charset="-120"/>
              </a:rPr>
              <a:t>Kuhnimhof, Chlond &amp; Zumkeller (2006)</a:t>
            </a:r>
            <a:r>
              <a:rPr lang="en-US" sz="1020" i="1" dirty="0">
                <a:solidFill>
                  <a:srgbClr val="8B95A1"/>
                </a:solidFill>
                <a:latin typeface="Calibri" pitchFamily="34" charset="0"/>
                <a:ea typeface="Calibri" pitchFamily="34" charset="-122"/>
                <a:cs typeface="Calibri" pitchFamily="34" charset="-120"/>
              </a:rPr>
              <a:t>  TRR</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Non-response and selectivity bias in travel surveys.</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[6] </a:t>
            </a:r>
            <a:r>
              <a:rPr lang="en-US" sz="1020" b="1" dirty="0">
                <a:solidFill>
                  <a:srgbClr val="1F2937"/>
                </a:solidFill>
                <a:latin typeface="Calibri" pitchFamily="34" charset="0"/>
                <a:ea typeface="Calibri" pitchFamily="34" charset="-122"/>
                <a:cs typeface="Calibri" pitchFamily="34" charset="-120"/>
              </a:rPr>
              <a:t>Deville &amp; Särndal (1992); Kolenikov (2014)</a:t>
            </a:r>
            <a:r>
              <a:rPr lang="en-US" sz="1020" i="1" dirty="0">
                <a:solidFill>
                  <a:srgbClr val="8B95A1"/>
                </a:solidFill>
                <a:latin typeface="Calibri" pitchFamily="34" charset="0"/>
                <a:ea typeface="Calibri" pitchFamily="34" charset="-122"/>
                <a:cs typeface="Calibri" pitchFamily="34" charset="-120"/>
              </a:rPr>
              <a:t>  JASA; Stata J.</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Calibration estimators; raking (iterative proportional fitting).</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[7] </a:t>
            </a:r>
            <a:r>
              <a:rPr lang="en-US" sz="1020" b="1" dirty="0">
                <a:solidFill>
                  <a:srgbClr val="1F2937"/>
                </a:solidFill>
                <a:latin typeface="Calibri" pitchFamily="34" charset="0"/>
                <a:ea typeface="Calibri" pitchFamily="34" charset="-122"/>
                <a:cs typeface="Calibri" pitchFamily="34" charset="-120"/>
              </a:rPr>
              <a:t>Kieu, Bhaskar &amp; Chung (2014)</a:t>
            </a:r>
            <a:r>
              <a:rPr lang="en-US" sz="1020" i="1" dirty="0">
                <a:solidFill>
                  <a:srgbClr val="8B95A1"/>
                </a:solidFill>
                <a:latin typeface="Calibri" pitchFamily="34" charset="0"/>
                <a:ea typeface="Calibri" pitchFamily="34" charset="-122"/>
                <a:cs typeface="Calibri" pitchFamily="34" charset="-120"/>
              </a:rPr>
              <a:t>  QUT ePrints</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Passenger segmentation by travel regularity from smart-card data.</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[8] </a:t>
            </a:r>
            <a:r>
              <a:rPr lang="en-US" sz="1020" b="1" dirty="0">
                <a:solidFill>
                  <a:srgbClr val="1F2937"/>
                </a:solidFill>
                <a:latin typeface="Calibri" pitchFamily="34" charset="0"/>
                <a:ea typeface="Calibri" pitchFamily="34" charset="-122"/>
                <a:cs typeface="Calibri" pitchFamily="34" charset="-120"/>
              </a:rPr>
              <a:t>Church, Frost &amp; Sullivan (2000); Lucas (2012)</a:t>
            </a:r>
            <a:r>
              <a:rPr lang="en-US" sz="1020" i="1" dirty="0">
                <a:solidFill>
                  <a:srgbClr val="8B95A1"/>
                </a:solidFill>
                <a:latin typeface="Calibri" pitchFamily="34" charset="0"/>
                <a:ea typeface="Calibri" pitchFamily="34" charset="-122"/>
                <a:cs typeface="Calibri" pitchFamily="34" charset="-120"/>
              </a:rPr>
              <a:t>  Transport Policy</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Transport and social exclusion: activities forgone for lack of transport.</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[9] </a:t>
            </a:r>
            <a:r>
              <a:rPr lang="en-US" sz="1020" b="1" dirty="0">
                <a:solidFill>
                  <a:srgbClr val="1F2937"/>
                </a:solidFill>
                <a:latin typeface="Calibri" pitchFamily="34" charset="0"/>
                <a:ea typeface="Calibri" pitchFamily="34" charset="-122"/>
                <a:cs typeface="Calibri" pitchFamily="34" charset="-120"/>
              </a:rPr>
              <a:t>Krosnick (1991)</a:t>
            </a:r>
            <a:r>
              <a:rPr lang="en-US" sz="1020" i="1" dirty="0">
                <a:solidFill>
                  <a:srgbClr val="8B95A1"/>
                </a:solidFill>
                <a:latin typeface="Calibri" pitchFamily="34" charset="0"/>
                <a:ea typeface="Calibri" pitchFamily="34" charset="-122"/>
                <a:cs typeface="Calibri" pitchFamily="34" charset="-120"/>
              </a:rPr>
              <a:t>  Appl. Cognitive Psychology</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Satisficing under cognitive burden degrades survey answers.</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[10] </a:t>
            </a:r>
            <a:r>
              <a:rPr lang="en-US" sz="1020" b="1" dirty="0">
                <a:solidFill>
                  <a:srgbClr val="1F2937"/>
                </a:solidFill>
                <a:latin typeface="Calibri" pitchFamily="34" charset="0"/>
                <a:ea typeface="Calibri" pitchFamily="34" charset="-122"/>
                <a:cs typeface="Calibri" pitchFamily="34" charset="-120"/>
              </a:rPr>
              <a:t>Schaub &amp; Abadi (2011)</a:t>
            </a:r>
            <a:r>
              <a:rPr lang="en-US" sz="1020" i="1" dirty="0">
                <a:solidFill>
                  <a:srgbClr val="8B95A1"/>
                </a:solidFill>
                <a:latin typeface="Calibri" pitchFamily="34" charset="0"/>
                <a:ea typeface="Calibri" pitchFamily="34" charset="-122"/>
                <a:cs typeface="Calibri" pitchFamily="34" charset="-120"/>
              </a:rPr>
              <a:t>  J. Ornithology</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Integrated population models: counts and individual data share one likelihood.</a:t>
            </a:r>
            <a:endParaRPr lang="en-US" sz="10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2 OF 6 · DEMAND DRIVERS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What drives ridership: weather, seasons, holidays — and rural rhythms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14 / 39</a:t>
            </a:r>
            <a:endParaRPr lang="en-US" sz="850" dirty="0"/>
          </a:p>
        </p:txBody>
      </p:sp>
      <p:sp>
        <p:nvSpPr>
          <p:cNvPr id="6" name="Text 4"/>
          <p:cNvSpPr txBox="1"/>
          <p:nvPr/>
        </p:nvSpPr>
        <p:spPr>
          <a:xfrm>
            <a:off x="548640" y="1261872"/>
            <a:ext cx="6812280" cy="370332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Weather is the best-studied driver: rain and cold reduce ridership, non-linearly, varying by place, season and trip purpose; non-urban evidence is scarce.</a:t>
            </a:r>
            <a:r>
              <a:rPr lang="en-US" sz="950" dirty="0">
                <a:solidFill>
                  <a:srgbClr val="8B95A1"/>
                </a:solidFill>
                <a:latin typeface="Calibri" pitchFamily="34" charset="0"/>
                <a:ea typeface="Calibri" pitchFamily="34" charset="-122"/>
                <a:cs typeface="Calibri" pitchFamily="34" charset="-120"/>
              </a:rPr>
              <a:t> [1–5]</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Ridership carries layered seasonality — weekly, annual and holiday cycles superimposed.</a:t>
            </a:r>
            <a:r>
              <a:rPr lang="en-US" sz="950" dirty="0">
                <a:solidFill>
                  <a:srgbClr val="8B95A1"/>
                </a:solidFill>
                <a:latin typeface="Calibri" pitchFamily="34" charset="0"/>
                <a:ea typeface="Calibri" pitchFamily="34" charset="-122"/>
                <a:cs typeface="Calibri" pitchFamily="34" charset="-120"/>
              </a:rPr>
              <a:t> [6]</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Holidays and the Spring Festival reshape mobility strongly, with clear spatio-temporal structure — measured at inter-provincial, inter-city or metro scale.</a:t>
            </a:r>
            <a:r>
              <a:rPr lang="en-US" sz="950" dirty="0">
                <a:solidFill>
                  <a:srgbClr val="8B95A1"/>
                </a:solidFill>
                <a:latin typeface="Calibri" pitchFamily="34" charset="0"/>
                <a:ea typeface="Calibri" pitchFamily="34" charset="-122"/>
                <a:cs typeface="Calibri" pitchFamily="34" charset="-120"/>
              </a:rPr>
              <a:t> [7–9]</a:t>
            </a:r>
            <a:endParaRPr lang="en-US" sz="120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Holiday dummies in regression; group-mean comparisons; seasonal decomposition; day-of-week effects.</a:t>
            </a:r>
            <a:r>
              <a:rPr lang="en-US" sz="950" dirty="0">
                <a:solidFill>
                  <a:srgbClr val="8B95A1"/>
                </a:solidFill>
                <a:latin typeface="Calibri" pitchFamily="34" charset="0"/>
                <a:ea typeface="Calibri" pitchFamily="34" charset="-122"/>
                <a:cs typeface="Calibri" pitchFamily="34" charset="-120"/>
              </a:rPr>
              <a:t> [1, 6]</a:t>
            </a:r>
            <a:endParaRPr lang="en-US" sz="120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One holiday dummy treats a 3-day Qingming break like the 8-day National Day break, and ignores direction (out before, back after).</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Weekly commuting is absorbed by day-of-week dummies: the model fits “Friday”, not “students going home”, and fails when school is out.</a:t>
            </a:r>
            <a:endParaRPr lang="en-US" sz="1200" dirty="0"/>
          </a:p>
          <a:p>
            <a:pPr marL="165100" indent="-165100">
              <a:lnSpc>
                <a:spcPct val="98000"/>
              </a:lnSpc>
              <a:spcAft>
                <a:spcPts val="300"/>
              </a:spcAft>
              <a:buSzPct val="100000"/>
              <a:buChar char="•"/>
            </a:pPr>
            <a:r>
              <a:rPr lang="en-US" sz="1200" dirty="0">
                <a:solidFill>
                  <a:srgbClr val="1F2937"/>
                </a:solidFill>
                <a:latin typeface="Calibri" pitchFamily="34" charset="0"/>
                <a:ea typeface="Calibri" pitchFamily="34" charset="-122"/>
                <a:cs typeface="Calibri" pitchFamily="34" charset="-120"/>
              </a:rPr>
              <a:t>Periodic markets are studied for trip satisfaction, not run-level ridership; weekly student and worker commuting is not studied as a driver.</a:t>
            </a:r>
            <a:r>
              <a:rPr lang="en-US" sz="950" dirty="0">
                <a:solidFill>
                  <a:srgbClr val="8B95A1"/>
                </a:solidFill>
                <a:latin typeface="Calibri" pitchFamily="34" charset="0"/>
                <a:ea typeface="Calibri" pitchFamily="34" charset="-122"/>
                <a:cs typeface="Calibri" pitchFamily="34" charset="-120"/>
              </a:rPr>
              <a:t> [10, 11]</a:t>
            </a:r>
            <a:endParaRPr lang="en-US" sz="1200" dirty="0"/>
          </a:p>
        </p:txBody>
      </p:sp>
      <p:sp>
        <p:nvSpPr>
          <p:cNvPr id="7" name="Shape 5"/>
          <p:cNvSpPr/>
          <p:nvPr/>
        </p:nvSpPr>
        <p:spPr>
          <a:xfrm>
            <a:off x="548640" y="5074920"/>
            <a:ext cx="6812280" cy="1216152"/>
          </a:xfrm>
          <a:prstGeom prst="rect">
            <a:avLst/>
          </a:prstGeom>
          <a:solidFill>
            <a:srgbClr val="FBEDE5"/>
          </a:solidFill>
          <a:ln w="12700">
            <a:solidFill>
              <a:srgbClr val="FBEDE5"/>
            </a:solidFill>
            <a:prstDash val="solid"/>
          </a:ln>
        </p:spPr>
      </p:sp>
      <p:sp>
        <p:nvSpPr>
          <p:cNvPr id="8" name="Text 6"/>
          <p:cNvSpPr txBox="1"/>
          <p:nvPr/>
        </p:nvSpPr>
        <p:spPr>
          <a:xfrm>
            <a:off x="685800" y="515721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85816"/>
            <a:ext cx="6537960" cy="832104"/>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Encode drivers as explicit, directional calendar factors built from public sources: boarding-student weekly commute (S), worker weekly commute (W), term start/end surges (T), holiday return trips graded by cultural importance × length (R) and Spring Festival travel (CY). Weather, weekday and market day stay as baseline controls.</a:t>
            </a:r>
            <a:endParaRPr lang="en-US" sz="115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940" b="1" dirty="0">
                <a:solidFill>
                  <a:srgbClr val="1C4E80"/>
                </a:solidFill>
                <a:latin typeface="Calibri" pitchFamily="34" charset="0"/>
                <a:ea typeface="Calibri" pitchFamily="34" charset="-122"/>
                <a:cs typeface="Calibri" pitchFamily="34" charset="-120"/>
              </a:rPr>
              <a:t>[1] </a:t>
            </a:r>
            <a:r>
              <a:rPr lang="en-US" sz="940" b="1" dirty="0">
                <a:solidFill>
                  <a:srgbClr val="1F2937"/>
                </a:solidFill>
                <a:latin typeface="Calibri" pitchFamily="34" charset="0"/>
                <a:ea typeface="Calibri" pitchFamily="34" charset="-122"/>
                <a:cs typeface="Calibri" pitchFamily="34" charset="-120"/>
              </a:rPr>
              <a:t>Guo, Wilson &amp; Rahbee (2007)</a:t>
            </a:r>
            <a:r>
              <a:rPr lang="en-US" sz="940" i="1" dirty="0">
                <a:solidFill>
                  <a:srgbClr val="8B95A1"/>
                </a:solidFill>
                <a:latin typeface="Calibri" pitchFamily="34" charset="0"/>
                <a:ea typeface="Calibri" pitchFamily="34" charset="-122"/>
                <a:cs typeface="Calibri" pitchFamily="34" charset="-120"/>
              </a:rPr>
              <a:t>  TRR</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Weather and Chicago bus/rail ridership; weekends and off-peak react more.</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[2] </a:t>
            </a:r>
            <a:r>
              <a:rPr lang="en-US" sz="940" b="1" dirty="0">
                <a:solidFill>
                  <a:srgbClr val="1F2937"/>
                </a:solidFill>
                <a:latin typeface="Calibri" pitchFamily="34" charset="0"/>
                <a:ea typeface="Calibri" pitchFamily="34" charset="-122"/>
                <a:cs typeface="Calibri" pitchFamily="34" charset="-120"/>
              </a:rPr>
              <a:t>Singhal, Kamga &amp; Yazici (2014)</a:t>
            </a:r>
            <a:r>
              <a:rPr lang="en-US" sz="940" i="1" dirty="0">
                <a:solidFill>
                  <a:srgbClr val="8B95A1"/>
                </a:solidFill>
                <a:latin typeface="Calibri" pitchFamily="34" charset="0"/>
                <a:ea typeface="Calibri" pitchFamily="34" charset="-122"/>
                <a:cs typeface="Calibri" pitchFamily="34" charset="-120"/>
              </a:rPr>
              <a:t>  TR-A</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Hourly subway ridership in New York: weather effects differ by time of day and day type.</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[3] </a:t>
            </a:r>
            <a:r>
              <a:rPr lang="en-US" sz="940" b="1" dirty="0">
                <a:solidFill>
                  <a:srgbClr val="1F2937"/>
                </a:solidFill>
                <a:latin typeface="Calibri" pitchFamily="34" charset="0"/>
                <a:ea typeface="Calibri" pitchFamily="34" charset="-122"/>
                <a:cs typeface="Calibri" pitchFamily="34" charset="-120"/>
              </a:rPr>
              <a:t>Arana, Cabezudo &amp; Peñalba (2014)</a:t>
            </a:r>
            <a:r>
              <a:rPr lang="en-US" sz="940" i="1" dirty="0">
                <a:solidFill>
                  <a:srgbClr val="8B95A1"/>
                </a:solidFill>
                <a:latin typeface="Calibri" pitchFamily="34" charset="0"/>
                <a:ea typeface="Calibri" pitchFamily="34" charset="-122"/>
                <a:cs typeface="Calibri" pitchFamily="34" charset="-120"/>
              </a:rPr>
              <a:t>  TR-A</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Smart-card study: rain and wind cut trips, especially leisure trips.</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[4] </a:t>
            </a:r>
            <a:r>
              <a:rPr lang="en-US" sz="940" b="1" dirty="0">
                <a:solidFill>
                  <a:srgbClr val="1F2937"/>
                </a:solidFill>
                <a:latin typeface="Calibri" pitchFamily="34" charset="0"/>
                <a:ea typeface="Calibri" pitchFamily="34" charset="-122"/>
                <a:cs typeface="Calibri" pitchFamily="34" charset="-120"/>
              </a:rPr>
              <a:t>Wei (2021); Wei &amp; Liu (2022)</a:t>
            </a:r>
            <a:r>
              <a:rPr lang="en-US" sz="940" i="1" dirty="0">
                <a:solidFill>
                  <a:srgbClr val="8B95A1"/>
                </a:solidFill>
                <a:latin typeface="Calibri" pitchFamily="34" charset="0"/>
                <a:ea typeface="Calibri" pitchFamily="34" charset="-122"/>
                <a:cs typeface="Calibri" pitchFamily="34" charset="-120"/>
              </a:rPr>
              <a:t>  JTG; TBS</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Non-linear, threshold-like rainfall effects (“how wet is too wet?”).</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[5] </a:t>
            </a:r>
            <a:r>
              <a:rPr lang="en-US" sz="940" b="1" dirty="0">
                <a:solidFill>
                  <a:srgbClr val="1F2937"/>
                </a:solidFill>
                <a:latin typeface="Calibri" pitchFamily="34" charset="0"/>
                <a:ea typeface="Calibri" pitchFamily="34" charset="-122"/>
                <a:cs typeface="Calibri" pitchFamily="34" charset="-120"/>
              </a:rPr>
              <a:t>Stover &amp; McCormack (2012)</a:t>
            </a:r>
            <a:r>
              <a:rPr lang="en-US" sz="940" i="1" dirty="0">
                <a:solidFill>
                  <a:srgbClr val="8B95A1"/>
                </a:solidFill>
                <a:latin typeface="Calibri" pitchFamily="34" charset="0"/>
                <a:ea typeface="Calibri" pitchFamily="34" charset="-122"/>
                <a:cs typeface="Calibri" pitchFamily="34" charset="-120"/>
              </a:rPr>
              <a:t>  JPT</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One of few non-urban studies: weather and bus ridership in Pierce County, WA.</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[6] </a:t>
            </a:r>
            <a:r>
              <a:rPr lang="en-US" sz="940" b="1" dirty="0">
                <a:solidFill>
                  <a:srgbClr val="1F2937"/>
                </a:solidFill>
                <a:latin typeface="Calibri" pitchFamily="34" charset="0"/>
                <a:ea typeface="Calibri" pitchFamily="34" charset="-122"/>
                <a:cs typeface="Calibri" pitchFamily="34" charset="-120"/>
              </a:rPr>
              <a:t>Kashfi, Bunker &amp; Yiğitcanlar (2015, 2016)</a:t>
            </a:r>
            <a:r>
              <a:rPr lang="en-US" sz="940" i="1" dirty="0">
                <a:solidFill>
                  <a:srgbClr val="8B95A1"/>
                </a:solidFill>
                <a:latin typeface="Calibri" pitchFamily="34" charset="0"/>
                <a:ea typeface="Calibri" pitchFamily="34" charset="-122"/>
                <a:cs typeface="Calibri" pitchFamily="34" charset="-120"/>
              </a:rPr>
              <a:t>  JTG</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Complex seasonality plus weather in suburban daily ridership.</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[7] </a:t>
            </a:r>
            <a:r>
              <a:rPr lang="en-US" sz="940" b="1" dirty="0">
                <a:solidFill>
                  <a:srgbClr val="1F2937"/>
                </a:solidFill>
                <a:latin typeface="Calibri" pitchFamily="34" charset="0"/>
                <a:ea typeface="Calibri" pitchFamily="34" charset="-122"/>
                <a:cs typeface="Calibri" pitchFamily="34" charset="-120"/>
              </a:rPr>
              <a:t>Liu, Shi &amp; Chen (2020); Huang, Liu &amp; Zhao (2019)</a:t>
            </a:r>
            <a:r>
              <a:rPr lang="en-US" sz="940" i="1" dirty="0">
                <a:solidFill>
                  <a:srgbClr val="8B95A1"/>
                </a:solidFill>
                <a:latin typeface="Calibri" pitchFamily="34" charset="0"/>
                <a:ea typeface="Calibri" pitchFamily="34" charset="-122"/>
                <a:cs typeface="Calibri" pitchFamily="34" charset="-120"/>
              </a:rPr>
              <a:t>  IJGI</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Spring Festival changes metro, bus and taxi use in Shenzhen.</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[8] </a:t>
            </a:r>
            <a:r>
              <a:rPr lang="en-US" sz="940" b="1" dirty="0">
                <a:solidFill>
                  <a:srgbClr val="1F2937"/>
                </a:solidFill>
                <a:latin typeface="Calibri" pitchFamily="34" charset="0"/>
                <a:ea typeface="Calibri" pitchFamily="34" charset="-122"/>
                <a:cs typeface="Calibri" pitchFamily="34" charset="-120"/>
              </a:rPr>
              <a:t>Li et al. (2016); Wang et al. (2014); Zhou et al. (2020)</a:t>
            </a:r>
            <a:r>
              <a:rPr lang="en-US" sz="940" i="1" dirty="0">
                <a:solidFill>
                  <a:srgbClr val="8B95A1"/>
                </a:solidFill>
                <a:latin typeface="Calibri" pitchFamily="34" charset="0"/>
                <a:ea typeface="Calibri" pitchFamily="34" charset="-122"/>
                <a:cs typeface="Calibri" pitchFamily="34" charset="-120"/>
              </a:rPr>
              <a:t>  Sustainability; arXiv; IJGI</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National Spring Festival migration traced with big data.</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[9] </a:t>
            </a:r>
            <a:r>
              <a:rPr lang="en-US" sz="940" b="1" dirty="0">
                <a:solidFill>
                  <a:srgbClr val="1F2937"/>
                </a:solidFill>
                <a:latin typeface="Calibri" pitchFamily="34" charset="0"/>
                <a:ea typeface="Calibri" pitchFamily="34" charset="-122"/>
                <a:cs typeface="Calibri" pitchFamily="34" charset="-120"/>
              </a:rPr>
              <a:t>Zhao Z. et al. (2017, 2022)</a:t>
            </a:r>
            <a:r>
              <a:rPr lang="en-US" sz="940" i="1" dirty="0">
                <a:solidFill>
                  <a:srgbClr val="8B95A1"/>
                </a:solidFill>
                <a:latin typeface="Calibri" pitchFamily="34" charset="0"/>
                <a:ea typeface="Calibri" pitchFamily="34" charset="-122"/>
                <a:cs typeface="Calibri" pitchFamily="34" charset="-120"/>
              </a:rPr>
              <a:t>  Progr. Geography; Human Geography (in Chinese)</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Inter-provincial Spring Festival flows; festival inter-city travel.</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[10] </a:t>
            </a:r>
            <a:r>
              <a:rPr lang="en-US" sz="940" b="1" dirty="0">
                <a:solidFill>
                  <a:srgbClr val="1F2937"/>
                </a:solidFill>
                <a:latin typeface="Calibri" pitchFamily="34" charset="0"/>
                <a:ea typeface="Calibri" pitchFamily="34" charset="-122"/>
                <a:cs typeface="Calibri" pitchFamily="34" charset="-120"/>
              </a:rPr>
              <a:t>Hong, Liang &amp; Zhu (2024)</a:t>
            </a:r>
            <a:r>
              <a:rPr lang="en-US" sz="940" i="1" dirty="0">
                <a:solidFill>
                  <a:srgbClr val="8B95A1"/>
                </a:solidFill>
                <a:latin typeface="Calibri" pitchFamily="34" charset="0"/>
                <a:ea typeface="Calibri" pitchFamily="34" charset="-122"/>
                <a:cs typeface="Calibri" pitchFamily="34" charset="-120"/>
              </a:rPr>
              <a:t>  Front. Public Health</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Rural periodic-market trips: satisfaction and road environment.</a:t>
            </a:r>
            <a:endParaRPr lang="en-US" sz="940" dirty="0"/>
          </a:p>
          <a:p>
            <a:pPr indent="0" marL="0">
              <a:lnSpc>
                <a:spcPct val="95000"/>
              </a:lnSpc>
              <a:spcBef>
                <a:spcPts val="450"/>
              </a:spcBef>
              <a:buNone/>
            </a:pPr>
            <a:r>
              <a:rPr lang="en-US" sz="940" b="1" dirty="0">
                <a:solidFill>
                  <a:srgbClr val="1C4E80"/>
                </a:solidFill>
                <a:latin typeface="Calibri" pitchFamily="34" charset="0"/>
                <a:ea typeface="Calibri" pitchFamily="34" charset="-122"/>
                <a:cs typeface="Calibri" pitchFamily="34" charset="-120"/>
              </a:rPr>
              <a:t>[11] </a:t>
            </a:r>
            <a:r>
              <a:rPr lang="en-US" sz="940" b="1" dirty="0">
                <a:solidFill>
                  <a:srgbClr val="1F2937"/>
                </a:solidFill>
                <a:latin typeface="Calibri" pitchFamily="34" charset="0"/>
                <a:ea typeface="Calibri" pitchFamily="34" charset="-122"/>
                <a:cs typeface="Calibri" pitchFamily="34" charset="-120"/>
              </a:rPr>
              <a:t>Schönfelder &amp; Axhausen (2010)</a:t>
            </a:r>
            <a:r>
              <a:rPr lang="en-US" sz="940" i="1" dirty="0">
                <a:solidFill>
                  <a:srgbClr val="8B95A1"/>
                </a:solidFill>
                <a:latin typeface="Calibri" pitchFamily="34" charset="0"/>
                <a:ea typeface="Calibri" pitchFamily="34" charset="-122"/>
                <a:cs typeface="Calibri" pitchFamily="34" charset="-120"/>
              </a:rPr>
              <a:t>  Ashgate</a:t>
            </a:r>
            <a:endParaRPr lang="en-US" sz="940" dirty="0"/>
          </a:p>
          <a:p>
            <a:pPr indent="0" marL="0">
              <a:lnSpc>
                <a:spcPct val="95000"/>
              </a:lnSpc>
              <a:buNone/>
            </a:pPr>
            <a:r>
              <a:rPr lang="en-US" sz="940" dirty="0">
                <a:solidFill>
                  <a:srgbClr val="4B5563"/>
                </a:solidFill>
                <a:latin typeface="Calibri" pitchFamily="34" charset="0"/>
                <a:ea typeface="Calibri" pitchFamily="34" charset="-122"/>
                <a:cs typeface="Calibri" pitchFamily="34" charset="-120"/>
              </a:rPr>
              <a:t>Stable weekly and annual travel rhythms that differ between groups.</a:t>
            </a:r>
            <a:endParaRPr lang="en-US" sz="9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3 OF 6 · UNIT OF ANALYSIS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Days and stations dominate the evidence; decisions are made per run</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15 / 39</a:t>
            </a:r>
            <a:endParaRPr lang="en-US" sz="850" dirty="0"/>
          </a:p>
        </p:txBody>
      </p:sp>
      <p:sp>
        <p:nvSpPr>
          <p:cNvPr id="6" name="Text 4"/>
          <p:cNvSpPr txBox="1"/>
          <p:nvPr/>
        </p:nvSpPr>
        <p:spPr>
          <a:xfrm>
            <a:off x="548640" y="1261872"/>
            <a:ext cx="6812280" cy="365760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Most ridership studies analyse network or line daily totals, station counts or cross-section loads.</a:t>
            </a:r>
            <a:r>
              <a:rPr lang="en-US" sz="950" dirty="0">
                <a:solidFill>
                  <a:srgbClr val="8B95A1"/>
                </a:solidFill>
                <a:latin typeface="Calibri" pitchFamily="34" charset="0"/>
                <a:ea typeface="Calibri" pitchFamily="34" charset="-122"/>
                <a:cs typeface="Calibri" pitchFamily="34" charset="-120"/>
              </a:rPr>
              <a:t> [1–4]</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Short-term forecasting targets urban metro or bus stations at minute-to-hour resolution with LSTM-type models, in China as elsewhere.</a:t>
            </a:r>
            <a:r>
              <a:rPr lang="en-US" sz="950" dirty="0">
                <a:solidFill>
                  <a:srgbClr val="8B95A1"/>
                </a:solidFill>
                <a:latin typeface="Calibri" pitchFamily="34" charset="0"/>
                <a:ea typeface="Calibri" pitchFamily="34" charset="-122"/>
                <a:cs typeface="Calibri" pitchFamily="34" charset="-120"/>
              </a:rPr>
              <a:t> [1–5]</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Station or section counts cannot simply be converted to whole-run totals; smart cards enable urban OD and segmentation.</a:t>
            </a:r>
            <a:r>
              <a:rPr lang="en-US" sz="950" dirty="0">
                <a:solidFill>
                  <a:srgbClr val="8B95A1"/>
                </a:solidFill>
                <a:latin typeface="Calibri" pitchFamily="34" charset="0"/>
                <a:ea typeface="Calibri" pitchFamily="34" charset="-122"/>
                <a:cs typeface="Calibri" pitchFamily="34" charset="-120"/>
              </a:rPr>
              <a:t> [6, 7]</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Rural demand estimates are mostly annual or cross-sectional, driven by population and land use.</a:t>
            </a:r>
            <a:r>
              <a:rPr lang="en-US" sz="950" dirty="0">
                <a:solidFill>
                  <a:srgbClr val="8B95A1"/>
                </a:solidFill>
                <a:latin typeface="Calibri" pitchFamily="34" charset="0"/>
                <a:ea typeface="Calibri" pitchFamily="34" charset="-122"/>
                <a:cs typeface="Calibri" pitchFamily="34" charset="-120"/>
              </a:rPr>
              <a:t> [8]</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Count regression (Poisson, negative binomial) for small, over-dispersed counts; demand unconstraining when capacity censors observations.</a:t>
            </a:r>
            <a:r>
              <a:rPr lang="en-US" sz="950" dirty="0">
                <a:solidFill>
                  <a:srgbClr val="8B95A1"/>
                </a:solidFill>
                <a:latin typeface="Calibri" pitchFamily="34" charset="0"/>
                <a:ea typeface="Calibri" pitchFamily="34" charset="-122"/>
                <a:cs typeface="Calibri" pitchFamily="34" charset="-120"/>
              </a:rPr>
              <a:t> [9, 10]</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Daily totals hide within-day contrasts: a full Friday-afternoon run and an empty morning run average out.</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Supplementary runs are decided per run, yet evidence comes per day or per stop.</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Moving to runs brings small counts and censoring: a full bus records its capacity, not its demand.</a:t>
            </a:r>
            <a:endParaRPr lang="en-US" sz="1250" dirty="0"/>
          </a:p>
        </p:txBody>
      </p:sp>
      <p:sp>
        <p:nvSpPr>
          <p:cNvPr id="7" name="Shape 5"/>
          <p:cNvSpPr/>
          <p:nvPr/>
        </p:nvSpPr>
        <p:spPr>
          <a:xfrm>
            <a:off x="548640" y="5029200"/>
            <a:ext cx="6812280" cy="1261872"/>
          </a:xfrm>
          <a:prstGeom prst="rect">
            <a:avLst/>
          </a:prstGeom>
          <a:solidFill>
            <a:srgbClr val="FBEDE5"/>
          </a:solidFill>
          <a:ln w="12700">
            <a:solidFill>
              <a:srgbClr val="FBEDE5"/>
            </a:solidFill>
            <a:prstDash val="solid"/>
          </a:ln>
        </p:spPr>
      </p:sp>
      <p:sp>
        <p:nvSpPr>
          <p:cNvPr id="8" name="Text 6"/>
          <p:cNvSpPr txBox="1"/>
          <p:nvPr/>
        </p:nvSpPr>
        <p:spPr>
          <a:xfrm>
            <a:off x="685800" y="511149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40096"/>
            <a:ext cx="6537960" cy="8778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Unit = total boardings on one one-way run. Negative binomial counts with a censored likelihood (full bus ⇒ demand ≥ seats × turnover κ); daily totals are sums of runs. Real calendar evidence: boarding-student and worker commutes share 189 days but zero runs, so run-level VIFs are 1.28 versus 3.7 and 5.9 for daily totals.</a:t>
            </a:r>
            <a:endParaRPr lang="en-US" sz="120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1020" b="1" dirty="0">
                <a:solidFill>
                  <a:srgbClr val="1C4E80"/>
                </a:solidFill>
                <a:latin typeface="Calibri" pitchFamily="34" charset="0"/>
                <a:ea typeface="Calibri" pitchFamily="34" charset="-122"/>
                <a:cs typeface="Calibri" pitchFamily="34" charset="-120"/>
              </a:rPr>
              <a:t>[1] </a:t>
            </a:r>
            <a:r>
              <a:rPr lang="en-US" sz="1020" b="1" dirty="0">
                <a:solidFill>
                  <a:srgbClr val="1F2937"/>
                </a:solidFill>
                <a:latin typeface="Calibri" pitchFamily="34" charset="0"/>
                <a:ea typeface="Calibri" pitchFamily="34" charset="-122"/>
                <a:cs typeface="Calibri" pitchFamily="34" charset="-120"/>
              </a:rPr>
              <a:t>Zhang, Chen &amp; Shen (2019)</a:t>
            </a:r>
            <a:r>
              <a:rPr lang="en-US" sz="1020" i="1" dirty="0">
                <a:solidFill>
                  <a:srgbClr val="8B95A1"/>
                </a:solidFill>
                <a:latin typeface="Calibri" pitchFamily="34" charset="0"/>
                <a:ea typeface="Calibri" pitchFamily="34" charset="-122"/>
                <a:cs typeface="Calibri" pitchFamily="34" charset="-120"/>
              </a:rPr>
              <a:t>  IEEE Access</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Cluster-based LSTM for short-term metro passenger flow.</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[2] </a:t>
            </a:r>
            <a:r>
              <a:rPr lang="en-US" sz="1020" b="1" dirty="0">
                <a:solidFill>
                  <a:srgbClr val="1F2937"/>
                </a:solidFill>
                <a:latin typeface="Calibri" pitchFamily="34" charset="0"/>
                <a:ea typeface="Calibri" pitchFamily="34" charset="-122"/>
                <a:cs typeface="Calibri" pitchFamily="34" charset="-120"/>
              </a:rPr>
              <a:t>Han, Wang &amp; Ren (2019)</a:t>
            </a:r>
            <a:r>
              <a:rPr lang="en-US" sz="1020" i="1" dirty="0">
                <a:solidFill>
                  <a:srgbClr val="8B95A1"/>
                </a:solidFill>
                <a:latin typeface="Calibri" pitchFamily="34" charset="0"/>
                <a:ea typeface="Calibri" pitchFamily="34" charset="-122"/>
                <a:cs typeface="Calibri" pitchFamily="34" charset="-120"/>
              </a:rPr>
              <a:t>  IJGI</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Hybrid optimised LSTM for short-term bus passenger flow.</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[3] </a:t>
            </a:r>
            <a:r>
              <a:rPr lang="en-US" sz="1020" b="1" dirty="0">
                <a:solidFill>
                  <a:srgbClr val="1F2937"/>
                </a:solidFill>
                <a:latin typeface="Calibri" pitchFamily="34" charset="0"/>
                <a:ea typeface="Calibri" pitchFamily="34" charset="-122"/>
                <a:cs typeface="Calibri" pitchFamily="34" charset="-120"/>
              </a:rPr>
              <a:t>Liyanage, Abduljabbar &amp; Dia (2022)</a:t>
            </a:r>
            <a:r>
              <a:rPr lang="en-US" sz="1020" i="1" dirty="0">
                <a:solidFill>
                  <a:srgbClr val="8B95A1"/>
                </a:solidFill>
                <a:latin typeface="Calibri" pitchFamily="34" charset="0"/>
                <a:ea typeface="Calibri" pitchFamily="34" charset="-122"/>
                <a:cs typeface="Calibri" pitchFamily="34" charset="-120"/>
              </a:rPr>
              <a:t>  J. Urban Management</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Neural networks for bus demand from smart-card data.</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[4] </a:t>
            </a:r>
            <a:r>
              <a:rPr lang="en-US" sz="1020" b="1" dirty="0">
                <a:solidFill>
                  <a:srgbClr val="1F2937"/>
                </a:solidFill>
                <a:latin typeface="Calibri" pitchFamily="34" charset="0"/>
                <a:ea typeface="Calibri" pitchFamily="34" charset="-122"/>
                <a:cs typeface="Calibri" pitchFamily="34" charset="-120"/>
              </a:rPr>
              <a:t>Alexandre, Bernardini &amp; Viterbo (2023)</a:t>
            </a:r>
            <a:r>
              <a:rPr lang="en-US" sz="1020" i="1" dirty="0">
                <a:solidFill>
                  <a:srgbClr val="8B95A1"/>
                </a:solidFill>
                <a:latin typeface="Calibri" pitchFamily="34" charset="0"/>
                <a:ea typeface="Calibri" pitchFamily="34" charset="-122"/>
                <a:cs typeface="Calibri" pitchFamily="34" charset="-120"/>
              </a:rPr>
              <a:t>  TRR</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Systematic review of machine learning for bus transport.</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[5] </a:t>
            </a:r>
            <a:r>
              <a:rPr lang="en-US" sz="1020" b="1" dirty="0">
                <a:solidFill>
                  <a:srgbClr val="1F2937"/>
                </a:solidFill>
                <a:latin typeface="Calibri" pitchFamily="34" charset="0"/>
                <a:ea typeface="Calibri" pitchFamily="34" charset="-122"/>
                <a:cs typeface="Calibri" pitchFamily="34" charset="-120"/>
              </a:rPr>
              <a:t>Xie et al. (2018); Li G. et al. (2019)</a:t>
            </a:r>
            <a:r>
              <a:rPr lang="en-US" sz="1020" i="1" dirty="0">
                <a:solidFill>
                  <a:srgbClr val="8B95A1"/>
                </a:solidFill>
                <a:latin typeface="Calibri" pitchFamily="34" charset="0"/>
                <a:ea typeface="Calibri" pitchFamily="34" charset="-122"/>
                <a:cs typeface="Calibri" pitchFamily="34" charset="-120"/>
              </a:rPr>
              <a:t>  in Chinese</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IC-card and LSTM station-level forecasting in Chinese cities.</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[6] </a:t>
            </a:r>
            <a:r>
              <a:rPr lang="en-US" sz="1020" b="1" dirty="0">
                <a:solidFill>
                  <a:srgbClr val="1F2937"/>
                </a:solidFill>
                <a:latin typeface="Calibri" pitchFamily="34" charset="0"/>
                <a:ea typeface="Calibri" pitchFamily="34" charset="-122"/>
                <a:cs typeface="Calibri" pitchFamily="34" charset="-120"/>
              </a:rPr>
              <a:t>Ma, Ai &amp; Zhang (2018)</a:t>
            </a:r>
            <a:r>
              <a:rPr lang="en-US" sz="1020" i="1" dirty="0">
                <a:solidFill>
                  <a:srgbClr val="8B95A1"/>
                </a:solidFill>
                <a:latin typeface="Calibri" pitchFamily="34" charset="0"/>
                <a:ea typeface="Calibri" pitchFamily="34" charset="-122"/>
                <a:cs typeface="Calibri" pitchFamily="34" charset="-120"/>
              </a:rPr>
              <a:t>  J. Highway &amp; Transp. R&amp;D (in Chinese)</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Estimating bus cross-section flows under incomplete information.</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[7] </a:t>
            </a:r>
            <a:r>
              <a:rPr lang="en-US" sz="1020" b="1" dirty="0">
                <a:solidFill>
                  <a:srgbClr val="1F2937"/>
                </a:solidFill>
                <a:latin typeface="Calibri" pitchFamily="34" charset="0"/>
                <a:ea typeface="Calibri" pitchFamily="34" charset="-122"/>
                <a:cs typeface="Calibri" pitchFamily="34" charset="-120"/>
              </a:rPr>
              <a:t>Egu &amp; Bonnel (2020)</a:t>
            </a:r>
            <a:r>
              <a:rPr lang="en-US" sz="1020" i="1" dirty="0">
                <a:solidFill>
                  <a:srgbClr val="8B95A1"/>
                </a:solidFill>
                <a:latin typeface="Calibri" pitchFamily="34" charset="0"/>
                <a:ea typeface="Calibri" pitchFamily="34" charset="-122"/>
                <a:cs typeface="Calibri" pitchFamily="34" charset="-120"/>
              </a:rPr>
              <a:t>  TR-A</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OD matrices from fare data vs. surveys in Lyon.</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[8] </a:t>
            </a:r>
            <a:r>
              <a:rPr lang="en-US" sz="1020" b="1" dirty="0">
                <a:solidFill>
                  <a:srgbClr val="1F2937"/>
                </a:solidFill>
                <a:latin typeface="Calibri" pitchFamily="34" charset="0"/>
                <a:ea typeface="Calibri" pitchFamily="34" charset="-122"/>
                <a:cs typeface="Calibri" pitchFamily="34" charset="-120"/>
              </a:rPr>
              <a:t>Painter et al. (2007); TRB (2013)</a:t>
            </a:r>
            <a:r>
              <a:rPr lang="en-US" sz="1020" i="1" dirty="0">
                <a:solidFill>
                  <a:srgbClr val="8B95A1"/>
                </a:solidFill>
                <a:latin typeface="Calibri" pitchFamily="34" charset="0"/>
                <a:ea typeface="Calibri" pitchFamily="34" charset="-122"/>
                <a:cs typeface="Calibri" pitchFamily="34" charset="-120"/>
              </a:rPr>
              <a:t>  TRR; TCRP Report 161</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Rural demand forecasting from population and land use.</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[9] </a:t>
            </a:r>
            <a:r>
              <a:rPr lang="en-US" sz="1020" b="1" dirty="0">
                <a:solidFill>
                  <a:srgbClr val="1F2937"/>
                </a:solidFill>
                <a:latin typeface="Calibri" pitchFamily="34" charset="0"/>
                <a:ea typeface="Calibri" pitchFamily="34" charset="-122"/>
                <a:cs typeface="Calibri" pitchFamily="34" charset="-120"/>
              </a:rPr>
              <a:t>Jang (2005)</a:t>
            </a:r>
            <a:r>
              <a:rPr lang="en-US" sz="1020" i="1" dirty="0">
                <a:solidFill>
                  <a:srgbClr val="8B95A1"/>
                </a:solidFill>
                <a:latin typeface="Calibri" pitchFamily="34" charset="0"/>
                <a:ea typeface="Calibri" pitchFamily="34" charset="-122"/>
                <a:cs typeface="Calibri" pitchFamily="34" charset="-120"/>
              </a:rPr>
              <a:t>  J. Transportation Engineering</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Count-data models for trip generation.</a:t>
            </a:r>
            <a:endParaRPr lang="en-US" sz="1020" dirty="0"/>
          </a:p>
          <a:p>
            <a:pPr indent="0" marL="0">
              <a:lnSpc>
                <a:spcPct val="95000"/>
              </a:lnSpc>
              <a:spcBef>
                <a:spcPts val="450"/>
              </a:spcBef>
              <a:buNone/>
            </a:pPr>
            <a:r>
              <a:rPr lang="en-US" sz="1020" b="1" dirty="0">
                <a:solidFill>
                  <a:srgbClr val="1C4E80"/>
                </a:solidFill>
                <a:latin typeface="Calibri" pitchFamily="34" charset="0"/>
                <a:ea typeface="Calibri" pitchFamily="34" charset="-122"/>
                <a:cs typeface="Calibri" pitchFamily="34" charset="-120"/>
              </a:rPr>
              <a:t>[10] </a:t>
            </a:r>
            <a:r>
              <a:rPr lang="en-US" sz="1020" b="1" dirty="0">
                <a:solidFill>
                  <a:srgbClr val="1F2937"/>
                </a:solidFill>
                <a:latin typeface="Calibri" pitchFamily="34" charset="0"/>
                <a:ea typeface="Calibri" pitchFamily="34" charset="-122"/>
                <a:cs typeface="Calibri" pitchFamily="34" charset="-120"/>
              </a:rPr>
              <a:t>Weatherford &amp; Pölt (2002)</a:t>
            </a:r>
            <a:r>
              <a:rPr lang="en-US" sz="1020" i="1" dirty="0">
                <a:solidFill>
                  <a:srgbClr val="8B95A1"/>
                </a:solidFill>
                <a:latin typeface="Calibri" pitchFamily="34" charset="0"/>
                <a:ea typeface="Calibri" pitchFamily="34" charset="-122"/>
                <a:cs typeface="Calibri" pitchFamily="34" charset="-120"/>
              </a:rPr>
              <a:t>  J. Revenue &amp; Pricing Mgmt</a:t>
            </a:r>
            <a:endParaRPr lang="en-US" sz="1020" dirty="0"/>
          </a:p>
          <a:p>
            <a:pPr indent="0" marL="0">
              <a:lnSpc>
                <a:spcPct val="95000"/>
              </a:lnSpc>
              <a:buNone/>
            </a:pPr>
            <a:r>
              <a:rPr lang="en-US" sz="1020" dirty="0">
                <a:solidFill>
                  <a:srgbClr val="4B5563"/>
                </a:solidFill>
                <a:latin typeface="Calibri" pitchFamily="34" charset="0"/>
                <a:ea typeface="Calibri" pitchFamily="34" charset="-122"/>
                <a:cs typeface="Calibri" pitchFamily="34" charset="-120"/>
              </a:rPr>
              <a:t>Unconstraining censored demand improves forecasts and revenue.</a:t>
            </a:r>
            <a:endParaRPr lang="en-US" sz="10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4 OF 6 · OVERLAPPING FACTORS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When peaks coincide: interaction, scale and identifiability</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16 / 39</a:t>
            </a:r>
            <a:endParaRPr lang="en-US" sz="850" dirty="0"/>
          </a:p>
        </p:txBody>
      </p:sp>
      <p:sp>
        <p:nvSpPr>
          <p:cNvPr id="6" name="Text 4"/>
          <p:cNvSpPr txBox="1"/>
          <p:nvPr/>
        </p:nvSpPr>
        <p:spPr>
          <a:xfrm>
            <a:off x="548640" y="1261872"/>
            <a:ext cx="6812280" cy="365760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Calendar effects are usually estimated one factor at a time; co-occurring factors are treated as controls. Whether two peaks add, amplify or offset is rarely an estimand in transport research.</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Whether an interaction exists depends on the scale: no interaction on the multiplicative (log) scale implies interaction on the additive scale, and vice versa.</a:t>
            </a:r>
            <a:r>
              <a:rPr lang="en-US" sz="950" dirty="0">
                <a:solidFill>
                  <a:srgbClr val="8B95A1"/>
                </a:solidFill>
                <a:latin typeface="Calibri" pitchFamily="34" charset="0"/>
                <a:ea typeface="Calibri" pitchFamily="34" charset="-122"/>
                <a:cs typeface="Calibri" pitchFamily="34" charset="-120"/>
              </a:rPr>
              <a:t> [1]</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Log-linear count models with interaction terms: coefficients live on the ratio scale.</a:t>
            </a:r>
            <a:r>
              <a:rPr lang="en-US" sz="950" dirty="0">
                <a:solidFill>
                  <a:srgbClr val="8B95A1"/>
                </a:solidFill>
                <a:latin typeface="Calibri" pitchFamily="34" charset="0"/>
                <a:ea typeface="Calibri" pitchFamily="34" charset="-122"/>
                <a:cs typeface="Calibri" pitchFamily="34" charset="-120"/>
              </a:rPr>
              <a:t> [2]</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Additive (passenger-count) models: directly operational, but need non-negativity and are harder to fit.</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Gradient boosting + SHAP; explainable boosting (GA2M) with pairwise shape functions.</a:t>
            </a:r>
            <a:r>
              <a:rPr lang="en-US" sz="950" dirty="0">
                <a:solidFill>
                  <a:srgbClr val="8B95A1"/>
                </a:solidFill>
                <a:latin typeface="Calibri" pitchFamily="34" charset="0"/>
                <a:ea typeface="Calibri" pitchFamily="34" charset="-122"/>
                <a:cs typeface="Calibri" pitchFamily="34" charset="-120"/>
              </a:rPr>
              <a:t> [3–5]</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Shrinkage (ridge) and distributional regression (GAMLSS) for many or unstable parameters.</a:t>
            </a:r>
            <a:r>
              <a:rPr lang="en-US" sz="950" dirty="0">
                <a:solidFill>
                  <a:srgbClr val="8B95A1"/>
                </a:solidFill>
                <a:latin typeface="Calibri" pitchFamily="34" charset="0"/>
                <a:ea typeface="Calibri" pitchFamily="34" charset="-122"/>
                <a:cs typeface="Calibri" pitchFamily="34" charset="-120"/>
              </a:rPr>
              <a:t> [6, 7]</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A main-effects log model assumes effects multiply, which itself creates additive-scale interaction.</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SHAP splits effects arbitrarily among correlated factors and gives no intervals; GA2M ignores censoring and collinearity.</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No approach first checks whether the data can identify an interaction at all.</a:t>
            </a:r>
            <a:endParaRPr lang="en-US" sz="1250" dirty="0"/>
          </a:p>
        </p:txBody>
      </p:sp>
      <p:sp>
        <p:nvSpPr>
          <p:cNvPr id="7" name="Shape 5"/>
          <p:cNvSpPr/>
          <p:nvPr/>
        </p:nvSpPr>
        <p:spPr>
          <a:xfrm>
            <a:off x="548640" y="5029200"/>
            <a:ext cx="6812280" cy="1261872"/>
          </a:xfrm>
          <a:prstGeom prst="rect">
            <a:avLst/>
          </a:prstGeom>
          <a:solidFill>
            <a:srgbClr val="FBEDE5"/>
          </a:solidFill>
          <a:ln w="12700">
            <a:solidFill>
              <a:srgbClr val="FBEDE5"/>
            </a:solidFill>
            <a:prstDash val="solid"/>
          </a:ln>
        </p:spPr>
      </p:sp>
      <p:sp>
        <p:nvSpPr>
          <p:cNvPr id="8" name="Text 6"/>
          <p:cNvSpPr txBox="1"/>
          <p:nvPr/>
        </p:nvSpPr>
        <p:spPr>
          <a:xfrm>
            <a:off x="685800" y="511149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40096"/>
            <a:ext cx="6537960" cy="8778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Define effects by counterfactual switches in passengers per run: independent effect, combined effect, and overlap = combined − Σ independent. Screen identifiability first (≥200 shared runs and ≥200 solo runs per factor). Choose among 12 candidate estimators by synthetic backtesting against known truth, not by preference.</a:t>
            </a:r>
            <a:endParaRPr lang="en-US" sz="120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1080" b="1" dirty="0">
                <a:solidFill>
                  <a:srgbClr val="1C4E80"/>
                </a:solidFill>
                <a:latin typeface="Calibri" pitchFamily="34" charset="0"/>
                <a:ea typeface="Calibri" pitchFamily="34" charset="-122"/>
                <a:cs typeface="Calibri" pitchFamily="34" charset="-120"/>
              </a:rPr>
              <a:t>[1] </a:t>
            </a:r>
            <a:r>
              <a:rPr lang="en-US" sz="1080" b="1" dirty="0">
                <a:solidFill>
                  <a:srgbClr val="1F2937"/>
                </a:solidFill>
                <a:latin typeface="Calibri" pitchFamily="34" charset="0"/>
                <a:ea typeface="Calibri" pitchFamily="34" charset="-122"/>
                <a:cs typeface="Calibri" pitchFamily="34" charset="-120"/>
              </a:rPr>
              <a:t>VanderWeele &amp; Knol (2014)</a:t>
            </a:r>
            <a:r>
              <a:rPr lang="en-US" sz="1080" i="1" dirty="0">
                <a:solidFill>
                  <a:srgbClr val="8B95A1"/>
                </a:solidFill>
                <a:latin typeface="Calibri" pitchFamily="34" charset="0"/>
                <a:ea typeface="Calibri" pitchFamily="34" charset="-122"/>
                <a:cs typeface="Calibri" pitchFamily="34" charset="-120"/>
              </a:rPr>
              <a:t>  Epidemiologic Methods</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Tutorial on interaction: additive vs. multiplicative scales.</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[2] </a:t>
            </a:r>
            <a:r>
              <a:rPr lang="en-US" sz="1080" b="1" dirty="0">
                <a:solidFill>
                  <a:srgbClr val="1F2937"/>
                </a:solidFill>
                <a:latin typeface="Calibri" pitchFamily="34" charset="0"/>
                <a:ea typeface="Calibri" pitchFamily="34" charset="-122"/>
                <a:cs typeface="Calibri" pitchFamily="34" charset="-120"/>
              </a:rPr>
              <a:t>Jang (2005)</a:t>
            </a:r>
            <a:r>
              <a:rPr lang="en-US" sz="1080" i="1" dirty="0">
                <a:solidFill>
                  <a:srgbClr val="8B95A1"/>
                </a:solidFill>
                <a:latin typeface="Calibri" pitchFamily="34" charset="0"/>
                <a:ea typeface="Calibri" pitchFamily="34" charset="-122"/>
                <a:cs typeface="Calibri" pitchFamily="34" charset="-120"/>
              </a:rPr>
              <a:t>  J. Transportation Engineering</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Poisson / negative binomial models for trip counts.</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[3] </a:t>
            </a:r>
            <a:r>
              <a:rPr lang="en-US" sz="1080" b="1" dirty="0">
                <a:solidFill>
                  <a:srgbClr val="1F2937"/>
                </a:solidFill>
                <a:latin typeface="Calibri" pitchFamily="34" charset="0"/>
                <a:ea typeface="Calibri" pitchFamily="34" charset="-122"/>
                <a:cs typeface="Calibri" pitchFamily="34" charset="-120"/>
              </a:rPr>
              <a:t>Friedman (2001)</a:t>
            </a:r>
            <a:r>
              <a:rPr lang="en-US" sz="1080" i="1" dirty="0">
                <a:solidFill>
                  <a:srgbClr val="8B95A1"/>
                </a:solidFill>
                <a:latin typeface="Calibri" pitchFamily="34" charset="0"/>
                <a:ea typeface="Calibri" pitchFamily="34" charset="-122"/>
                <a:cs typeface="Calibri" pitchFamily="34" charset="-120"/>
              </a:rPr>
              <a:t>  Annals of Statistics</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Gradient boosting machine.</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[4] </a:t>
            </a:r>
            <a:r>
              <a:rPr lang="en-US" sz="1080" b="1" dirty="0">
                <a:solidFill>
                  <a:srgbClr val="1F2937"/>
                </a:solidFill>
                <a:latin typeface="Calibri" pitchFamily="34" charset="0"/>
                <a:ea typeface="Calibri" pitchFamily="34" charset="-122"/>
                <a:cs typeface="Calibri" pitchFamily="34" charset="-120"/>
              </a:rPr>
              <a:t>Ke et al. (2017)</a:t>
            </a:r>
            <a:r>
              <a:rPr lang="en-US" sz="1080" i="1" dirty="0">
                <a:solidFill>
                  <a:srgbClr val="8B95A1"/>
                </a:solidFill>
                <a:latin typeface="Calibri" pitchFamily="34" charset="0"/>
                <a:ea typeface="Calibri" pitchFamily="34" charset="-122"/>
                <a:cs typeface="Calibri" pitchFamily="34" charset="-120"/>
              </a:rPr>
              <a:t>  NeurIPS</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LightGBM: efficient gradient-boosted trees.</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[5] </a:t>
            </a:r>
            <a:r>
              <a:rPr lang="en-US" sz="1080" b="1" dirty="0">
                <a:solidFill>
                  <a:srgbClr val="1F2937"/>
                </a:solidFill>
                <a:latin typeface="Calibri" pitchFamily="34" charset="0"/>
                <a:ea typeface="Calibri" pitchFamily="34" charset="-122"/>
                <a:cs typeface="Calibri" pitchFamily="34" charset="-120"/>
              </a:rPr>
              <a:t>Lou, Caruana, Gehrke &amp; Hooker (2013)</a:t>
            </a:r>
            <a:r>
              <a:rPr lang="en-US" sz="1080" i="1" dirty="0">
                <a:solidFill>
                  <a:srgbClr val="8B95A1"/>
                </a:solidFill>
                <a:latin typeface="Calibri" pitchFamily="34" charset="0"/>
                <a:ea typeface="Calibri" pitchFamily="34" charset="-122"/>
                <a:cs typeface="Calibri" pitchFamily="34" charset="-120"/>
              </a:rPr>
              <a:t>  KDD</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GA2M: intelligible models with pairwise interactions.</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[6] </a:t>
            </a:r>
            <a:r>
              <a:rPr lang="en-US" sz="1080" b="1" dirty="0">
                <a:solidFill>
                  <a:srgbClr val="1F2937"/>
                </a:solidFill>
                <a:latin typeface="Calibri" pitchFamily="34" charset="0"/>
                <a:ea typeface="Calibri" pitchFamily="34" charset="-122"/>
                <a:cs typeface="Calibri" pitchFamily="34" charset="-120"/>
              </a:rPr>
              <a:t>Hoerl &amp; Kennard (1970)</a:t>
            </a:r>
            <a:r>
              <a:rPr lang="en-US" sz="1080" i="1" dirty="0">
                <a:solidFill>
                  <a:srgbClr val="8B95A1"/>
                </a:solidFill>
                <a:latin typeface="Calibri" pitchFamily="34" charset="0"/>
                <a:ea typeface="Calibri" pitchFamily="34" charset="-122"/>
                <a:cs typeface="Calibri" pitchFamily="34" charset="-120"/>
              </a:rPr>
              <a:t>  Technometrics</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Ridge regression for non-orthogonal problems.</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[7] </a:t>
            </a:r>
            <a:r>
              <a:rPr lang="en-US" sz="1080" b="1" dirty="0">
                <a:solidFill>
                  <a:srgbClr val="1F2937"/>
                </a:solidFill>
                <a:latin typeface="Calibri" pitchFamily="34" charset="0"/>
                <a:ea typeface="Calibri" pitchFamily="34" charset="-122"/>
                <a:cs typeface="Calibri" pitchFamily="34" charset="-120"/>
              </a:rPr>
              <a:t>Rigby &amp; Stasinopoulos (2005)</a:t>
            </a:r>
            <a:r>
              <a:rPr lang="en-US" sz="1080" i="1" dirty="0">
                <a:solidFill>
                  <a:srgbClr val="8B95A1"/>
                </a:solidFill>
                <a:latin typeface="Calibri" pitchFamily="34" charset="0"/>
                <a:ea typeface="Calibri" pitchFamily="34" charset="-122"/>
                <a:cs typeface="Calibri" pitchFamily="34" charset="-120"/>
              </a:rPr>
              <a:t>  JRSS-C</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GAMLSS: covariates for location, scale and shape.</a:t>
            </a:r>
            <a:endParaRPr lang="en-US" sz="1080" dirty="0"/>
          </a:p>
          <a:p>
            <a:pPr indent="0" marL="0">
              <a:lnSpc>
                <a:spcPct val="95000"/>
              </a:lnSpc>
              <a:spcBef>
                <a:spcPts val="450"/>
              </a:spcBef>
              <a:buNone/>
            </a:pPr>
            <a:r>
              <a:rPr lang="en-US" sz="1080" b="1" dirty="0">
                <a:solidFill>
                  <a:srgbClr val="1C4E80"/>
                </a:solidFill>
                <a:latin typeface="Calibri" pitchFamily="34" charset="0"/>
                <a:ea typeface="Calibri" pitchFamily="34" charset="-122"/>
                <a:cs typeface="Calibri" pitchFamily="34" charset="-120"/>
              </a:rPr>
              <a:t>[8] </a:t>
            </a:r>
            <a:r>
              <a:rPr lang="en-US" sz="1080" b="1" dirty="0">
                <a:solidFill>
                  <a:srgbClr val="1F2937"/>
                </a:solidFill>
                <a:latin typeface="Calibri" pitchFamily="34" charset="0"/>
                <a:ea typeface="Calibri" pitchFamily="34" charset="-122"/>
                <a:cs typeface="Calibri" pitchFamily="34" charset="-120"/>
              </a:rPr>
              <a:t>Weatherford &amp; Pölt (2002)</a:t>
            </a:r>
            <a:r>
              <a:rPr lang="en-US" sz="1080" i="1" dirty="0">
                <a:solidFill>
                  <a:srgbClr val="8B95A1"/>
                </a:solidFill>
                <a:latin typeface="Calibri" pitchFamily="34" charset="0"/>
                <a:ea typeface="Calibri" pitchFamily="34" charset="-122"/>
                <a:cs typeface="Calibri" pitchFamily="34" charset="-120"/>
              </a:rPr>
              <a:t>  J. Revenue &amp; Pricing Mgmt</a:t>
            </a:r>
            <a:endParaRPr lang="en-US" sz="1080" dirty="0"/>
          </a:p>
          <a:p>
            <a:pPr indent="0" marL="0">
              <a:lnSpc>
                <a:spcPct val="95000"/>
              </a:lnSpc>
              <a:buNone/>
            </a:pPr>
            <a:r>
              <a:rPr lang="en-US" sz="1080" dirty="0">
                <a:solidFill>
                  <a:srgbClr val="4B5563"/>
                </a:solidFill>
                <a:latin typeface="Calibri" pitchFamily="34" charset="0"/>
                <a:ea typeface="Calibri" pitchFamily="34" charset="-122"/>
                <a:cs typeface="Calibri" pitchFamily="34" charset="-120"/>
              </a:rPr>
              <a:t>Unconstraining capacity-censored demand.</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5 OF 6 · FORECASTING</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Forecasting for decisions: distributions, calibration and fair evaluation</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17 / 39</a:t>
            </a:r>
            <a:endParaRPr lang="en-US" sz="850" dirty="0"/>
          </a:p>
        </p:txBody>
      </p:sp>
      <p:sp>
        <p:nvSpPr>
          <p:cNvPr id="6" name="Text 4"/>
          <p:cNvSpPr txBox="1"/>
          <p:nvPr/>
        </p:nvSpPr>
        <p:spPr>
          <a:xfrm>
            <a:off x="548640" y="1261872"/>
            <a:ext cx="6812280" cy="365760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Decisions need predictive distributions: maximise sharpness subject to calibration, and evaluate with strictly proper scores (CRPS, log score); randomised PIT for counts.</a:t>
            </a:r>
            <a:r>
              <a:rPr lang="en-US" sz="950" dirty="0">
                <a:solidFill>
                  <a:srgbClr val="8B95A1"/>
                </a:solidFill>
                <a:latin typeface="Calibri" pitchFamily="34" charset="0"/>
                <a:ea typeface="Calibri" pitchFamily="34" charset="-122"/>
                <a:cs typeface="Calibri" pitchFamily="34" charset="-120"/>
              </a:rPr>
              <a:t> [1–3]</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Complex models do not reliably beat simple baselines; evaluation must roll forward in time to avoid leakage.</a:t>
            </a:r>
            <a:r>
              <a:rPr lang="en-US" sz="950" dirty="0">
                <a:solidFill>
                  <a:srgbClr val="8B95A1"/>
                </a:solidFill>
                <a:latin typeface="Calibri" pitchFamily="34" charset="0"/>
                <a:ea typeface="Calibri" pitchFamily="34" charset="-122"/>
                <a:cs typeface="Calibri" pitchFamily="34" charset="-120"/>
              </a:rPr>
              <a:t> [4, 5]</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Intermittent-demand methods (Croston-type) for sparse series.</a:t>
            </a:r>
            <a:r>
              <a:rPr lang="en-US" sz="950" dirty="0">
                <a:solidFill>
                  <a:srgbClr val="8B95A1"/>
                </a:solidFill>
                <a:latin typeface="Calibri" pitchFamily="34" charset="0"/>
                <a:ea typeface="Calibri" pitchFamily="34" charset="-122"/>
                <a:cs typeface="Calibri" pitchFamily="34" charset="-120"/>
              </a:rPr>
              <a:t> [6]</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Conformal intervals around any point model, including adaptive versions for drifting series.</a:t>
            </a:r>
            <a:r>
              <a:rPr lang="en-US" sz="950" dirty="0">
                <a:solidFill>
                  <a:srgbClr val="8B95A1"/>
                </a:solidFill>
                <a:latin typeface="Calibri" pitchFamily="34" charset="0"/>
                <a:ea typeface="Calibri" pitchFamily="34" charset="-122"/>
                <a:cs typeface="Calibri" pitchFamily="34" charset="-120"/>
              </a:rPr>
              <a:t> [7, 8]</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Deep probabilistic models for many related series; hierarchical reconciliation for coherent totals.</a:t>
            </a:r>
            <a:r>
              <a:rPr lang="en-US" sz="950" dirty="0">
                <a:solidFill>
                  <a:srgbClr val="8B95A1"/>
                </a:solidFill>
                <a:latin typeface="Calibri" pitchFamily="34" charset="0"/>
                <a:ea typeface="Calibri" pitchFamily="34" charset="-122"/>
                <a:cs typeface="Calibri" pitchFamily="34" charset="-120"/>
              </a:rPr>
              <a:t> [9, 10]</a:t>
            </a:r>
            <a:endParaRPr lang="en-US" sz="125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Transit forecasting is dominated by urban, short-term point forecasts; rural run-level distributions are rare.</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Run and daily forecasts are built separately and do not add up; daily intervals are too narrow because runs share county-wide shocks.</a:t>
            </a:r>
            <a:endParaRPr lang="en-US" sz="1250" dirty="0"/>
          </a:p>
          <a:p>
            <a:pPr marL="165100" indent="-165100">
              <a:lnSpc>
                <a:spcPct val="98000"/>
              </a:lnSpc>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Deep models need far more data than a county ledger provides.</a:t>
            </a:r>
            <a:endParaRPr lang="en-US" sz="1250" dirty="0"/>
          </a:p>
        </p:txBody>
      </p:sp>
      <p:sp>
        <p:nvSpPr>
          <p:cNvPr id="7" name="Shape 5"/>
          <p:cNvSpPr/>
          <p:nvPr/>
        </p:nvSpPr>
        <p:spPr>
          <a:xfrm>
            <a:off x="548640" y="5029200"/>
            <a:ext cx="6812280" cy="1261872"/>
          </a:xfrm>
          <a:prstGeom prst="rect">
            <a:avLst/>
          </a:prstGeom>
          <a:solidFill>
            <a:srgbClr val="FBEDE5"/>
          </a:solidFill>
          <a:ln w="12700">
            <a:solidFill>
              <a:srgbClr val="FBEDE5"/>
            </a:solidFill>
            <a:prstDash val="solid"/>
          </a:ln>
        </p:spPr>
      </p:sp>
      <p:sp>
        <p:nvSpPr>
          <p:cNvPr id="8" name="Text 6"/>
          <p:cNvSpPr txBox="1"/>
          <p:nvPr/>
        </p:nvSpPr>
        <p:spPr>
          <a:xfrm>
            <a:off x="685800" y="511149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40096"/>
            <a:ext cx="6537960" cy="8778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run-level model with a county-wide day shock: daily totals are sums of run-level forecast samples, so their intervals carry the correlation between runs. Evaluate CRPS and 90% coverage overall and by route, time and event against seasonal-naïve and pipeline baselines — on rolling origins and one sealed winter.</a:t>
            </a:r>
            <a:endParaRPr lang="en-US" sz="120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980" b="1" dirty="0">
                <a:solidFill>
                  <a:srgbClr val="1C4E80"/>
                </a:solidFill>
                <a:latin typeface="Calibri" pitchFamily="34" charset="0"/>
                <a:ea typeface="Calibri" pitchFamily="34" charset="-122"/>
                <a:cs typeface="Calibri" pitchFamily="34" charset="-120"/>
              </a:rPr>
              <a:t>[1] </a:t>
            </a:r>
            <a:r>
              <a:rPr lang="en-US" sz="980" b="1" dirty="0">
                <a:solidFill>
                  <a:srgbClr val="1F2937"/>
                </a:solidFill>
                <a:latin typeface="Calibri" pitchFamily="34" charset="0"/>
                <a:ea typeface="Calibri" pitchFamily="34" charset="-122"/>
                <a:cs typeface="Calibri" pitchFamily="34" charset="-120"/>
              </a:rPr>
              <a:t>Gneiting, Balabdaoui &amp; Raftery (2007)</a:t>
            </a:r>
            <a:r>
              <a:rPr lang="en-US" sz="980" i="1" dirty="0">
                <a:solidFill>
                  <a:srgbClr val="8B95A1"/>
                </a:solidFill>
                <a:latin typeface="Calibri" pitchFamily="34" charset="0"/>
                <a:ea typeface="Calibri" pitchFamily="34" charset="-122"/>
                <a:cs typeface="Calibri" pitchFamily="34" charset="-120"/>
              </a:rPr>
              <a:t>  JRSS-B</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Probabilistic forecasts: calibration and sharpness.</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[2] </a:t>
            </a:r>
            <a:r>
              <a:rPr lang="en-US" sz="980" b="1" dirty="0">
                <a:solidFill>
                  <a:srgbClr val="1F2937"/>
                </a:solidFill>
                <a:latin typeface="Calibri" pitchFamily="34" charset="0"/>
                <a:ea typeface="Calibri" pitchFamily="34" charset="-122"/>
                <a:cs typeface="Calibri" pitchFamily="34" charset="-120"/>
              </a:rPr>
              <a:t>Gneiting &amp; Raftery (2007)</a:t>
            </a:r>
            <a:r>
              <a:rPr lang="en-US" sz="980" i="1" dirty="0">
                <a:solidFill>
                  <a:srgbClr val="8B95A1"/>
                </a:solidFill>
                <a:latin typeface="Calibri" pitchFamily="34" charset="0"/>
                <a:ea typeface="Calibri" pitchFamily="34" charset="-122"/>
                <a:cs typeface="Calibri" pitchFamily="34" charset="-120"/>
              </a:rPr>
              <a:t>  JASA</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Strictly proper scoring rules (CRPS, log score).</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[3] </a:t>
            </a:r>
            <a:r>
              <a:rPr lang="en-US" sz="980" b="1" dirty="0">
                <a:solidFill>
                  <a:srgbClr val="1F2937"/>
                </a:solidFill>
                <a:latin typeface="Calibri" pitchFamily="34" charset="0"/>
                <a:ea typeface="Calibri" pitchFamily="34" charset="-122"/>
                <a:cs typeface="Calibri" pitchFamily="34" charset="-120"/>
              </a:rPr>
              <a:t>Czado, Gneiting &amp; Held (2009)</a:t>
            </a:r>
            <a:r>
              <a:rPr lang="en-US" sz="980" i="1" dirty="0">
                <a:solidFill>
                  <a:srgbClr val="8B95A1"/>
                </a:solidFill>
                <a:latin typeface="Calibri" pitchFamily="34" charset="0"/>
                <a:ea typeface="Calibri" pitchFamily="34" charset="-122"/>
                <a:cs typeface="Calibri" pitchFamily="34" charset="-120"/>
              </a:rPr>
              <a:t>  Biometrics</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Predictive model assessment for count data (PIT).</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[4] </a:t>
            </a:r>
            <a:r>
              <a:rPr lang="en-US" sz="980" b="1" dirty="0">
                <a:solidFill>
                  <a:srgbClr val="1F2937"/>
                </a:solidFill>
                <a:latin typeface="Calibri" pitchFamily="34" charset="0"/>
                <a:ea typeface="Calibri" pitchFamily="34" charset="-122"/>
                <a:cs typeface="Calibri" pitchFamily="34" charset="-120"/>
              </a:rPr>
              <a:t>Makridakis, Spiliotis &amp; Assimakopoulos (2019)</a:t>
            </a:r>
            <a:r>
              <a:rPr lang="en-US" sz="980" i="1" dirty="0">
                <a:solidFill>
                  <a:srgbClr val="8B95A1"/>
                </a:solidFill>
                <a:latin typeface="Calibri" pitchFamily="34" charset="0"/>
                <a:ea typeface="Calibri" pitchFamily="34" charset="-122"/>
                <a:cs typeface="Calibri" pitchFamily="34" charset="-120"/>
              </a:rPr>
              <a:t>  IJF</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M4 competition: complexity does not guarantee accuracy.</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[5] </a:t>
            </a:r>
            <a:r>
              <a:rPr lang="en-US" sz="980" b="1" dirty="0">
                <a:solidFill>
                  <a:srgbClr val="1F2937"/>
                </a:solidFill>
                <a:latin typeface="Calibri" pitchFamily="34" charset="0"/>
                <a:ea typeface="Calibri" pitchFamily="34" charset="-122"/>
                <a:cs typeface="Calibri" pitchFamily="34" charset="-120"/>
              </a:rPr>
              <a:t>Hewamalage, Ackermann &amp; Bergmeir (2022)</a:t>
            </a:r>
            <a:r>
              <a:rPr lang="en-US" sz="980" i="1" dirty="0">
                <a:solidFill>
                  <a:srgbClr val="8B95A1"/>
                </a:solidFill>
                <a:latin typeface="Calibri" pitchFamily="34" charset="0"/>
                <a:ea typeface="Calibri" pitchFamily="34" charset="-122"/>
                <a:cs typeface="Calibri" pitchFamily="34" charset="-120"/>
              </a:rPr>
              <a:t>  DMKD</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Forecast-evaluation pitfalls and best practice.</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[6] </a:t>
            </a:r>
            <a:r>
              <a:rPr lang="en-US" sz="980" b="1" dirty="0">
                <a:solidFill>
                  <a:srgbClr val="1F2937"/>
                </a:solidFill>
                <a:latin typeface="Calibri" pitchFamily="34" charset="0"/>
                <a:ea typeface="Calibri" pitchFamily="34" charset="-122"/>
                <a:cs typeface="Calibri" pitchFamily="34" charset="-120"/>
              </a:rPr>
              <a:t>Croston (1972); Petropoulos et al. (2013)</a:t>
            </a:r>
            <a:r>
              <a:rPr lang="en-US" sz="980" i="1" dirty="0">
                <a:solidFill>
                  <a:srgbClr val="8B95A1"/>
                </a:solidFill>
                <a:latin typeface="Calibri" pitchFamily="34" charset="0"/>
                <a:ea typeface="Calibri" pitchFamily="34" charset="-122"/>
                <a:cs typeface="Calibri" pitchFamily="34" charset="-120"/>
              </a:rPr>
              <a:t>  JORS; IMDS</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Forecasting intermittent demand.</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[7] </a:t>
            </a:r>
            <a:r>
              <a:rPr lang="en-US" sz="980" b="1" dirty="0">
                <a:solidFill>
                  <a:srgbClr val="1F2937"/>
                </a:solidFill>
                <a:latin typeface="Calibri" pitchFamily="34" charset="0"/>
                <a:ea typeface="Calibri" pitchFamily="34" charset="-122"/>
                <a:cs typeface="Calibri" pitchFamily="34" charset="-120"/>
              </a:rPr>
              <a:t>Lei et al. (2017); Romano et al. (2019); Angelopoulos &amp; Bates (2023)</a:t>
            </a:r>
            <a:r>
              <a:rPr lang="en-US" sz="980" i="1" dirty="0">
                <a:solidFill>
                  <a:srgbClr val="8B95A1"/>
                </a:solidFill>
                <a:latin typeface="Calibri" pitchFamily="34" charset="0"/>
                <a:ea typeface="Calibri" pitchFamily="34" charset="-122"/>
                <a:cs typeface="Calibri" pitchFamily="34" charset="-120"/>
              </a:rPr>
              <a:t>  JASA; NeurIPS; FnT ML</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Distribution-free conformal prediction.</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[8] </a:t>
            </a:r>
            <a:r>
              <a:rPr lang="en-US" sz="980" b="1" dirty="0">
                <a:solidFill>
                  <a:srgbClr val="1F2937"/>
                </a:solidFill>
                <a:latin typeface="Calibri" pitchFamily="34" charset="0"/>
                <a:ea typeface="Calibri" pitchFamily="34" charset="-122"/>
                <a:cs typeface="Calibri" pitchFamily="34" charset="-120"/>
              </a:rPr>
              <a:t>Gibbs &amp; Candès (2021); Barber et al. (2023)</a:t>
            </a:r>
            <a:r>
              <a:rPr lang="en-US" sz="980" i="1" dirty="0">
                <a:solidFill>
                  <a:srgbClr val="8B95A1"/>
                </a:solidFill>
                <a:latin typeface="Calibri" pitchFamily="34" charset="0"/>
                <a:ea typeface="Calibri" pitchFamily="34" charset="-122"/>
                <a:cs typeface="Calibri" pitchFamily="34" charset="-120"/>
              </a:rPr>
              <a:t>  NeurIPS; Ann. Stat.</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Conformal inference under distribution shift.</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[9] </a:t>
            </a:r>
            <a:r>
              <a:rPr lang="en-US" sz="980" b="1" dirty="0">
                <a:solidFill>
                  <a:srgbClr val="1F2937"/>
                </a:solidFill>
                <a:latin typeface="Calibri" pitchFamily="34" charset="0"/>
                <a:ea typeface="Calibri" pitchFamily="34" charset="-122"/>
                <a:cs typeface="Calibri" pitchFamily="34" charset="-120"/>
              </a:rPr>
              <a:t>Salinas, Flunkert &amp; Gasthaus (2019)</a:t>
            </a:r>
            <a:r>
              <a:rPr lang="en-US" sz="980" i="1" dirty="0">
                <a:solidFill>
                  <a:srgbClr val="8B95A1"/>
                </a:solidFill>
                <a:latin typeface="Calibri" pitchFamily="34" charset="0"/>
                <a:ea typeface="Calibri" pitchFamily="34" charset="-122"/>
                <a:cs typeface="Calibri" pitchFamily="34" charset="-120"/>
              </a:rPr>
              <a:t>  IJF</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DeepAR: autoregressive recurrent probabilistic forecasts.</a:t>
            </a:r>
            <a:endParaRPr lang="en-US" sz="980" dirty="0"/>
          </a:p>
          <a:p>
            <a:pPr indent="0" marL="0">
              <a:lnSpc>
                <a:spcPct val="95000"/>
              </a:lnSpc>
              <a:spcBef>
                <a:spcPts val="450"/>
              </a:spcBef>
              <a:buNone/>
            </a:pPr>
            <a:r>
              <a:rPr lang="en-US" sz="980" b="1" dirty="0">
                <a:solidFill>
                  <a:srgbClr val="1C4E80"/>
                </a:solidFill>
                <a:latin typeface="Calibri" pitchFamily="34" charset="0"/>
                <a:ea typeface="Calibri" pitchFamily="34" charset="-122"/>
                <a:cs typeface="Calibri" pitchFamily="34" charset="-120"/>
              </a:rPr>
              <a:t>[10] </a:t>
            </a:r>
            <a:r>
              <a:rPr lang="en-US" sz="980" b="1" dirty="0">
                <a:solidFill>
                  <a:srgbClr val="1F2937"/>
                </a:solidFill>
                <a:latin typeface="Calibri" pitchFamily="34" charset="0"/>
                <a:ea typeface="Calibri" pitchFamily="34" charset="-122"/>
                <a:cs typeface="Calibri" pitchFamily="34" charset="-120"/>
              </a:rPr>
              <a:t>Wickramasuriya, Athanasopoulos &amp; Hyndman (2019)</a:t>
            </a:r>
            <a:r>
              <a:rPr lang="en-US" sz="980" i="1" dirty="0">
                <a:solidFill>
                  <a:srgbClr val="8B95A1"/>
                </a:solidFill>
                <a:latin typeface="Calibri" pitchFamily="34" charset="0"/>
                <a:ea typeface="Calibri" pitchFamily="34" charset="-122"/>
                <a:cs typeface="Calibri" pitchFamily="34" charset="-120"/>
              </a:rPr>
              <a:t>  JASA</a:t>
            </a:r>
            <a:endParaRPr lang="en-US" sz="980" dirty="0"/>
          </a:p>
          <a:p>
            <a:pPr indent="0" marL="0">
              <a:lnSpc>
                <a:spcPct val="95000"/>
              </a:lnSpc>
              <a:buNone/>
            </a:pPr>
            <a:r>
              <a:rPr lang="en-US" sz="980" dirty="0">
                <a:solidFill>
                  <a:srgbClr val="4B5563"/>
                </a:solidFill>
                <a:latin typeface="Calibri" pitchFamily="34" charset="0"/>
                <a:ea typeface="Calibri" pitchFamily="34" charset="-122"/>
                <a:cs typeface="Calibri" pitchFamily="34" charset="-120"/>
              </a:rPr>
              <a:t>Optimal reconciliation (MinT) needs the error covariance.</a:t>
            </a:r>
            <a:endParaRPr lang="en-US" sz="9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THEME 6 OF 6 · SERVICE DESIGN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Fixed, flexible or hybrid service under uncertain demand</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18 / 39</a:t>
            </a:r>
            <a:endParaRPr lang="en-US" sz="850" dirty="0"/>
          </a:p>
        </p:txBody>
      </p:sp>
      <p:sp>
        <p:nvSpPr>
          <p:cNvPr id="6" name="Text 4"/>
          <p:cNvSpPr txBox="1"/>
          <p:nvPr/>
        </p:nvSpPr>
        <p:spPr>
          <a:xfrm>
            <a:off x="548640" y="1261872"/>
            <a:ext cx="6812280" cy="3657600"/>
          </a:xfrm>
          <a:prstGeom prst="rect">
            <a:avLst/>
          </a:prstGeom>
          <a:noFill/>
          <a:ln/>
        </p:spPr>
        <p:txBody>
          <a:bodyPr wrap="square" lIns="0" tIns="0" rIns="0" bIns="0" rtlCol="0" anchor="t"/>
          <a:lstStyle/>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WHAT IS ESTABLISHED</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Classical planning sets frequencies and timetables to balance ridership and cost; newer work adds robust or stochastic demand.</a:t>
            </a:r>
            <a:r>
              <a:rPr lang="en-US" sz="950" dirty="0">
                <a:solidFill>
                  <a:srgbClr val="8B95A1"/>
                </a:solidFill>
                <a:latin typeface="Calibri" pitchFamily="34" charset="0"/>
                <a:ea typeface="Calibri" pitchFamily="34" charset="-122"/>
                <a:cs typeface="Calibri" pitchFamily="34" charset="-120"/>
              </a:rPr>
              <a:t> [1–4]</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Rural demand-responsive transport (DRT) is widely trialled, but many schemes fail on cost and low use; there is an efficiency–equity dilemma, and older users struggle with booking.</a:t>
            </a:r>
            <a:r>
              <a:rPr lang="en-US" sz="950" dirty="0">
                <a:solidFill>
                  <a:srgbClr val="8B95A1"/>
                </a:solidFill>
                <a:latin typeface="Calibri" pitchFamily="34" charset="0"/>
                <a:ea typeface="Calibri" pitchFamily="34" charset="-122"/>
                <a:cs typeface="Calibri" pitchFamily="34" charset="-120"/>
              </a:rPr>
              <a:t> [5–8]</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Research is moving toward hybrid fixed + flexible designs.</a:t>
            </a:r>
            <a:r>
              <a:rPr lang="en-US" sz="950" dirty="0">
                <a:solidFill>
                  <a:srgbClr val="8B95A1"/>
                </a:solidFill>
                <a:latin typeface="Calibri" pitchFamily="34" charset="0"/>
                <a:ea typeface="Calibri" pitchFamily="34" charset="-122"/>
                <a:cs typeface="Calibri" pitchFamily="34" charset="-120"/>
              </a:rPr>
              <a:t> [9, 10]</a:t>
            </a:r>
            <a:endParaRPr lang="en-US" sz="122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METHODS IN USE</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Frequency-setting and timetabling optimisation; chance-constrained programming solved by sample average approximation; simulation.</a:t>
            </a:r>
            <a:r>
              <a:rPr lang="en-US" sz="950" dirty="0">
                <a:solidFill>
                  <a:srgbClr val="8B95A1"/>
                </a:solidFill>
                <a:latin typeface="Calibri" pitchFamily="34" charset="0"/>
                <a:ea typeface="Calibri" pitchFamily="34" charset="-122"/>
                <a:cs typeface="Calibri" pitchFamily="34" charset="-120"/>
              </a:rPr>
              <a:t> [1, 11]</a:t>
            </a:r>
            <a:endParaRPr lang="en-US" sz="1220" dirty="0"/>
          </a:p>
          <a:p>
            <a:pPr indent="0" marL="0">
              <a:lnSpc>
                <a:spcPct val="98000"/>
              </a:lnSpc>
              <a:spcBef>
                <a:spcPts val="500"/>
              </a:spcBef>
              <a:spcAft>
                <a:spcPts val="200"/>
              </a:spcAft>
              <a:buNone/>
            </a:pPr>
            <a:r>
              <a:rPr lang="en-US" sz="950" b="1" spc="80" kern="0" dirty="0">
                <a:solidFill>
                  <a:srgbClr val="1C4E80"/>
                </a:solidFill>
                <a:latin typeface="Calibri" pitchFamily="34" charset="0"/>
                <a:ea typeface="Calibri" pitchFamily="34" charset="-122"/>
                <a:cs typeface="Calibri" pitchFamily="34" charset="-120"/>
              </a:rPr>
              <a:t>LIMITATIONS AND UNRESOLVED PROBLEMS</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Hybrid designs usually assume idealised or urban demand rather than actual probabilistic forecasts.</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Rural DRT evidence is mostly European; demography, roads and operating institutions differ from a Chinese mountain county run by a single bus station.</a:t>
            </a:r>
            <a:endParaRPr lang="en-US" sz="1220" dirty="0"/>
          </a:p>
          <a:p>
            <a:pPr marL="165100" indent="-165100">
              <a:lnSpc>
                <a:spcPct val="98000"/>
              </a:lnSpc>
              <a:spcAft>
                <a:spcPts val="300"/>
              </a:spcAft>
              <a:buSzPct val="100000"/>
              <a:buChar char="•"/>
            </a:pPr>
            <a:r>
              <a:rPr lang="en-US" sz="1220" dirty="0">
                <a:solidFill>
                  <a:srgbClr val="1F2937"/>
                </a:solidFill>
                <a:latin typeface="Calibri" pitchFamily="34" charset="0"/>
                <a:ea typeface="Calibri" pitchFamily="34" charset="-122"/>
                <a:cs typeface="Calibri" pitchFamily="34" charset="-120"/>
              </a:rPr>
              <a:t>Point forecasts fed into optimisation ignore risk on high-demand days.</a:t>
            </a:r>
            <a:endParaRPr lang="en-US" sz="1220" dirty="0"/>
          </a:p>
        </p:txBody>
      </p:sp>
      <p:sp>
        <p:nvSpPr>
          <p:cNvPr id="7" name="Shape 5"/>
          <p:cNvSpPr/>
          <p:nvPr/>
        </p:nvSpPr>
        <p:spPr>
          <a:xfrm>
            <a:off x="548640" y="5029200"/>
            <a:ext cx="6812280" cy="1261872"/>
          </a:xfrm>
          <a:prstGeom prst="rect">
            <a:avLst/>
          </a:prstGeom>
          <a:solidFill>
            <a:srgbClr val="FBEDE5"/>
          </a:solidFill>
          <a:ln w="12700">
            <a:solidFill>
              <a:srgbClr val="FBEDE5"/>
            </a:solidFill>
            <a:prstDash val="solid"/>
          </a:ln>
        </p:spPr>
      </p:sp>
      <p:sp>
        <p:nvSpPr>
          <p:cNvPr id="8" name="Text 6"/>
          <p:cNvSpPr txBox="1"/>
          <p:nvPr/>
        </p:nvSpPr>
        <p:spPr>
          <a:xfrm>
            <a:off x="685800" y="5111496"/>
            <a:ext cx="6492240" cy="201168"/>
          </a:xfrm>
          <a:prstGeom prst="rect">
            <a:avLst/>
          </a:prstGeom>
          <a:noFill/>
          <a:ln/>
        </p:spPr>
        <p:txBody>
          <a:bodyPr wrap="square" lIns="0" tIns="0" rIns="0" bIns="0" rtlCol="0" anchor="t"/>
          <a:lstStyle/>
          <a:p>
            <a:pPr indent="0" marL="0">
              <a:buNone/>
            </a:pPr>
            <a:r>
              <a:rPr lang="en-US" sz="950" b="1" spc="80" kern="0" dirty="0">
                <a:solidFill>
                  <a:srgbClr val="C2410C"/>
                </a:solidFill>
                <a:latin typeface="Calibri" pitchFamily="34" charset="0"/>
                <a:ea typeface="Calibri" pitchFamily="34" charset="-122"/>
                <a:cs typeface="Calibri" pitchFamily="34" charset="-120"/>
              </a:rPr>
              <a:t>→ HOW THIS STUDY RESPONDS</a:t>
            </a:r>
            <a:endParaRPr lang="en-US" sz="950" dirty="0"/>
          </a:p>
        </p:txBody>
      </p:sp>
      <p:sp>
        <p:nvSpPr>
          <p:cNvPr id="9" name="Text 7"/>
          <p:cNvSpPr txBox="1"/>
          <p:nvPr/>
        </p:nvSpPr>
        <p:spPr>
          <a:xfrm>
            <a:off x="685800" y="5340096"/>
            <a:ext cx="6537960" cy="877824"/>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Keep a fixed core timetable (no booking needed). Add a day-ahead reserve sized from the daily-total forecast, and forecast-triggered supplementary runs when Pr(demand &gt; effective capacity) &gt; α. Report a cost–denied-boarding frontier instead of one “optimal” plan; triggers come from calendar information known days ahead, not from bookings.</a:t>
            </a:r>
            <a:endParaRPr lang="en-US" sz="1150" dirty="0"/>
          </a:p>
        </p:txBody>
      </p:sp>
      <p:sp>
        <p:nvSpPr>
          <p:cNvPr id="10" name="Shape 8"/>
          <p:cNvSpPr/>
          <p:nvPr/>
        </p:nvSpPr>
        <p:spPr>
          <a:xfrm>
            <a:off x="7589520" y="1261872"/>
            <a:ext cx="4053535" cy="5029200"/>
          </a:xfrm>
          <a:prstGeom prst="rect">
            <a:avLst/>
          </a:prstGeom>
          <a:solidFill>
            <a:srgbClr val="F3F5F8"/>
          </a:solidFill>
          <a:ln w="12700">
            <a:solidFill>
              <a:srgbClr val="F3F5F8"/>
            </a:solidFill>
            <a:prstDash val="solid"/>
          </a:ln>
        </p:spPr>
      </p:sp>
      <p:sp>
        <p:nvSpPr>
          <p:cNvPr id="11" name="Text 9"/>
          <p:cNvSpPr txBox="1"/>
          <p:nvPr/>
        </p:nvSpPr>
        <p:spPr>
          <a:xfrm>
            <a:off x="7754112" y="1371600"/>
            <a:ext cx="3779215" cy="201168"/>
          </a:xfrm>
          <a:prstGeom prst="rect">
            <a:avLst/>
          </a:prstGeom>
          <a:noFill/>
          <a:ln/>
        </p:spPr>
        <p:txBody>
          <a:bodyPr wrap="square" lIns="0" tIns="0" rIns="0" bIns="0" rtlCol="0" anchor="t"/>
          <a:lstStyle/>
          <a:p>
            <a:pPr indent="0" marL="0">
              <a:buNone/>
            </a:pPr>
            <a:r>
              <a:rPr lang="en-US" sz="950" b="1" spc="80" kern="0" dirty="0">
                <a:solidFill>
                  <a:srgbClr val="1C4E80"/>
                </a:solidFill>
                <a:latin typeface="Calibri" pitchFamily="34" charset="0"/>
                <a:ea typeface="Calibri" pitchFamily="34" charset="-122"/>
                <a:cs typeface="Calibri" pitchFamily="34" charset="-120"/>
              </a:rPr>
              <a:t>KEY STUDIES BEHIND THE SYNTHESIS</a:t>
            </a:r>
            <a:endParaRPr lang="en-US" sz="950" dirty="0"/>
          </a:p>
        </p:txBody>
      </p:sp>
      <p:sp>
        <p:nvSpPr>
          <p:cNvPr id="12" name="Text 10"/>
          <p:cNvSpPr txBox="1"/>
          <p:nvPr/>
        </p:nvSpPr>
        <p:spPr>
          <a:xfrm>
            <a:off x="7754112" y="1645920"/>
            <a:ext cx="3760927" cy="4572000"/>
          </a:xfrm>
          <a:prstGeom prst="rect">
            <a:avLst/>
          </a:prstGeom>
          <a:noFill/>
          <a:ln/>
        </p:spPr>
        <p:txBody>
          <a:bodyPr wrap="square" lIns="0" tIns="0" rIns="0" bIns="0" rtlCol="0" anchor="t"/>
          <a:lstStyle/>
          <a:p>
            <a:pPr indent="0" marL="0">
              <a:lnSpc>
                <a:spcPct val="95000"/>
              </a:lnSpc>
              <a:buNone/>
            </a:pPr>
            <a:r>
              <a:rPr lang="en-US" sz="930" b="1" dirty="0">
                <a:solidFill>
                  <a:srgbClr val="1C4E80"/>
                </a:solidFill>
                <a:latin typeface="Calibri" pitchFamily="34" charset="0"/>
                <a:ea typeface="Calibri" pitchFamily="34" charset="-122"/>
                <a:cs typeface="Calibri" pitchFamily="34" charset="-120"/>
              </a:rPr>
              <a:t>[1] </a:t>
            </a:r>
            <a:r>
              <a:rPr lang="en-US" sz="930" b="1" dirty="0">
                <a:solidFill>
                  <a:srgbClr val="1F2937"/>
                </a:solidFill>
                <a:latin typeface="Calibri" pitchFamily="34" charset="0"/>
                <a:ea typeface="Calibri" pitchFamily="34" charset="-122"/>
                <a:cs typeface="Calibri" pitchFamily="34" charset="-120"/>
              </a:rPr>
              <a:t>Newell (1971); Ceder (1984)</a:t>
            </a:r>
            <a:r>
              <a:rPr lang="en-US" sz="930" i="1" dirty="0">
                <a:solidFill>
                  <a:srgbClr val="8B95A1"/>
                </a:solidFill>
                <a:latin typeface="Calibri" pitchFamily="34" charset="0"/>
                <a:ea typeface="Calibri" pitchFamily="34" charset="-122"/>
                <a:cs typeface="Calibri" pitchFamily="34" charset="-120"/>
              </a:rPr>
              <a:t>  Transp. Science; TR-A</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Dispatching policies; frequency setting from passenger counts.</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[2] </a:t>
            </a:r>
            <a:r>
              <a:rPr lang="en-US" sz="930" b="1" dirty="0">
                <a:solidFill>
                  <a:srgbClr val="1F2937"/>
                </a:solidFill>
                <a:latin typeface="Calibri" pitchFamily="34" charset="0"/>
                <a:ea typeface="Calibri" pitchFamily="34" charset="-122"/>
                <a:cs typeface="Calibri" pitchFamily="34" charset="-120"/>
              </a:rPr>
              <a:t>Hadas &amp; Shnaiderman (2012)</a:t>
            </a:r>
            <a:r>
              <a:rPr lang="en-US" sz="930" i="1" dirty="0">
                <a:solidFill>
                  <a:srgbClr val="8B95A1"/>
                </a:solidFill>
                <a:latin typeface="Calibri" pitchFamily="34" charset="0"/>
                <a:ea typeface="Calibri" pitchFamily="34" charset="-122"/>
                <a:cs typeface="Calibri" pitchFamily="34" charset="-120"/>
              </a:rPr>
              <a:t>  TR-B</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Minimum-cost frequencies with stochastic demand and travel time.</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[3] </a:t>
            </a:r>
            <a:r>
              <a:rPr lang="en-US" sz="930" b="1" dirty="0">
                <a:solidFill>
                  <a:srgbClr val="1F2937"/>
                </a:solidFill>
                <a:latin typeface="Calibri" pitchFamily="34" charset="0"/>
                <a:ea typeface="Calibri" pitchFamily="34" charset="-122"/>
                <a:cs typeface="Calibri" pitchFamily="34" charset="-120"/>
              </a:rPr>
              <a:t>Durán-Micco &amp; Vansteenwegen (2021)</a:t>
            </a:r>
            <a:r>
              <a:rPr lang="en-US" sz="930" i="1" dirty="0">
                <a:solidFill>
                  <a:srgbClr val="8B95A1"/>
                </a:solidFill>
                <a:latin typeface="Calibri" pitchFamily="34" charset="0"/>
                <a:ea typeface="Calibri" pitchFamily="34" charset="-122"/>
                <a:cs typeface="Calibri" pitchFamily="34" charset="-120"/>
              </a:rPr>
              <a:t>  Public Transport</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Survey of network design and frequency setting.</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[4] </a:t>
            </a:r>
            <a:r>
              <a:rPr lang="en-US" sz="930" b="1" dirty="0">
                <a:solidFill>
                  <a:srgbClr val="1F2937"/>
                </a:solidFill>
                <a:latin typeface="Calibri" pitchFamily="34" charset="0"/>
                <a:ea typeface="Calibri" pitchFamily="34" charset="-122"/>
                <a:cs typeface="Calibri" pitchFamily="34" charset="-120"/>
              </a:rPr>
              <a:t>Gkiotsalitis et al. (2021); Xia et al. (2023)</a:t>
            </a:r>
            <a:r>
              <a:rPr lang="en-US" sz="930" i="1" dirty="0">
                <a:solidFill>
                  <a:srgbClr val="8B95A1"/>
                </a:solidFill>
                <a:latin typeface="Calibri" pitchFamily="34" charset="0"/>
                <a:ea typeface="Calibri" pitchFamily="34" charset="-122"/>
                <a:cs typeface="Calibri" pitchFamily="34" charset="-120"/>
              </a:rPr>
              <a:t>  TR-C</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Frequencies and timetables under demand uncertainty.</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[5] </a:t>
            </a:r>
            <a:r>
              <a:rPr lang="en-US" sz="930" b="1" dirty="0">
                <a:solidFill>
                  <a:srgbClr val="1F2937"/>
                </a:solidFill>
                <a:latin typeface="Calibri" pitchFamily="34" charset="0"/>
                <a:ea typeface="Calibri" pitchFamily="34" charset="-122"/>
                <a:cs typeface="Calibri" pitchFamily="34" charset="-120"/>
              </a:rPr>
              <a:t>Mageean &amp; Nelson (2003); Laws et al. (2009); Vansteenwegen et al. (2022)</a:t>
            </a:r>
            <a:r>
              <a:rPr lang="en-US" sz="930" i="1" dirty="0">
                <a:solidFill>
                  <a:srgbClr val="8B95A1"/>
                </a:solidFill>
                <a:latin typeface="Calibri" pitchFamily="34" charset="0"/>
                <a:ea typeface="Calibri" pitchFamily="34" charset="-122"/>
                <a:cs typeface="Calibri" pitchFamily="34" charset="-120"/>
              </a:rPr>
              <a:t>  JTG; JPT; TR-C</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DRT evaluations and review.</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[6] </a:t>
            </a:r>
            <a:r>
              <a:rPr lang="en-US" sz="930" b="1" dirty="0">
                <a:solidFill>
                  <a:srgbClr val="1F2937"/>
                </a:solidFill>
                <a:latin typeface="Calibri" pitchFamily="34" charset="0"/>
                <a:ea typeface="Calibri" pitchFamily="34" charset="-122"/>
                <a:cs typeface="Calibri" pitchFamily="34" charset="-120"/>
              </a:rPr>
              <a:t>Currie &amp; Fournier (2020)</a:t>
            </a:r>
            <a:r>
              <a:rPr lang="en-US" sz="930" i="1" dirty="0">
                <a:solidFill>
                  <a:srgbClr val="8B95A1"/>
                </a:solidFill>
                <a:latin typeface="Calibri" pitchFamily="34" charset="0"/>
                <a:ea typeface="Calibri" pitchFamily="34" charset="-122"/>
                <a:cs typeface="Calibri" pitchFamily="34" charset="-120"/>
              </a:rPr>
              <a:t>  Res. Transp. Economics</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Why most DRT / micro-transit schemes fail.</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[7] </a:t>
            </a:r>
            <a:r>
              <a:rPr lang="en-US" sz="930" b="1" dirty="0">
                <a:solidFill>
                  <a:srgbClr val="1F2937"/>
                </a:solidFill>
                <a:latin typeface="Calibri" pitchFamily="34" charset="0"/>
                <a:ea typeface="Calibri" pitchFamily="34" charset="-122"/>
                <a:cs typeface="Calibri" pitchFamily="34" charset="-120"/>
              </a:rPr>
              <a:t>Schasché, Sposato &amp; Hampl (2022)</a:t>
            </a:r>
            <a:r>
              <a:rPr lang="en-US" sz="930" i="1" dirty="0">
                <a:solidFill>
                  <a:srgbClr val="8B95A1"/>
                </a:solidFill>
                <a:latin typeface="Calibri" pitchFamily="34" charset="0"/>
                <a:ea typeface="Calibri" pitchFamily="34" charset="-122"/>
                <a:cs typeface="Calibri" pitchFamily="34" charset="-120"/>
              </a:rPr>
              <a:t>  Transport Policy</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Rural DRT: conflicting expectations, weak acceptance.</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[8] </a:t>
            </a:r>
            <a:r>
              <a:rPr lang="en-US" sz="930" b="1" dirty="0">
                <a:solidFill>
                  <a:srgbClr val="1F2937"/>
                </a:solidFill>
                <a:latin typeface="Calibri" pitchFamily="34" charset="0"/>
                <a:ea typeface="Calibri" pitchFamily="34" charset="-122"/>
                <a:cs typeface="Calibri" pitchFamily="34" charset="-120"/>
              </a:rPr>
              <a:t>Jittrapirom et al. (2019); Knierim &amp; Schlüter (2021)</a:t>
            </a:r>
            <a:r>
              <a:rPr lang="en-US" sz="930" i="1" dirty="0">
                <a:solidFill>
                  <a:srgbClr val="8B95A1"/>
                </a:solidFill>
                <a:latin typeface="Calibri" pitchFamily="34" charset="0"/>
                <a:ea typeface="Calibri" pitchFamily="34" charset="-122"/>
                <a:cs typeface="Calibri" pitchFamily="34" charset="-120"/>
              </a:rPr>
              <a:t>  RTBM; JTG</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Older and less-mobile people's attitudes to DRT.</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[9] </a:t>
            </a:r>
            <a:r>
              <a:rPr lang="en-US" sz="930" b="1" dirty="0">
                <a:solidFill>
                  <a:srgbClr val="1F2937"/>
                </a:solidFill>
                <a:latin typeface="Calibri" pitchFamily="34" charset="0"/>
                <a:ea typeface="Calibri" pitchFamily="34" charset="-122"/>
                <a:cs typeface="Calibri" pitchFamily="34" charset="-120"/>
              </a:rPr>
              <a:t>Nourbakhsh &amp; Ouyang (2011); Zhao, Sun &amp; Cats (2021); Calabrò et al. (2023)</a:t>
            </a:r>
            <a:r>
              <a:rPr lang="en-US" sz="930" i="1" dirty="0">
                <a:solidFill>
                  <a:srgbClr val="8B95A1"/>
                </a:solidFill>
                <a:latin typeface="Calibri" pitchFamily="34" charset="0"/>
                <a:ea typeface="Calibri" pitchFamily="34" charset="-122"/>
                <a:cs typeface="Calibri" pitchFamily="34" charset="-120"/>
              </a:rPr>
              <a:t>  TR-B; Transportmetrica A; TR-A</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Structured flexible and joint fixed + DRT designs.</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[10] </a:t>
            </a:r>
            <a:r>
              <a:rPr lang="en-US" sz="930" b="1" dirty="0">
                <a:solidFill>
                  <a:srgbClr val="1F2937"/>
                </a:solidFill>
                <a:latin typeface="Calibri" pitchFamily="34" charset="0"/>
                <a:ea typeface="Calibri" pitchFamily="34" charset="-122"/>
                <a:cs typeface="Calibri" pitchFamily="34" charset="-120"/>
              </a:rPr>
              <a:t>Sörensen et al. (2020)</a:t>
            </a:r>
            <a:r>
              <a:rPr lang="en-US" sz="930" i="1" dirty="0">
                <a:solidFill>
                  <a:srgbClr val="8B95A1"/>
                </a:solidFill>
                <a:latin typeface="Calibri" pitchFamily="34" charset="0"/>
                <a:ea typeface="Calibri" pitchFamily="34" charset="-122"/>
                <a:cs typeface="Calibri" pitchFamily="34" charset="-120"/>
              </a:rPr>
              <a:t>  Transport Policy</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How much flexibility does rural public transport need?</a:t>
            </a:r>
            <a:endParaRPr lang="en-US" sz="930" dirty="0"/>
          </a:p>
          <a:p>
            <a:pPr indent="0" marL="0">
              <a:lnSpc>
                <a:spcPct val="95000"/>
              </a:lnSpc>
              <a:spcBef>
                <a:spcPts val="450"/>
              </a:spcBef>
              <a:buNone/>
            </a:pPr>
            <a:r>
              <a:rPr lang="en-US" sz="930" b="1" dirty="0">
                <a:solidFill>
                  <a:srgbClr val="1C4E80"/>
                </a:solidFill>
                <a:latin typeface="Calibri" pitchFamily="34" charset="0"/>
                <a:ea typeface="Calibri" pitchFamily="34" charset="-122"/>
                <a:cs typeface="Calibri" pitchFamily="34" charset="-120"/>
              </a:rPr>
              <a:t>[11] </a:t>
            </a:r>
            <a:r>
              <a:rPr lang="en-US" sz="930" b="1" dirty="0">
                <a:solidFill>
                  <a:srgbClr val="1F2937"/>
                </a:solidFill>
                <a:latin typeface="Calibri" pitchFamily="34" charset="0"/>
                <a:ea typeface="Calibri" pitchFamily="34" charset="-122"/>
                <a:cs typeface="Calibri" pitchFamily="34" charset="-120"/>
              </a:rPr>
              <a:t>Charnes &amp; Cooper (1959); Kleywegt et al. (2002)</a:t>
            </a:r>
            <a:r>
              <a:rPr lang="en-US" sz="930" i="1" dirty="0">
                <a:solidFill>
                  <a:srgbClr val="8B95A1"/>
                </a:solidFill>
                <a:latin typeface="Calibri" pitchFamily="34" charset="0"/>
                <a:ea typeface="Calibri" pitchFamily="34" charset="-122"/>
                <a:cs typeface="Calibri" pitchFamily="34" charset="-120"/>
              </a:rPr>
              <a:t>  Mgmt Science; SIAM J. Optim.</a:t>
            </a:r>
            <a:endParaRPr lang="en-US" sz="930" dirty="0"/>
          </a:p>
          <a:p>
            <a:pPr indent="0" marL="0">
              <a:lnSpc>
                <a:spcPct val="95000"/>
              </a:lnSpc>
              <a:buNone/>
            </a:pPr>
            <a:r>
              <a:rPr lang="en-US" sz="930" dirty="0">
                <a:solidFill>
                  <a:srgbClr val="4B5563"/>
                </a:solidFill>
                <a:latin typeface="Calibri" pitchFamily="34" charset="0"/>
                <a:ea typeface="Calibri" pitchFamily="34" charset="-122"/>
                <a:cs typeface="Calibri" pitchFamily="34" charset="-120"/>
              </a:rPr>
              <a:t>Chance constraints; sample average approximation.</a:t>
            </a:r>
            <a:endParaRPr lang="en-US" sz="9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SYNTHESIS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From prior practice to this study's design choices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19 / 39</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2834640"/>
                <a:gridCol w="4206240"/>
                <a:gridCol w="4050792"/>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Prior practice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falls short for Xinhuang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Design choice in this study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Daily or station totals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Opposite-direction flows on the same day blur together; decisions are per run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Run-level unit: total boardings per one-way run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One holiday dummy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3-day and 8-day holidays differ in return-trip volume and direction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Holiday intensity by type × length (hierarchical type effect)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Day-of-week dummies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Fit “Friday”, not “students going home”; break down in vacations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Directional student (S) and worker (W) factors switched by the school calendar</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Log-scale interaction terms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Answer a ratio-scale question; operators need extra passengers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Passenger-scale overlaps; scale chosen by likelihood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All interactions / ML + SHAP</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Unidentifiable pairs; arbitrary attribution; no intervals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Identifiability screen (≥200 runs) before estimation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Full buses read as demand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Peaks underestimated (−14% in synthetic tests)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Censored likelihood; capacity = seats × turnover κ</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Pipeline: effects → point forecast → optimisation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Uncertainty lost between steps; daily intervals too narrow</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One joint model; decisions drawn from forecast samples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4864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Surveys as description only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Never checked against ridership; unmet demand unseen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Composition likelihood as diagnostic; household survey for unmet demand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GAP EVIDENCE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Are these gaps real? A three-step check beyond keyword counts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20 / 39</a:t>
            </a:r>
            <a:endParaRPr lang="en-US" sz="850" dirty="0"/>
          </a:p>
        </p:txBody>
      </p:sp>
      <p:sp>
        <p:nvSpPr>
          <p:cNvPr id="6" name="Text 4"/>
          <p:cNvSpPr txBox="1"/>
          <p:nvPr/>
        </p:nvSpPr>
        <p:spPr>
          <a:xfrm>
            <a:off x="548640" y="1325880"/>
            <a:ext cx="5394960" cy="274320"/>
          </a:xfrm>
          <a:prstGeom prst="rect">
            <a:avLst/>
          </a:prstGeom>
          <a:noFill/>
          <a:ln/>
        </p:spPr>
        <p:txBody>
          <a:bodyPr wrap="square" lIns="0" tIns="0" rIns="0" bIns="0" rtlCol="0" anchor="t"/>
          <a:lstStyle/>
          <a:p>
            <a:pPr indent="0" marL="0">
              <a:buNone/>
            </a:pPr>
            <a:r>
              <a:rPr lang="en-US" sz="1400" b="1" dirty="0">
                <a:solidFill>
                  <a:srgbClr val="1C4E80"/>
                </a:solidFill>
                <a:latin typeface="Calibri" pitchFamily="34" charset="0"/>
                <a:ea typeface="Calibri" pitchFamily="34" charset="-122"/>
                <a:cs typeface="Calibri" pitchFamily="34" charset="-120"/>
              </a:rPr>
              <a:t>1  Correct hit counts for precision</a:t>
            </a:r>
            <a:endParaRPr lang="en-US" sz="1400" dirty="0"/>
          </a:p>
        </p:txBody>
      </p:sp>
      <p:sp>
        <p:nvSpPr>
          <p:cNvPr id="7" name="Text 5"/>
          <p:cNvSpPr txBox="1"/>
          <p:nvPr/>
        </p:nvSpPr>
        <p:spPr>
          <a:xfrm>
            <a:off x="548640" y="1645920"/>
            <a:ext cx="5394960" cy="822960"/>
          </a:xfrm>
          <a:prstGeom prst="rect">
            <a:avLst/>
          </a:prstGeom>
          <a:noFill/>
          <a:ln/>
        </p:spPr>
        <p:txBody>
          <a:bodyPr wrap="square" lIns="0" tIns="0" rIns="0" bIns="0" rtlCol="0" anchor="t"/>
          <a:lstStyle/>
          <a:p>
            <a:pPr indent="0" marL="0">
              <a:buNone/>
            </a:pPr>
            <a:r>
              <a:rPr lang="en-US" sz="1250" dirty="0">
                <a:solidFill>
                  <a:srgbClr val="4B5563"/>
                </a:solidFill>
                <a:latin typeface="Calibri" pitchFamily="34" charset="0"/>
                <a:ea typeface="Calibri" pitchFamily="34" charset="-122"/>
                <a:cs typeface="Calibri" pitchFamily="34" charset="-120"/>
              </a:rPr>
              <a:t>“Transit ridership forecasting”: ≈1,602 relevant studies (95% CI 1,220–1,919). “Rural transit × ridership forecasting”: ≈16 (11–23). “Rural transit × probabilistic forecasting”: 1 hit, not relevant.</a:t>
            </a:r>
            <a:endParaRPr lang="en-US" sz="1250" dirty="0"/>
          </a:p>
        </p:txBody>
      </p:sp>
      <p:sp>
        <p:nvSpPr>
          <p:cNvPr id="8" name="Text 6"/>
          <p:cNvSpPr txBox="1"/>
          <p:nvPr/>
        </p:nvSpPr>
        <p:spPr>
          <a:xfrm>
            <a:off x="548640" y="2496312"/>
            <a:ext cx="5394960" cy="274320"/>
          </a:xfrm>
          <a:prstGeom prst="rect">
            <a:avLst/>
          </a:prstGeom>
          <a:noFill/>
          <a:ln/>
        </p:spPr>
        <p:txBody>
          <a:bodyPr wrap="square" lIns="0" tIns="0" rIns="0" bIns="0" rtlCol="0" anchor="t"/>
          <a:lstStyle/>
          <a:p>
            <a:pPr indent="0" marL="0">
              <a:buNone/>
            </a:pPr>
            <a:r>
              <a:rPr lang="en-US" sz="1400" b="1" dirty="0">
                <a:solidFill>
                  <a:srgbClr val="1C4E80"/>
                </a:solidFill>
                <a:latin typeface="Calibri" pitchFamily="34" charset="0"/>
                <a:ea typeface="Calibri" pitchFamily="34" charset="-122"/>
                <a:cs typeface="Calibri" pitchFamily="34" charset="-120"/>
              </a:rPr>
              <a:t>2  Read narrow searches in full</a:t>
            </a:r>
            <a:endParaRPr lang="en-US" sz="1400" dirty="0"/>
          </a:p>
        </p:txBody>
      </p:sp>
      <p:sp>
        <p:nvSpPr>
          <p:cNvPr id="9" name="Text 7"/>
          <p:cNvSpPr txBox="1"/>
          <p:nvPr/>
        </p:nvSpPr>
        <p:spPr>
          <a:xfrm>
            <a:off x="548640" y="2816352"/>
            <a:ext cx="5394960" cy="822960"/>
          </a:xfrm>
          <a:prstGeom prst="rect">
            <a:avLst/>
          </a:prstGeom>
          <a:noFill/>
          <a:ln/>
        </p:spPr>
        <p:txBody>
          <a:bodyPr wrap="square" lIns="0" tIns="0" rIns="0" bIns="0" rtlCol="0" anchor="t"/>
          <a:lstStyle/>
          <a:p>
            <a:pPr indent="0" marL="0">
              <a:buNone/>
            </a:pPr>
            <a:r>
              <a:rPr lang="en-US" sz="1250" dirty="0">
                <a:solidFill>
                  <a:srgbClr val="4B5563"/>
                </a:solidFill>
                <a:latin typeface="Calibri" pitchFamily="34" charset="0"/>
                <a:ea typeface="Calibri" pitchFamily="34" charset="-122"/>
                <a:cs typeface="Calibri" pitchFamily="34" charset="-120"/>
              </a:rPr>
              <a:t>Holidays or Spring Festival × ridership: 6 relevant, all rail or urban. Rural DRT demand forecasting: 3, all cross-sectional. Market days × buses: 4, none on run-level ridership.</a:t>
            </a:r>
            <a:endParaRPr lang="en-US" sz="1250" dirty="0"/>
          </a:p>
        </p:txBody>
      </p:sp>
      <p:sp>
        <p:nvSpPr>
          <p:cNvPr id="10" name="Text 8"/>
          <p:cNvSpPr txBox="1"/>
          <p:nvPr/>
        </p:nvSpPr>
        <p:spPr>
          <a:xfrm>
            <a:off x="548640" y="3666744"/>
            <a:ext cx="5394960" cy="274320"/>
          </a:xfrm>
          <a:prstGeom prst="rect">
            <a:avLst/>
          </a:prstGeom>
          <a:noFill/>
          <a:ln/>
        </p:spPr>
        <p:txBody>
          <a:bodyPr wrap="square" lIns="0" tIns="0" rIns="0" bIns="0" rtlCol="0" anchor="t"/>
          <a:lstStyle/>
          <a:p>
            <a:pPr indent="0" marL="0">
              <a:buNone/>
            </a:pPr>
            <a:r>
              <a:rPr lang="en-US" sz="1400" b="1" dirty="0">
                <a:solidFill>
                  <a:srgbClr val="1C4E80"/>
                </a:solidFill>
                <a:latin typeface="Calibri" pitchFamily="34" charset="0"/>
                <a:ea typeface="Calibri" pitchFamily="34" charset="-122"/>
                <a:cs typeface="Calibri" pitchFamily="34" charset="-120"/>
              </a:rPr>
              <a:t>3  Code research depth, not mentions</a:t>
            </a:r>
            <a:endParaRPr lang="en-US" sz="1400" dirty="0"/>
          </a:p>
        </p:txBody>
      </p:sp>
      <p:sp>
        <p:nvSpPr>
          <p:cNvPr id="11" name="Text 9"/>
          <p:cNvSpPr txBox="1"/>
          <p:nvPr/>
        </p:nvSpPr>
        <p:spPr>
          <a:xfrm>
            <a:off x="548640" y="3986784"/>
            <a:ext cx="5394960" cy="822960"/>
          </a:xfrm>
          <a:prstGeom prst="rect">
            <a:avLst/>
          </a:prstGeom>
          <a:noFill/>
          <a:ln/>
        </p:spPr>
        <p:txBody>
          <a:bodyPr wrap="square" lIns="0" tIns="0" rIns="0" bIns="0" rtlCol="0" anchor="t"/>
          <a:lstStyle/>
          <a:p>
            <a:pPr indent="0" marL="0">
              <a:buNone/>
            </a:pPr>
            <a:r>
              <a:rPr lang="en-US" sz="1250" dirty="0">
                <a:solidFill>
                  <a:srgbClr val="4B5563"/>
                </a:solidFill>
                <a:latin typeface="Calibri" pitchFamily="34" charset="0"/>
                <a:ea typeface="Calibri" pitchFamily="34" charset="-122"/>
                <a:cs typeface="Calibri" pitchFamily="34" charset="-120"/>
              </a:rPr>
              <a:t>72 stratified studies scored 0–2 on six dimensions (rider surveys, driver effects, time grain, uncertainty, link to operations, rural setting).</a:t>
            </a:r>
            <a:endParaRPr lang="en-US" sz="1250" dirty="0"/>
          </a:p>
        </p:txBody>
      </p:sp>
      <p:sp>
        <p:nvSpPr>
          <p:cNvPr id="12" name="Shape 10"/>
          <p:cNvSpPr/>
          <p:nvPr/>
        </p:nvSpPr>
        <p:spPr>
          <a:xfrm>
            <a:off x="548640" y="4983480"/>
            <a:ext cx="5394960" cy="1280160"/>
          </a:xfrm>
          <a:prstGeom prst="roundRect">
            <a:avLst>
              <a:gd name="adj" fmla="val 5714"/>
            </a:avLst>
          </a:prstGeom>
          <a:solidFill>
            <a:srgbClr val="F3F5F8"/>
          </a:solidFill>
          <a:ln w="12700">
            <a:solidFill>
              <a:srgbClr val="F3F5F8"/>
            </a:solidFill>
            <a:prstDash val="solid"/>
          </a:ln>
        </p:spPr>
      </p:sp>
      <p:sp>
        <p:nvSpPr>
          <p:cNvPr id="13" name="Text 11"/>
          <p:cNvSpPr txBox="1"/>
          <p:nvPr/>
        </p:nvSpPr>
        <p:spPr>
          <a:xfrm>
            <a:off x="640080" y="5029200"/>
            <a:ext cx="5212080" cy="1188720"/>
          </a:xfrm>
          <a:prstGeom prst="rect">
            <a:avLst/>
          </a:prstGeom>
          <a:noFill/>
          <a:ln/>
        </p:spPr>
        <p:txBody>
          <a:bodyPr wrap="square" lIns="0" tIns="0" rIns="0" bIns="0" rtlCol="0" anchor="ctr"/>
          <a:lstStyle/>
          <a:p>
            <a:pPr algn="l" indent="0" marL="0">
              <a:buNone/>
            </a:pPr>
            <a:r>
              <a:rPr lang="en-US" sz="1200" b="1" dirty="0">
                <a:solidFill>
                  <a:srgbClr val="1F2937"/>
                </a:solidFill>
                <a:latin typeface="Calibri" pitchFamily="34" charset="0"/>
                <a:ea typeface="Calibri" pitchFamily="34" charset="-122"/>
                <a:cs typeface="Calibri" pitchFamily="34" charset="-120"/>
              </a:rPr>
              <a:t>What can — and cannot — be concluded. </a:t>
            </a:r>
            <a:r>
              <a:rPr lang="en-US" sz="1200" dirty="0">
                <a:solidFill>
                  <a:srgbClr val="4B5563"/>
                </a:solidFill>
                <a:latin typeface="Calibri" pitchFamily="34" charset="0"/>
                <a:ea typeface="Calibri" pitchFamily="34" charset="-122"/>
                <a:cs typeface="Calibri" pitchFamily="34" charset="-120"/>
              </a:rPr>
              <a:t>Each theme is well developed, but deep links between adjacent steps are rare. This is not a claim that “no study exists”: the CNKI search is pending and depth coding had one coder (a second coder will check a sample).</a:t>
            </a:r>
            <a:endParaRPr lang="en-US" sz="1200" dirty="0"/>
          </a:p>
        </p:txBody>
      </p:sp>
      <p:graphicFrame>
        <p:nvGraphicFramePr>
          <p:cNvPr id="14" name="Chart 0" descr=""/>
          <p:cNvGraphicFramePr/>
          <p:nvPr/>
        </p:nvGraphicFramePr>
        <p:xfrm>
          <a:off x="6263640" y="1280160"/>
          <a:ext cx="5394960" cy="41605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6263640" y="5532120"/>
            <a:ext cx="5394960" cy="274320"/>
          </a:xfrm>
          <a:prstGeom prst="rect">
            <a:avLst/>
          </a:prstGeom>
          <a:noFill/>
          <a:ln/>
        </p:spPr>
        <p:txBody>
          <a:bodyPr wrap="square" lIns="0" tIns="0" rIns="0" bIns="0" rtlCol="0" anchor="t"/>
          <a:lstStyle/>
          <a:p>
            <a:pPr indent="0" marL="0">
              <a:buNone/>
            </a:pPr>
            <a:r>
              <a:rPr lang="en-US" sz="1000" i="1" dirty="0">
                <a:solidFill>
                  <a:srgbClr val="8B95A1"/>
                </a:solidFill>
                <a:latin typeface="Calibri" pitchFamily="34" charset="0"/>
                <a:ea typeface="Calibri" pitchFamily="34" charset="-122"/>
                <a:cs typeface="Calibri" pitchFamily="34" charset="-120"/>
              </a:rPr>
              <a:t>95% Wilson intervals: 1.4% (0.2–7.5) · 6.9% (3.0–15.2) · 4.2% (1.4–11.5).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 · RESEARCH QUESTIONS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Five gaps lead to four research questions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21 / 39</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035040" cy="914400"/>
        </p:xfrm>
        <a:graphic>
          <a:graphicData uri="http://schemas.openxmlformats.org/drawingml/2006/table">
            <a:tbl>
              <a:tblPr/>
              <a:tblGrid>
                <a:gridCol w="502920"/>
                <a:gridCol w="3337560"/>
                <a:gridCol w="548640"/>
                <a:gridCol w="548640"/>
                <a:gridCol w="548640"/>
                <a:gridCol w="5486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Gap</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RQ1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RQ2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RQ3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676656">
                <a:tc>
                  <a:txBody>
                    <a:bodyPr/>
                    <a:lstStyle/>
                    <a:p>
                      <a:pPr indent="0" marL="0">
                        <a:buNone/>
                      </a:pPr>
                      <a:r>
                        <a:rPr lang="en-US" sz="1200" b="1" dirty="0">
                          <a:solidFill>
                            <a:srgbClr val="1C4E80"/>
                          </a:solidFill>
                          <a:latin typeface="Calibri" pitchFamily="34" charset="0"/>
                          <a:ea typeface="Calibri" pitchFamily="34" charset="-122"/>
                          <a:cs typeface="Calibri" pitchFamily="34" charset="-120"/>
                        </a:rPr>
                        <a:t>G1</a:t>
                      </a:r>
                      <a:endParaRPr lang="en-US" sz="12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50" dirty="0">
                          <a:solidFill>
                            <a:srgbClr val="4B5563"/>
                          </a:solidFill>
                          <a:latin typeface="Calibri" pitchFamily="34" charset="0"/>
                          <a:ea typeface="Calibri" pitchFamily="34" charset="-122"/>
                          <a:cs typeface="Calibri" pitchFamily="34" charset="-120"/>
                        </a:rPr>
                        <a:t>Unit stuck at day or station; no whole-run measure</a:t>
                      </a:r>
                      <a:endParaRPr lang="en-US" sz="11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1C4E80"/>
                          </a:solidFill>
                          <a:latin typeface="Calibri" pitchFamily="34" charset="0"/>
                          <a:ea typeface="Calibri" pitchFamily="34" charset="-122"/>
                          <a:cs typeface="Calibri" pitchFamily="34" charset="-120"/>
                        </a:rPr>
                        <a:t>G2</a:t>
                      </a:r>
                      <a:endParaRPr lang="en-US" sz="12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50" dirty="0">
                          <a:solidFill>
                            <a:srgbClr val="4B5563"/>
                          </a:solidFill>
                          <a:latin typeface="Calibri" pitchFamily="34" charset="0"/>
                          <a:ea typeface="Calibri" pitchFamily="34" charset="-122"/>
                          <a:cs typeface="Calibri" pitchFamily="34" charset="-120"/>
                        </a:rPr>
                        <a:t>Drivers dominated by weather; predictable rural calendar rhythms understudied</a:t>
                      </a:r>
                      <a:endParaRPr lang="en-US" sz="11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1C4E80"/>
                          </a:solidFill>
                          <a:latin typeface="Calibri" pitchFamily="34" charset="0"/>
                          <a:ea typeface="Calibri" pitchFamily="34" charset="-122"/>
                          <a:cs typeface="Calibri" pitchFamily="34" charset="-120"/>
                        </a:rPr>
                        <a:t>G3</a:t>
                      </a:r>
                      <a:endParaRPr lang="en-US" sz="12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50" dirty="0">
                          <a:solidFill>
                            <a:srgbClr val="4B5563"/>
                          </a:solidFill>
                          <a:latin typeface="Calibri" pitchFamily="34" charset="0"/>
                          <a:ea typeface="Calibri" pitchFamily="34" charset="-122"/>
                          <a:cs typeface="Calibri" pitchFamily="34" charset="-120"/>
                        </a:rPr>
                        <a:t>Single-factor estimates; independent vs. combined effects of overlapping factors not separated</a:t>
                      </a:r>
                      <a:endParaRPr lang="en-US" sz="11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1C4E80"/>
                          </a:solidFill>
                          <a:latin typeface="Calibri" pitchFamily="34" charset="0"/>
                          <a:ea typeface="Calibri" pitchFamily="34" charset="-122"/>
                          <a:cs typeface="Calibri" pitchFamily="34" charset="-120"/>
                        </a:rPr>
                        <a:t>G4</a:t>
                      </a:r>
                      <a:endParaRPr lang="en-US" sz="12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50" dirty="0">
                          <a:solidFill>
                            <a:srgbClr val="4B5563"/>
                          </a:solidFill>
                          <a:latin typeface="Calibri" pitchFamily="34" charset="0"/>
                          <a:ea typeface="Calibri" pitchFamily="34" charset="-122"/>
                          <a:cs typeface="Calibri" pitchFamily="34" charset="-120"/>
                        </a:rPr>
                        <a:t>Stages modelled separately; uncertainty not passed downstream</a:t>
                      </a:r>
                      <a:endParaRPr lang="en-US" sz="11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r>
              <a:tr h="676656">
                <a:tc>
                  <a:txBody>
                    <a:bodyPr/>
                    <a:lstStyle/>
                    <a:p>
                      <a:pPr indent="0" marL="0">
                        <a:buNone/>
                      </a:pPr>
                      <a:r>
                        <a:rPr lang="en-US" sz="1200" b="1" dirty="0">
                          <a:solidFill>
                            <a:srgbClr val="1C4E80"/>
                          </a:solidFill>
                          <a:latin typeface="Calibri" pitchFamily="34" charset="0"/>
                          <a:ea typeface="Calibri" pitchFamily="34" charset="-122"/>
                          <a:cs typeface="Calibri" pitchFamily="34" charset="-120"/>
                        </a:rPr>
                        <a:t>G5</a:t>
                      </a:r>
                      <a:endParaRPr lang="en-US" sz="12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50" dirty="0">
                          <a:solidFill>
                            <a:srgbClr val="4B5563"/>
                          </a:solidFill>
                          <a:latin typeface="Calibri" pitchFamily="34" charset="0"/>
                          <a:ea typeface="Calibri" pitchFamily="34" charset="-122"/>
                          <a:cs typeface="Calibri" pitchFamily="34" charset="-120"/>
                        </a:rPr>
                        <a:t>Surveys disconnected from ridership records</a:t>
                      </a:r>
                      <a:endParaRPr lang="en-US" sz="11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r>
                        <a:rPr lang="en-US" sz="1400" dirty="0">
                          <a:solidFill>
                            <a:srgbClr val="1C4E8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E3ECF6"/>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FFFFF"/>
                    </a:solidFill>
                  </a:tcPr>
                </a:tc>
              </a:tr>
            </a:tbl>
          </a:graphicData>
        </a:graphic>
      </p:graphicFrame>
      <p:sp>
        <p:nvSpPr>
          <p:cNvPr id="7" name="Shape 4"/>
          <p:cNvSpPr/>
          <p:nvPr/>
        </p:nvSpPr>
        <p:spPr>
          <a:xfrm>
            <a:off x="6903720" y="1325880"/>
            <a:ext cx="4754880" cy="1078992"/>
          </a:xfrm>
          <a:prstGeom prst="roundRect">
            <a:avLst>
              <a:gd name="adj" fmla="val 6780"/>
            </a:avLst>
          </a:prstGeom>
          <a:solidFill>
            <a:srgbClr val="F3F5F8"/>
          </a:solidFill>
          <a:ln w="12700">
            <a:solidFill>
              <a:srgbClr val="F3F5F8"/>
            </a:solidFill>
            <a:prstDash val="solid"/>
          </a:ln>
        </p:spPr>
      </p:sp>
      <p:sp>
        <p:nvSpPr>
          <p:cNvPr id="8" name="Text 5"/>
          <p:cNvSpPr txBox="1"/>
          <p:nvPr/>
        </p:nvSpPr>
        <p:spPr>
          <a:xfrm>
            <a:off x="7059168" y="1417320"/>
            <a:ext cx="4480560" cy="237744"/>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RQ1 · S1</a:t>
            </a:r>
            <a:endParaRPr lang="en-US" sz="1100" dirty="0"/>
          </a:p>
        </p:txBody>
      </p:sp>
      <p:sp>
        <p:nvSpPr>
          <p:cNvPr id="9" name="Text 6"/>
          <p:cNvSpPr txBox="1"/>
          <p:nvPr/>
        </p:nvSpPr>
        <p:spPr>
          <a:xfrm>
            <a:off x="7059168" y="1673352"/>
            <a:ext cx="4480560" cy="713232"/>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Which rider groups use the county's urban–rural buses, and where does the current timetable leave demand unmet — by group and by village?</a:t>
            </a:r>
            <a:endParaRPr lang="en-US" sz="1150" dirty="0"/>
          </a:p>
        </p:txBody>
      </p:sp>
      <p:sp>
        <p:nvSpPr>
          <p:cNvPr id="10" name="Shape 7"/>
          <p:cNvSpPr/>
          <p:nvPr/>
        </p:nvSpPr>
        <p:spPr>
          <a:xfrm>
            <a:off x="6903720" y="2542032"/>
            <a:ext cx="4754880" cy="1078992"/>
          </a:xfrm>
          <a:prstGeom prst="roundRect">
            <a:avLst>
              <a:gd name="adj" fmla="val 6780"/>
            </a:avLst>
          </a:prstGeom>
          <a:solidFill>
            <a:srgbClr val="E3ECF6"/>
          </a:solidFill>
          <a:ln w="12700">
            <a:solidFill>
              <a:srgbClr val="E3ECF6"/>
            </a:solidFill>
            <a:prstDash val="solid"/>
          </a:ln>
        </p:spPr>
      </p:sp>
      <p:sp>
        <p:nvSpPr>
          <p:cNvPr id="11" name="Text 8"/>
          <p:cNvSpPr txBox="1"/>
          <p:nvPr/>
        </p:nvSpPr>
        <p:spPr>
          <a:xfrm>
            <a:off x="7059168" y="2633472"/>
            <a:ext cx="4480560" cy="237744"/>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RQ2 · S2–S3</a:t>
            </a:r>
            <a:endParaRPr lang="en-US" sz="1100" dirty="0"/>
          </a:p>
        </p:txBody>
      </p:sp>
      <p:sp>
        <p:nvSpPr>
          <p:cNvPr id="12" name="Text 9"/>
          <p:cNvSpPr txBox="1"/>
          <p:nvPr/>
        </p:nvSpPr>
        <p:spPr>
          <a:xfrm>
            <a:off x="7059168" y="2889504"/>
            <a:ext cx="4480560" cy="713232"/>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When predictable rural calendar factors overlap, how large are their independent and combined effects on a single run — additive, amplifying or offsetting?</a:t>
            </a:r>
            <a:endParaRPr lang="en-US" sz="1150" dirty="0"/>
          </a:p>
        </p:txBody>
      </p:sp>
      <p:sp>
        <p:nvSpPr>
          <p:cNvPr id="13" name="Shape 10"/>
          <p:cNvSpPr/>
          <p:nvPr/>
        </p:nvSpPr>
        <p:spPr>
          <a:xfrm>
            <a:off x="6903720" y="3758184"/>
            <a:ext cx="4754880" cy="1078992"/>
          </a:xfrm>
          <a:prstGeom prst="roundRect">
            <a:avLst>
              <a:gd name="adj" fmla="val 6780"/>
            </a:avLst>
          </a:prstGeom>
          <a:solidFill>
            <a:srgbClr val="F3F5F8"/>
          </a:solidFill>
          <a:ln w="12700">
            <a:solidFill>
              <a:srgbClr val="F3F5F8"/>
            </a:solidFill>
            <a:prstDash val="solid"/>
          </a:ln>
        </p:spPr>
      </p:sp>
      <p:sp>
        <p:nvSpPr>
          <p:cNvPr id="14" name="Text 11"/>
          <p:cNvSpPr txBox="1"/>
          <p:nvPr/>
        </p:nvSpPr>
        <p:spPr>
          <a:xfrm>
            <a:off x="7059168" y="3849624"/>
            <a:ext cx="4480560" cy="237744"/>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RQ3 · S4</a:t>
            </a:r>
            <a:endParaRPr lang="en-US" sz="1100" dirty="0"/>
          </a:p>
        </p:txBody>
      </p:sp>
      <p:sp>
        <p:nvSpPr>
          <p:cNvPr id="15" name="Text 12"/>
          <p:cNvSpPr txBox="1"/>
          <p:nvPr/>
        </p:nvSpPr>
        <p:spPr>
          <a:xfrm>
            <a:off x="7059168" y="4105656"/>
            <a:ext cx="4480560" cy="713232"/>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Can run-level predictive distributions be well calibrated, and stay calibrated when summed to daily totals?</a:t>
            </a:r>
            <a:endParaRPr lang="en-US" sz="1150" dirty="0"/>
          </a:p>
        </p:txBody>
      </p:sp>
      <p:sp>
        <p:nvSpPr>
          <p:cNvPr id="16" name="Shape 13"/>
          <p:cNvSpPr/>
          <p:nvPr/>
        </p:nvSpPr>
        <p:spPr>
          <a:xfrm>
            <a:off x="6903720" y="4974336"/>
            <a:ext cx="4754880" cy="1078992"/>
          </a:xfrm>
          <a:prstGeom prst="roundRect">
            <a:avLst>
              <a:gd name="adj" fmla="val 6780"/>
            </a:avLst>
          </a:prstGeom>
          <a:solidFill>
            <a:srgbClr val="F3F5F8"/>
          </a:solidFill>
          <a:ln w="12700">
            <a:solidFill>
              <a:srgbClr val="F3F5F8"/>
            </a:solidFill>
            <a:prstDash val="solid"/>
          </a:ln>
        </p:spPr>
      </p:sp>
      <p:sp>
        <p:nvSpPr>
          <p:cNvPr id="17" name="Text 14"/>
          <p:cNvSpPr txBox="1"/>
          <p:nvPr/>
        </p:nvSpPr>
        <p:spPr>
          <a:xfrm>
            <a:off x="7059168" y="5065776"/>
            <a:ext cx="4480560" cy="237744"/>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RQ4 · S5</a:t>
            </a:r>
            <a:endParaRPr lang="en-US" sz="1100" dirty="0"/>
          </a:p>
        </p:txBody>
      </p:sp>
      <p:sp>
        <p:nvSpPr>
          <p:cNvPr id="18" name="Text 15"/>
          <p:cNvSpPr txBox="1"/>
          <p:nvPr/>
        </p:nvSpPr>
        <p:spPr>
          <a:xfrm>
            <a:off x="7059168" y="5321808"/>
            <a:ext cx="4480560" cy="713232"/>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With capacity-censored demand, how should forecast distributions set chance-constrained supplementary runs, trading cost against denied boardings?</a:t>
            </a:r>
            <a:endParaRPr lang="en-US" sz="1150" dirty="0"/>
          </a:p>
        </p:txBody>
      </p:sp>
      <p:sp>
        <p:nvSpPr>
          <p:cNvPr id="19" name="Text 16"/>
          <p:cNvSpPr txBox="1"/>
          <p:nvPr/>
        </p:nvSpPr>
        <p:spPr>
          <a:xfrm>
            <a:off x="548640" y="5394960"/>
            <a:ext cx="6035040" cy="731520"/>
          </a:xfrm>
          <a:prstGeom prst="rect">
            <a:avLst/>
          </a:prstGeom>
          <a:noFill/>
          <a:ln/>
        </p:spPr>
        <p:txBody>
          <a:bodyPr wrap="square" lIns="0" tIns="0" rIns="0" bIns="0" rtlCol="0" anchor="t"/>
          <a:lstStyle/>
          <a:p>
            <a:pPr indent="0" marL="0">
              <a:buNone/>
            </a:pPr>
            <a:r>
              <a:rPr lang="en-US" sz="1250" i="1" dirty="0">
                <a:solidFill>
                  <a:srgbClr val="4B5563"/>
                </a:solidFill>
                <a:latin typeface="Calibri" pitchFamily="34" charset="0"/>
                <a:ea typeface="Calibri" pitchFamily="34" charset="-122"/>
                <a:cs typeface="Calibri" pitchFamily="34" charset="-120"/>
              </a:rPr>
              <a:t>The questions chain: RQ1's rider groups explain RQ2's effects; RQ2's effects drive RQ3's forecasts; RQ3's distributions are RQ4's inputs.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463040"/>
            <a:ext cx="2286000" cy="1188720"/>
          </a:xfrm>
          <a:prstGeom prst="rect">
            <a:avLst/>
          </a:prstGeom>
          <a:noFill/>
          <a:ln/>
        </p:spPr>
        <p:txBody>
          <a:bodyPr wrap="square" lIns="0" tIns="0" rIns="0" bIns="0" rtlCol="0" anchor="t"/>
          <a:lstStyle/>
          <a:p>
            <a:pPr indent="0" marL="0">
              <a:buNone/>
            </a:pPr>
            <a:r>
              <a:rPr lang="en-US" sz="8000" dirty="0">
                <a:solidFill>
                  <a:srgbClr val="1C4E80"/>
                </a:solidFill>
                <a:latin typeface="Cambria" pitchFamily="34" charset="0"/>
                <a:ea typeface="Cambria" pitchFamily="34" charset="-122"/>
                <a:cs typeface="Cambria" pitchFamily="34" charset="-120"/>
              </a:rPr>
              <a:t>III</a:t>
            </a:r>
            <a:endParaRPr lang="en-US" sz="8000" dirty="0"/>
          </a:p>
        </p:txBody>
      </p:sp>
      <p:sp>
        <p:nvSpPr>
          <p:cNvPr id="3" name="Text 1"/>
          <p:cNvSpPr txBox="1"/>
          <p:nvPr/>
        </p:nvSpPr>
        <p:spPr>
          <a:xfrm>
            <a:off x="548640" y="2788920"/>
            <a:ext cx="8229600" cy="822960"/>
          </a:xfrm>
          <a:prstGeom prst="rect">
            <a:avLst/>
          </a:prstGeom>
          <a:noFill/>
          <a:ln/>
        </p:spPr>
        <p:txBody>
          <a:bodyPr wrap="square" lIns="0" tIns="0" rIns="0" bIns="0" rtlCol="0" anchor="t"/>
          <a:lstStyle/>
          <a:p>
            <a:pPr indent="0" marL="0">
              <a:buNone/>
            </a:pPr>
            <a:r>
              <a:rPr lang="en-US" sz="3600" dirty="0">
                <a:solidFill>
                  <a:srgbClr val="1F2937"/>
                </a:solidFill>
                <a:latin typeface="Cambria" pitchFamily="34" charset="0"/>
                <a:ea typeface="Cambria" pitchFamily="34" charset="-122"/>
                <a:cs typeface="Cambria" pitchFamily="34" charset="-120"/>
              </a:rPr>
              <a:t>Research framework and next steps</a:t>
            </a:r>
            <a:endParaRPr lang="en-US" sz="3600" dirty="0"/>
          </a:p>
        </p:txBody>
      </p:sp>
      <p:sp>
        <p:nvSpPr>
          <p:cNvPr id="4" name="Text 2"/>
          <p:cNvSpPr txBox="1"/>
          <p:nvPr/>
        </p:nvSpPr>
        <p:spPr>
          <a:xfrm>
            <a:off x="548640" y="3657600"/>
            <a:ext cx="7772400" cy="914400"/>
          </a:xfrm>
          <a:prstGeom prst="rect">
            <a:avLst/>
          </a:prstGeom>
          <a:noFill/>
          <a:ln/>
        </p:spPr>
        <p:txBody>
          <a:bodyPr wrap="square" lIns="0" tIns="0" rIns="0" bIns="0" rtlCol="0" anchor="t"/>
          <a:lstStyle/>
          <a:p>
            <a:pPr indent="0" marL="0">
              <a:buNone/>
            </a:pPr>
            <a:r>
              <a:rPr lang="en-US" sz="1600" dirty="0">
                <a:solidFill>
                  <a:srgbClr val="4B5563"/>
                </a:solidFill>
                <a:latin typeface="Calibri" pitchFamily="34" charset="0"/>
                <a:ea typeface="Calibri" pitchFamily="34" charset="-122"/>
                <a:cs typeface="Calibri" pitchFamily="34" charset="-120"/>
              </a:rPr>
              <a:t>Five linked steps — from surveys to service planning — implemented as one run-level model, with methods chosen by backtest and frozen before testing.</a:t>
            </a:r>
            <a:endParaRPr lang="en-US" sz="1600" dirty="0"/>
          </a:p>
        </p:txBody>
      </p:sp>
      <p:sp>
        <p:nvSpPr>
          <p:cNvPr id="5" name="Text 3"/>
          <p:cNvSpPr txBox="1"/>
          <p:nvPr/>
        </p:nvSpPr>
        <p:spPr>
          <a:xfrm>
            <a:off x="8503920" y="20116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  Study area and data</a:t>
            </a:r>
            <a:endParaRPr lang="en-US" sz="1300" dirty="0"/>
          </a:p>
        </p:txBody>
      </p:sp>
      <p:sp>
        <p:nvSpPr>
          <p:cNvPr id="6" name="Text 4"/>
          <p:cNvSpPr txBox="1"/>
          <p:nvPr/>
        </p:nvSpPr>
        <p:spPr>
          <a:xfrm>
            <a:off x="8503920" y="2468880"/>
            <a:ext cx="3200400" cy="365760"/>
          </a:xfrm>
          <a:prstGeom prst="rect">
            <a:avLst/>
          </a:prstGeom>
          <a:noFill/>
          <a:ln/>
        </p:spPr>
        <p:txBody>
          <a:bodyPr wrap="square" lIns="0" tIns="0" rIns="0" bIns="0" rtlCol="0" anchor="t"/>
          <a:lstStyle/>
          <a:p>
            <a:pPr indent="0" marL="0">
              <a:buNone/>
            </a:pPr>
            <a:r>
              <a:rPr lang="en-US" sz="1300" dirty="0">
                <a:solidFill>
                  <a:srgbClr val="8B95A1"/>
                </a:solidFill>
                <a:latin typeface="Calibri" pitchFamily="34" charset="0"/>
                <a:ea typeface="Calibri" pitchFamily="34" charset="-122"/>
                <a:cs typeface="Calibri" pitchFamily="34" charset="-120"/>
              </a:rPr>
              <a:t>II  What prior research tells us</a:t>
            </a:r>
            <a:endParaRPr lang="en-US" sz="1300" dirty="0"/>
          </a:p>
        </p:txBody>
      </p:sp>
      <p:sp>
        <p:nvSpPr>
          <p:cNvPr id="7" name="Text 5"/>
          <p:cNvSpPr txBox="1"/>
          <p:nvPr/>
        </p:nvSpPr>
        <p:spPr>
          <a:xfrm>
            <a:off x="8503920" y="2926080"/>
            <a:ext cx="3200400" cy="365760"/>
          </a:xfrm>
          <a:prstGeom prst="rect">
            <a:avLst/>
          </a:prstGeom>
          <a:noFill/>
          <a:ln/>
        </p:spPr>
        <p:txBody>
          <a:bodyPr wrap="square" lIns="0" tIns="0" rIns="0" bIns="0" rtlCol="0" anchor="t"/>
          <a:lstStyle/>
          <a:p>
            <a:pPr indent="0" marL="0">
              <a:buNone/>
            </a:pPr>
            <a:r>
              <a:rPr lang="en-US" sz="1300" b="1" dirty="0">
                <a:solidFill>
                  <a:srgbClr val="1C4E80"/>
                </a:solidFill>
                <a:latin typeface="Calibri" pitchFamily="34" charset="0"/>
                <a:ea typeface="Calibri" pitchFamily="34" charset="-122"/>
                <a:cs typeface="Calibri" pitchFamily="34" charset="-120"/>
              </a:rPr>
              <a:t>III  Framework and next steps</a:t>
            </a:r>
            <a:endParaRPr lang="en-US" sz="1300" dirty="0"/>
          </a:p>
        </p:txBody>
      </p:sp>
      <p:sp>
        <p:nvSpPr>
          <p:cNvPr id="8" name="Text 6"/>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22 / 39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RESEARCH LOGIC</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Five linked steps from surveys to service planning</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23 / 39</a:t>
            </a:r>
            <a:endParaRPr lang="en-US" sz="850" dirty="0"/>
          </a:p>
        </p:txBody>
      </p:sp>
      <p:sp>
        <p:nvSpPr>
          <p:cNvPr id="6" name="Shape 4"/>
          <p:cNvSpPr/>
          <p:nvPr/>
        </p:nvSpPr>
        <p:spPr>
          <a:xfrm>
            <a:off x="548640" y="1371600"/>
            <a:ext cx="2212848" cy="566928"/>
          </a:xfrm>
          <a:prstGeom prst="chevron">
            <a:avLst/>
          </a:prstGeom>
          <a:solidFill>
            <a:srgbClr val="3B6E9A"/>
          </a:solidFill>
          <a:ln w="12700">
            <a:solidFill>
              <a:srgbClr val="FFFFFF"/>
            </a:solidFill>
            <a:prstDash val="solid"/>
          </a:ln>
        </p:spPr>
      </p:sp>
      <p:sp>
        <p:nvSpPr>
          <p:cNvPr id="7" name="Text 5"/>
          <p:cNvSpPr txBox="1"/>
          <p:nvPr/>
        </p:nvSpPr>
        <p:spPr>
          <a:xfrm>
            <a:off x="932688" y="1371600"/>
            <a:ext cx="164592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Observe</a:t>
            </a:r>
            <a:endParaRPr lang="en-US" sz="1500" dirty="0"/>
          </a:p>
        </p:txBody>
      </p:sp>
      <p:sp>
        <p:nvSpPr>
          <p:cNvPr id="8" name="Text 6"/>
          <p:cNvSpPr txBox="1"/>
          <p:nvPr/>
        </p:nvSpPr>
        <p:spPr>
          <a:xfrm>
            <a:off x="548640" y="2084832"/>
            <a:ext cx="2103120" cy="256032"/>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S1 · RQ1</a:t>
            </a:r>
            <a:endParaRPr lang="en-US" sz="1100" dirty="0"/>
          </a:p>
        </p:txBody>
      </p:sp>
      <p:sp>
        <p:nvSpPr>
          <p:cNvPr id="9" name="Text 7"/>
          <p:cNvSpPr txBox="1"/>
          <p:nvPr/>
        </p:nvSpPr>
        <p:spPr>
          <a:xfrm>
            <a:off x="548640" y="2377440"/>
            <a:ext cx="2103120" cy="1417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Who rides on which days? Do volumes and rider groups differ by day type in recurring ways? What problems do riders and non-riders report?</a:t>
            </a:r>
            <a:endParaRPr lang="en-US" sz="1200" dirty="0"/>
          </a:p>
        </p:txBody>
      </p:sp>
      <p:sp>
        <p:nvSpPr>
          <p:cNvPr id="10" name="Shape 8"/>
          <p:cNvSpPr/>
          <p:nvPr/>
        </p:nvSpPr>
        <p:spPr>
          <a:xfrm>
            <a:off x="548640" y="3840480"/>
            <a:ext cx="2103120" cy="868680"/>
          </a:xfrm>
          <a:prstGeom prst="rect">
            <a:avLst/>
          </a:prstGeom>
          <a:solidFill>
            <a:srgbClr val="F3F5F8"/>
          </a:solidFill>
          <a:ln w="12700">
            <a:solidFill>
              <a:srgbClr val="F3F5F8"/>
            </a:solidFill>
            <a:prstDash val="solid"/>
          </a:ln>
        </p:spPr>
      </p:sp>
      <p:sp>
        <p:nvSpPr>
          <p:cNvPr id="11" name="Text 9"/>
          <p:cNvSpPr txBox="1"/>
          <p:nvPr/>
        </p:nvSpPr>
        <p:spPr>
          <a:xfrm>
            <a:off x="640080" y="3895344"/>
            <a:ext cx="1920240" cy="777240"/>
          </a:xfrm>
          <a:prstGeom prst="rect">
            <a:avLst/>
          </a:prstGeom>
          <a:noFill/>
          <a:ln/>
        </p:spPr>
        <p:txBody>
          <a:bodyPr wrap="square" lIns="0" tIns="0" rIns="0" bIns="0" rtlCol="0" anchor="t"/>
          <a:lstStyle/>
          <a:p>
            <a:pPr indent="0" marL="0">
              <a:buNone/>
            </a:pPr>
            <a:r>
              <a:rPr lang="en-US" sz="850" b="1" spc="60" kern="0" dirty="0">
                <a:solidFill>
                  <a:srgbClr val="8B95A1"/>
                </a:solidFill>
                <a:latin typeface="Calibri" pitchFamily="34" charset="0"/>
                <a:ea typeface="Calibri" pitchFamily="34" charset="-122"/>
                <a:cs typeface="Calibri" pitchFamily="34" charset="-120"/>
              </a:rPr>
              <a:t>DATA · METHOD</a:t>
            </a:r>
            <a:endParaRPr lang="en-US" sz="1300" dirty="0"/>
          </a:p>
          <a:p>
            <a:pPr indent="0" marL="0">
              <a:buNone/>
            </a:pPr>
            <a:r>
              <a:rPr lang="en-US" sz="1050" dirty="0">
                <a:solidFill>
                  <a:srgbClr val="4B5563"/>
                </a:solidFill>
                <a:latin typeface="Calibri" pitchFamily="34" charset="0"/>
                <a:ea typeface="Calibri" pitchFamily="34" charset="-122"/>
                <a:cs typeface="Calibri" pitchFamily="34" charset="-120"/>
              </a:rPr>
              <a:t>On-board (summer, fall weekends, winter), household and online surveys; tally sheets</a:t>
            </a:r>
            <a:endParaRPr lang="en-US" sz="1300" dirty="0"/>
          </a:p>
        </p:txBody>
      </p:sp>
      <p:sp>
        <p:nvSpPr>
          <p:cNvPr id="12" name="Shape 10"/>
          <p:cNvSpPr/>
          <p:nvPr/>
        </p:nvSpPr>
        <p:spPr>
          <a:xfrm>
            <a:off x="548640" y="4773168"/>
            <a:ext cx="2103120" cy="868680"/>
          </a:xfrm>
          <a:prstGeom prst="rect">
            <a:avLst/>
          </a:prstGeom>
          <a:solidFill>
            <a:srgbClr val="E3ECF6"/>
          </a:solidFill>
          <a:ln w="12700">
            <a:solidFill>
              <a:srgbClr val="E3ECF6"/>
            </a:solidFill>
            <a:prstDash val="solid"/>
          </a:ln>
        </p:spPr>
      </p:sp>
      <p:sp>
        <p:nvSpPr>
          <p:cNvPr id="13" name="Text 11"/>
          <p:cNvSpPr txBox="1"/>
          <p:nvPr/>
        </p:nvSpPr>
        <p:spPr>
          <a:xfrm>
            <a:off x="640080" y="4828032"/>
            <a:ext cx="1920240" cy="777240"/>
          </a:xfrm>
          <a:prstGeom prst="rect">
            <a:avLst/>
          </a:prstGeom>
          <a:noFill/>
          <a:ln/>
        </p:spPr>
        <p:txBody>
          <a:bodyPr wrap="square" lIns="0" tIns="0" rIns="0" bIns="0" rtlCol="0" anchor="t"/>
          <a:lstStyle/>
          <a:p>
            <a:pPr indent="0" marL="0">
              <a:buNone/>
            </a:pPr>
            <a:r>
              <a:rPr lang="en-US" sz="850" b="1" spc="60" kern="0" dirty="0">
                <a:solidFill>
                  <a:srgbClr val="1C4E80"/>
                </a:solidFill>
                <a:latin typeface="Calibri" pitchFamily="34" charset="0"/>
                <a:ea typeface="Calibri" pitchFamily="34" charset="-122"/>
                <a:cs typeface="Calibri" pitchFamily="34" charset="-120"/>
              </a:rPr>
              <a:t>OUTPUT</a:t>
            </a:r>
            <a:endParaRPr lang="en-US" sz="1300" dirty="0"/>
          </a:p>
          <a:p>
            <a:pPr indent="0" marL="0">
              <a:buNone/>
            </a:pPr>
            <a:r>
              <a:rPr lang="en-US" sz="1050" dirty="0">
                <a:solidFill>
                  <a:srgbClr val="1F2937"/>
                </a:solidFill>
                <a:latin typeface="Calibri" pitchFamily="34" charset="0"/>
                <a:ea typeface="Calibri" pitchFamily="34" charset="-122"/>
                <a:cs typeface="Calibri" pitchFamily="34" charset="-120"/>
              </a:rPr>
              <a:t>Rider groups by day type; problem ranking; unmet demand; turnover κ</a:t>
            </a:r>
            <a:endParaRPr lang="en-US" sz="1300" dirty="0"/>
          </a:p>
        </p:txBody>
      </p:sp>
      <p:sp>
        <p:nvSpPr>
          <p:cNvPr id="14" name="Shape 12"/>
          <p:cNvSpPr/>
          <p:nvPr/>
        </p:nvSpPr>
        <p:spPr>
          <a:xfrm>
            <a:off x="2795321" y="1371600"/>
            <a:ext cx="2212848" cy="566928"/>
          </a:xfrm>
          <a:prstGeom prst="chevron">
            <a:avLst/>
          </a:prstGeom>
          <a:solidFill>
            <a:srgbClr val="3B6E9A"/>
          </a:solidFill>
          <a:ln w="12700">
            <a:solidFill>
              <a:srgbClr val="FFFFFF"/>
            </a:solidFill>
            <a:prstDash val="solid"/>
          </a:ln>
        </p:spPr>
      </p:sp>
      <p:sp>
        <p:nvSpPr>
          <p:cNvPr id="15" name="Text 13"/>
          <p:cNvSpPr txBox="1"/>
          <p:nvPr/>
        </p:nvSpPr>
        <p:spPr>
          <a:xfrm>
            <a:off x="3179369" y="1371600"/>
            <a:ext cx="164592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Explain</a:t>
            </a:r>
            <a:endParaRPr lang="en-US" sz="1500" dirty="0"/>
          </a:p>
        </p:txBody>
      </p:sp>
      <p:sp>
        <p:nvSpPr>
          <p:cNvPr id="16" name="Text 14"/>
          <p:cNvSpPr txBox="1"/>
          <p:nvPr/>
        </p:nvSpPr>
        <p:spPr>
          <a:xfrm>
            <a:off x="2795321" y="2084832"/>
            <a:ext cx="2103120" cy="256032"/>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S2 · RQ2</a:t>
            </a:r>
            <a:endParaRPr lang="en-US" sz="1100" dirty="0"/>
          </a:p>
        </p:txBody>
      </p:sp>
      <p:sp>
        <p:nvSpPr>
          <p:cNvPr id="17" name="Text 15"/>
          <p:cNvSpPr txBox="1"/>
          <p:nvPr/>
        </p:nvSpPr>
        <p:spPr>
          <a:xfrm>
            <a:off x="2795321" y="2377440"/>
            <a:ext cx="2103120" cy="1417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Do market days, weather, public and lunar holidays, and school vacations change demand — and by how much?</a:t>
            </a:r>
            <a:endParaRPr lang="en-US" sz="1200" dirty="0"/>
          </a:p>
        </p:txBody>
      </p:sp>
      <p:sp>
        <p:nvSpPr>
          <p:cNvPr id="18" name="Shape 16"/>
          <p:cNvSpPr/>
          <p:nvPr/>
        </p:nvSpPr>
        <p:spPr>
          <a:xfrm>
            <a:off x="2795321" y="3840480"/>
            <a:ext cx="2103120" cy="868680"/>
          </a:xfrm>
          <a:prstGeom prst="rect">
            <a:avLst/>
          </a:prstGeom>
          <a:solidFill>
            <a:srgbClr val="F3F5F8"/>
          </a:solidFill>
          <a:ln w="12700">
            <a:solidFill>
              <a:srgbClr val="F3F5F8"/>
            </a:solidFill>
            <a:prstDash val="solid"/>
          </a:ln>
        </p:spPr>
      </p:sp>
      <p:sp>
        <p:nvSpPr>
          <p:cNvPr id="19" name="Text 17"/>
          <p:cNvSpPr txBox="1"/>
          <p:nvPr/>
        </p:nvSpPr>
        <p:spPr>
          <a:xfrm>
            <a:off x="2886761" y="3895344"/>
            <a:ext cx="1920240" cy="777240"/>
          </a:xfrm>
          <a:prstGeom prst="rect">
            <a:avLst/>
          </a:prstGeom>
          <a:noFill/>
          <a:ln/>
        </p:spPr>
        <p:txBody>
          <a:bodyPr wrap="square" lIns="0" tIns="0" rIns="0" bIns="0" rtlCol="0" anchor="t"/>
          <a:lstStyle/>
          <a:p>
            <a:pPr indent="0" marL="0">
              <a:buNone/>
            </a:pPr>
            <a:r>
              <a:rPr lang="en-US" sz="850" b="1" spc="60" kern="0" dirty="0">
                <a:solidFill>
                  <a:srgbClr val="8B95A1"/>
                </a:solidFill>
                <a:latin typeface="Calibri" pitchFamily="34" charset="0"/>
                <a:ea typeface="Calibri" pitchFamily="34" charset="-122"/>
                <a:cs typeface="Calibri" pitchFamily="34" charset="-120"/>
              </a:rPr>
              <a:t>DATA · METHOD</a:t>
            </a:r>
            <a:endParaRPr lang="en-US" sz="1300" dirty="0"/>
          </a:p>
          <a:p>
            <a:pPr indent="0" marL="0">
              <a:buNone/>
            </a:pPr>
            <a:r>
              <a:rPr lang="en-US" sz="1050" dirty="0">
                <a:solidFill>
                  <a:srgbClr val="4B5563"/>
                </a:solidFill>
                <a:latin typeface="Calibri" pitchFamily="34" charset="0"/>
                <a:ea typeface="Calibri" pitchFamily="34" charset="-122"/>
                <a:cs typeface="Calibri" pitchFamily="34" charset="-120"/>
              </a:rPr>
              <a:t>Public calendars, school terms, weather, timetable</a:t>
            </a:r>
            <a:endParaRPr lang="en-US" sz="1300" dirty="0"/>
          </a:p>
        </p:txBody>
      </p:sp>
      <p:sp>
        <p:nvSpPr>
          <p:cNvPr id="20" name="Shape 18"/>
          <p:cNvSpPr/>
          <p:nvPr/>
        </p:nvSpPr>
        <p:spPr>
          <a:xfrm>
            <a:off x="2795321" y="4773168"/>
            <a:ext cx="2103120" cy="868680"/>
          </a:xfrm>
          <a:prstGeom prst="rect">
            <a:avLst/>
          </a:prstGeom>
          <a:solidFill>
            <a:srgbClr val="E3ECF6"/>
          </a:solidFill>
          <a:ln w="12700">
            <a:solidFill>
              <a:srgbClr val="E3ECF6"/>
            </a:solidFill>
            <a:prstDash val="solid"/>
          </a:ln>
        </p:spPr>
      </p:sp>
      <p:sp>
        <p:nvSpPr>
          <p:cNvPr id="21" name="Text 19"/>
          <p:cNvSpPr txBox="1"/>
          <p:nvPr/>
        </p:nvSpPr>
        <p:spPr>
          <a:xfrm>
            <a:off x="2886761" y="4828032"/>
            <a:ext cx="1920240" cy="777240"/>
          </a:xfrm>
          <a:prstGeom prst="rect">
            <a:avLst/>
          </a:prstGeom>
          <a:noFill/>
          <a:ln/>
        </p:spPr>
        <p:txBody>
          <a:bodyPr wrap="square" lIns="0" tIns="0" rIns="0" bIns="0" rtlCol="0" anchor="t"/>
          <a:lstStyle/>
          <a:p>
            <a:pPr indent="0" marL="0">
              <a:buNone/>
            </a:pPr>
            <a:r>
              <a:rPr lang="en-US" sz="850" b="1" spc="60" kern="0" dirty="0">
                <a:solidFill>
                  <a:srgbClr val="1C4E80"/>
                </a:solidFill>
                <a:latin typeface="Calibri" pitchFamily="34" charset="0"/>
                <a:ea typeface="Calibri" pitchFamily="34" charset="-122"/>
                <a:cs typeface="Calibri" pitchFamily="34" charset="-120"/>
              </a:rPr>
              <a:t>OUTPUT</a:t>
            </a:r>
            <a:endParaRPr lang="en-US" sz="1300" dirty="0"/>
          </a:p>
          <a:p>
            <a:pPr indent="0" marL="0">
              <a:buNone/>
            </a:pPr>
            <a:r>
              <a:rPr lang="en-US" sz="1050" dirty="0">
                <a:solidFill>
                  <a:srgbClr val="1F2937"/>
                </a:solidFill>
                <a:latin typeface="Calibri" pitchFamily="34" charset="0"/>
                <a:ea typeface="Calibri" pitchFamily="34" charset="-122"/>
                <a:cs typeface="Calibri" pitchFamily="34" charset="-120"/>
              </a:rPr>
              <a:t>Daily factor calendar; identifiability table</a:t>
            </a:r>
            <a:endParaRPr lang="en-US" sz="1300" dirty="0"/>
          </a:p>
        </p:txBody>
      </p:sp>
      <p:sp>
        <p:nvSpPr>
          <p:cNvPr id="22" name="Shape 20"/>
          <p:cNvSpPr/>
          <p:nvPr/>
        </p:nvSpPr>
        <p:spPr>
          <a:xfrm>
            <a:off x="5042002" y="1371600"/>
            <a:ext cx="2212848" cy="566928"/>
          </a:xfrm>
          <a:prstGeom prst="chevron">
            <a:avLst/>
          </a:prstGeom>
          <a:solidFill>
            <a:srgbClr val="1C4E80"/>
          </a:solidFill>
          <a:ln w="12700">
            <a:solidFill>
              <a:srgbClr val="FFFFFF"/>
            </a:solidFill>
            <a:prstDash val="solid"/>
          </a:ln>
        </p:spPr>
      </p:sp>
      <p:sp>
        <p:nvSpPr>
          <p:cNvPr id="23" name="Text 21"/>
          <p:cNvSpPr txBox="1"/>
          <p:nvPr/>
        </p:nvSpPr>
        <p:spPr>
          <a:xfrm>
            <a:off x="5426050" y="1371600"/>
            <a:ext cx="164592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Quantify</a:t>
            </a:r>
            <a:endParaRPr lang="en-US" sz="1500" dirty="0"/>
          </a:p>
        </p:txBody>
      </p:sp>
      <p:sp>
        <p:nvSpPr>
          <p:cNvPr id="24" name="Text 22"/>
          <p:cNvSpPr txBox="1"/>
          <p:nvPr/>
        </p:nvSpPr>
        <p:spPr>
          <a:xfrm>
            <a:off x="5042002" y="2084832"/>
            <a:ext cx="2103120" cy="256032"/>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S3 · RQ2</a:t>
            </a:r>
            <a:endParaRPr lang="en-US" sz="1100" dirty="0"/>
          </a:p>
        </p:txBody>
      </p:sp>
      <p:sp>
        <p:nvSpPr>
          <p:cNvPr id="25" name="Text 23"/>
          <p:cNvSpPr txBox="1"/>
          <p:nvPr/>
        </p:nvSpPr>
        <p:spPr>
          <a:xfrm>
            <a:off x="5042002" y="2377440"/>
            <a:ext cx="2103120" cy="1417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Which factors move demand on an individual run, and how large are independent and combined effects?</a:t>
            </a:r>
            <a:endParaRPr lang="en-US" sz="1200" dirty="0"/>
          </a:p>
        </p:txBody>
      </p:sp>
      <p:sp>
        <p:nvSpPr>
          <p:cNvPr id="26" name="Shape 24"/>
          <p:cNvSpPr/>
          <p:nvPr/>
        </p:nvSpPr>
        <p:spPr>
          <a:xfrm>
            <a:off x="5042002" y="3840480"/>
            <a:ext cx="2103120" cy="868680"/>
          </a:xfrm>
          <a:prstGeom prst="rect">
            <a:avLst/>
          </a:prstGeom>
          <a:solidFill>
            <a:srgbClr val="F3F5F8"/>
          </a:solidFill>
          <a:ln w="12700">
            <a:solidFill>
              <a:srgbClr val="F3F5F8"/>
            </a:solidFill>
            <a:prstDash val="solid"/>
          </a:ln>
        </p:spPr>
      </p:sp>
      <p:sp>
        <p:nvSpPr>
          <p:cNvPr id="27" name="Text 25"/>
          <p:cNvSpPr txBox="1"/>
          <p:nvPr/>
        </p:nvSpPr>
        <p:spPr>
          <a:xfrm>
            <a:off x="5133442" y="3895344"/>
            <a:ext cx="1920240" cy="777240"/>
          </a:xfrm>
          <a:prstGeom prst="rect">
            <a:avLst/>
          </a:prstGeom>
          <a:noFill/>
          <a:ln/>
        </p:spPr>
        <p:txBody>
          <a:bodyPr wrap="square" lIns="0" tIns="0" rIns="0" bIns="0" rtlCol="0" anchor="t"/>
          <a:lstStyle/>
          <a:p>
            <a:pPr indent="0" marL="0">
              <a:buNone/>
            </a:pPr>
            <a:r>
              <a:rPr lang="en-US" sz="850" b="1" spc="60" kern="0" dirty="0">
                <a:solidFill>
                  <a:srgbClr val="8B95A1"/>
                </a:solidFill>
                <a:latin typeface="Calibri" pitchFamily="34" charset="0"/>
                <a:ea typeface="Calibri" pitchFamily="34" charset="-122"/>
                <a:cs typeface="Calibri" pitchFamily="34" charset="-120"/>
              </a:rPr>
              <a:t>DATA · METHOD</a:t>
            </a:r>
            <a:endParaRPr lang="en-US" sz="1300" dirty="0"/>
          </a:p>
          <a:p>
            <a:pPr indent="0" marL="0">
              <a:buNone/>
            </a:pPr>
            <a:r>
              <a:rPr lang="en-US" sz="1050" dirty="0">
                <a:solidFill>
                  <a:srgbClr val="4B5563"/>
                </a:solidFill>
                <a:latin typeface="Calibri" pitchFamily="34" charset="0"/>
                <a:ea typeface="Calibri" pitchFamily="34" charset="-122"/>
                <a:cs typeface="Calibri" pitchFamily="34" charset="-120"/>
              </a:rPr>
              <a:t>Run ledger + factors; censored count model, passenger scale</a:t>
            </a:r>
            <a:endParaRPr lang="en-US" sz="1300" dirty="0"/>
          </a:p>
        </p:txBody>
      </p:sp>
      <p:sp>
        <p:nvSpPr>
          <p:cNvPr id="28" name="Shape 26"/>
          <p:cNvSpPr/>
          <p:nvPr/>
        </p:nvSpPr>
        <p:spPr>
          <a:xfrm>
            <a:off x="5042002" y="4773168"/>
            <a:ext cx="2103120" cy="868680"/>
          </a:xfrm>
          <a:prstGeom prst="rect">
            <a:avLst/>
          </a:prstGeom>
          <a:solidFill>
            <a:srgbClr val="E3ECF6"/>
          </a:solidFill>
          <a:ln w="12700">
            <a:solidFill>
              <a:srgbClr val="E3ECF6"/>
            </a:solidFill>
            <a:prstDash val="solid"/>
          </a:ln>
        </p:spPr>
      </p:sp>
      <p:sp>
        <p:nvSpPr>
          <p:cNvPr id="29" name="Text 27"/>
          <p:cNvSpPr txBox="1"/>
          <p:nvPr/>
        </p:nvSpPr>
        <p:spPr>
          <a:xfrm>
            <a:off x="5133442" y="4828032"/>
            <a:ext cx="1920240" cy="777240"/>
          </a:xfrm>
          <a:prstGeom prst="rect">
            <a:avLst/>
          </a:prstGeom>
          <a:noFill/>
          <a:ln/>
        </p:spPr>
        <p:txBody>
          <a:bodyPr wrap="square" lIns="0" tIns="0" rIns="0" bIns="0" rtlCol="0" anchor="t"/>
          <a:lstStyle/>
          <a:p>
            <a:pPr indent="0" marL="0">
              <a:buNone/>
            </a:pPr>
            <a:r>
              <a:rPr lang="en-US" sz="850" b="1" spc="60" kern="0" dirty="0">
                <a:solidFill>
                  <a:srgbClr val="1C4E80"/>
                </a:solidFill>
                <a:latin typeface="Calibri" pitchFamily="34" charset="0"/>
                <a:ea typeface="Calibri" pitchFamily="34" charset="-122"/>
                <a:cs typeface="Calibri" pitchFamily="34" charset="-120"/>
              </a:rPr>
              <a:t>OUTPUT</a:t>
            </a:r>
            <a:endParaRPr lang="en-US" sz="1300" dirty="0"/>
          </a:p>
          <a:p>
            <a:pPr indent="0" marL="0">
              <a:buNone/>
            </a:pPr>
            <a:r>
              <a:rPr lang="en-US" sz="1050" dirty="0">
                <a:solidFill>
                  <a:srgbClr val="1F2937"/>
                </a:solidFill>
                <a:latin typeface="Calibri" pitchFamily="34" charset="0"/>
                <a:ea typeface="Calibri" pitchFamily="34" charset="-122"/>
                <a:cs typeface="Calibri" pitchFamily="34" charset="-120"/>
              </a:rPr>
              <a:t>Independent, combined and overlap effects with intervals</a:t>
            </a:r>
            <a:endParaRPr lang="en-US" sz="1300" dirty="0"/>
          </a:p>
        </p:txBody>
      </p:sp>
      <p:sp>
        <p:nvSpPr>
          <p:cNvPr id="30" name="Shape 28"/>
          <p:cNvSpPr/>
          <p:nvPr/>
        </p:nvSpPr>
        <p:spPr>
          <a:xfrm>
            <a:off x="7288682" y="1371600"/>
            <a:ext cx="2212848" cy="566928"/>
          </a:xfrm>
          <a:prstGeom prst="chevron">
            <a:avLst/>
          </a:prstGeom>
          <a:solidFill>
            <a:srgbClr val="3B6E9A"/>
          </a:solidFill>
          <a:ln w="12700">
            <a:solidFill>
              <a:srgbClr val="FFFFFF"/>
            </a:solidFill>
            <a:prstDash val="solid"/>
          </a:ln>
        </p:spPr>
      </p:sp>
      <p:sp>
        <p:nvSpPr>
          <p:cNvPr id="31" name="Text 29"/>
          <p:cNvSpPr txBox="1"/>
          <p:nvPr/>
        </p:nvSpPr>
        <p:spPr>
          <a:xfrm>
            <a:off x="7672730" y="1371600"/>
            <a:ext cx="164592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Forecast</a:t>
            </a:r>
            <a:endParaRPr lang="en-US" sz="1500" dirty="0"/>
          </a:p>
        </p:txBody>
      </p:sp>
      <p:sp>
        <p:nvSpPr>
          <p:cNvPr id="32" name="Text 30"/>
          <p:cNvSpPr txBox="1"/>
          <p:nvPr/>
        </p:nvSpPr>
        <p:spPr>
          <a:xfrm>
            <a:off x="7288682" y="2084832"/>
            <a:ext cx="2103120" cy="256032"/>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S4 · RQ3</a:t>
            </a:r>
            <a:endParaRPr lang="en-US" sz="1100" dirty="0"/>
          </a:p>
        </p:txBody>
      </p:sp>
      <p:sp>
        <p:nvSpPr>
          <p:cNvPr id="33" name="Text 31"/>
          <p:cNvSpPr txBox="1"/>
          <p:nvPr/>
        </p:nvSpPr>
        <p:spPr>
          <a:xfrm>
            <a:off x="7288682" y="2377440"/>
            <a:ext cx="2103120" cy="1417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Can tomorrow's factors predict each run's demand 1–7 days ahead — with honest uncertainty?</a:t>
            </a:r>
            <a:endParaRPr lang="en-US" sz="1200" dirty="0"/>
          </a:p>
        </p:txBody>
      </p:sp>
      <p:sp>
        <p:nvSpPr>
          <p:cNvPr id="34" name="Shape 32"/>
          <p:cNvSpPr/>
          <p:nvPr/>
        </p:nvSpPr>
        <p:spPr>
          <a:xfrm>
            <a:off x="7288682" y="3840480"/>
            <a:ext cx="2103120" cy="868680"/>
          </a:xfrm>
          <a:prstGeom prst="rect">
            <a:avLst/>
          </a:prstGeom>
          <a:solidFill>
            <a:srgbClr val="F3F5F8"/>
          </a:solidFill>
          <a:ln w="12700">
            <a:solidFill>
              <a:srgbClr val="F3F5F8"/>
            </a:solidFill>
            <a:prstDash val="solid"/>
          </a:ln>
        </p:spPr>
      </p:sp>
      <p:sp>
        <p:nvSpPr>
          <p:cNvPr id="35" name="Text 33"/>
          <p:cNvSpPr txBox="1"/>
          <p:nvPr/>
        </p:nvSpPr>
        <p:spPr>
          <a:xfrm>
            <a:off x="7380122" y="3895344"/>
            <a:ext cx="1920240" cy="777240"/>
          </a:xfrm>
          <a:prstGeom prst="rect">
            <a:avLst/>
          </a:prstGeom>
          <a:noFill/>
          <a:ln/>
        </p:spPr>
        <p:txBody>
          <a:bodyPr wrap="square" lIns="0" tIns="0" rIns="0" bIns="0" rtlCol="0" anchor="t"/>
          <a:lstStyle/>
          <a:p>
            <a:pPr indent="0" marL="0">
              <a:buNone/>
            </a:pPr>
            <a:r>
              <a:rPr lang="en-US" sz="850" b="1" spc="60" kern="0" dirty="0">
                <a:solidFill>
                  <a:srgbClr val="8B95A1"/>
                </a:solidFill>
                <a:latin typeface="Calibri" pitchFamily="34" charset="0"/>
                <a:ea typeface="Calibri" pitchFamily="34" charset="-122"/>
                <a:cs typeface="Calibri" pitchFamily="34" charset="-120"/>
              </a:rPr>
              <a:t>DATA · METHOD</a:t>
            </a:r>
            <a:endParaRPr lang="en-US" sz="1300" dirty="0"/>
          </a:p>
          <a:p>
            <a:pPr indent="0" marL="0">
              <a:buNone/>
            </a:pPr>
            <a:r>
              <a:rPr lang="en-US" sz="1050" dirty="0">
                <a:solidFill>
                  <a:srgbClr val="4B5563"/>
                </a:solidFill>
                <a:latin typeface="Calibri" pitchFamily="34" charset="0"/>
                <a:ea typeface="Calibri" pitchFamily="34" charset="-122"/>
                <a:cs typeface="Calibri" pitchFamily="34" charset="-120"/>
              </a:rPr>
              <a:t>Fitted model + calendar and weather forecasts</a:t>
            </a:r>
            <a:endParaRPr lang="en-US" sz="1300" dirty="0"/>
          </a:p>
        </p:txBody>
      </p:sp>
      <p:sp>
        <p:nvSpPr>
          <p:cNvPr id="36" name="Shape 34"/>
          <p:cNvSpPr/>
          <p:nvPr/>
        </p:nvSpPr>
        <p:spPr>
          <a:xfrm>
            <a:off x="7288682" y="4773168"/>
            <a:ext cx="2103120" cy="868680"/>
          </a:xfrm>
          <a:prstGeom prst="rect">
            <a:avLst/>
          </a:prstGeom>
          <a:solidFill>
            <a:srgbClr val="E3ECF6"/>
          </a:solidFill>
          <a:ln w="12700">
            <a:solidFill>
              <a:srgbClr val="E3ECF6"/>
            </a:solidFill>
            <a:prstDash val="solid"/>
          </a:ln>
        </p:spPr>
      </p:sp>
      <p:sp>
        <p:nvSpPr>
          <p:cNvPr id="37" name="Text 35"/>
          <p:cNvSpPr txBox="1"/>
          <p:nvPr/>
        </p:nvSpPr>
        <p:spPr>
          <a:xfrm>
            <a:off x="7380122" y="4828032"/>
            <a:ext cx="1920240" cy="777240"/>
          </a:xfrm>
          <a:prstGeom prst="rect">
            <a:avLst/>
          </a:prstGeom>
          <a:noFill/>
          <a:ln/>
        </p:spPr>
        <p:txBody>
          <a:bodyPr wrap="square" lIns="0" tIns="0" rIns="0" bIns="0" rtlCol="0" anchor="t"/>
          <a:lstStyle/>
          <a:p>
            <a:pPr indent="0" marL="0">
              <a:buNone/>
            </a:pPr>
            <a:r>
              <a:rPr lang="en-US" sz="850" b="1" spc="60" kern="0" dirty="0">
                <a:solidFill>
                  <a:srgbClr val="1C4E80"/>
                </a:solidFill>
                <a:latin typeface="Calibri" pitchFamily="34" charset="0"/>
                <a:ea typeface="Calibri" pitchFamily="34" charset="-122"/>
                <a:cs typeface="Calibri" pitchFamily="34" charset="-120"/>
              </a:rPr>
              <a:t>OUTPUT</a:t>
            </a:r>
            <a:endParaRPr lang="en-US" sz="1300" dirty="0"/>
          </a:p>
          <a:p>
            <a:pPr indent="0" marL="0">
              <a:buNone/>
            </a:pPr>
            <a:r>
              <a:rPr lang="en-US" sz="1050" dirty="0">
                <a:solidFill>
                  <a:srgbClr val="1F2937"/>
                </a:solidFill>
                <a:latin typeface="Calibri" pitchFamily="34" charset="0"/>
                <a:ea typeface="Calibri" pitchFamily="34" charset="-122"/>
                <a:cs typeface="Calibri" pitchFamily="34" charset="-120"/>
              </a:rPr>
              <a:t>Run and daily-total predictive distributions</a:t>
            </a:r>
            <a:endParaRPr lang="en-US" sz="1300" dirty="0"/>
          </a:p>
        </p:txBody>
      </p:sp>
      <p:sp>
        <p:nvSpPr>
          <p:cNvPr id="38" name="Shape 36"/>
          <p:cNvSpPr/>
          <p:nvPr/>
        </p:nvSpPr>
        <p:spPr>
          <a:xfrm>
            <a:off x="9535363" y="1371600"/>
            <a:ext cx="2212848" cy="566928"/>
          </a:xfrm>
          <a:prstGeom prst="chevron">
            <a:avLst/>
          </a:prstGeom>
          <a:solidFill>
            <a:srgbClr val="3B6E9A"/>
          </a:solidFill>
          <a:ln w="12700">
            <a:solidFill>
              <a:srgbClr val="FFFFFF"/>
            </a:solidFill>
            <a:prstDash val="solid"/>
          </a:ln>
        </p:spPr>
      </p:sp>
      <p:sp>
        <p:nvSpPr>
          <p:cNvPr id="39" name="Text 37"/>
          <p:cNvSpPr txBox="1"/>
          <p:nvPr/>
        </p:nvSpPr>
        <p:spPr>
          <a:xfrm>
            <a:off x="9919411" y="1371600"/>
            <a:ext cx="164592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Plan</a:t>
            </a:r>
            <a:endParaRPr lang="en-US" sz="1500" dirty="0"/>
          </a:p>
        </p:txBody>
      </p:sp>
      <p:sp>
        <p:nvSpPr>
          <p:cNvPr id="40" name="Text 38"/>
          <p:cNvSpPr txBox="1"/>
          <p:nvPr/>
        </p:nvSpPr>
        <p:spPr>
          <a:xfrm>
            <a:off x="9535363" y="2084832"/>
            <a:ext cx="2103120" cy="256032"/>
          </a:xfrm>
          <a:prstGeom prst="rect">
            <a:avLst/>
          </a:prstGeom>
          <a:noFill/>
          <a:ln/>
        </p:spPr>
        <p:txBody>
          <a:bodyPr wrap="square" lIns="0" tIns="0" rIns="0" bIns="0" rtlCol="0" anchor="t"/>
          <a:lstStyle/>
          <a:p>
            <a:pPr indent="0" marL="0">
              <a:buNone/>
            </a:pPr>
            <a:r>
              <a:rPr lang="en-US" sz="1100" b="1" dirty="0">
                <a:solidFill>
                  <a:srgbClr val="1C4E80"/>
                </a:solidFill>
                <a:latin typeface="Calibri" pitchFamily="34" charset="0"/>
                <a:ea typeface="Calibri" pitchFamily="34" charset="-122"/>
                <a:cs typeface="Calibri" pitchFamily="34" charset="-120"/>
              </a:rPr>
              <a:t>S5 · RQ4</a:t>
            </a:r>
            <a:endParaRPr lang="en-US" sz="1100" dirty="0"/>
          </a:p>
        </p:txBody>
      </p:sp>
      <p:sp>
        <p:nvSpPr>
          <p:cNvPr id="41" name="Text 39"/>
          <p:cNvSpPr txBox="1"/>
          <p:nvPr/>
        </p:nvSpPr>
        <p:spPr>
          <a:xfrm>
            <a:off x="9535363" y="2377440"/>
            <a:ext cx="2103120" cy="1417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How should service adapt: fixed core plus flexible runs scaled to the day's forecast and to survey-identified problems?</a:t>
            </a:r>
            <a:endParaRPr lang="en-US" sz="1200" dirty="0"/>
          </a:p>
        </p:txBody>
      </p:sp>
      <p:sp>
        <p:nvSpPr>
          <p:cNvPr id="42" name="Shape 40"/>
          <p:cNvSpPr/>
          <p:nvPr/>
        </p:nvSpPr>
        <p:spPr>
          <a:xfrm>
            <a:off x="9535363" y="3840480"/>
            <a:ext cx="2103120" cy="868680"/>
          </a:xfrm>
          <a:prstGeom prst="rect">
            <a:avLst/>
          </a:prstGeom>
          <a:solidFill>
            <a:srgbClr val="F3F5F8"/>
          </a:solidFill>
          <a:ln w="12700">
            <a:solidFill>
              <a:srgbClr val="F3F5F8"/>
            </a:solidFill>
            <a:prstDash val="solid"/>
          </a:ln>
        </p:spPr>
      </p:sp>
      <p:sp>
        <p:nvSpPr>
          <p:cNvPr id="43" name="Text 41"/>
          <p:cNvSpPr txBox="1"/>
          <p:nvPr/>
        </p:nvSpPr>
        <p:spPr>
          <a:xfrm>
            <a:off x="9626803" y="3895344"/>
            <a:ext cx="1920240" cy="777240"/>
          </a:xfrm>
          <a:prstGeom prst="rect">
            <a:avLst/>
          </a:prstGeom>
          <a:noFill/>
          <a:ln/>
        </p:spPr>
        <p:txBody>
          <a:bodyPr wrap="square" lIns="0" tIns="0" rIns="0" bIns="0" rtlCol="0" anchor="t"/>
          <a:lstStyle/>
          <a:p>
            <a:pPr indent="0" marL="0">
              <a:buNone/>
            </a:pPr>
            <a:r>
              <a:rPr lang="en-US" sz="850" b="1" spc="60" kern="0" dirty="0">
                <a:solidFill>
                  <a:srgbClr val="8B95A1"/>
                </a:solidFill>
                <a:latin typeface="Calibri" pitchFamily="34" charset="0"/>
                <a:ea typeface="Calibri" pitchFamily="34" charset="-122"/>
                <a:cs typeface="Calibri" pitchFamily="34" charset="-120"/>
              </a:rPr>
              <a:t>DATA · METHOD</a:t>
            </a:r>
            <a:endParaRPr lang="en-US" sz="1300" dirty="0"/>
          </a:p>
          <a:p>
            <a:pPr indent="0" marL="0">
              <a:buNone/>
            </a:pPr>
            <a:r>
              <a:rPr lang="en-US" sz="1050" dirty="0">
                <a:solidFill>
                  <a:srgbClr val="4B5563"/>
                </a:solidFill>
                <a:latin typeface="Calibri" pitchFamily="34" charset="0"/>
                <a:ea typeface="Calibri" pitchFamily="34" charset="-122"/>
                <a:cs typeface="Calibri" pitchFamily="34" charset="-120"/>
              </a:rPr>
              <a:t>Forecast samples, seats, costs, survey preferences</a:t>
            </a:r>
            <a:endParaRPr lang="en-US" sz="1300" dirty="0"/>
          </a:p>
        </p:txBody>
      </p:sp>
      <p:sp>
        <p:nvSpPr>
          <p:cNvPr id="44" name="Shape 42"/>
          <p:cNvSpPr/>
          <p:nvPr/>
        </p:nvSpPr>
        <p:spPr>
          <a:xfrm>
            <a:off x="9535363" y="4773168"/>
            <a:ext cx="2103120" cy="868680"/>
          </a:xfrm>
          <a:prstGeom prst="rect">
            <a:avLst/>
          </a:prstGeom>
          <a:solidFill>
            <a:srgbClr val="E3ECF6"/>
          </a:solidFill>
          <a:ln w="12700">
            <a:solidFill>
              <a:srgbClr val="E3ECF6"/>
            </a:solidFill>
            <a:prstDash val="solid"/>
          </a:ln>
        </p:spPr>
      </p:sp>
      <p:sp>
        <p:nvSpPr>
          <p:cNvPr id="45" name="Text 43"/>
          <p:cNvSpPr txBox="1"/>
          <p:nvPr/>
        </p:nvSpPr>
        <p:spPr>
          <a:xfrm>
            <a:off x="9626803" y="4828032"/>
            <a:ext cx="1920240" cy="777240"/>
          </a:xfrm>
          <a:prstGeom prst="rect">
            <a:avLst/>
          </a:prstGeom>
          <a:noFill/>
          <a:ln/>
        </p:spPr>
        <p:txBody>
          <a:bodyPr wrap="square" lIns="0" tIns="0" rIns="0" bIns="0" rtlCol="0" anchor="t"/>
          <a:lstStyle/>
          <a:p>
            <a:pPr indent="0" marL="0">
              <a:buNone/>
            </a:pPr>
            <a:r>
              <a:rPr lang="en-US" sz="850" b="1" spc="60" kern="0" dirty="0">
                <a:solidFill>
                  <a:srgbClr val="1C4E80"/>
                </a:solidFill>
                <a:latin typeface="Calibri" pitchFamily="34" charset="0"/>
                <a:ea typeface="Calibri" pitchFamily="34" charset="-122"/>
                <a:cs typeface="Calibri" pitchFamily="34" charset="-120"/>
              </a:rPr>
              <a:t>OUTPUT</a:t>
            </a:r>
            <a:endParaRPr lang="en-US" sz="1300" dirty="0"/>
          </a:p>
          <a:p>
            <a:pPr indent="0" marL="0">
              <a:buNone/>
            </a:pPr>
            <a:r>
              <a:rPr lang="en-US" sz="1050" dirty="0">
                <a:solidFill>
                  <a:srgbClr val="1F2937"/>
                </a:solidFill>
                <a:latin typeface="Calibri" pitchFamily="34" charset="0"/>
                <a:ea typeface="Calibri" pitchFamily="34" charset="-122"/>
                <a:cs typeface="Calibri" pitchFamily="34" charset="-120"/>
              </a:rPr>
              <a:t>Reserve and triggered-run rules; cost–denial frontier</a:t>
            </a:r>
            <a:endParaRPr lang="en-US" sz="1300" dirty="0"/>
          </a:p>
        </p:txBody>
      </p:sp>
      <p:sp>
        <p:nvSpPr>
          <p:cNvPr id="46" name="Shape 44"/>
          <p:cNvSpPr/>
          <p:nvPr/>
        </p:nvSpPr>
        <p:spPr>
          <a:xfrm flipH="1">
            <a:off x="1097280" y="5806440"/>
            <a:ext cx="10058400" cy="0"/>
          </a:xfrm>
          <a:prstGeom prst="line">
            <a:avLst/>
          </a:prstGeom>
          <a:noFill/>
          <a:ln w="12700">
            <a:solidFill>
              <a:srgbClr val="8B95A1"/>
            </a:solidFill>
            <a:prstDash val="dash"/>
            <a:tailEnd type="triangle"/>
          </a:ln>
        </p:spPr>
      </p:sp>
      <p:sp>
        <p:nvSpPr>
          <p:cNvPr id="47" name="Text 45"/>
          <p:cNvSpPr txBox="1"/>
          <p:nvPr/>
        </p:nvSpPr>
        <p:spPr>
          <a:xfrm>
            <a:off x="1097280" y="5879592"/>
            <a:ext cx="10058400" cy="365760"/>
          </a:xfrm>
          <a:prstGeom prst="rect">
            <a:avLst/>
          </a:prstGeom>
          <a:noFill/>
          <a:ln/>
        </p:spPr>
        <p:txBody>
          <a:bodyPr wrap="square" lIns="0" tIns="0" rIns="0" bIns="0" rtlCol="0" anchor="t"/>
          <a:lstStyle/>
          <a:p>
            <a:pPr algn="ctr" indent="0" marL="0">
              <a:buNone/>
            </a:pPr>
            <a:r>
              <a:rPr lang="en-US" sz="1050" i="1" dirty="0">
                <a:solidFill>
                  <a:srgbClr val="8B95A1"/>
                </a:solidFill>
                <a:latin typeface="Calibri" pitchFamily="34" charset="0"/>
                <a:ea typeface="Calibri" pitchFamily="34" charset="-122"/>
                <a:cs typeface="Calibri" pitchFamily="34" charset="-120"/>
              </a:rPr>
              <a:t>Feedback: supplementary-run results decide where the next survey wave samples more densely and which ledger fields are added (e.g., full-bus denials).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REASONING</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How the design evolved: six revisions and the evidence behind them</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24 / 39</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2743200"/>
                <a:gridCol w="3520440"/>
                <a:gridCol w="4828032"/>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Earlier design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Current design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the change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603504">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Stages 2–5 as a sequential pipeline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One run-level joint model; stages are its uses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Pipelines drop uncertainty. Synthetic test: daily 90% intervals cover 0.39 (pipeline) vs 0.87 (joint)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03504">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Drivers incl. industrial-park shifts and clinic schedules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Only reliably obtainable variables (21 kept, 3 dropped); worker weekly commute added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Rosters cannot be obtained day by day; the commute of park and township staff can be encoded from calendars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48640">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Market day as a core driver</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Market day as a baseline control</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Advisory review; the survey's shopping/market purpose checks whether a control is enough</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66928">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“Which factors matter?”</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“How large are independent and combined effects when factors overlap?”</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The real timetable × calendar shows heavy overlap by day but separation by run and direction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603504">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Worker commute coded in the students' direction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Workers leave town Sunday p.m., return Friday p.m. / Saturday a.m.</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Correction raised student-only runs from 33 to 5,104; the earlier “inseparable” conclusion was withdrawn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58368">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Surveys as the main source for effects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C4E80"/>
                          </a:solidFill>
                          <a:latin typeface="Calibri" pitchFamily="34" charset="0"/>
                          <a:ea typeface="Calibri" pitchFamily="34" charset="-122"/>
                          <a:cs typeface="Calibri" pitchFamily="34" charset="-120"/>
                        </a:rPr>
                        <a:t>Surveys for description, diagnosis and external constraints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Synthetic test: adding 400–600 questionnaires left overlap-effect error unchanged (0.038 → 0.038); ≈5,500 would be needed to detect misspecification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
        <p:nvSpPr>
          <p:cNvPr id="7" name="Text 4"/>
          <p:cNvSpPr txBox="1"/>
          <p:nvPr/>
        </p:nvSpPr>
        <p:spPr>
          <a:xfrm>
            <a:off x="548640" y="5559552"/>
            <a:ext cx="11094415" cy="658368"/>
          </a:xfrm>
          <a:prstGeom prst="rect">
            <a:avLst/>
          </a:prstGeom>
          <a:noFill/>
          <a:ln/>
        </p:spPr>
        <p:txBody>
          <a:bodyPr wrap="square" lIns="0" tIns="0" rIns="0" bIns="0" rtlCol="0" anchor="t"/>
          <a:lstStyle/>
          <a:p>
            <a:pPr indent="0" marL="0">
              <a:buNone/>
            </a:pPr>
            <a:r>
              <a:rPr lang="en-US" sz="1150" i="1" dirty="0">
                <a:solidFill>
                  <a:srgbClr val="C2410C"/>
                </a:solidFill>
                <a:latin typeface="Calibri" pitchFamily="34" charset="0"/>
                <a:ea typeface="Calibri" pitchFamily="34" charset="-122"/>
                <a:cs typeface="Calibri" pitchFamily="34" charset="-120"/>
              </a:rPr>
              <a:t>Lesson from the direction error: a mis-coded factor still fits well — it just assigns effects to the wrong group. Encodings are therefore checked against survey-reported departure times and dispatcher experience before estimation.</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FRAMEWORK</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One run-level model links effects, forecasts and decisions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25 / 39</a:t>
            </a:r>
            <a:endParaRPr lang="en-US" sz="850" dirty="0"/>
          </a:p>
        </p:txBody>
      </p:sp>
      <p:sp>
        <p:nvSpPr>
          <p:cNvPr id="6" name="Text 4"/>
          <p:cNvSpPr txBox="1"/>
          <p:nvPr/>
        </p:nvSpPr>
        <p:spPr>
          <a:xfrm>
            <a:off x="548640" y="1261872"/>
            <a:ext cx="2926080" cy="219456"/>
          </a:xfrm>
          <a:prstGeom prst="rect">
            <a:avLst/>
          </a:prstGeom>
          <a:noFill/>
          <a:ln/>
        </p:spPr>
        <p:txBody>
          <a:bodyPr wrap="square" lIns="0" tIns="0" rIns="0" bIns="0" rtlCol="0" anchor="t"/>
          <a:lstStyle/>
          <a:p>
            <a:pPr indent="0" marL="0">
              <a:buNone/>
            </a:pPr>
            <a:r>
              <a:rPr lang="en-US" sz="1000" b="1" spc="80" kern="0" dirty="0">
                <a:solidFill>
                  <a:srgbClr val="8B95A1"/>
                </a:solidFill>
                <a:latin typeface="Calibri" pitchFamily="34" charset="0"/>
                <a:ea typeface="Calibri" pitchFamily="34" charset="-122"/>
                <a:cs typeface="Calibri" pitchFamily="34" charset="-120"/>
              </a:rPr>
              <a:t>DATA KNOWN IN ADVANCE</a:t>
            </a:r>
            <a:endParaRPr lang="en-US" sz="1000" dirty="0"/>
          </a:p>
        </p:txBody>
      </p:sp>
      <p:sp>
        <p:nvSpPr>
          <p:cNvPr id="7" name="Text 5"/>
          <p:cNvSpPr txBox="1"/>
          <p:nvPr/>
        </p:nvSpPr>
        <p:spPr>
          <a:xfrm>
            <a:off x="3977640" y="1261872"/>
            <a:ext cx="40233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ONE JOINT RUN-LEVEL MODEL</a:t>
            </a:r>
            <a:endParaRPr lang="en-US" sz="1000" dirty="0"/>
          </a:p>
        </p:txBody>
      </p:sp>
      <p:sp>
        <p:nvSpPr>
          <p:cNvPr id="8" name="Text 6"/>
          <p:cNvSpPr txBox="1"/>
          <p:nvPr/>
        </p:nvSpPr>
        <p:spPr>
          <a:xfrm>
            <a:off x="8549640" y="1261872"/>
            <a:ext cx="3108960" cy="219456"/>
          </a:xfrm>
          <a:prstGeom prst="rect">
            <a:avLst/>
          </a:prstGeom>
          <a:noFill/>
          <a:ln/>
        </p:spPr>
        <p:txBody>
          <a:bodyPr wrap="square" lIns="0" tIns="0" rIns="0" bIns="0" rtlCol="0" anchor="t"/>
          <a:lstStyle/>
          <a:p>
            <a:pPr indent="0" marL="0">
              <a:buNone/>
            </a:pPr>
            <a:r>
              <a:rPr lang="en-US" sz="1000" b="1" spc="80" kern="0" dirty="0">
                <a:solidFill>
                  <a:srgbClr val="8B95A1"/>
                </a:solidFill>
                <a:latin typeface="Calibri" pitchFamily="34" charset="0"/>
                <a:ea typeface="Calibri" pitchFamily="34" charset="-122"/>
                <a:cs typeface="Calibri" pitchFamily="34" charset="-120"/>
              </a:rPr>
              <a:t>FORECASTS AND DECISIONS</a:t>
            </a:r>
            <a:endParaRPr lang="en-US" sz="1000" dirty="0"/>
          </a:p>
        </p:txBody>
      </p:sp>
      <p:sp>
        <p:nvSpPr>
          <p:cNvPr id="9" name="Shape 7"/>
          <p:cNvSpPr/>
          <p:nvPr/>
        </p:nvSpPr>
        <p:spPr>
          <a:xfrm>
            <a:off x="548640" y="1572768"/>
            <a:ext cx="2971800" cy="713232"/>
          </a:xfrm>
          <a:prstGeom prst="roundRect">
            <a:avLst>
              <a:gd name="adj" fmla="val 10256"/>
            </a:avLst>
          </a:prstGeom>
          <a:solidFill>
            <a:srgbClr val="FFFFFF"/>
          </a:solidFill>
          <a:ln w="12700">
            <a:solidFill>
              <a:srgbClr val="4B5563"/>
            </a:solidFill>
            <a:prstDash val="solid"/>
          </a:ln>
        </p:spPr>
      </p:sp>
      <p:sp>
        <p:nvSpPr>
          <p:cNvPr id="10" name="Text 8"/>
          <p:cNvSpPr txBox="1"/>
          <p:nvPr/>
        </p:nvSpPr>
        <p:spPr>
          <a:xfrm>
            <a:off x="640080" y="1618488"/>
            <a:ext cx="278892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Run ledger</a:t>
            </a:r>
            <a:endParaRPr lang="en-US" sz="1100" dirty="0"/>
          </a:p>
          <a:p>
            <a:pPr algn="l" indent="0" marL="0">
              <a:buNone/>
            </a:pPr>
            <a:r>
              <a:rPr lang="en-US" sz="950" dirty="0">
                <a:solidFill>
                  <a:srgbClr val="4B5563"/>
                </a:solidFill>
                <a:latin typeface="Calibri" pitchFamily="34" charset="0"/>
                <a:ea typeface="Calibri" pitchFamily="34" charset="-122"/>
                <a:cs typeface="Calibri" pitchFamily="34" charset="-120"/>
              </a:rPr>
              <a:t>total boardings per one-way run</a:t>
            </a:r>
            <a:endParaRPr lang="en-US" sz="1100" dirty="0"/>
          </a:p>
        </p:txBody>
      </p:sp>
      <p:sp>
        <p:nvSpPr>
          <p:cNvPr id="11" name="Shape 9"/>
          <p:cNvSpPr/>
          <p:nvPr/>
        </p:nvSpPr>
        <p:spPr>
          <a:xfrm>
            <a:off x="3520440" y="1929384"/>
            <a:ext cx="411480" cy="0"/>
          </a:xfrm>
          <a:prstGeom prst="line">
            <a:avLst/>
          </a:prstGeom>
          <a:noFill/>
          <a:ln w="15875">
            <a:solidFill>
              <a:srgbClr val="4B5563"/>
            </a:solidFill>
            <a:prstDash val="solid"/>
            <a:tailEnd type="triangle"/>
          </a:ln>
        </p:spPr>
      </p:sp>
      <p:sp>
        <p:nvSpPr>
          <p:cNvPr id="12" name="Shape 10"/>
          <p:cNvSpPr/>
          <p:nvPr/>
        </p:nvSpPr>
        <p:spPr>
          <a:xfrm>
            <a:off x="548640" y="2423160"/>
            <a:ext cx="2971800" cy="713232"/>
          </a:xfrm>
          <a:prstGeom prst="roundRect">
            <a:avLst>
              <a:gd name="adj" fmla="val 10256"/>
            </a:avLst>
          </a:prstGeom>
          <a:solidFill>
            <a:srgbClr val="FFFFFF"/>
          </a:solidFill>
          <a:ln w="12700">
            <a:solidFill>
              <a:srgbClr val="4B5563"/>
            </a:solidFill>
            <a:prstDash val="solid"/>
          </a:ln>
        </p:spPr>
      </p:sp>
      <p:sp>
        <p:nvSpPr>
          <p:cNvPr id="13" name="Text 11"/>
          <p:cNvSpPr txBox="1"/>
          <p:nvPr/>
        </p:nvSpPr>
        <p:spPr>
          <a:xfrm>
            <a:off x="640080" y="2468880"/>
            <a:ext cx="278892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Timetable &amp; seats</a:t>
            </a:r>
            <a:endParaRPr lang="en-US" sz="1100" dirty="0"/>
          </a:p>
          <a:p>
            <a:pPr algn="l" indent="0" marL="0">
              <a:buNone/>
            </a:pPr>
            <a:r>
              <a:rPr lang="en-US" sz="950" dirty="0">
                <a:solidFill>
                  <a:srgbClr val="4B5563"/>
                </a:solidFill>
                <a:latin typeface="Calibri" pitchFamily="34" charset="0"/>
                <a:ea typeface="Calibri" pitchFamily="34" charset="-122"/>
                <a:cs typeface="Calibri" pitchFamily="34" charset="-120"/>
              </a:rPr>
              <a:t>run slots, seat capacity</a:t>
            </a:r>
            <a:endParaRPr lang="en-US" sz="1100" dirty="0"/>
          </a:p>
        </p:txBody>
      </p:sp>
      <p:sp>
        <p:nvSpPr>
          <p:cNvPr id="14" name="Shape 12"/>
          <p:cNvSpPr/>
          <p:nvPr/>
        </p:nvSpPr>
        <p:spPr>
          <a:xfrm>
            <a:off x="3520440" y="2779776"/>
            <a:ext cx="411480" cy="0"/>
          </a:xfrm>
          <a:prstGeom prst="line">
            <a:avLst/>
          </a:prstGeom>
          <a:noFill/>
          <a:ln w="15875">
            <a:solidFill>
              <a:srgbClr val="4B5563"/>
            </a:solidFill>
            <a:prstDash val="solid"/>
            <a:tailEnd type="triangle"/>
          </a:ln>
        </p:spPr>
      </p:sp>
      <p:sp>
        <p:nvSpPr>
          <p:cNvPr id="15" name="Shape 13"/>
          <p:cNvSpPr/>
          <p:nvPr/>
        </p:nvSpPr>
        <p:spPr>
          <a:xfrm>
            <a:off x="548640" y="3273552"/>
            <a:ext cx="2971800" cy="713232"/>
          </a:xfrm>
          <a:prstGeom prst="roundRect">
            <a:avLst>
              <a:gd name="adj" fmla="val 10256"/>
            </a:avLst>
          </a:prstGeom>
          <a:solidFill>
            <a:srgbClr val="FFFFFF"/>
          </a:solidFill>
          <a:ln w="12700">
            <a:solidFill>
              <a:srgbClr val="4B5563"/>
            </a:solidFill>
            <a:prstDash val="solid"/>
          </a:ln>
        </p:spPr>
      </p:sp>
      <p:sp>
        <p:nvSpPr>
          <p:cNvPr id="16" name="Text 14"/>
          <p:cNvSpPr txBox="1"/>
          <p:nvPr/>
        </p:nvSpPr>
        <p:spPr>
          <a:xfrm>
            <a:off x="640080" y="3319272"/>
            <a:ext cx="278892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Calendar</a:t>
            </a:r>
            <a:endParaRPr lang="en-US" sz="1100" dirty="0"/>
          </a:p>
          <a:p>
            <a:pPr algn="l" indent="0" marL="0">
              <a:buNone/>
            </a:pPr>
            <a:r>
              <a:rPr lang="en-US" sz="950" dirty="0">
                <a:solidFill>
                  <a:srgbClr val="4B5563"/>
                </a:solidFill>
                <a:latin typeface="Calibri" pitchFamily="34" charset="0"/>
                <a:ea typeface="Calibri" pitchFamily="34" charset="-122"/>
                <a:cs typeface="Calibri" pitchFamily="34" charset="-120"/>
              </a:rPr>
              <a:t>school terms, holidays, make-up days, Spring Festival, market days</a:t>
            </a:r>
            <a:endParaRPr lang="en-US" sz="1100" dirty="0"/>
          </a:p>
        </p:txBody>
      </p:sp>
      <p:sp>
        <p:nvSpPr>
          <p:cNvPr id="17" name="Shape 15"/>
          <p:cNvSpPr/>
          <p:nvPr/>
        </p:nvSpPr>
        <p:spPr>
          <a:xfrm>
            <a:off x="3520440" y="3630168"/>
            <a:ext cx="411480" cy="0"/>
          </a:xfrm>
          <a:prstGeom prst="line">
            <a:avLst/>
          </a:prstGeom>
          <a:noFill/>
          <a:ln w="15875">
            <a:solidFill>
              <a:srgbClr val="4B5563"/>
            </a:solidFill>
            <a:prstDash val="solid"/>
            <a:tailEnd type="triangle"/>
          </a:ln>
        </p:spPr>
      </p:sp>
      <p:sp>
        <p:nvSpPr>
          <p:cNvPr id="18" name="Shape 16"/>
          <p:cNvSpPr/>
          <p:nvPr/>
        </p:nvSpPr>
        <p:spPr>
          <a:xfrm>
            <a:off x="548640" y="4123944"/>
            <a:ext cx="2971800" cy="713232"/>
          </a:xfrm>
          <a:prstGeom prst="roundRect">
            <a:avLst>
              <a:gd name="adj" fmla="val 10256"/>
            </a:avLst>
          </a:prstGeom>
          <a:solidFill>
            <a:srgbClr val="FFFFFF"/>
          </a:solidFill>
          <a:ln w="12700">
            <a:solidFill>
              <a:srgbClr val="4B5563"/>
            </a:solidFill>
            <a:prstDash val="solid"/>
          </a:ln>
        </p:spPr>
      </p:sp>
      <p:sp>
        <p:nvSpPr>
          <p:cNvPr id="19" name="Text 17"/>
          <p:cNvSpPr txBox="1"/>
          <p:nvPr/>
        </p:nvSpPr>
        <p:spPr>
          <a:xfrm>
            <a:off x="640080" y="4169664"/>
            <a:ext cx="2788920" cy="62179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Weather</a:t>
            </a:r>
            <a:endParaRPr lang="en-US" sz="1100" dirty="0"/>
          </a:p>
          <a:p>
            <a:pPr algn="l" indent="0" marL="0">
              <a:buNone/>
            </a:pPr>
            <a:r>
              <a:rPr lang="en-US" sz="950" dirty="0">
                <a:solidFill>
                  <a:srgbClr val="4B5563"/>
                </a:solidFill>
                <a:latin typeface="Calibri" pitchFamily="34" charset="0"/>
                <a:ea typeface="Calibri" pitchFamily="34" charset="-122"/>
                <a:cs typeface="Calibri" pitchFamily="34" charset="-120"/>
              </a:rPr>
              <a:t>history for fitting; forecasts for prediction</a:t>
            </a:r>
            <a:endParaRPr lang="en-US" sz="1100" dirty="0"/>
          </a:p>
        </p:txBody>
      </p:sp>
      <p:sp>
        <p:nvSpPr>
          <p:cNvPr id="20" name="Shape 18"/>
          <p:cNvSpPr/>
          <p:nvPr/>
        </p:nvSpPr>
        <p:spPr>
          <a:xfrm>
            <a:off x="3520440" y="4480560"/>
            <a:ext cx="411480" cy="0"/>
          </a:xfrm>
          <a:prstGeom prst="line">
            <a:avLst/>
          </a:prstGeom>
          <a:noFill/>
          <a:ln w="15875">
            <a:solidFill>
              <a:srgbClr val="4B5563"/>
            </a:solidFill>
            <a:prstDash val="solid"/>
            <a:tailEnd type="triangle"/>
          </a:ln>
        </p:spPr>
      </p:sp>
      <p:sp>
        <p:nvSpPr>
          <p:cNvPr id="21" name="Shape 19"/>
          <p:cNvSpPr/>
          <p:nvPr/>
        </p:nvSpPr>
        <p:spPr>
          <a:xfrm>
            <a:off x="3931920" y="1536192"/>
            <a:ext cx="4114800" cy="3429000"/>
          </a:xfrm>
          <a:prstGeom prst="rect">
            <a:avLst/>
          </a:prstGeom>
          <a:solidFill>
            <a:srgbClr val="E3ECF6"/>
          </a:solidFill>
          <a:ln w="12700">
            <a:solidFill>
              <a:srgbClr val="E3ECF6"/>
            </a:solidFill>
            <a:prstDash val="solid"/>
          </a:ln>
        </p:spPr>
      </p:sp>
      <p:sp>
        <p:nvSpPr>
          <p:cNvPr id="22" name="Shape 20"/>
          <p:cNvSpPr/>
          <p:nvPr/>
        </p:nvSpPr>
        <p:spPr>
          <a:xfrm>
            <a:off x="4114800" y="1691640"/>
            <a:ext cx="3749040" cy="960120"/>
          </a:xfrm>
          <a:prstGeom prst="roundRect">
            <a:avLst>
              <a:gd name="adj" fmla="val 7619"/>
            </a:avLst>
          </a:prstGeom>
          <a:solidFill>
            <a:srgbClr val="FFFFFF"/>
          </a:solidFill>
          <a:ln w="15240">
            <a:solidFill>
              <a:srgbClr val="1C4E80"/>
            </a:solidFill>
            <a:prstDash val="solid"/>
          </a:ln>
        </p:spPr>
      </p:sp>
      <p:sp>
        <p:nvSpPr>
          <p:cNvPr id="23" name="Text 21"/>
          <p:cNvSpPr txBox="1"/>
          <p:nvPr/>
        </p:nvSpPr>
        <p:spPr>
          <a:xfrm>
            <a:off x="4206240" y="1737360"/>
            <a:ext cx="3566160" cy="868680"/>
          </a:xfrm>
          <a:prstGeom prst="rect">
            <a:avLst/>
          </a:prstGeom>
          <a:noFill/>
          <a:ln/>
        </p:spPr>
        <p:txBody>
          <a:bodyPr wrap="square" lIns="0" tIns="0" rIns="0" bIns="0" rtlCol="0" anchor="ctr"/>
          <a:lstStyle/>
          <a:p>
            <a:pPr algn="ctr" indent="0" marL="0">
              <a:buNone/>
            </a:pPr>
            <a:r>
              <a:rPr lang="en-US" sz="1200" b="1" dirty="0">
                <a:solidFill>
                  <a:srgbClr val="1C4E80"/>
                </a:solidFill>
                <a:latin typeface="Calibri" pitchFamily="34" charset="0"/>
                <a:ea typeface="Calibri" pitchFamily="34" charset="-122"/>
                <a:cs typeface="Calibri" pitchFamily="34" charset="-120"/>
              </a:rPr>
              <a:t>S3  Effect decomposition</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independent · combined · overlap (add / amplify / offset)</a:t>
            </a:r>
            <a:endParaRPr lang="en-US" sz="1100" dirty="0"/>
          </a:p>
        </p:txBody>
      </p:sp>
      <p:sp>
        <p:nvSpPr>
          <p:cNvPr id="24" name="Shape 22"/>
          <p:cNvSpPr/>
          <p:nvPr/>
        </p:nvSpPr>
        <p:spPr>
          <a:xfrm>
            <a:off x="4114800" y="2770632"/>
            <a:ext cx="3749040" cy="1051560"/>
          </a:xfrm>
          <a:prstGeom prst="roundRect">
            <a:avLst>
              <a:gd name="adj" fmla="val 6957"/>
            </a:avLst>
          </a:prstGeom>
          <a:solidFill>
            <a:srgbClr val="FFFFFF"/>
          </a:solidFill>
          <a:ln w="15240">
            <a:solidFill>
              <a:srgbClr val="1F2937"/>
            </a:solidFill>
            <a:prstDash val="solid"/>
          </a:ln>
        </p:spPr>
      </p:sp>
      <p:sp>
        <p:nvSpPr>
          <p:cNvPr id="25" name="Text 23"/>
          <p:cNvSpPr txBox="1"/>
          <p:nvPr/>
        </p:nvSpPr>
        <p:spPr>
          <a:xfrm>
            <a:off x="4206240" y="2816352"/>
            <a:ext cx="3566160" cy="9601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Shared structure</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negative binomial counts + seat-capacity censoring + route × direction × period intercepts + county-wide day shock</a:t>
            </a:r>
            <a:endParaRPr lang="en-US" sz="1100" dirty="0"/>
          </a:p>
        </p:txBody>
      </p:sp>
      <p:sp>
        <p:nvSpPr>
          <p:cNvPr id="26" name="Shape 24"/>
          <p:cNvSpPr/>
          <p:nvPr/>
        </p:nvSpPr>
        <p:spPr>
          <a:xfrm>
            <a:off x="4114800" y="3941064"/>
            <a:ext cx="3749040" cy="868680"/>
          </a:xfrm>
          <a:prstGeom prst="roundRect">
            <a:avLst>
              <a:gd name="adj" fmla="val 8421"/>
            </a:avLst>
          </a:prstGeom>
          <a:solidFill>
            <a:srgbClr val="FFFFFF"/>
          </a:solidFill>
          <a:ln w="15240">
            <a:solidFill>
              <a:srgbClr val="1C4E80"/>
            </a:solidFill>
            <a:prstDash val="solid"/>
          </a:ln>
        </p:spPr>
      </p:sp>
      <p:sp>
        <p:nvSpPr>
          <p:cNvPr id="27" name="Text 25"/>
          <p:cNvSpPr txBox="1"/>
          <p:nvPr/>
        </p:nvSpPr>
        <p:spPr>
          <a:xfrm>
            <a:off x="4206240" y="3986784"/>
            <a:ext cx="3566160" cy="777240"/>
          </a:xfrm>
          <a:prstGeom prst="rect">
            <a:avLst/>
          </a:prstGeom>
          <a:noFill/>
          <a:ln/>
        </p:spPr>
        <p:txBody>
          <a:bodyPr wrap="square" lIns="0" tIns="0" rIns="0" bIns="0" rtlCol="0" anchor="ctr"/>
          <a:lstStyle/>
          <a:p>
            <a:pPr algn="ctr" indent="0" marL="0">
              <a:buNone/>
            </a:pPr>
            <a:r>
              <a:rPr lang="en-US" sz="1200" b="1" dirty="0">
                <a:solidFill>
                  <a:srgbClr val="1C4E80"/>
                </a:solidFill>
                <a:latin typeface="Calibri" pitchFamily="34" charset="0"/>
                <a:ea typeface="Calibri" pitchFamily="34" charset="-122"/>
                <a:cs typeface="Calibri" pitchFamily="34" charset="-120"/>
              </a:rPr>
              <a:t>S2  Daily totals</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 sums of run forecasts (not modelled separately)</a:t>
            </a:r>
            <a:endParaRPr lang="en-US" sz="1100" dirty="0"/>
          </a:p>
        </p:txBody>
      </p:sp>
      <p:sp>
        <p:nvSpPr>
          <p:cNvPr id="28" name="Shape 26"/>
          <p:cNvSpPr/>
          <p:nvPr/>
        </p:nvSpPr>
        <p:spPr>
          <a:xfrm>
            <a:off x="8549640" y="1600200"/>
            <a:ext cx="3108960" cy="1325880"/>
          </a:xfrm>
          <a:prstGeom prst="roundRect">
            <a:avLst>
              <a:gd name="adj" fmla="val 5517"/>
            </a:avLst>
          </a:prstGeom>
          <a:solidFill>
            <a:srgbClr val="FFFFFF"/>
          </a:solidFill>
          <a:ln w="15240">
            <a:solidFill>
              <a:srgbClr val="1C4E80"/>
            </a:solidFill>
            <a:prstDash val="solid"/>
          </a:ln>
        </p:spPr>
      </p:sp>
      <p:sp>
        <p:nvSpPr>
          <p:cNvPr id="29" name="Text 27"/>
          <p:cNvSpPr txBox="1"/>
          <p:nvPr/>
        </p:nvSpPr>
        <p:spPr>
          <a:xfrm>
            <a:off x="8641080" y="1645920"/>
            <a:ext cx="2926080" cy="1234440"/>
          </a:xfrm>
          <a:prstGeom prst="rect">
            <a:avLst/>
          </a:prstGeom>
          <a:noFill/>
          <a:ln/>
        </p:spPr>
        <p:txBody>
          <a:bodyPr wrap="square" lIns="0" tIns="0" rIns="0" bIns="0" rtlCol="0" anchor="ctr"/>
          <a:lstStyle/>
          <a:p>
            <a:pPr algn="ctr" indent="0" marL="0">
              <a:buNone/>
            </a:pPr>
            <a:r>
              <a:rPr lang="en-US" sz="1200" b="1" dirty="0">
                <a:solidFill>
                  <a:srgbClr val="1C4E80"/>
                </a:solidFill>
                <a:latin typeface="Calibri" pitchFamily="34" charset="0"/>
                <a:ea typeface="Calibri" pitchFamily="34" charset="-122"/>
                <a:cs typeface="Calibri" pitchFamily="34" charset="-120"/>
              </a:rPr>
              <a:t>S4  Run-level forecasts</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1–7 days ahead, drawn run by run; daily intervals from the same draws</a:t>
            </a:r>
            <a:endParaRPr lang="en-US" sz="1100" dirty="0"/>
          </a:p>
        </p:txBody>
      </p:sp>
      <p:sp>
        <p:nvSpPr>
          <p:cNvPr id="30" name="Shape 28"/>
          <p:cNvSpPr/>
          <p:nvPr/>
        </p:nvSpPr>
        <p:spPr>
          <a:xfrm>
            <a:off x="8549640" y="3291840"/>
            <a:ext cx="3108960" cy="1645920"/>
          </a:xfrm>
          <a:prstGeom prst="roundRect">
            <a:avLst>
              <a:gd name="adj" fmla="val 4444"/>
            </a:avLst>
          </a:prstGeom>
          <a:solidFill>
            <a:srgbClr val="FFFFFF"/>
          </a:solidFill>
          <a:ln w="15240">
            <a:solidFill>
              <a:srgbClr val="1C4E80"/>
            </a:solidFill>
            <a:prstDash val="solid"/>
          </a:ln>
        </p:spPr>
      </p:sp>
      <p:sp>
        <p:nvSpPr>
          <p:cNvPr id="31" name="Text 29"/>
          <p:cNvSpPr txBox="1"/>
          <p:nvPr/>
        </p:nvSpPr>
        <p:spPr>
          <a:xfrm>
            <a:off x="8641080" y="3337560"/>
            <a:ext cx="2926080" cy="1554480"/>
          </a:xfrm>
          <a:prstGeom prst="rect">
            <a:avLst/>
          </a:prstGeom>
          <a:noFill/>
          <a:ln/>
        </p:spPr>
        <p:txBody>
          <a:bodyPr wrap="square" lIns="0" tIns="0" rIns="0" bIns="0" rtlCol="0" anchor="ctr"/>
          <a:lstStyle/>
          <a:p>
            <a:pPr algn="ctr" indent="0" marL="0">
              <a:buNone/>
            </a:pPr>
            <a:r>
              <a:rPr lang="en-US" sz="1200" b="1" dirty="0">
                <a:solidFill>
                  <a:srgbClr val="1C4E80"/>
                </a:solidFill>
                <a:latin typeface="Calibri" pitchFamily="34" charset="0"/>
                <a:ea typeface="Calibri" pitchFamily="34" charset="-122"/>
                <a:cs typeface="Calibri" pitchFamily="34" charset="-120"/>
              </a:rPr>
              <a:t>S5  Supplementary runs</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(1) day-ahead reserve of buses and drivers; (2) add a run if Pr(demand &gt; capacity) &gt; α; α chosen on the cost–denial frontier</a:t>
            </a:r>
            <a:endParaRPr lang="en-US" sz="1100" dirty="0"/>
          </a:p>
        </p:txBody>
      </p:sp>
      <p:sp>
        <p:nvSpPr>
          <p:cNvPr id="32" name="Shape 30"/>
          <p:cNvSpPr/>
          <p:nvPr/>
        </p:nvSpPr>
        <p:spPr>
          <a:xfrm flipV="1">
            <a:off x="8046720" y="2267712"/>
            <a:ext cx="502920" cy="18288"/>
          </a:xfrm>
          <a:prstGeom prst="line">
            <a:avLst/>
          </a:prstGeom>
          <a:noFill/>
          <a:ln w="19050">
            <a:solidFill>
              <a:srgbClr val="1C4E80"/>
            </a:solidFill>
            <a:prstDash val="solid"/>
            <a:tailEnd type="triangle"/>
          </a:ln>
        </p:spPr>
      </p:sp>
      <p:sp>
        <p:nvSpPr>
          <p:cNvPr id="33" name="Shape 31"/>
          <p:cNvSpPr/>
          <p:nvPr/>
        </p:nvSpPr>
        <p:spPr>
          <a:xfrm>
            <a:off x="10104120" y="2926080"/>
            <a:ext cx="0" cy="365760"/>
          </a:xfrm>
          <a:prstGeom prst="line">
            <a:avLst/>
          </a:prstGeom>
          <a:noFill/>
          <a:ln w="19050">
            <a:solidFill>
              <a:srgbClr val="1C4E80"/>
            </a:solidFill>
            <a:prstDash val="solid"/>
            <a:tailEnd type="triangle"/>
          </a:ln>
        </p:spPr>
      </p:sp>
      <p:sp>
        <p:nvSpPr>
          <p:cNvPr id="34" name="Shape 32"/>
          <p:cNvSpPr/>
          <p:nvPr/>
        </p:nvSpPr>
        <p:spPr>
          <a:xfrm>
            <a:off x="548640" y="5120640"/>
            <a:ext cx="2971800" cy="1143000"/>
          </a:xfrm>
          <a:prstGeom prst="roundRect">
            <a:avLst>
              <a:gd name="adj" fmla="val 6400"/>
            </a:avLst>
          </a:prstGeom>
          <a:solidFill>
            <a:srgbClr val="FBEDE5"/>
          </a:solidFill>
          <a:ln w="15240">
            <a:solidFill>
              <a:srgbClr val="C2410C"/>
            </a:solidFill>
            <a:prstDash val="solid"/>
          </a:ln>
        </p:spPr>
      </p:sp>
      <p:sp>
        <p:nvSpPr>
          <p:cNvPr id="35" name="Text 33"/>
          <p:cNvSpPr txBox="1"/>
          <p:nvPr/>
        </p:nvSpPr>
        <p:spPr>
          <a:xfrm>
            <a:off x="640080" y="5166360"/>
            <a:ext cx="2788920" cy="1051560"/>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S1  Surveys</a:t>
            </a:r>
            <a:endParaRPr lang="en-US" sz="1100" dirty="0"/>
          </a:p>
          <a:p>
            <a:pPr algn="ctr" indent="0" marL="0">
              <a:buNone/>
            </a:pPr>
            <a:r>
              <a:rPr lang="en-US" sz="1000" dirty="0">
                <a:solidFill>
                  <a:srgbClr val="1F2937"/>
                </a:solidFill>
                <a:latin typeface="Calibri" pitchFamily="34" charset="0"/>
                <a:ea typeface="Calibri" pitchFamily="34" charset="-122"/>
                <a:cs typeface="Calibri" pitchFamily="34" charset="-120"/>
              </a:rPr>
              <a:t>on-board (boarding points, rider type), household (trips not made and why), online</a:t>
            </a:r>
            <a:endParaRPr lang="en-US" sz="1100" dirty="0"/>
          </a:p>
        </p:txBody>
      </p:sp>
      <p:sp>
        <p:nvSpPr>
          <p:cNvPr id="36" name="Shape 34"/>
          <p:cNvSpPr/>
          <p:nvPr/>
        </p:nvSpPr>
        <p:spPr>
          <a:xfrm>
            <a:off x="3931920" y="5257800"/>
            <a:ext cx="4114800" cy="960120"/>
          </a:xfrm>
          <a:prstGeom prst="roundRect">
            <a:avLst>
              <a:gd name="adj" fmla="val 7619"/>
            </a:avLst>
          </a:prstGeom>
          <a:solidFill>
            <a:srgbClr val="FFFFFF"/>
          </a:solidFill>
          <a:ln w="15240">
            <a:solidFill>
              <a:srgbClr val="C2410C"/>
            </a:solidFill>
            <a:prstDash val="solid"/>
          </a:ln>
        </p:spPr>
      </p:sp>
      <p:sp>
        <p:nvSpPr>
          <p:cNvPr id="37" name="Text 35"/>
          <p:cNvSpPr txBox="1"/>
          <p:nvPr/>
        </p:nvSpPr>
        <p:spPr>
          <a:xfrm>
            <a:off x="4023360" y="5303520"/>
            <a:ext cx="3931920" cy="8686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Effective capacity = seats × turnover κ</a:t>
            </a:r>
            <a:endParaRPr lang="en-US" sz="1100" dirty="0"/>
          </a:p>
          <a:p>
            <a:pPr algn="ctr" indent="0" marL="0">
              <a:buNone/>
            </a:pPr>
            <a:r>
              <a:rPr lang="en-US" sz="1050" dirty="0">
                <a:solidFill>
                  <a:srgbClr val="1F2937"/>
                </a:solidFill>
                <a:latin typeface="Calibri" pitchFamily="34" charset="0"/>
                <a:ea typeface="Calibri" pitchFamily="34" charset="-122"/>
                <a:cs typeface="Calibri" pitchFamily="34" charset="-120"/>
              </a:rPr>
              <a:t>rider-group composition likelihood (model vs. survey)</a:t>
            </a:r>
            <a:endParaRPr lang="en-US" sz="1100" dirty="0"/>
          </a:p>
        </p:txBody>
      </p:sp>
      <p:sp>
        <p:nvSpPr>
          <p:cNvPr id="38" name="Shape 36"/>
          <p:cNvSpPr/>
          <p:nvPr/>
        </p:nvSpPr>
        <p:spPr>
          <a:xfrm>
            <a:off x="3520440" y="5715000"/>
            <a:ext cx="411480" cy="0"/>
          </a:xfrm>
          <a:prstGeom prst="line">
            <a:avLst/>
          </a:prstGeom>
          <a:noFill/>
          <a:ln w="19050">
            <a:solidFill>
              <a:srgbClr val="C2410C"/>
            </a:solidFill>
            <a:prstDash val="solid"/>
            <a:tailEnd type="triangle"/>
          </a:ln>
        </p:spPr>
      </p:sp>
      <p:sp>
        <p:nvSpPr>
          <p:cNvPr id="39" name="Shape 37"/>
          <p:cNvSpPr/>
          <p:nvPr/>
        </p:nvSpPr>
        <p:spPr>
          <a:xfrm flipV="1">
            <a:off x="5989320" y="4965192"/>
            <a:ext cx="0" cy="292608"/>
          </a:xfrm>
          <a:prstGeom prst="line">
            <a:avLst/>
          </a:prstGeom>
          <a:noFill/>
          <a:ln w="19050">
            <a:solidFill>
              <a:srgbClr val="C2410C"/>
            </a:solidFill>
            <a:prstDash val="solid"/>
            <a:tailEnd type="triangle"/>
          </a:ln>
        </p:spPr>
      </p:sp>
      <p:sp>
        <p:nvSpPr>
          <p:cNvPr id="40" name="Text 38"/>
          <p:cNvSpPr txBox="1"/>
          <p:nvPr/>
        </p:nvSpPr>
        <p:spPr>
          <a:xfrm>
            <a:off x="6080760" y="4965192"/>
            <a:ext cx="2011680" cy="292608"/>
          </a:xfrm>
          <a:prstGeom prst="rect">
            <a:avLst/>
          </a:prstGeom>
          <a:noFill/>
          <a:ln/>
        </p:spPr>
        <p:txBody>
          <a:bodyPr wrap="square" lIns="0" tIns="0" rIns="0" bIns="0" rtlCol="0" anchor="t"/>
          <a:lstStyle/>
          <a:p>
            <a:pPr indent="0" marL="0">
              <a:buNone/>
            </a:pPr>
            <a:r>
              <a:rPr lang="en-US" sz="900" i="1" dirty="0">
                <a:solidFill>
                  <a:srgbClr val="C2410C"/>
                </a:solidFill>
                <a:latin typeface="Calibri" pitchFamily="34" charset="0"/>
                <a:ea typeface="Calibri" pitchFamily="34" charset="-122"/>
                <a:cs typeface="Calibri" pitchFamily="34" charset="-120"/>
              </a:rPr>
              <a:t>sets censoring point; checks group decomposition</a:t>
            </a:r>
            <a:endParaRPr lang="en-US" sz="900" dirty="0"/>
          </a:p>
        </p:txBody>
      </p:sp>
      <p:sp>
        <p:nvSpPr>
          <p:cNvPr id="41" name="Shape 39"/>
          <p:cNvSpPr/>
          <p:nvPr/>
        </p:nvSpPr>
        <p:spPr>
          <a:xfrm>
            <a:off x="10104120" y="4937760"/>
            <a:ext cx="0" cy="868680"/>
          </a:xfrm>
          <a:prstGeom prst="line">
            <a:avLst/>
          </a:prstGeom>
          <a:noFill/>
          <a:ln w="12700">
            <a:solidFill>
              <a:srgbClr val="8B95A1"/>
            </a:solidFill>
            <a:prstDash val="dash"/>
          </a:ln>
        </p:spPr>
      </p:sp>
      <p:sp>
        <p:nvSpPr>
          <p:cNvPr id="42" name="Shape 40"/>
          <p:cNvSpPr/>
          <p:nvPr/>
        </p:nvSpPr>
        <p:spPr>
          <a:xfrm flipH="1">
            <a:off x="8046720" y="5806440"/>
            <a:ext cx="2057400" cy="0"/>
          </a:xfrm>
          <a:prstGeom prst="line">
            <a:avLst/>
          </a:prstGeom>
          <a:noFill/>
          <a:ln w="12700">
            <a:solidFill>
              <a:srgbClr val="8B95A1"/>
            </a:solidFill>
            <a:prstDash val="dash"/>
            <a:tailEnd type="triangle"/>
          </a:ln>
        </p:spPr>
      </p:sp>
      <p:sp>
        <p:nvSpPr>
          <p:cNvPr id="43" name="Text 41"/>
          <p:cNvSpPr txBox="1"/>
          <p:nvPr/>
        </p:nvSpPr>
        <p:spPr>
          <a:xfrm>
            <a:off x="10195560" y="5074920"/>
            <a:ext cx="1508760" cy="685800"/>
          </a:xfrm>
          <a:prstGeom prst="rect">
            <a:avLst/>
          </a:prstGeom>
          <a:noFill/>
          <a:ln/>
        </p:spPr>
        <p:txBody>
          <a:bodyPr wrap="square" lIns="0" tIns="0" rIns="0" bIns="0" rtlCol="0" anchor="t"/>
          <a:lstStyle/>
          <a:p>
            <a:pPr indent="0" marL="0">
              <a:buNone/>
            </a:pPr>
            <a:r>
              <a:rPr lang="en-US" sz="900" i="1" dirty="0">
                <a:solidFill>
                  <a:srgbClr val="8B95A1"/>
                </a:solidFill>
                <a:latin typeface="Calibri" pitchFamily="34" charset="0"/>
                <a:ea typeface="Calibri" pitchFamily="34" charset="-122"/>
                <a:cs typeface="Calibri" pitchFamily="34" charset="-120"/>
              </a:rPr>
              <a:t>feedback: next survey windows; new ledger field (full-bus denials)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1 · OBSERVE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Four surveys, each assigned a job the ledger cannot do</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26 / 39</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2240280"/>
                <a:gridCol w="3977640"/>
                <a:gridCol w="1874520"/>
                <a:gridCol w="1097280"/>
                <a:gridCol w="1901952"/>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Survey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Sample design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Window</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Planned 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Main job</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On-board, summer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Passengers ≥16 on sampled runs (legacy instrument)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15 Jul–31 Aug 2026 · done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collected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 linked to runs by bridging rules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On-board, fall-term weekends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6 strata: calendar factor × direction (A1–A6), 30 runs, systematic sampling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16 Oct–20 Dec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Test student vs. worker encodings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On-board, winter &amp; Spring Festival travel</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5 strata (B1–B5), 129 runs; re-drawn when 2027 dates are published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 Jan–28 Feb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Composition check; holiday timing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Household (village)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3 access strata; PPS villages (30 + 6 reserve); 15 addresses per village; no substitution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With the fall wave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360 households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Non-riders; unmet demand; reasons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Online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Out-migrant workers, students' parents; channel quotas (non-probability)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Around holidays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per quota</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Return timing; cross-checks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512064">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On-board, summer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Redesigned instrument, factor strata</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Jul–Aug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per design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Robustness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
        <p:nvSpPr>
          <p:cNvPr id="7" name="Text 4"/>
          <p:cNvSpPr txBox="1"/>
          <p:nvPr/>
        </p:nvSpPr>
        <p:spPr>
          <a:xfrm>
            <a:off x="548640" y="5029200"/>
            <a:ext cx="36118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TALLY SHEET ON EVERY SAMPLED RUN</a:t>
            </a:r>
            <a:endParaRPr lang="en-US" sz="1000" dirty="0"/>
          </a:p>
        </p:txBody>
      </p:sp>
      <p:sp>
        <p:nvSpPr>
          <p:cNvPr id="8" name="Text 5"/>
          <p:cNvSpPr txBox="1"/>
          <p:nvPr/>
        </p:nvSpPr>
        <p:spPr>
          <a:xfrm>
            <a:off x="548640" y="5303520"/>
            <a:ext cx="3566160" cy="100584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Stop-by-stop boardings and alightings give turnover κ, full-bus denials, and counts of under-16 students who are not interviewed.</a:t>
            </a:r>
            <a:endParaRPr lang="en-US" sz="1200" dirty="0"/>
          </a:p>
        </p:txBody>
      </p:sp>
      <p:sp>
        <p:nvSpPr>
          <p:cNvPr id="9" name="Text 6"/>
          <p:cNvSpPr txBox="1"/>
          <p:nvPr/>
        </p:nvSpPr>
        <p:spPr>
          <a:xfrm>
            <a:off x="4315968" y="5029200"/>
            <a:ext cx="36118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SHORT, BEHAVIOUR-BASED INSTRUMENTS</a:t>
            </a:r>
            <a:endParaRPr lang="en-US" sz="1000" dirty="0"/>
          </a:p>
        </p:txBody>
      </p:sp>
      <p:sp>
        <p:nvSpPr>
          <p:cNvPr id="10" name="Text 7"/>
          <p:cNvSpPr txBox="1"/>
          <p:nvPr/>
        </p:nvSpPr>
        <p:spPr>
          <a:xfrm>
            <a:off x="4315968" y="5303520"/>
            <a:ext cx="3566160" cy="100584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56 respondent items from a 47-item bank in 13 groups. Rule-based length: on-board 4.8 / 4.7 min (cap 5), household 5.7 (cap 15), online 3.5 (cap 10).</a:t>
            </a:r>
            <a:endParaRPr lang="en-US" sz="1200" dirty="0"/>
          </a:p>
        </p:txBody>
      </p:sp>
      <p:sp>
        <p:nvSpPr>
          <p:cNvPr id="11" name="Text 8"/>
          <p:cNvSpPr txBox="1"/>
          <p:nvPr/>
        </p:nvSpPr>
        <p:spPr>
          <a:xfrm>
            <a:off x="8083296" y="5029200"/>
            <a:ext cx="36118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EVERY ITEM EARNS ITS PLACE</a:t>
            </a:r>
            <a:endParaRPr lang="en-US" sz="1000" dirty="0"/>
          </a:p>
        </p:txBody>
      </p:sp>
      <p:sp>
        <p:nvSpPr>
          <p:cNvPr id="12" name="Text 9"/>
          <p:cNvSpPr txBox="1"/>
          <p:nvPr/>
        </p:nvSpPr>
        <p:spPr>
          <a:xfrm>
            <a:off x="8083296" y="5303520"/>
            <a:ext cx="3566160" cy="100584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Each item must enter a stage and serve an RQ: of 53 earlier items, 33 kept or rewritten, 11 merged, 9 dropped; 10 added.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1 · OBSERVE</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Identifying current problems — riders and non-riders, by village access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27 / 39</a:t>
            </a:r>
            <a:endParaRPr lang="en-US" sz="850" dirty="0"/>
          </a:p>
        </p:txBody>
      </p:sp>
      <p:pic>
        <p:nvPicPr>
          <p:cNvPr id="6" name="Image 0" descr="Household survey sample: 30 selected and 6 reserve villages in three access strata">    </p:cNvPr>
          <p:cNvPicPr>
            <a:picLocks noChangeAspect="1"/>
          </p:cNvPicPr>
          <p:nvPr/>
        </p:nvPicPr>
        <p:blipFill>
          <a:blip r:embed="rId1"/>
          <a:stretch>
            <a:fillRect/>
          </a:stretch>
        </p:blipFill>
        <p:spPr>
          <a:xfrm>
            <a:off x="457200" y="1234440"/>
            <a:ext cx="5225143" cy="4572000"/>
          </a:xfrm>
          <a:prstGeom prst="rect">
            <a:avLst/>
          </a:prstGeom>
        </p:spPr>
      </p:pic>
      <p:sp>
        <p:nvSpPr>
          <p:cNvPr id="7" name="Text 4"/>
          <p:cNvSpPr txBox="1"/>
          <p:nvPr/>
        </p:nvSpPr>
        <p:spPr>
          <a:xfrm>
            <a:off x="548640" y="5852160"/>
            <a:ext cx="5120640" cy="411480"/>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Villages drawn by systematic PPS within access strata (seed 20261001); one certainty village (Shawan).</a:t>
            </a:r>
            <a:endParaRPr lang="en-US" sz="950" dirty="0"/>
          </a:p>
        </p:txBody>
      </p:sp>
      <p:sp>
        <p:nvSpPr>
          <p:cNvPr id="8" name="Text 5"/>
          <p:cNvSpPr txBox="1"/>
          <p:nvPr/>
        </p:nvSpPr>
        <p:spPr>
          <a:xfrm>
            <a:off x="6035040" y="1325880"/>
            <a:ext cx="557784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SAME PROBLEM QUESTION IN ALL THREE SURVEYS</a:t>
            </a:r>
            <a:endParaRPr lang="en-US" sz="1000" dirty="0"/>
          </a:p>
        </p:txBody>
      </p:sp>
      <p:sp>
        <p:nvSpPr>
          <p:cNvPr id="9" name="Text 6"/>
          <p:cNvSpPr txBox="1"/>
          <p:nvPr/>
        </p:nvSpPr>
        <p:spPr>
          <a:xfrm>
            <a:off x="6035040" y="1600200"/>
            <a:ext cx="5577840" cy="4572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“Which one of these affects your bus use most?” — forced single choice replaces an 11-item Likert battery:</a:t>
            </a:r>
            <a:endParaRPr lang="en-US" sz="1150" dirty="0"/>
          </a:p>
        </p:txBody>
      </p:sp>
      <p:sp>
        <p:nvSpPr>
          <p:cNvPr id="10" name="Shape 7"/>
          <p:cNvSpPr/>
          <p:nvPr/>
        </p:nvSpPr>
        <p:spPr>
          <a:xfrm>
            <a:off x="6035040" y="2148840"/>
            <a:ext cx="2697480" cy="338328"/>
          </a:xfrm>
          <a:prstGeom prst="roundRect">
            <a:avLst>
              <a:gd name="adj" fmla="val 21622"/>
            </a:avLst>
          </a:prstGeom>
          <a:solidFill>
            <a:srgbClr val="F3F5F8"/>
          </a:solidFill>
          <a:ln w="12700">
            <a:solidFill>
              <a:srgbClr val="F3F5F8"/>
            </a:solidFill>
            <a:prstDash val="solid"/>
          </a:ln>
        </p:spPr>
      </p:sp>
      <p:sp>
        <p:nvSpPr>
          <p:cNvPr id="11" name="Text 8"/>
          <p:cNvSpPr txBox="1"/>
          <p:nvPr/>
        </p:nvSpPr>
        <p:spPr>
          <a:xfrm>
            <a:off x="6126480" y="219456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Too few runs</a:t>
            </a:r>
            <a:endParaRPr lang="en-US" sz="1050" dirty="0"/>
          </a:p>
        </p:txBody>
      </p:sp>
      <p:sp>
        <p:nvSpPr>
          <p:cNvPr id="12" name="Shape 9"/>
          <p:cNvSpPr/>
          <p:nvPr/>
        </p:nvSpPr>
        <p:spPr>
          <a:xfrm>
            <a:off x="8842248" y="2148840"/>
            <a:ext cx="2697480" cy="338328"/>
          </a:xfrm>
          <a:prstGeom prst="roundRect">
            <a:avLst>
              <a:gd name="adj" fmla="val 21622"/>
            </a:avLst>
          </a:prstGeom>
          <a:solidFill>
            <a:srgbClr val="F3F5F8"/>
          </a:solidFill>
          <a:ln w="12700">
            <a:solidFill>
              <a:srgbClr val="F3F5F8"/>
            </a:solidFill>
            <a:prstDash val="solid"/>
          </a:ln>
        </p:spPr>
      </p:sp>
      <p:sp>
        <p:nvSpPr>
          <p:cNvPr id="13" name="Text 10"/>
          <p:cNvSpPr txBox="1"/>
          <p:nvPr/>
        </p:nvSpPr>
        <p:spPr>
          <a:xfrm>
            <a:off x="8933688" y="219456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Last bus too early</a:t>
            </a:r>
            <a:endParaRPr lang="en-US" sz="1050" dirty="0"/>
          </a:p>
        </p:txBody>
      </p:sp>
      <p:sp>
        <p:nvSpPr>
          <p:cNvPr id="14" name="Shape 11"/>
          <p:cNvSpPr/>
          <p:nvPr/>
        </p:nvSpPr>
        <p:spPr>
          <a:xfrm>
            <a:off x="6035040" y="2560320"/>
            <a:ext cx="2697480" cy="338328"/>
          </a:xfrm>
          <a:prstGeom prst="roundRect">
            <a:avLst>
              <a:gd name="adj" fmla="val 21622"/>
            </a:avLst>
          </a:prstGeom>
          <a:solidFill>
            <a:srgbClr val="F3F5F8"/>
          </a:solidFill>
          <a:ln w="12700">
            <a:solidFill>
              <a:srgbClr val="F3F5F8"/>
            </a:solidFill>
            <a:prstDash val="solid"/>
          </a:ln>
        </p:spPr>
      </p:sp>
      <p:sp>
        <p:nvSpPr>
          <p:cNvPr id="15" name="Text 12"/>
          <p:cNvSpPr txBox="1"/>
          <p:nvPr/>
        </p:nvSpPr>
        <p:spPr>
          <a:xfrm>
            <a:off x="6126480" y="260604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First bus too late</a:t>
            </a:r>
            <a:endParaRPr lang="en-US" sz="1050" dirty="0"/>
          </a:p>
        </p:txBody>
      </p:sp>
      <p:sp>
        <p:nvSpPr>
          <p:cNvPr id="16" name="Shape 13"/>
          <p:cNvSpPr/>
          <p:nvPr/>
        </p:nvSpPr>
        <p:spPr>
          <a:xfrm>
            <a:off x="8842248" y="2560320"/>
            <a:ext cx="2697480" cy="338328"/>
          </a:xfrm>
          <a:prstGeom prst="roundRect">
            <a:avLst>
              <a:gd name="adj" fmla="val 21622"/>
            </a:avLst>
          </a:prstGeom>
          <a:solidFill>
            <a:srgbClr val="F3F5F8"/>
          </a:solidFill>
          <a:ln w="12700">
            <a:solidFill>
              <a:srgbClr val="F3F5F8"/>
            </a:solidFill>
            <a:prstDash val="solid"/>
          </a:ln>
        </p:spPr>
      </p:sp>
      <p:sp>
        <p:nvSpPr>
          <p:cNvPr id="17" name="Text 14"/>
          <p:cNvSpPr txBox="1"/>
          <p:nvPr/>
        </p:nvSpPr>
        <p:spPr>
          <a:xfrm>
            <a:off x="8933688" y="260604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Don't know when the bus comes</a:t>
            </a:r>
            <a:endParaRPr lang="en-US" sz="1050" dirty="0"/>
          </a:p>
        </p:txBody>
      </p:sp>
      <p:sp>
        <p:nvSpPr>
          <p:cNvPr id="18" name="Shape 15"/>
          <p:cNvSpPr/>
          <p:nvPr/>
        </p:nvSpPr>
        <p:spPr>
          <a:xfrm>
            <a:off x="6035040" y="2971800"/>
            <a:ext cx="2697480" cy="338328"/>
          </a:xfrm>
          <a:prstGeom prst="roundRect">
            <a:avLst>
              <a:gd name="adj" fmla="val 21622"/>
            </a:avLst>
          </a:prstGeom>
          <a:solidFill>
            <a:srgbClr val="F3F5F8"/>
          </a:solidFill>
          <a:ln w="12700">
            <a:solidFill>
              <a:srgbClr val="F3F5F8"/>
            </a:solidFill>
            <a:prstDash val="solid"/>
          </a:ln>
        </p:spPr>
      </p:sp>
      <p:sp>
        <p:nvSpPr>
          <p:cNvPr id="19" name="Text 16"/>
          <p:cNvSpPr txBox="1"/>
          <p:nvPr/>
        </p:nvSpPr>
        <p:spPr>
          <a:xfrm>
            <a:off x="6126480" y="301752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Bus full, could not board</a:t>
            </a:r>
            <a:endParaRPr lang="en-US" sz="1050" dirty="0"/>
          </a:p>
        </p:txBody>
      </p:sp>
      <p:sp>
        <p:nvSpPr>
          <p:cNvPr id="20" name="Shape 17"/>
          <p:cNvSpPr/>
          <p:nvPr/>
        </p:nvSpPr>
        <p:spPr>
          <a:xfrm>
            <a:off x="8842248" y="2971800"/>
            <a:ext cx="2697480" cy="338328"/>
          </a:xfrm>
          <a:prstGeom prst="roundRect">
            <a:avLst>
              <a:gd name="adj" fmla="val 21622"/>
            </a:avLst>
          </a:prstGeom>
          <a:solidFill>
            <a:srgbClr val="F3F5F8"/>
          </a:solidFill>
          <a:ln w="12700">
            <a:solidFill>
              <a:srgbClr val="F3F5F8"/>
            </a:solidFill>
            <a:prstDash val="solid"/>
          </a:ln>
        </p:spPr>
      </p:sp>
      <p:sp>
        <p:nvSpPr>
          <p:cNvPr id="21" name="Text 18"/>
          <p:cNvSpPr txBox="1"/>
          <p:nvPr/>
        </p:nvSpPr>
        <p:spPr>
          <a:xfrm>
            <a:off x="8933688" y="301752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Long, winding ride / motion sickness</a:t>
            </a:r>
            <a:endParaRPr lang="en-US" sz="1050" dirty="0"/>
          </a:p>
        </p:txBody>
      </p:sp>
      <p:sp>
        <p:nvSpPr>
          <p:cNvPr id="22" name="Shape 19"/>
          <p:cNvSpPr/>
          <p:nvPr/>
        </p:nvSpPr>
        <p:spPr>
          <a:xfrm>
            <a:off x="6035040" y="3383280"/>
            <a:ext cx="2697480" cy="338328"/>
          </a:xfrm>
          <a:prstGeom prst="roundRect">
            <a:avLst>
              <a:gd name="adj" fmla="val 21622"/>
            </a:avLst>
          </a:prstGeom>
          <a:solidFill>
            <a:srgbClr val="F3F5F8"/>
          </a:solidFill>
          <a:ln w="12700">
            <a:solidFill>
              <a:srgbClr val="F3F5F8"/>
            </a:solidFill>
            <a:prstDash val="solid"/>
          </a:ln>
        </p:spPr>
      </p:sp>
      <p:sp>
        <p:nvSpPr>
          <p:cNvPr id="23" name="Text 20"/>
          <p:cNvSpPr txBox="1"/>
          <p:nvPr/>
        </p:nvSpPr>
        <p:spPr>
          <a:xfrm>
            <a:off x="6126480" y="342900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Home too far from the boarding point</a:t>
            </a:r>
            <a:endParaRPr lang="en-US" sz="1050" dirty="0"/>
          </a:p>
        </p:txBody>
      </p:sp>
      <p:sp>
        <p:nvSpPr>
          <p:cNvPr id="24" name="Shape 21"/>
          <p:cNvSpPr/>
          <p:nvPr/>
        </p:nvSpPr>
        <p:spPr>
          <a:xfrm>
            <a:off x="8842248" y="3383280"/>
            <a:ext cx="2697480" cy="338328"/>
          </a:xfrm>
          <a:prstGeom prst="roundRect">
            <a:avLst>
              <a:gd name="adj" fmla="val 21622"/>
            </a:avLst>
          </a:prstGeom>
          <a:solidFill>
            <a:srgbClr val="F3F5F8"/>
          </a:solidFill>
          <a:ln w="12700">
            <a:solidFill>
              <a:srgbClr val="F3F5F8"/>
            </a:solidFill>
            <a:prstDash val="solid"/>
          </a:ln>
        </p:spPr>
      </p:sp>
      <p:sp>
        <p:nvSpPr>
          <p:cNvPr id="25" name="Text 22"/>
          <p:cNvSpPr txBox="1"/>
          <p:nvPr/>
        </p:nvSpPr>
        <p:spPr>
          <a:xfrm>
            <a:off x="8933688" y="3429000"/>
            <a:ext cx="2514600" cy="246888"/>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No obvious problem</a:t>
            </a:r>
            <a:endParaRPr lang="en-US" sz="1050" dirty="0"/>
          </a:p>
        </p:txBody>
      </p:sp>
      <p:sp>
        <p:nvSpPr>
          <p:cNvPr id="26" name="Text 23"/>
          <p:cNvSpPr txBox="1"/>
          <p:nvPr/>
        </p:nvSpPr>
        <p:spPr>
          <a:xfrm>
            <a:off x="6035040" y="3931920"/>
            <a:ext cx="557784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UNMET DEMAND, MEASURED AS BEHAVIOUR</a:t>
            </a:r>
            <a:endParaRPr lang="en-US" sz="1000" dirty="0"/>
          </a:p>
        </p:txBody>
      </p:sp>
      <p:sp>
        <p:nvSpPr>
          <p:cNvPr id="27" name="Text 24"/>
          <p:cNvSpPr txBox="1"/>
          <p:nvPr/>
        </p:nvSpPr>
        <p:spPr>
          <a:xfrm>
            <a:off x="6035040" y="4187952"/>
            <a:ext cx="5577840" cy="1325880"/>
          </a:xfrm>
          <a:prstGeom prst="rect">
            <a:avLst/>
          </a:prstGeom>
          <a:noFill/>
          <a:ln/>
        </p:spPr>
        <p:txBody>
          <a:bodyPr wrap="square" lIns="0" tIns="0" rIns="0" bIns="0" rtlCol="0" anchor="t"/>
          <a:lstStyle/>
          <a:p>
            <a:pPr marL="165100" indent="-165100">
              <a:spcAft>
                <a:spcPts val="400"/>
              </a:spcAft>
              <a:buSzPct val="100000"/>
              <a:buChar char="•"/>
            </a:pPr>
            <a:r>
              <a:rPr lang="en-US" sz="1100" b="1" dirty="0">
                <a:solidFill>
                  <a:srgbClr val="4B5563"/>
                </a:solidFill>
                <a:latin typeface="Calibri" pitchFamily="34" charset="0"/>
                <a:ea typeface="Calibri" pitchFamily="34" charset="-122"/>
                <a:cs typeface="Calibri" pitchFamily="34" charset="-120"/>
              </a:rPr>
              <a:t>On-board: </a:t>
            </a:r>
            <a:r>
              <a:rPr lang="en-US" sz="1100" dirty="0">
                <a:solidFill>
                  <a:srgbClr val="4B5563"/>
                </a:solidFill>
                <a:latin typeface="Calibri" pitchFamily="34" charset="0"/>
                <a:ea typeface="Calibri" pitchFamily="34" charset="-122"/>
                <a:cs typeface="Calibri" pitchFamily="34" charset="-120"/>
              </a:rPr>
              <a:t>trips given up or postponed in the past month; what you would do if this run did not operate.</a:t>
            </a:r>
            <a:endParaRPr lang="en-US" sz="1100" dirty="0"/>
          </a:p>
          <a:p>
            <a:pPr marL="165100" indent="-165100">
              <a:spcAft>
                <a:spcPts val="400"/>
              </a:spcAft>
              <a:buSzPct val="100000"/>
              <a:buChar char="•"/>
            </a:pPr>
            <a:r>
              <a:rPr lang="en-US" sz="1100" b="1" dirty="0">
                <a:solidFill>
                  <a:srgbClr val="4B5563"/>
                </a:solidFill>
                <a:latin typeface="Calibri" pitchFamily="34" charset="0"/>
                <a:ea typeface="Calibri" pitchFamily="34" charset="-122"/>
                <a:cs typeface="Calibri" pitchFamily="34" charset="-120"/>
              </a:rPr>
              <a:t>Household: </a:t>
            </a:r>
            <a:r>
              <a:rPr lang="en-US" sz="1100" dirty="0">
                <a:solidFill>
                  <a:srgbClr val="4B5563"/>
                </a:solidFill>
                <a:latin typeface="Calibri" pitchFamily="34" charset="0"/>
                <a:ea typeface="Calibri" pitchFamily="34" charset="-122"/>
                <a:cs typeface="Calibri" pitchFamily="34" charset="-120"/>
              </a:rPr>
              <a:t>household bus trips in the past 7 days; reasons for rarely riding; trips not made for lack of a bus.</a:t>
            </a:r>
            <a:endParaRPr lang="en-US" sz="1100" dirty="0"/>
          </a:p>
          <a:p>
            <a:pPr marL="165100" indent="-165100">
              <a:spcAft>
                <a:spcPts val="400"/>
              </a:spcAft>
              <a:buSzPct val="100000"/>
              <a:buChar char="•"/>
            </a:pPr>
            <a:r>
              <a:rPr lang="en-US" sz="1100" b="1" dirty="0">
                <a:solidFill>
                  <a:srgbClr val="4B5563"/>
                </a:solidFill>
                <a:latin typeface="Calibri" pitchFamily="34" charset="0"/>
                <a:ea typeface="Calibri" pitchFamily="34" charset="-122"/>
                <a:cs typeface="Calibri" pitchFamily="34" charset="-120"/>
              </a:rPr>
              <a:t>Online: </a:t>
            </a:r>
            <a:r>
              <a:rPr lang="en-US" sz="1100" dirty="0">
                <a:solidFill>
                  <a:srgbClr val="4B5563"/>
                </a:solidFill>
                <a:latin typeface="Calibri" pitchFamily="34" charset="0"/>
                <a:ea typeface="Calibri" pitchFamily="34" charset="-122"/>
                <a:cs typeface="Calibri" pitchFamily="34" charset="-120"/>
              </a:rPr>
              <a:t>arrived in the county town but no bus home; preferred departure times around holidays.</a:t>
            </a:r>
            <a:endParaRPr lang="en-US" sz="1100" dirty="0"/>
          </a:p>
        </p:txBody>
      </p:sp>
      <p:sp>
        <p:nvSpPr>
          <p:cNvPr id="28" name="Shape 25"/>
          <p:cNvSpPr/>
          <p:nvPr/>
        </p:nvSpPr>
        <p:spPr>
          <a:xfrm>
            <a:off x="6035040" y="5577840"/>
            <a:ext cx="5577840" cy="685800"/>
          </a:xfrm>
          <a:prstGeom prst="roundRect">
            <a:avLst>
              <a:gd name="adj" fmla="val 10667"/>
            </a:avLst>
          </a:prstGeom>
          <a:solidFill>
            <a:srgbClr val="E3ECF6"/>
          </a:solidFill>
          <a:ln w="12700">
            <a:solidFill>
              <a:srgbClr val="E3ECF6"/>
            </a:solidFill>
            <a:prstDash val="solid"/>
          </a:ln>
        </p:spPr>
      </p:sp>
      <p:sp>
        <p:nvSpPr>
          <p:cNvPr id="29" name="Text 26"/>
          <p:cNvSpPr txBox="1"/>
          <p:nvPr/>
        </p:nvSpPr>
        <p:spPr>
          <a:xfrm>
            <a:off x="6126480" y="5623560"/>
            <a:ext cx="5394960" cy="5943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Pre-registered checks: boarding-student share on in-term Friday/Sunday runs exceeds vacation runs; far villages report higher unmet demand. County-wide 95% CI half-width ≈ 6.3 pp (p = 30%, ICC 0.05).</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2 · EXPLAIN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Turning holidays, school calendars, markets and weather into run-level factors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28 / 39</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7589520" cy="914400"/>
        </p:xfrm>
        <a:graphic>
          <a:graphicData uri="http://schemas.openxmlformats.org/drawingml/2006/table">
            <a:tbl>
              <a:tblPr/>
              <a:tblGrid>
                <a:gridCol w="2606040"/>
                <a:gridCol w="4023360"/>
                <a:gridCol w="96012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Driver in the original plan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Encoding on each run (date × time × direction)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60350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School term: boarding students' weekly trip</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S — Sunday p.m. inbound (back to school); last school day p.m. outbound (home); zero in vacations</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b="1" dirty="0">
                          <a:solidFill>
                            <a:srgbClr val="1C4E80"/>
                          </a:solidFill>
                          <a:latin typeface="Calibri" pitchFamily="34" charset="0"/>
                          <a:ea typeface="Calibri" pitchFamily="34" charset="-122"/>
                          <a:cs typeface="Calibri" pitchFamily="34" charset="-120"/>
                        </a:rPr>
                        <a:t>Core factor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0350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Weekly commute of park and township workers</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W — Sunday p.m. outbound; Friday p.m. inbound; first rest day a.m. inbound (weight 0.5); not tied to school terms</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b="1" dirty="0">
                          <a:solidFill>
                            <a:srgbClr val="1C4E80"/>
                          </a:solidFill>
                          <a:latin typeface="Calibri" pitchFamily="34" charset="0"/>
                          <a:ea typeface="Calibri" pitchFamily="34" charset="-122"/>
                          <a:cs typeface="Calibri" pitchFamily="34" charset="-120"/>
                        </a:rPr>
                        <a:t>Core factor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60350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Winter and summer vacations: start and end</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T — eve of term inbound, first vacation day outbound (next day 0.4–0.5); vacations also switch S off</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b="1" dirty="0">
                          <a:solidFill>
                            <a:srgbClr val="1C4E80"/>
                          </a:solidFill>
                          <a:latin typeface="Calibri" pitchFamily="34" charset="0"/>
                          <a:ea typeface="Calibri" pitchFamily="34" charset="-122"/>
                          <a:cs typeface="Calibri" pitchFamily="34" charset="-120"/>
                        </a:rPr>
                        <a:t>Core factor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768096">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Gregorian holidays (New Year, Qingming, Labour Day, National Day) and lunar holidays (Dragon Boat, Mid-Autumn)</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R — out before, back after; intensity by holiday type × √(days / 7), estimated with a hierarchical type effect</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b="1" dirty="0">
                          <a:solidFill>
                            <a:srgbClr val="1C4E80"/>
                          </a:solidFill>
                          <a:latin typeface="Calibri" pitchFamily="34" charset="0"/>
                          <a:ea typeface="Calibri" pitchFamily="34" charset="-122"/>
                          <a:cs typeface="Calibri" pitchFamily="34" charset="-120"/>
                        </a:rPr>
                        <a:t>Core factor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48640">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Spring Festival (lunar new year)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CY — days −20…0 and +2…+20; bell-shaped peaks 3 days before and around day 7</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b="1" dirty="0">
                          <a:solidFill>
                            <a:srgbClr val="1C4E80"/>
                          </a:solidFill>
                          <a:latin typeface="Calibri" pitchFamily="34" charset="0"/>
                          <a:ea typeface="Calibri" pitchFamily="34" charset="-122"/>
                          <a:cs typeface="Calibri" pitchFamily="34" charset="-120"/>
                        </a:rPr>
                        <a:t>Core factor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42062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Market days (lunar 5-day cycle)</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Market-day indicator for towns along the route</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b="1" dirty="0">
                          <a:solidFill>
                            <a:srgbClr val="8B95A1"/>
                          </a:solidFill>
                          <a:latin typeface="Calibri" pitchFamily="34" charset="0"/>
                          <a:ea typeface="Calibri" pitchFamily="34" charset="-122"/>
                          <a:cs typeface="Calibri" pitchFamily="34" charset="-120"/>
                        </a:rPr>
                        <a:t>Control</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42062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Weather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Precipitation in the run window, max. temperature, extreme-weather flag</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20" b="1" dirty="0">
                          <a:solidFill>
                            <a:srgbClr val="8B95A1"/>
                          </a:solidFill>
                          <a:latin typeface="Calibri" pitchFamily="34" charset="0"/>
                          <a:ea typeface="Calibri" pitchFamily="34" charset="-122"/>
                          <a:cs typeface="Calibri" pitchFamily="34" charset="-120"/>
                        </a:rPr>
                        <a:t>Control</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420624">
                <a:tc>
                  <a:txBody>
                    <a:bodyPr/>
                    <a:lstStyle/>
                    <a:p>
                      <a:pPr indent="0" marL="0">
                        <a:buNone/>
                      </a:pPr>
                      <a:r>
                        <a:rPr lang="en-US" sz="1120" b="1" dirty="0">
                          <a:solidFill>
                            <a:srgbClr val="1F2937"/>
                          </a:solidFill>
                          <a:latin typeface="Calibri" pitchFamily="34" charset="0"/>
                          <a:ea typeface="Calibri" pitchFamily="34" charset="-122"/>
                          <a:cs typeface="Calibri" pitchFamily="34" charset="-120"/>
                        </a:rPr>
                        <a:t>Weekday, make-up workdays, year</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dirty="0">
                          <a:solidFill>
                            <a:srgbClr val="4B5563"/>
                          </a:solidFill>
                          <a:latin typeface="Calibri" pitchFamily="34" charset="0"/>
                          <a:ea typeface="Calibri" pitchFamily="34" charset="-122"/>
                          <a:cs typeface="Calibri" pitchFamily="34" charset="-120"/>
                        </a:rPr>
                        <a:t>Day-of-week and adjusted-workday indicators; year terms</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20" b="1" dirty="0">
                          <a:solidFill>
                            <a:srgbClr val="8B95A1"/>
                          </a:solidFill>
                          <a:latin typeface="Calibri" pitchFamily="34" charset="0"/>
                          <a:ea typeface="Calibri" pitchFamily="34" charset="-122"/>
                          <a:cs typeface="Calibri" pitchFamily="34" charset="-120"/>
                        </a:rPr>
                        <a:t>Control</a:t>
                      </a:r>
                      <a:endParaRPr lang="en-US" sz="112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
        <p:nvSpPr>
          <p:cNvPr id="7" name="Text 4"/>
          <p:cNvSpPr txBox="1"/>
          <p:nvPr/>
        </p:nvSpPr>
        <p:spPr>
          <a:xfrm>
            <a:off x="8503920" y="1325880"/>
            <a:ext cx="320040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OPPOSITE DIRECTIONS ON THE SAME DAYS</a:t>
            </a:r>
            <a:endParaRPr lang="en-US" sz="1000" dirty="0"/>
          </a:p>
        </p:txBody>
      </p:sp>
      <p:sp>
        <p:nvSpPr>
          <p:cNvPr id="8" name="Text 5"/>
          <p:cNvSpPr txBox="1"/>
          <p:nvPr/>
        </p:nvSpPr>
        <p:spPr>
          <a:xfrm>
            <a:off x="8503920" y="1691640"/>
            <a:ext cx="3154680" cy="2560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Friday afternoon</a:t>
            </a:r>
            <a:endParaRPr lang="en-US" sz="1150" dirty="0"/>
          </a:p>
        </p:txBody>
      </p:sp>
      <p:sp>
        <p:nvSpPr>
          <p:cNvPr id="9" name="Text 6"/>
          <p:cNvSpPr txBox="1"/>
          <p:nvPr/>
        </p:nvSpPr>
        <p:spPr>
          <a:xfrm>
            <a:off x="8503920" y="2020824"/>
            <a:ext cx="640080" cy="27432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Town</a:t>
            </a:r>
            <a:endParaRPr lang="en-US" sz="1000" dirty="0"/>
          </a:p>
        </p:txBody>
      </p:sp>
      <p:sp>
        <p:nvSpPr>
          <p:cNvPr id="10" name="Text 7"/>
          <p:cNvSpPr txBox="1"/>
          <p:nvPr/>
        </p:nvSpPr>
        <p:spPr>
          <a:xfrm>
            <a:off x="11018520" y="2020824"/>
            <a:ext cx="731520" cy="274320"/>
          </a:xfrm>
          <a:prstGeom prst="rect">
            <a:avLst/>
          </a:prstGeom>
          <a:noFill/>
          <a:ln/>
        </p:spPr>
        <p:txBody>
          <a:bodyPr wrap="square" lIns="0" tIns="0" rIns="0" bIns="0" rtlCol="0" anchor="t"/>
          <a:lstStyle/>
          <a:p>
            <a:pPr algn="r" indent="0" marL="0">
              <a:buNone/>
            </a:pPr>
            <a:r>
              <a:rPr lang="en-US" sz="1000" dirty="0">
                <a:solidFill>
                  <a:srgbClr val="4B5563"/>
                </a:solidFill>
                <a:latin typeface="Calibri" pitchFamily="34" charset="0"/>
                <a:ea typeface="Calibri" pitchFamily="34" charset="-122"/>
                <a:cs typeface="Calibri" pitchFamily="34" charset="-120"/>
              </a:rPr>
              <a:t>Village</a:t>
            </a:r>
            <a:endParaRPr lang="en-US" sz="1000" dirty="0"/>
          </a:p>
        </p:txBody>
      </p:sp>
      <p:sp>
        <p:nvSpPr>
          <p:cNvPr id="11" name="Shape 8"/>
          <p:cNvSpPr/>
          <p:nvPr/>
        </p:nvSpPr>
        <p:spPr>
          <a:xfrm>
            <a:off x="9144000" y="2404872"/>
            <a:ext cx="1874520" cy="0"/>
          </a:xfrm>
          <a:prstGeom prst="line">
            <a:avLst/>
          </a:prstGeom>
          <a:noFill/>
          <a:ln w="27940">
            <a:solidFill>
              <a:srgbClr val="2A78D6"/>
            </a:solidFill>
            <a:prstDash val="solid"/>
            <a:tailEnd type="triangle"/>
          </a:ln>
        </p:spPr>
      </p:sp>
      <p:sp>
        <p:nvSpPr>
          <p:cNvPr id="12" name="Text 9"/>
          <p:cNvSpPr txBox="1"/>
          <p:nvPr/>
        </p:nvSpPr>
        <p:spPr>
          <a:xfrm>
            <a:off x="9601200" y="2148840"/>
            <a:ext cx="1005840" cy="228600"/>
          </a:xfrm>
          <a:prstGeom prst="rect">
            <a:avLst/>
          </a:prstGeom>
          <a:noFill/>
          <a:ln/>
        </p:spPr>
        <p:txBody>
          <a:bodyPr wrap="square" lIns="0" tIns="0" rIns="0" bIns="0" rtlCol="0" anchor="t"/>
          <a:lstStyle/>
          <a:p>
            <a:pPr algn="ctr" indent="0" marL="0">
              <a:buNone/>
            </a:pPr>
            <a:r>
              <a:rPr lang="en-US" sz="950" dirty="0">
                <a:solidFill>
                  <a:srgbClr val="2A78D6"/>
                </a:solidFill>
                <a:latin typeface="Calibri" pitchFamily="34" charset="0"/>
                <a:ea typeface="Calibri" pitchFamily="34" charset="-122"/>
                <a:cs typeface="Calibri" pitchFamily="34" charset="-120"/>
              </a:rPr>
              <a:t>students</a:t>
            </a:r>
            <a:endParaRPr lang="en-US" sz="950" dirty="0"/>
          </a:p>
        </p:txBody>
      </p:sp>
      <p:sp>
        <p:nvSpPr>
          <p:cNvPr id="13" name="Shape 10"/>
          <p:cNvSpPr/>
          <p:nvPr/>
        </p:nvSpPr>
        <p:spPr>
          <a:xfrm flipH="1">
            <a:off x="9144000" y="2752344"/>
            <a:ext cx="1874520" cy="0"/>
          </a:xfrm>
          <a:prstGeom prst="line">
            <a:avLst/>
          </a:prstGeom>
          <a:noFill/>
          <a:ln w="27940">
            <a:solidFill>
              <a:srgbClr val="EB6834"/>
            </a:solidFill>
            <a:prstDash val="solid"/>
            <a:tailEnd type="triangle"/>
          </a:ln>
        </p:spPr>
      </p:sp>
      <p:sp>
        <p:nvSpPr>
          <p:cNvPr id="14" name="Text 11"/>
          <p:cNvSpPr txBox="1"/>
          <p:nvPr/>
        </p:nvSpPr>
        <p:spPr>
          <a:xfrm>
            <a:off x="9601200" y="2788920"/>
            <a:ext cx="1005840" cy="228600"/>
          </a:xfrm>
          <a:prstGeom prst="rect">
            <a:avLst/>
          </a:prstGeom>
          <a:noFill/>
          <a:ln/>
        </p:spPr>
        <p:txBody>
          <a:bodyPr wrap="square" lIns="0" tIns="0" rIns="0" bIns="0" rtlCol="0" anchor="t"/>
          <a:lstStyle/>
          <a:p>
            <a:pPr algn="ctr" indent="0" marL="0">
              <a:buNone/>
            </a:pPr>
            <a:r>
              <a:rPr lang="en-US" sz="950" dirty="0">
                <a:solidFill>
                  <a:srgbClr val="EB6834"/>
                </a:solidFill>
                <a:latin typeface="Calibri" pitchFamily="34" charset="0"/>
                <a:ea typeface="Calibri" pitchFamily="34" charset="-122"/>
                <a:cs typeface="Calibri" pitchFamily="34" charset="-120"/>
              </a:rPr>
              <a:t>workers</a:t>
            </a:r>
            <a:endParaRPr lang="en-US" sz="950" dirty="0"/>
          </a:p>
        </p:txBody>
      </p:sp>
      <p:sp>
        <p:nvSpPr>
          <p:cNvPr id="15" name="Text 12"/>
          <p:cNvSpPr txBox="1"/>
          <p:nvPr/>
        </p:nvSpPr>
        <p:spPr>
          <a:xfrm>
            <a:off x="8503920" y="3246120"/>
            <a:ext cx="3154680" cy="2560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Sunday afternoon</a:t>
            </a:r>
            <a:endParaRPr lang="en-US" sz="1150" dirty="0"/>
          </a:p>
        </p:txBody>
      </p:sp>
      <p:sp>
        <p:nvSpPr>
          <p:cNvPr id="16" name="Text 13"/>
          <p:cNvSpPr txBox="1"/>
          <p:nvPr/>
        </p:nvSpPr>
        <p:spPr>
          <a:xfrm>
            <a:off x="8503920" y="3575304"/>
            <a:ext cx="640080" cy="27432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Town</a:t>
            </a:r>
            <a:endParaRPr lang="en-US" sz="1000" dirty="0"/>
          </a:p>
        </p:txBody>
      </p:sp>
      <p:sp>
        <p:nvSpPr>
          <p:cNvPr id="17" name="Text 14"/>
          <p:cNvSpPr txBox="1"/>
          <p:nvPr/>
        </p:nvSpPr>
        <p:spPr>
          <a:xfrm>
            <a:off x="11018520" y="3575304"/>
            <a:ext cx="731520" cy="274320"/>
          </a:xfrm>
          <a:prstGeom prst="rect">
            <a:avLst/>
          </a:prstGeom>
          <a:noFill/>
          <a:ln/>
        </p:spPr>
        <p:txBody>
          <a:bodyPr wrap="square" lIns="0" tIns="0" rIns="0" bIns="0" rtlCol="0" anchor="t"/>
          <a:lstStyle/>
          <a:p>
            <a:pPr algn="r" indent="0" marL="0">
              <a:buNone/>
            </a:pPr>
            <a:r>
              <a:rPr lang="en-US" sz="1000" dirty="0">
                <a:solidFill>
                  <a:srgbClr val="4B5563"/>
                </a:solidFill>
                <a:latin typeface="Calibri" pitchFamily="34" charset="0"/>
                <a:ea typeface="Calibri" pitchFamily="34" charset="-122"/>
                <a:cs typeface="Calibri" pitchFamily="34" charset="-120"/>
              </a:rPr>
              <a:t>Village</a:t>
            </a:r>
            <a:endParaRPr lang="en-US" sz="1000" dirty="0"/>
          </a:p>
        </p:txBody>
      </p:sp>
      <p:sp>
        <p:nvSpPr>
          <p:cNvPr id="18" name="Shape 15"/>
          <p:cNvSpPr/>
          <p:nvPr/>
        </p:nvSpPr>
        <p:spPr>
          <a:xfrm flipH="1">
            <a:off x="9144000" y="3959352"/>
            <a:ext cx="1874520" cy="0"/>
          </a:xfrm>
          <a:prstGeom prst="line">
            <a:avLst/>
          </a:prstGeom>
          <a:noFill/>
          <a:ln w="27940">
            <a:solidFill>
              <a:srgbClr val="2A78D6"/>
            </a:solidFill>
            <a:prstDash val="solid"/>
            <a:tailEnd type="triangle"/>
          </a:ln>
        </p:spPr>
      </p:sp>
      <p:sp>
        <p:nvSpPr>
          <p:cNvPr id="19" name="Text 16"/>
          <p:cNvSpPr txBox="1"/>
          <p:nvPr/>
        </p:nvSpPr>
        <p:spPr>
          <a:xfrm>
            <a:off x="9601200" y="3703320"/>
            <a:ext cx="1005840" cy="228600"/>
          </a:xfrm>
          <a:prstGeom prst="rect">
            <a:avLst/>
          </a:prstGeom>
          <a:noFill/>
          <a:ln/>
        </p:spPr>
        <p:txBody>
          <a:bodyPr wrap="square" lIns="0" tIns="0" rIns="0" bIns="0" rtlCol="0" anchor="t"/>
          <a:lstStyle/>
          <a:p>
            <a:pPr algn="ctr" indent="0" marL="0">
              <a:buNone/>
            </a:pPr>
            <a:r>
              <a:rPr lang="en-US" sz="950" dirty="0">
                <a:solidFill>
                  <a:srgbClr val="2A78D6"/>
                </a:solidFill>
                <a:latin typeface="Calibri" pitchFamily="34" charset="0"/>
                <a:ea typeface="Calibri" pitchFamily="34" charset="-122"/>
                <a:cs typeface="Calibri" pitchFamily="34" charset="-120"/>
              </a:rPr>
              <a:t>students</a:t>
            </a:r>
            <a:endParaRPr lang="en-US" sz="950" dirty="0"/>
          </a:p>
        </p:txBody>
      </p:sp>
      <p:sp>
        <p:nvSpPr>
          <p:cNvPr id="20" name="Shape 17"/>
          <p:cNvSpPr/>
          <p:nvPr/>
        </p:nvSpPr>
        <p:spPr>
          <a:xfrm>
            <a:off x="9144000" y="4306824"/>
            <a:ext cx="1874520" cy="0"/>
          </a:xfrm>
          <a:prstGeom prst="line">
            <a:avLst/>
          </a:prstGeom>
          <a:noFill/>
          <a:ln w="27940">
            <a:solidFill>
              <a:srgbClr val="EB6834"/>
            </a:solidFill>
            <a:prstDash val="solid"/>
            <a:tailEnd type="triangle"/>
          </a:ln>
        </p:spPr>
      </p:sp>
      <p:sp>
        <p:nvSpPr>
          <p:cNvPr id="21" name="Text 18"/>
          <p:cNvSpPr txBox="1"/>
          <p:nvPr/>
        </p:nvSpPr>
        <p:spPr>
          <a:xfrm>
            <a:off x="9601200" y="4343400"/>
            <a:ext cx="1005840" cy="228600"/>
          </a:xfrm>
          <a:prstGeom prst="rect">
            <a:avLst/>
          </a:prstGeom>
          <a:noFill/>
          <a:ln/>
        </p:spPr>
        <p:txBody>
          <a:bodyPr wrap="square" lIns="0" tIns="0" rIns="0" bIns="0" rtlCol="0" anchor="t"/>
          <a:lstStyle/>
          <a:p>
            <a:pPr algn="ctr" indent="0" marL="0">
              <a:buNone/>
            </a:pPr>
            <a:r>
              <a:rPr lang="en-US" sz="950" dirty="0">
                <a:solidFill>
                  <a:srgbClr val="EB6834"/>
                </a:solidFill>
                <a:latin typeface="Calibri" pitchFamily="34" charset="0"/>
                <a:ea typeface="Calibri" pitchFamily="34" charset="-122"/>
                <a:cs typeface="Calibri" pitchFamily="34" charset="-120"/>
              </a:rPr>
              <a:t>workers</a:t>
            </a:r>
            <a:endParaRPr lang="en-US" sz="950" dirty="0"/>
          </a:p>
        </p:txBody>
      </p:sp>
      <p:sp>
        <p:nvSpPr>
          <p:cNvPr id="22" name="Text 19"/>
          <p:cNvSpPr txBox="1"/>
          <p:nvPr/>
        </p:nvSpPr>
        <p:spPr>
          <a:xfrm>
            <a:off x="8503920" y="4800600"/>
            <a:ext cx="3154680" cy="1005840"/>
          </a:xfrm>
          <a:prstGeom prst="rect">
            <a:avLst/>
          </a:prstGeom>
          <a:noFill/>
          <a:ln/>
        </p:spPr>
        <p:txBody>
          <a:bodyPr wrap="square" lIns="0" tIns="0" rIns="0" bIns="0" rtlCol="0" anchor="t"/>
          <a:lstStyle/>
          <a:p>
            <a:pPr indent="0" marL="0">
              <a:buNone/>
            </a:pPr>
            <a:r>
              <a:rPr lang="en-US" sz="1100" i="1" dirty="0">
                <a:solidFill>
                  <a:srgbClr val="4B5563"/>
                </a:solidFill>
                <a:latin typeface="Calibri" pitchFamily="34" charset="0"/>
                <a:ea typeface="Calibri" pitchFamily="34" charset="-122"/>
                <a:cs typeface="Calibri" pitchFamily="34" charset="-120"/>
              </a:rPr>
              <a:t>Same day, opposite buses: the two commuting groups share 189 days but never the same run — the key to separating their effects.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2 · EXPLAIN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Real timetable × calendar: factors overlap by day but separate by run</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29 / 39</a:t>
            </a:r>
            <a:endParaRPr lang="en-US" sz="850" dirty="0"/>
          </a:p>
        </p:txBody>
      </p:sp>
      <p:sp>
        <p:nvSpPr>
          <p:cNvPr id="6" name="Text 4"/>
          <p:cNvSpPr txBox="1"/>
          <p:nvPr/>
        </p:nvSpPr>
        <p:spPr>
          <a:xfrm>
            <a:off x="548640" y="1325880"/>
            <a:ext cx="3474720" cy="274320"/>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a  Runs affected by both factors</a:t>
            </a:r>
            <a:endParaRPr lang="en-US" sz="11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3474720" cy="914400"/>
        </p:xfrm>
        <a:graphic>
          <a:graphicData uri="http://schemas.openxmlformats.org/drawingml/2006/table">
            <a:tbl>
              <a:tblPr/>
              <a:tblGrid>
                <a:gridCol w="502920"/>
                <a:gridCol w="594360"/>
                <a:gridCol w="594360"/>
                <a:gridCol w="594360"/>
                <a:gridCol w="594360"/>
                <a:gridCol w="594360"/>
              </a:tblGrid>
              <a:tr h="411480">
                <a:tc>
                  <a:txBody>
                    <a:bodyPr/>
                    <a:lstStyle/>
                    <a:p>
                      <a:pPr indent="0" marL="0">
                        <a:buNone/>
                      </a:pP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W</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CY</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6,210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04281"/>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845</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229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3F6"/>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W</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12,286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04281"/>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437</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845</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3,536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CY</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229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437</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5,440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816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3F6"/>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816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2,040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r>
            </a:tbl>
          </a:graphicData>
        </a:graphic>
      </p:graphicFrame>
      <p:sp>
        <p:nvSpPr>
          <p:cNvPr id="8" name="Text 5"/>
          <p:cNvSpPr txBox="1"/>
          <p:nvPr/>
        </p:nvSpPr>
        <p:spPr>
          <a:xfrm>
            <a:off x="4251960" y="1325880"/>
            <a:ext cx="3474720" cy="274320"/>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b  Days on which both occur</a:t>
            </a:r>
            <a:endParaRPr lang="en-US" sz="115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251960" y="1645920"/>
          <a:ext cx="3474720" cy="914400"/>
        </p:xfrm>
        <a:graphic>
          <a:graphicData uri="http://schemas.openxmlformats.org/drawingml/2006/table">
            <a:tbl>
              <a:tblPr/>
              <a:tblGrid>
                <a:gridCol w="502920"/>
                <a:gridCol w="594360"/>
                <a:gridCol w="594360"/>
                <a:gridCol w="594360"/>
                <a:gridCol w="594360"/>
                <a:gridCol w="594360"/>
              </a:tblGrid>
              <a:tr h="411480">
                <a:tc>
                  <a:txBody>
                    <a:bodyPr/>
                    <a:lstStyle/>
                    <a:p>
                      <a:pPr indent="0" marL="0">
                        <a:buNone/>
                      </a:pP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W</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CY</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2937"/>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191</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3F6"/>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W</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5CAB"/>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354</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04281"/>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CY</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987E5"/>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r>
              <a:tr h="411480">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T</a:t>
                      </a:r>
                      <a:endParaRPr lang="en-US" sz="10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3F6"/>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8FD"/>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c>
                  <a:txBody>
                    <a:bodyPr/>
                    <a:lstStyle/>
                    <a:p>
                      <a:pPr algn="ctr" indent="0" marL="0">
                        <a:buNone/>
                      </a:pPr>
                      <a:r>
                        <a:rPr lang="en-US" sz="1100" dirty="0">
                          <a:solidFill>
                            <a:srgbClr val="1F2937"/>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6EF"/>
                    </a:solidFill>
                  </a:tcPr>
                </a:tc>
              </a:tr>
            </a:tbl>
          </a:graphicData>
        </a:graphic>
      </p:graphicFrame>
      <p:graphicFrame>
        <p:nvGraphicFramePr>
          <p:cNvPr id="10" name="Chart 0" descr=""/>
          <p:cNvGraphicFramePr/>
          <p:nvPr/>
        </p:nvGraphicFramePr>
        <p:xfrm>
          <a:off x="8001000" y="1280160"/>
          <a:ext cx="3657600" cy="3063240"/>
        </p:xfrm>
        <a:graphic xmlns:a="http://schemas.openxmlformats.org/drawingml/2006/main">
          <a:graphicData uri="http://schemas.openxmlformats.org/drawingml/2006/chart">
            <c:chart xmlns:c="http://schemas.openxmlformats.org/drawingml/2006/chart" r:id="rId1"/>
          </a:graphicData>
        </a:graphic>
      </p:graphicFrame>
      <p:sp>
        <p:nvSpPr>
          <p:cNvPr id="11" name="Text 6"/>
          <p:cNvSpPr txBox="1"/>
          <p:nvPr/>
        </p:nvSpPr>
        <p:spPr>
          <a:xfrm>
            <a:off x="548640" y="4526280"/>
            <a:ext cx="11094415" cy="1737360"/>
          </a:xfrm>
          <a:prstGeom prst="rect">
            <a:avLst/>
          </a:prstGeom>
          <a:noFill/>
          <a:ln/>
        </p:spPr>
        <p:txBody>
          <a:bodyPr wrap="square" lIns="0" tIns="0" rIns="0" bIns="0" rtlCol="0" anchor="t"/>
          <a:lstStyle/>
          <a:p>
            <a:pPr marL="165100" indent="-165100">
              <a:spcAft>
                <a:spcPts val="600"/>
              </a:spcAft>
              <a:buSzPct val="100000"/>
              <a:buChar char="•"/>
            </a:pPr>
            <a:r>
              <a:rPr lang="en-US" sz="1250" b="1" dirty="0">
                <a:solidFill>
                  <a:srgbClr val="4B5563"/>
                </a:solidFill>
                <a:latin typeface="Calibri" pitchFamily="34" charset="0"/>
                <a:ea typeface="Calibri" pitchFamily="34" charset="-122"/>
                <a:cs typeface="Calibri" pitchFamily="34" charset="-120"/>
              </a:rPr>
              <a:t>Separated by direction.</a:t>
            </a:r>
            <a:r>
              <a:rPr lang="en-US" sz="1250" dirty="0">
                <a:solidFill>
                  <a:srgbClr val="4B5563"/>
                </a:solidFill>
                <a:latin typeface="Calibri" pitchFamily="34" charset="0"/>
                <a:ea typeface="Calibri" pitchFamily="34" charset="-122"/>
                <a:cs typeface="Calibri" pitchFamily="34" charset="-120"/>
              </a:rPr>
              <a:t> Students and workers co-occur on 189 of 191 student-commute days but on 0 runs; VIF drops from 3.7 / 5.9 (daily) to 1.28 (run).</a:t>
            </a:r>
            <a:endParaRPr lang="en-US" sz="1250" dirty="0"/>
          </a:p>
          <a:p>
            <a:pPr marL="165100" indent="-165100">
              <a:spcAft>
                <a:spcPts val="600"/>
              </a:spcAft>
              <a:buSzPct val="100000"/>
              <a:buChar char="•"/>
            </a:pPr>
            <a:r>
              <a:rPr lang="en-US" sz="1250" b="1" dirty="0">
                <a:solidFill>
                  <a:srgbClr val="4B5563"/>
                </a:solidFill>
                <a:latin typeface="Calibri" pitchFamily="34" charset="0"/>
                <a:ea typeface="Calibri" pitchFamily="34" charset="-122"/>
                <a:cs typeface="Calibri" pitchFamily="34" charset="-120"/>
              </a:rPr>
              <a:t>Some pairs never meet.</a:t>
            </a:r>
            <a:r>
              <a:rPr lang="en-US" sz="1250" dirty="0">
                <a:solidFill>
                  <a:srgbClr val="4B5563"/>
                </a:solidFill>
                <a:latin typeface="Calibri" pitchFamily="34" charset="0"/>
                <a:ea typeface="Calibri" pitchFamily="34" charset="-122"/>
                <a:cs typeface="Calibri" pitchFamily="34" charset="-120"/>
              </a:rPr>
              <a:t> Holiday returns never coincide with Spring Festival travel or term surges: no interaction exists to estimate.</a:t>
            </a:r>
            <a:endParaRPr lang="en-US" sz="1250" dirty="0"/>
          </a:p>
          <a:p>
            <a:pPr marL="165100" indent="-165100">
              <a:spcAft>
                <a:spcPts val="600"/>
              </a:spcAft>
              <a:buSzPct val="100000"/>
              <a:buChar char="•"/>
            </a:pPr>
            <a:r>
              <a:rPr lang="en-US" sz="1250" b="1" dirty="0">
                <a:solidFill>
                  <a:srgbClr val="4B5563"/>
                </a:solidFill>
                <a:latin typeface="Calibri" pitchFamily="34" charset="0"/>
                <a:ea typeface="Calibri" pitchFamily="34" charset="-122"/>
                <a:cs typeface="Calibri" pitchFamily="34" charset="-120"/>
              </a:rPr>
              <a:t>Support screen before estimation.</a:t>
            </a:r>
            <a:r>
              <a:rPr lang="en-US" sz="1250" dirty="0">
                <a:solidFill>
                  <a:srgbClr val="4B5563"/>
                </a:solidFill>
                <a:latin typeface="Calibri" pitchFamily="34" charset="0"/>
                <a:ea typeface="Calibri" pitchFamily="34" charset="-122"/>
                <a:cs typeface="Calibri" pitchFamily="34" charset="-120"/>
              </a:rPr>
              <a:t> A pair gets an overlap term only with ≥200 shared runs and ≥200 solo runs each: 5 of 10 pairs pass (S×R, S×CY, W×CY, W×T, CY×T); the rest are reported as sums of main effects, flagged “low support”.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3 · QUANTIFY</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 censored count model on the passenger scale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30 / 39</a:t>
            </a:r>
            <a:endParaRPr lang="en-US" sz="850" dirty="0"/>
          </a:p>
        </p:txBody>
      </p:sp>
      <p:sp>
        <p:nvSpPr>
          <p:cNvPr id="6" name="Shape 4"/>
          <p:cNvSpPr/>
          <p:nvPr/>
        </p:nvSpPr>
        <p:spPr>
          <a:xfrm>
            <a:off x="548640" y="1298448"/>
            <a:ext cx="6675120" cy="1600200"/>
          </a:xfrm>
          <a:prstGeom prst="rect">
            <a:avLst/>
          </a:prstGeom>
          <a:solidFill>
            <a:srgbClr val="F3F5F8"/>
          </a:solidFill>
          <a:ln w="12700">
            <a:solidFill>
              <a:srgbClr val="F3F5F8"/>
            </a:solidFill>
            <a:prstDash val="solid"/>
          </a:ln>
        </p:spPr>
      </p:sp>
      <p:sp>
        <p:nvSpPr>
          <p:cNvPr id="7" name="Text 5"/>
          <p:cNvSpPr txBox="1"/>
          <p:nvPr/>
        </p:nvSpPr>
        <p:spPr>
          <a:xfrm>
            <a:off x="731520" y="1444752"/>
            <a:ext cx="6400800" cy="1325880"/>
          </a:xfrm>
          <a:prstGeom prst="rect">
            <a:avLst/>
          </a:prstGeom>
          <a:noFill/>
          <a:ln/>
        </p:spPr>
        <p:txBody>
          <a:bodyPr wrap="square" lIns="0" tIns="0" rIns="0" bIns="0" rtlCol="0" anchor="ctr"/>
          <a:lstStyle/>
          <a:p>
            <a:pPr indent="0" marL="0">
              <a:buNone/>
            </a:pPr>
            <a:r>
              <a:rPr lang="en-US" sz="1500" i="1" dirty="0">
                <a:solidFill>
                  <a:srgbClr val="1F2937"/>
                </a:solidFill>
                <a:latin typeface="Cambria" pitchFamily="34" charset="0"/>
                <a:ea typeface="Cambria" pitchFamily="34" charset="-122"/>
                <a:cs typeface="Cambria" pitchFamily="34" charset="-120"/>
              </a:rPr>
              <a:t>Y</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 NegBin(μ</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θ),    y</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 min(Y</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C</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C</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 κ</a:t>
            </a:r>
            <a:r>
              <a:rPr lang="en-US" sz="1500" baseline="-40000" dirty="0">
                <a:solidFill>
                  <a:srgbClr val="1F2937"/>
                </a:solidFill>
                <a:latin typeface="Cambria" pitchFamily="34" charset="0"/>
                <a:ea typeface="Cambria" pitchFamily="34" charset="-122"/>
                <a:cs typeface="Cambria" pitchFamily="34" charset="-120"/>
              </a:rPr>
              <a:t>r</a:t>
            </a:r>
            <a:r>
              <a:rPr lang="en-US" sz="1500" dirty="0">
                <a:solidFill>
                  <a:srgbClr val="1F2937"/>
                </a:solidFill>
                <a:latin typeface="Cambria" pitchFamily="34" charset="0"/>
                <a:ea typeface="Cambria" pitchFamily="34" charset="-122"/>
                <a:cs typeface="Cambria" pitchFamily="34" charset="-120"/>
              </a:rPr>
              <a:t> × seats</a:t>
            </a:r>
            <a:r>
              <a:rPr lang="en-US" sz="1500" baseline="-40000" dirty="0">
                <a:solidFill>
                  <a:srgbClr val="1F2937"/>
                </a:solidFill>
                <a:latin typeface="Cambria" pitchFamily="34" charset="0"/>
                <a:ea typeface="Cambria" pitchFamily="34" charset="-122"/>
                <a:cs typeface="Cambria" pitchFamily="34" charset="-120"/>
              </a:rPr>
              <a:t>i</a:t>
            </a:r>
            <a:endParaRPr lang="en-US" sz="1500" dirty="0"/>
          </a:p>
          <a:p>
            <a:pPr indent="0" marL="0">
              <a:buNone/>
            </a:pPr>
            <a:r>
              <a:rPr lang="en-US" sz="500" dirty="0">
                <a:solidFill>
                  <a:srgbClr val="1F2937"/>
                </a:solidFill>
                <a:latin typeface="Cambria" pitchFamily="34" charset="0"/>
                <a:ea typeface="Cambria" pitchFamily="34" charset="-122"/>
                <a:cs typeface="Cambria" pitchFamily="34" charset="-120"/>
              </a:rPr>
              <a:t> </a:t>
            </a:r>
            <a:endParaRPr lang="en-US" sz="1500" dirty="0"/>
          </a:p>
          <a:p>
            <a:pPr indent="0" marL="0">
              <a:buNone/>
            </a:pPr>
            <a:r>
              <a:rPr lang="en-US" sz="1500" dirty="0">
                <a:solidFill>
                  <a:srgbClr val="1F2937"/>
                </a:solidFill>
                <a:latin typeface="Cambria" pitchFamily="34" charset="0"/>
                <a:ea typeface="Cambria" pitchFamily="34" charset="-122"/>
                <a:cs typeface="Cambria" pitchFamily="34" charset="-120"/>
              </a:rPr>
              <a:t>μ</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 exp(α</a:t>
            </a:r>
            <a:r>
              <a:rPr lang="en-US" sz="1500" baseline="-40000" dirty="0">
                <a:solidFill>
                  <a:srgbClr val="1F2937"/>
                </a:solidFill>
                <a:latin typeface="Cambria" pitchFamily="34" charset="0"/>
                <a:ea typeface="Cambria" pitchFamily="34" charset="-122"/>
                <a:cs typeface="Cambria" pitchFamily="34" charset="-120"/>
              </a:rPr>
              <a:t>r×dir×period</a:t>
            </a:r>
            <a:r>
              <a:rPr lang="en-US" sz="1500" dirty="0">
                <a:solidFill>
                  <a:srgbClr val="1F2937"/>
                </a:solidFill>
                <a:latin typeface="Cambria" pitchFamily="34" charset="0"/>
                <a:ea typeface="Cambria" pitchFamily="34" charset="-122"/>
                <a:cs typeface="Cambria" pitchFamily="34" charset="-120"/>
              </a:rPr>
              <a:t> + γx</a:t>
            </a:r>
            <a:r>
              <a:rPr lang="en-US" sz="1500" baseline="-40000" dirty="0">
                <a:solidFill>
                  <a:srgbClr val="1F2937"/>
                </a:solidFill>
                <a:latin typeface="Cambria" pitchFamily="34" charset="0"/>
                <a:ea typeface="Cambria" pitchFamily="34" charset="-122"/>
                <a:cs typeface="Cambria" pitchFamily="34" charset="-120"/>
              </a:rPr>
              <a:t>i</a:t>
            </a:r>
            <a:r>
              <a:rPr lang="en-US" sz="1500" dirty="0">
                <a:solidFill>
                  <a:srgbClr val="1F2937"/>
                </a:solidFill>
                <a:latin typeface="Cambria" pitchFamily="34" charset="0"/>
                <a:ea typeface="Cambria" pitchFamily="34" charset="-122"/>
                <a:cs typeface="Cambria" pitchFamily="34" charset="-120"/>
              </a:rPr>
              <a:t> + u</a:t>
            </a:r>
            <a:r>
              <a:rPr lang="en-US" sz="1500" baseline="-40000" dirty="0">
                <a:solidFill>
                  <a:srgbClr val="1F2937"/>
                </a:solidFill>
                <a:latin typeface="Cambria" pitchFamily="34" charset="0"/>
                <a:ea typeface="Cambria" pitchFamily="34" charset="-122"/>
                <a:cs typeface="Cambria" pitchFamily="34" charset="-120"/>
              </a:rPr>
              <a:t>d</a:t>
            </a:r>
            <a:r>
              <a:rPr lang="en-US" sz="1500" dirty="0">
                <a:solidFill>
                  <a:srgbClr val="1F2937"/>
                </a:solidFill>
                <a:latin typeface="Cambria" pitchFamily="34" charset="0"/>
                <a:ea typeface="Cambria" pitchFamily="34" charset="-122"/>
                <a:cs typeface="Cambria" pitchFamily="34" charset="-120"/>
              </a:rPr>
              <a:t>) × [1 + Σ ρ</a:t>
            </a:r>
            <a:r>
              <a:rPr lang="en-US" sz="1500" baseline="-40000" dirty="0">
                <a:solidFill>
                  <a:srgbClr val="1F2937"/>
                </a:solidFill>
                <a:latin typeface="Cambria" pitchFamily="34" charset="0"/>
                <a:ea typeface="Cambria" pitchFamily="34" charset="-122"/>
                <a:cs typeface="Cambria" pitchFamily="34" charset="-120"/>
              </a:rPr>
              <a:t>g</a:t>
            </a:r>
            <a:r>
              <a:rPr lang="en-US" sz="1500" dirty="0">
                <a:solidFill>
                  <a:srgbClr val="1F2937"/>
                </a:solidFill>
                <a:latin typeface="Cambria" pitchFamily="34" charset="0"/>
                <a:ea typeface="Cambria" pitchFamily="34" charset="-122"/>
                <a:cs typeface="Cambria" pitchFamily="34" charset="-120"/>
              </a:rPr>
              <a:t>f</a:t>
            </a:r>
            <a:r>
              <a:rPr lang="en-US" sz="1500" baseline="-40000" dirty="0">
                <a:solidFill>
                  <a:srgbClr val="1F2937"/>
                </a:solidFill>
                <a:latin typeface="Cambria" pitchFamily="34" charset="0"/>
                <a:ea typeface="Cambria" pitchFamily="34" charset="-122"/>
                <a:cs typeface="Cambria" pitchFamily="34" charset="-120"/>
              </a:rPr>
              <a:t>gi</a:t>
            </a:r>
            <a:r>
              <a:rPr lang="en-US" sz="1500" dirty="0">
                <a:solidFill>
                  <a:srgbClr val="1F2937"/>
                </a:solidFill>
                <a:latin typeface="Cambria" pitchFamily="34" charset="0"/>
                <a:ea typeface="Cambria" pitchFamily="34" charset="-122"/>
                <a:cs typeface="Cambria" pitchFamily="34" charset="-120"/>
              </a:rPr>
              <a:t> + Σ</a:t>
            </a:r>
            <a:r>
              <a:rPr lang="en-US" sz="1500" baseline="-40000" dirty="0">
                <a:solidFill>
                  <a:srgbClr val="1F2937"/>
                </a:solidFill>
                <a:latin typeface="Cambria" pitchFamily="34" charset="0"/>
                <a:ea typeface="Cambria" pitchFamily="34" charset="-122"/>
                <a:cs typeface="Cambria" pitchFamily="34" charset="-120"/>
              </a:rPr>
              <a:t>Π</a:t>
            </a:r>
            <a:r>
              <a:rPr lang="en-US" sz="1500" dirty="0">
                <a:solidFill>
                  <a:srgbClr val="1F2937"/>
                </a:solidFill>
                <a:latin typeface="Cambria" pitchFamily="34" charset="0"/>
                <a:ea typeface="Cambria" pitchFamily="34" charset="-122"/>
                <a:cs typeface="Cambria" pitchFamily="34" charset="-120"/>
              </a:rPr>
              <a:t> δ</a:t>
            </a:r>
            <a:r>
              <a:rPr lang="en-US" sz="1500" baseline="-40000" dirty="0">
                <a:solidFill>
                  <a:srgbClr val="1F2937"/>
                </a:solidFill>
                <a:latin typeface="Cambria" pitchFamily="34" charset="0"/>
                <a:ea typeface="Cambria" pitchFamily="34" charset="-122"/>
                <a:cs typeface="Cambria" pitchFamily="34" charset="-120"/>
              </a:rPr>
              <a:t>pq</a:t>
            </a:r>
            <a:r>
              <a:rPr lang="en-US" sz="1500" dirty="0">
                <a:solidFill>
                  <a:srgbClr val="1F2937"/>
                </a:solidFill>
                <a:latin typeface="Cambria" pitchFamily="34" charset="0"/>
                <a:ea typeface="Cambria" pitchFamily="34" charset="-122"/>
                <a:cs typeface="Cambria" pitchFamily="34" charset="-120"/>
              </a:rPr>
              <a:t>f</a:t>
            </a:r>
            <a:r>
              <a:rPr lang="en-US" sz="1500" baseline="-40000" dirty="0">
                <a:solidFill>
                  <a:srgbClr val="1F2937"/>
                </a:solidFill>
                <a:latin typeface="Cambria" pitchFamily="34" charset="0"/>
                <a:ea typeface="Cambria" pitchFamily="34" charset="-122"/>
                <a:cs typeface="Cambria" pitchFamily="34" charset="-120"/>
              </a:rPr>
              <a:t>pi</a:t>
            </a:r>
            <a:r>
              <a:rPr lang="en-US" sz="1500" dirty="0">
                <a:solidFill>
                  <a:srgbClr val="1F2937"/>
                </a:solidFill>
                <a:latin typeface="Cambria" pitchFamily="34" charset="0"/>
                <a:ea typeface="Cambria" pitchFamily="34" charset="-122"/>
                <a:cs typeface="Cambria" pitchFamily="34" charset="-120"/>
              </a:rPr>
              <a:t>f</a:t>
            </a:r>
            <a:r>
              <a:rPr lang="en-US" sz="1500" baseline="-40000" dirty="0">
                <a:solidFill>
                  <a:srgbClr val="1F2937"/>
                </a:solidFill>
                <a:latin typeface="Cambria" pitchFamily="34" charset="0"/>
                <a:ea typeface="Cambria" pitchFamily="34" charset="-122"/>
                <a:cs typeface="Cambria" pitchFamily="34" charset="-120"/>
              </a:rPr>
              <a:t>qi</a:t>
            </a:r>
            <a:r>
              <a:rPr lang="en-US" sz="1500" dirty="0">
                <a:solidFill>
                  <a:srgbClr val="1F2937"/>
                </a:solidFill>
                <a:latin typeface="Cambria" pitchFamily="34" charset="0"/>
                <a:ea typeface="Cambria" pitchFamily="34" charset="-122"/>
                <a:cs typeface="Cambria" pitchFamily="34" charset="-120"/>
              </a:rPr>
              <a:t> + Σ ρ</a:t>
            </a:r>
            <a:r>
              <a:rPr lang="en-US" sz="1500" baseline="-40000" dirty="0">
                <a:solidFill>
                  <a:srgbClr val="1F2937"/>
                </a:solidFill>
                <a:latin typeface="Cambria" pitchFamily="34" charset="0"/>
                <a:ea typeface="Cambria" pitchFamily="34" charset="-122"/>
                <a:cs typeface="Cambria" pitchFamily="34" charset="-120"/>
              </a:rPr>
              <a:t>gt</a:t>
            </a:r>
            <a:r>
              <a:rPr lang="en-US" sz="1500" dirty="0">
                <a:solidFill>
                  <a:srgbClr val="1F2937"/>
                </a:solidFill>
                <a:latin typeface="Cambria" pitchFamily="34" charset="0"/>
                <a:ea typeface="Cambria" pitchFamily="34" charset="-122"/>
                <a:cs typeface="Cambria" pitchFamily="34" charset="-120"/>
              </a:rPr>
              <a:t>f</a:t>
            </a:r>
            <a:r>
              <a:rPr lang="en-US" sz="1500" baseline="-40000" dirty="0">
                <a:solidFill>
                  <a:srgbClr val="1F2937"/>
                </a:solidFill>
                <a:latin typeface="Cambria" pitchFamily="34" charset="0"/>
                <a:ea typeface="Cambria" pitchFamily="34" charset="-122"/>
                <a:cs typeface="Cambria" pitchFamily="34" charset="-120"/>
              </a:rPr>
              <a:t>gi</a:t>
            </a:r>
            <a:r>
              <a:rPr lang="en-US" sz="1500" dirty="0">
                <a:solidFill>
                  <a:srgbClr val="1F2937"/>
                </a:solidFill>
                <a:latin typeface="Cambria" pitchFamily="34" charset="0"/>
                <a:ea typeface="Cambria" pitchFamily="34" charset="-122"/>
                <a:cs typeface="Cambria" pitchFamily="34" charset="-120"/>
              </a:rPr>
              <a:t>1</a:t>
            </a:r>
            <a:r>
              <a:rPr lang="en-US" sz="1500" baseline="-40000" dirty="0">
                <a:solidFill>
                  <a:srgbClr val="1F2937"/>
                </a:solidFill>
                <a:latin typeface="Cambria" pitchFamily="34" charset="0"/>
                <a:ea typeface="Cambria" pitchFamily="34" charset="-122"/>
                <a:cs typeface="Cambria" pitchFamily="34" charset="-120"/>
              </a:rPr>
              <a:t>year=t</a:t>
            </a:r>
            <a:r>
              <a:rPr lang="en-US" sz="1500" dirty="0">
                <a:solidFill>
                  <a:srgbClr val="1F2937"/>
                </a:solidFill>
                <a:latin typeface="Cambria" pitchFamily="34" charset="0"/>
                <a:ea typeface="Cambria" pitchFamily="34" charset="-122"/>
                <a:cs typeface="Cambria" pitchFamily="34" charset="-120"/>
              </a:rPr>
              <a:t>]</a:t>
            </a:r>
            <a:endParaRPr lang="en-US" sz="1500" dirty="0"/>
          </a:p>
        </p:txBody>
      </p:sp>
      <p:sp>
        <p:nvSpPr>
          <p:cNvPr id="8" name="Text 6"/>
          <p:cNvSpPr txBox="1"/>
          <p:nvPr/>
        </p:nvSpPr>
        <p:spPr>
          <a:xfrm>
            <a:off x="548640" y="3063240"/>
            <a:ext cx="6675120" cy="2148840"/>
          </a:xfrm>
          <a:prstGeom prst="rect">
            <a:avLst/>
          </a:prstGeom>
          <a:noFill/>
          <a:ln/>
        </p:spPr>
        <p:txBody>
          <a:bodyPr wrap="square" lIns="0" tIns="0" rIns="0" bIns="0" rtlCol="0" anchor="t"/>
          <a:lstStyle/>
          <a:p>
            <a:pPr marL="165100" indent="-165100">
              <a:spcAft>
                <a:spcPts val="400"/>
              </a:spcAft>
              <a:buSzPct val="100000"/>
              <a:buChar char="•"/>
            </a:pPr>
            <a:r>
              <a:rPr lang="en-US" sz="1250" b="1" dirty="0">
                <a:solidFill>
                  <a:srgbClr val="4B5563"/>
                </a:solidFill>
                <a:latin typeface="Calibri" pitchFamily="34" charset="0"/>
                <a:ea typeface="Calibri" pitchFamily="34" charset="-122"/>
                <a:cs typeface="Calibri" pitchFamily="34" charset="-120"/>
              </a:rPr>
              <a:t>Baseline: </a:t>
            </a:r>
            <a:r>
              <a:rPr lang="en-US" sz="1250" dirty="0">
                <a:solidFill>
                  <a:srgbClr val="4B5563"/>
                </a:solidFill>
                <a:latin typeface="Calibri" pitchFamily="34" charset="0"/>
                <a:ea typeface="Calibri" pitchFamily="34" charset="-122"/>
                <a:cs typeface="Calibri" pitchFamily="34" charset="-120"/>
              </a:rPr>
              <a:t>hierarchical route × direction × period intercepts; controls x (weekday, market day, weather, year); county-wide day shock u</a:t>
            </a:r>
            <a:r>
              <a:rPr lang="en-US" sz="1250" baseline="-40000" dirty="0">
                <a:solidFill>
                  <a:srgbClr val="4B5563"/>
                </a:solidFill>
                <a:latin typeface="Calibri" pitchFamily="34" charset="0"/>
                <a:ea typeface="Calibri" pitchFamily="34" charset="-122"/>
                <a:cs typeface="Calibri" pitchFamily="34" charset="-120"/>
              </a:rPr>
              <a:t>d</a:t>
            </a:r>
            <a:r>
              <a:rPr lang="en-US" sz="1250" dirty="0">
                <a:solidFill>
                  <a:srgbClr val="4B5563"/>
                </a:solidFill>
                <a:latin typeface="Calibri" pitchFamily="34" charset="0"/>
                <a:ea typeface="Calibri" pitchFamily="34" charset="-122"/>
                <a:cs typeface="Calibri" pitchFamily="34" charset="-120"/>
              </a:rPr>
              <a:t> ~ N(0, σ²).</a:t>
            </a:r>
            <a:endParaRPr lang="en-US" sz="1250" dirty="0"/>
          </a:p>
          <a:p>
            <a:pPr marL="165100" indent="-165100">
              <a:spcAft>
                <a:spcPts val="400"/>
              </a:spcAft>
              <a:buSzPct val="100000"/>
              <a:buChar char="•"/>
            </a:pPr>
            <a:r>
              <a:rPr lang="en-US" sz="1250" b="1" dirty="0">
                <a:solidFill>
                  <a:srgbClr val="4B5563"/>
                </a:solidFill>
                <a:latin typeface="Calibri" pitchFamily="34" charset="0"/>
                <a:ea typeface="Calibri" pitchFamily="34" charset="-122"/>
                <a:cs typeface="Calibri" pitchFamily="34" charset="-120"/>
              </a:rPr>
              <a:t>ρ</a:t>
            </a:r>
            <a:r>
              <a:rPr lang="en-US" sz="1250" b="1" baseline="-40000" dirty="0">
                <a:solidFill>
                  <a:srgbClr val="4B5563"/>
                </a:solidFill>
                <a:latin typeface="Calibri" pitchFamily="34" charset="0"/>
                <a:ea typeface="Calibri" pitchFamily="34" charset="-122"/>
                <a:cs typeface="Calibri" pitchFamily="34" charset="-120"/>
              </a:rPr>
              <a:t>g</a:t>
            </a:r>
            <a:r>
              <a:rPr lang="en-US" sz="1250" dirty="0">
                <a:solidFill>
                  <a:srgbClr val="4B5563"/>
                </a:solidFill>
                <a:latin typeface="Calibri" pitchFamily="34" charset="0"/>
                <a:ea typeface="Calibri" pitchFamily="34" charset="-122"/>
                <a:cs typeface="Calibri" pitchFamily="34" charset="-120"/>
              </a:rPr>
              <a:t>: extra passengers, as a share of baseline, when group g's factor is fully on; </a:t>
            </a:r>
            <a:r>
              <a:rPr lang="en-US" sz="1250" b="1" dirty="0">
                <a:solidFill>
                  <a:srgbClr val="4B5563"/>
                </a:solidFill>
                <a:latin typeface="Calibri" pitchFamily="34" charset="0"/>
                <a:ea typeface="Calibri" pitchFamily="34" charset="-122"/>
                <a:cs typeface="Calibri" pitchFamily="34" charset="-120"/>
              </a:rPr>
              <a:t>δ</a:t>
            </a:r>
            <a:r>
              <a:rPr lang="en-US" sz="1250" b="1" baseline="-40000" dirty="0">
                <a:solidFill>
                  <a:srgbClr val="4B5563"/>
                </a:solidFill>
                <a:latin typeface="Calibri" pitchFamily="34" charset="0"/>
                <a:ea typeface="Calibri" pitchFamily="34" charset="-122"/>
                <a:cs typeface="Calibri" pitchFamily="34" charset="-120"/>
              </a:rPr>
              <a:t>pq</a:t>
            </a:r>
            <a:r>
              <a:rPr lang="en-US" sz="1250" dirty="0">
                <a:solidFill>
                  <a:srgbClr val="4B5563"/>
                </a:solidFill>
                <a:latin typeface="Calibri" pitchFamily="34" charset="0"/>
                <a:ea typeface="Calibri" pitchFamily="34" charset="-122"/>
                <a:cs typeface="Calibri" pitchFamily="34" charset="-120"/>
              </a:rPr>
              <a:t>: overlap, only for screened pairs Π; </a:t>
            </a:r>
            <a:r>
              <a:rPr lang="en-US" sz="1250" b="1" dirty="0">
                <a:solidFill>
                  <a:srgbClr val="4B5563"/>
                </a:solidFill>
                <a:latin typeface="Calibri" pitchFamily="34" charset="0"/>
                <a:ea typeface="Calibri" pitchFamily="34" charset="-122"/>
                <a:cs typeface="Calibri" pitchFamily="34" charset="-120"/>
              </a:rPr>
              <a:t>ρ</a:t>
            </a:r>
            <a:r>
              <a:rPr lang="en-US" sz="1250" b="1" baseline="-40000" dirty="0">
                <a:solidFill>
                  <a:srgbClr val="4B5563"/>
                </a:solidFill>
                <a:latin typeface="Calibri" pitchFamily="34" charset="0"/>
                <a:ea typeface="Calibri" pitchFamily="34" charset="-122"/>
                <a:cs typeface="Calibri" pitchFamily="34" charset="-120"/>
              </a:rPr>
              <a:t>gt</a:t>
            </a:r>
            <a:r>
              <a:rPr lang="en-US" sz="1250" dirty="0">
                <a:solidFill>
                  <a:srgbClr val="4B5563"/>
                </a:solidFill>
                <a:latin typeface="Calibri" pitchFamily="34" charset="0"/>
                <a:ea typeface="Calibri" pitchFamily="34" charset="-122"/>
                <a:cs typeface="Calibri" pitchFamily="34" charset="-120"/>
              </a:rPr>
              <a:t>: ridge-shrunk drift for 2025–26.</a:t>
            </a:r>
            <a:endParaRPr lang="en-US" sz="1250" dirty="0"/>
          </a:p>
          <a:p>
            <a:pPr marL="165100" indent="-165100">
              <a:spcAft>
                <a:spcPts val="400"/>
              </a:spcAft>
              <a:buSzPct val="100000"/>
              <a:buChar char="•"/>
            </a:pPr>
            <a:r>
              <a:rPr lang="en-US" sz="1250" b="1" dirty="0">
                <a:solidFill>
                  <a:srgbClr val="4B5563"/>
                </a:solidFill>
                <a:latin typeface="Calibri" pitchFamily="34" charset="0"/>
                <a:ea typeface="Calibri" pitchFamily="34" charset="-122"/>
                <a:cs typeface="Calibri" pitchFamily="34" charset="-120"/>
              </a:rPr>
              <a:t>Full buses </a:t>
            </a:r>
            <a:r>
              <a:rPr lang="en-US" sz="1250" dirty="0">
                <a:solidFill>
                  <a:srgbClr val="4B5563"/>
                </a:solidFill>
                <a:latin typeface="Calibri" pitchFamily="34" charset="0"/>
                <a:ea typeface="Calibri" pitchFamily="34" charset="-122"/>
                <a:cs typeface="Calibri" pitchFamily="34" charset="-120"/>
              </a:rPr>
              <a:t>contribute Pr(Y ≥ C) to the likelihood; turnover κ comes from tally sheets and is resampled in every draw.</a:t>
            </a:r>
            <a:endParaRPr lang="en-US" sz="1250" dirty="0"/>
          </a:p>
        </p:txBody>
      </p:sp>
      <p:sp>
        <p:nvSpPr>
          <p:cNvPr id="9" name="Text 7"/>
          <p:cNvSpPr txBox="1"/>
          <p:nvPr/>
        </p:nvSpPr>
        <p:spPr>
          <a:xfrm>
            <a:off x="548640" y="5394960"/>
            <a:ext cx="6675120" cy="822960"/>
          </a:xfrm>
          <a:prstGeom prst="rect">
            <a:avLst/>
          </a:prstGeom>
          <a:noFill/>
          <a:ln/>
        </p:spPr>
        <p:txBody>
          <a:bodyPr wrap="square" lIns="0" tIns="0" rIns="0" bIns="0" rtlCol="0" anchor="t"/>
          <a:lstStyle/>
          <a:p>
            <a:pPr indent="0" marL="0">
              <a:buNone/>
            </a:pPr>
            <a:r>
              <a:rPr lang="en-US" sz="1200" i="1" dirty="0">
                <a:solidFill>
                  <a:srgbClr val="C2410C"/>
                </a:solidFill>
                <a:latin typeface="Calibri" pitchFamily="34" charset="0"/>
                <a:ea typeface="Calibri" pitchFamily="34" charset="-122"/>
                <a:cs typeface="Calibri" pitchFamily="34" charset="-120"/>
              </a:rPr>
              <a:t>Why the passenger scale: each term is “an extra group of people”, maps one-to-one to survey rider types, and is what supplementary-run decisions need. Ratio-scale results are reported alongside.</a:t>
            </a:r>
            <a:endParaRPr lang="en-US" sz="1200" dirty="0"/>
          </a:p>
        </p:txBody>
      </p:sp>
      <p:sp>
        <p:nvSpPr>
          <p:cNvPr id="10" name="Text 8"/>
          <p:cNvSpPr txBox="1"/>
          <p:nvPr/>
        </p:nvSpPr>
        <p:spPr>
          <a:xfrm>
            <a:off x="7635240" y="1325880"/>
            <a:ext cx="40233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EFFECTS AS COUNTERFACTUAL SWITCHES</a:t>
            </a:r>
            <a:endParaRPr lang="en-US" sz="1000" dirty="0"/>
          </a:p>
        </p:txBody>
      </p:sp>
      <p:sp>
        <p:nvSpPr>
          <p:cNvPr id="11" name="Text 9"/>
          <p:cNvSpPr txBox="1"/>
          <p:nvPr/>
        </p:nvSpPr>
        <p:spPr>
          <a:xfrm>
            <a:off x="7635240" y="1572768"/>
            <a:ext cx="4023360" cy="237744"/>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(illustrative, passengers per run above baseline)</a:t>
            </a:r>
            <a:endParaRPr lang="en-US" sz="950" dirty="0"/>
          </a:p>
        </p:txBody>
      </p:sp>
      <p:sp>
        <p:nvSpPr>
          <p:cNvPr id="12" name="Shape 10"/>
          <p:cNvSpPr/>
          <p:nvPr/>
        </p:nvSpPr>
        <p:spPr>
          <a:xfrm>
            <a:off x="7818120" y="3529584"/>
            <a:ext cx="640080" cy="1316736"/>
          </a:xfrm>
          <a:prstGeom prst="rect">
            <a:avLst/>
          </a:prstGeom>
          <a:solidFill>
            <a:srgbClr val="2A78D6"/>
          </a:solidFill>
          <a:ln w="12700">
            <a:solidFill>
              <a:srgbClr val="FFFFFF"/>
            </a:solidFill>
            <a:prstDash val="solid"/>
          </a:ln>
        </p:spPr>
      </p:sp>
      <p:sp>
        <p:nvSpPr>
          <p:cNvPr id="13" name="Text 11"/>
          <p:cNvSpPr txBox="1"/>
          <p:nvPr/>
        </p:nvSpPr>
        <p:spPr>
          <a:xfrm>
            <a:off x="7635240" y="4901184"/>
            <a:ext cx="1005840" cy="256032"/>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 only</a:t>
            </a:r>
            <a:endParaRPr lang="en-US" sz="1000" dirty="0"/>
          </a:p>
        </p:txBody>
      </p:sp>
      <p:sp>
        <p:nvSpPr>
          <p:cNvPr id="14" name="Shape 12"/>
          <p:cNvSpPr/>
          <p:nvPr/>
        </p:nvSpPr>
        <p:spPr>
          <a:xfrm>
            <a:off x="8796528" y="3749040"/>
            <a:ext cx="640080" cy="1097280"/>
          </a:xfrm>
          <a:prstGeom prst="rect">
            <a:avLst/>
          </a:prstGeom>
          <a:solidFill>
            <a:srgbClr val="EB6834"/>
          </a:solidFill>
          <a:ln w="12700">
            <a:solidFill>
              <a:srgbClr val="FFFFFF"/>
            </a:solidFill>
            <a:prstDash val="solid"/>
          </a:ln>
        </p:spPr>
      </p:sp>
      <p:sp>
        <p:nvSpPr>
          <p:cNvPr id="15" name="Text 13"/>
          <p:cNvSpPr txBox="1"/>
          <p:nvPr/>
        </p:nvSpPr>
        <p:spPr>
          <a:xfrm>
            <a:off x="8613648" y="4901184"/>
            <a:ext cx="1005840" cy="256032"/>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R only</a:t>
            </a:r>
            <a:endParaRPr lang="en-US" sz="1000" dirty="0"/>
          </a:p>
        </p:txBody>
      </p:sp>
      <p:sp>
        <p:nvSpPr>
          <p:cNvPr id="16" name="Shape 14"/>
          <p:cNvSpPr/>
          <p:nvPr/>
        </p:nvSpPr>
        <p:spPr>
          <a:xfrm>
            <a:off x="9774936" y="3529584"/>
            <a:ext cx="640080" cy="1316736"/>
          </a:xfrm>
          <a:prstGeom prst="rect">
            <a:avLst/>
          </a:prstGeom>
          <a:solidFill>
            <a:srgbClr val="2A78D6"/>
          </a:solidFill>
          <a:ln w="12700">
            <a:solidFill>
              <a:srgbClr val="FFFFFF"/>
            </a:solidFill>
            <a:prstDash val="solid"/>
          </a:ln>
        </p:spPr>
      </p:sp>
      <p:sp>
        <p:nvSpPr>
          <p:cNvPr id="17" name="Shape 15"/>
          <p:cNvSpPr/>
          <p:nvPr/>
        </p:nvSpPr>
        <p:spPr>
          <a:xfrm>
            <a:off x="9774936" y="2432304"/>
            <a:ext cx="640080" cy="1097280"/>
          </a:xfrm>
          <a:prstGeom prst="rect">
            <a:avLst/>
          </a:prstGeom>
          <a:solidFill>
            <a:srgbClr val="EB6834"/>
          </a:solidFill>
          <a:ln w="12700">
            <a:solidFill>
              <a:srgbClr val="FFFFFF"/>
            </a:solidFill>
            <a:prstDash val="solid"/>
          </a:ln>
        </p:spPr>
      </p:sp>
      <p:sp>
        <p:nvSpPr>
          <p:cNvPr id="18" name="Text 16"/>
          <p:cNvSpPr txBox="1"/>
          <p:nvPr/>
        </p:nvSpPr>
        <p:spPr>
          <a:xfrm>
            <a:off x="9592056" y="4901184"/>
            <a:ext cx="1005840" cy="256032"/>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Sum</a:t>
            </a:r>
            <a:endParaRPr lang="en-US" sz="1000" dirty="0"/>
          </a:p>
        </p:txBody>
      </p:sp>
      <p:sp>
        <p:nvSpPr>
          <p:cNvPr id="19" name="Shape 17"/>
          <p:cNvSpPr/>
          <p:nvPr/>
        </p:nvSpPr>
        <p:spPr>
          <a:xfrm>
            <a:off x="10753344" y="2871216"/>
            <a:ext cx="640080" cy="1975104"/>
          </a:xfrm>
          <a:prstGeom prst="rect">
            <a:avLst/>
          </a:prstGeom>
          <a:solidFill>
            <a:srgbClr val="1C4E80"/>
          </a:solidFill>
          <a:ln w="12700">
            <a:solidFill>
              <a:srgbClr val="FFFFFF"/>
            </a:solidFill>
            <a:prstDash val="solid"/>
          </a:ln>
        </p:spPr>
      </p:sp>
      <p:sp>
        <p:nvSpPr>
          <p:cNvPr id="20" name="Text 18"/>
          <p:cNvSpPr txBox="1"/>
          <p:nvPr/>
        </p:nvSpPr>
        <p:spPr>
          <a:xfrm>
            <a:off x="10570464" y="4901184"/>
            <a:ext cx="1005840" cy="256032"/>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S + R on</a:t>
            </a:r>
            <a:endParaRPr lang="en-US" sz="1000" dirty="0"/>
          </a:p>
        </p:txBody>
      </p:sp>
      <p:sp>
        <p:nvSpPr>
          <p:cNvPr id="21" name="Shape 19"/>
          <p:cNvSpPr/>
          <p:nvPr/>
        </p:nvSpPr>
        <p:spPr>
          <a:xfrm>
            <a:off x="7726680" y="4846320"/>
            <a:ext cx="3886200" cy="0"/>
          </a:xfrm>
          <a:prstGeom prst="line">
            <a:avLst/>
          </a:prstGeom>
          <a:noFill/>
          <a:ln w="10160">
            <a:solidFill>
              <a:srgbClr val="4B5563"/>
            </a:solidFill>
            <a:prstDash val="solid"/>
          </a:ln>
        </p:spPr>
      </p:sp>
      <p:sp>
        <p:nvSpPr>
          <p:cNvPr id="22" name="Shape 20"/>
          <p:cNvSpPr/>
          <p:nvPr/>
        </p:nvSpPr>
        <p:spPr>
          <a:xfrm>
            <a:off x="10698480" y="2432304"/>
            <a:ext cx="914400" cy="0"/>
          </a:xfrm>
          <a:prstGeom prst="line">
            <a:avLst/>
          </a:prstGeom>
          <a:noFill/>
          <a:ln w="12700">
            <a:solidFill>
              <a:srgbClr val="C2410C"/>
            </a:solidFill>
            <a:prstDash val="dash"/>
          </a:ln>
        </p:spPr>
      </p:sp>
      <p:sp>
        <p:nvSpPr>
          <p:cNvPr id="23" name="Text 21"/>
          <p:cNvSpPr txBox="1"/>
          <p:nvPr/>
        </p:nvSpPr>
        <p:spPr>
          <a:xfrm>
            <a:off x="10652760" y="2478024"/>
            <a:ext cx="1051560" cy="365760"/>
          </a:xfrm>
          <a:prstGeom prst="rect">
            <a:avLst/>
          </a:prstGeom>
          <a:noFill/>
          <a:ln/>
        </p:spPr>
        <p:txBody>
          <a:bodyPr wrap="square" lIns="0" tIns="0" rIns="0" bIns="0" rtlCol="0" anchor="ctr"/>
          <a:lstStyle/>
          <a:p>
            <a:pPr algn="ctr" indent="0" marL="0">
              <a:buNone/>
            </a:pPr>
            <a:r>
              <a:rPr lang="en-US" sz="900" b="1" dirty="0">
                <a:solidFill>
                  <a:srgbClr val="C2410C"/>
                </a:solidFill>
                <a:latin typeface="Calibri" pitchFamily="34" charset="0"/>
                <a:ea typeface="Calibri" pitchFamily="34" charset="-122"/>
                <a:cs typeface="Calibri" pitchFamily="34" charset="-120"/>
              </a:rPr>
              <a:t>overlap &lt; 0 (offset)</a:t>
            </a:r>
            <a:endParaRPr lang="en-US" sz="900" dirty="0"/>
          </a:p>
        </p:txBody>
      </p:sp>
      <p:sp>
        <p:nvSpPr>
          <p:cNvPr id="24" name="Text 22"/>
          <p:cNvSpPr txBox="1"/>
          <p:nvPr/>
        </p:nvSpPr>
        <p:spPr>
          <a:xfrm>
            <a:off x="7635240" y="5257800"/>
            <a:ext cx="4023360" cy="1051560"/>
          </a:xfrm>
          <a:prstGeom prst="rect">
            <a:avLst/>
          </a:prstGeom>
          <a:noFill/>
          <a:ln/>
        </p:spPr>
        <p:txBody>
          <a:bodyPr wrap="square" lIns="0" tIns="0" rIns="0" bIns="0" rtlCol="0" anchor="t"/>
          <a:lstStyle/>
          <a:p>
            <a:pPr marL="165100" indent="-165100">
              <a:spcAft>
                <a:spcPts val="400"/>
              </a:spcAft>
              <a:buSzPct val="100000"/>
              <a:buChar char="•"/>
            </a:pPr>
            <a:r>
              <a:rPr lang="en-US" sz="1050" b="1" dirty="0">
                <a:solidFill>
                  <a:srgbClr val="4B5563"/>
                </a:solidFill>
                <a:latin typeface="Calibri" pitchFamily="34" charset="0"/>
                <a:ea typeface="Calibri" pitchFamily="34" charset="-122"/>
                <a:cs typeface="Calibri" pitchFamily="34" charset="-120"/>
              </a:rPr>
              <a:t>Independent: </a:t>
            </a:r>
            <a:r>
              <a:rPr lang="en-US" sz="1050" dirty="0">
                <a:solidFill>
                  <a:srgbClr val="4B5563"/>
                </a:solidFill>
                <a:latin typeface="Calibri" pitchFamily="34" charset="0"/>
                <a:ea typeface="Calibri" pitchFamily="34" charset="-122"/>
                <a:cs typeface="Calibri" pitchFamily="34" charset="-120"/>
              </a:rPr>
              <a:t>switch on one factor only.</a:t>
            </a:r>
            <a:endParaRPr lang="en-US" sz="1050" dirty="0"/>
          </a:p>
          <a:p>
            <a:pPr marL="165100" indent="-165100">
              <a:spcAft>
                <a:spcPts val="400"/>
              </a:spcAft>
              <a:buSzPct val="100000"/>
              <a:buChar char="•"/>
            </a:pPr>
            <a:r>
              <a:rPr lang="en-US" sz="1050" b="1" dirty="0">
                <a:solidFill>
                  <a:srgbClr val="4B5563"/>
                </a:solidFill>
                <a:latin typeface="Calibri" pitchFamily="34" charset="0"/>
                <a:ea typeface="Calibri" pitchFamily="34" charset="-122"/>
                <a:cs typeface="Calibri" pitchFamily="34" charset="-120"/>
              </a:rPr>
              <a:t>Combined: </a:t>
            </a:r>
            <a:r>
              <a:rPr lang="en-US" sz="1050" dirty="0">
                <a:solidFill>
                  <a:srgbClr val="4B5563"/>
                </a:solidFill>
                <a:latin typeface="Calibri" pitchFamily="34" charset="0"/>
                <a:ea typeface="Calibri" pitchFamily="34" charset="-122"/>
                <a:cs typeface="Calibri" pitchFamily="34" charset="-120"/>
              </a:rPr>
              <a:t>switch on all factors in an overlap cell.</a:t>
            </a:r>
            <a:endParaRPr lang="en-US" sz="1050" dirty="0"/>
          </a:p>
          <a:p>
            <a:pPr marL="165100" indent="-165100">
              <a:spcAft>
                <a:spcPts val="400"/>
              </a:spcAft>
              <a:buSzPct val="100000"/>
              <a:buChar char="•"/>
            </a:pPr>
            <a:r>
              <a:rPr lang="en-US" sz="1050" b="1" dirty="0">
                <a:solidFill>
                  <a:srgbClr val="4B5563"/>
                </a:solidFill>
                <a:latin typeface="Calibri" pitchFamily="34" charset="0"/>
                <a:ea typeface="Calibri" pitchFamily="34" charset="-122"/>
                <a:cs typeface="Calibri" pitchFamily="34" charset="-120"/>
              </a:rPr>
              <a:t>Overlap = combined − Σ independent: </a:t>
            </a:r>
            <a:r>
              <a:rPr lang="en-US" sz="1050" dirty="0">
                <a:solidFill>
                  <a:srgbClr val="4B5563"/>
                </a:solidFill>
                <a:latin typeface="Calibri" pitchFamily="34" charset="0"/>
                <a:ea typeface="Calibri" pitchFamily="34" charset="-122"/>
                <a:cs typeface="Calibri" pitchFamily="34" charset="-120"/>
              </a:rPr>
              <a:t>&gt;0 amplify; &lt;0 offset (e.g., students ride once on a holiday Sunday); ≈0 additive.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3 · QUANTIFY</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Choosing the estimator by synthetic backtest, not by preference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31 / 39</a:t>
            </a:r>
            <a:endParaRPr lang="en-US" sz="850" dirty="0"/>
          </a:p>
        </p:txBody>
      </p:sp>
      <p:sp>
        <p:nvSpPr>
          <p:cNvPr id="6" name="Shape 4"/>
          <p:cNvSpPr/>
          <p:nvPr/>
        </p:nvSpPr>
        <p:spPr>
          <a:xfrm>
            <a:off x="7711135" y="329184"/>
            <a:ext cx="3931920" cy="256032"/>
          </a:xfrm>
          <a:prstGeom prst="roundRect">
            <a:avLst>
              <a:gd name="adj" fmla="val 21429"/>
            </a:avLst>
          </a:prstGeom>
          <a:solidFill>
            <a:srgbClr val="FFFFFF"/>
          </a:solidFill>
          <a:ln w="11430">
            <a:solidFill>
              <a:srgbClr val="7C5CA8"/>
            </a:solidFill>
            <a:prstDash val="solid"/>
          </a:ln>
        </p:spPr>
      </p:sp>
      <p:sp>
        <p:nvSpPr>
          <p:cNvPr id="7" name="Text 5"/>
          <p:cNvSpPr txBox="1"/>
          <p:nvPr/>
        </p:nvSpPr>
        <p:spPr>
          <a:xfrm>
            <a:off x="7711135" y="329184"/>
            <a:ext cx="3931920" cy="256032"/>
          </a:xfrm>
          <a:prstGeom prst="rect">
            <a:avLst/>
          </a:prstGeom>
          <a:noFill/>
          <a:ln/>
        </p:spPr>
        <p:txBody>
          <a:bodyPr wrap="square" lIns="0" tIns="0" rIns="0" bIns="0" rtlCol="0" anchor="ctr"/>
          <a:lstStyle/>
          <a:p>
            <a:pPr algn="ctr" indent="0" marL="0">
              <a:buNone/>
            </a:pPr>
            <a:r>
              <a:rPr lang="en-US" sz="900" b="1" dirty="0">
                <a:solidFill>
                  <a:srgbClr val="6B4A99"/>
                </a:solidFill>
                <a:latin typeface="Calibri" pitchFamily="34" charset="0"/>
                <a:ea typeface="Calibri" pitchFamily="34" charset="-122"/>
                <a:cs typeface="Calibri" pitchFamily="34" charset="-120"/>
              </a:rPr>
              <a:t>SYNTHETIC DATA · tests the method, not Xinhuang ridership</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6766560" cy="914400"/>
        </p:xfrm>
        <a:graphic>
          <a:graphicData uri="http://schemas.openxmlformats.org/drawingml/2006/table">
            <a:tbl>
              <a:tblPr/>
              <a:tblGrid>
                <a:gridCol w="2377440"/>
                <a:gridCol w="548640"/>
                <a:gridCol w="548640"/>
                <a:gridCol w="548640"/>
                <a:gridCol w="548640"/>
                <a:gridCol w="548640"/>
                <a:gridCol w="548640"/>
                <a:gridCol w="548640"/>
                <a:gridCol w="54864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4E80"/>
                    </a:solidFill>
                  </a:tcPr>
                </a:tc>
                <a:tc gridSpan="4">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Combined-effect error</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4E80"/>
                    </a:solidFill>
                  </a:tcPr>
                </a:tc>
                <a:tc hMerge="1">
                  <a:tcPr/>
                </a:tc>
                <a:tc hMerge="1">
                  <a:tcPr/>
                </a:tc>
                <a:tc hMerge="1">
                  <a:tcPr/>
                </a:tc>
                <a:tc gridSpan="4">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Independent-effect error</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4E80"/>
                    </a:solidFill>
                  </a:tcPr>
                </a:tc>
                <a:tc hMerge="1">
                  <a:tcPr/>
                </a:tc>
                <a:tc hMerge="1">
                  <a:tcPr/>
                </a:tc>
                <a:tc hMerge="1">
                  <a:tcPr/>
                </a:tc>
              </a:tr>
              <a:tr h="310896">
                <a:tc>
                  <a:txBody>
                    <a:bodyPr/>
                    <a:lstStyle/>
                    <a:p>
                      <a:pPr indent="0" marL="0">
                        <a:buNone/>
                      </a:pP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C</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C</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1F2937"/>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5F8"/>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M1 Log · main effects</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0.21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481A"/>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481A"/>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0.21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481A"/>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M2 Count · main effects</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M3 Log · interactions</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M4 Count · overlaps</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0.10</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M5 Log · inter. · censored</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M6 Count · overl. · censored</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0.03</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0.13</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0.03</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M7 Gradient boosting</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M8 GA2M (EBM)</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0.18</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6F2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BF8E"/>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M9 M6 + yearly drift</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0.13</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r>
              <a:tr h="310896">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M10 M9 + screen (penalised)</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FFFFFF"/>
                          </a:solidFill>
                          <a:latin typeface="Calibri" pitchFamily="34" charset="0"/>
                          <a:ea typeface="Calibri" pitchFamily="34" charset="-122"/>
                          <a:cs typeface="Calibri" pitchFamily="34" charset="-120"/>
                        </a:rPr>
                        <a:t>0.13</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9A5B"/>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r>
              <a:tr h="310896">
                <a:tc>
                  <a:txBody>
                    <a:bodyPr/>
                    <a:lstStyle/>
                    <a:p>
                      <a:pPr indent="0" marL="0">
                        <a:buNone/>
                      </a:pPr>
                      <a:r>
                        <a:rPr lang="en-US" sz="950" b="1" dirty="0">
                          <a:solidFill>
                            <a:srgbClr val="1C4E80"/>
                          </a:solidFill>
                          <a:latin typeface="Calibri" pitchFamily="34" charset="0"/>
                          <a:ea typeface="Calibri" pitchFamily="34" charset="-122"/>
                          <a:cs typeface="Calibri" pitchFamily="34" charset="-120"/>
                        </a:rPr>
                        <a:t>M11/12 Screened, unpenalised</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0.09</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DDBF"/>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0.05</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c>
                  <a:txBody>
                    <a:bodyPr/>
                    <a:lstStyle/>
                    <a:p>
                      <a:pPr algn="ctr" indent="0" marL="0">
                        <a:buNone/>
                      </a:pPr>
                      <a:r>
                        <a:rPr lang="en-US" sz="950" b="1" dirty="0">
                          <a:solidFill>
                            <a:srgbClr val="1F2937"/>
                          </a:solidFill>
                          <a:latin typeface="Calibri" pitchFamily="34" charset="0"/>
                          <a:ea typeface="Calibri" pitchFamily="34" charset="-122"/>
                          <a:cs typeface="Calibri" pitchFamily="34" charset="-120"/>
                        </a:rPr>
                        <a:t>0.04</a:t>
                      </a:r>
                      <a:endParaRPr lang="en-US" sz="950" dirty="0">
                        <a:latin typeface="Calibri" charset="0"/>
                        <a:ea typeface="Calibri" charset="0"/>
                        <a:cs typeface="Calibri" charset="0"/>
                      </a:endParaRPr>
                    </a:p>
                  </a:txBody>
                  <a:tcPr marL="63500" marR="635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E8"/>
                    </a:solidFill>
                  </a:tcPr>
                </a:tc>
              </a:tr>
            </a:tbl>
          </a:graphicData>
        </a:graphic>
      </p:graphicFrame>
      <p:sp>
        <p:nvSpPr>
          <p:cNvPr id="9" name="Text 6"/>
          <p:cNvSpPr txBox="1"/>
          <p:nvPr/>
        </p:nvSpPr>
        <p:spPr>
          <a:xfrm>
            <a:off x="548640" y="5504688"/>
            <a:ext cx="6766560" cy="749808"/>
          </a:xfrm>
          <a:prstGeom prst="rect">
            <a:avLst/>
          </a:prstGeom>
          <a:noFill/>
          <a:ln/>
        </p:spPr>
        <p:txBody>
          <a:bodyPr wrap="square" lIns="0" tIns="0" rIns="0" bIns="0" rtlCol="0" anchor="t"/>
          <a:lstStyle/>
          <a:p>
            <a:pPr indent="0" marL="0">
              <a:buNone/>
            </a:pPr>
            <a:r>
              <a:rPr lang="en-US" sz="950" i="1" dirty="0">
                <a:solidFill>
                  <a:srgbClr val="8B95A1"/>
                </a:solidFill>
                <a:latin typeface="Calibri" pitchFamily="34" charset="0"/>
                <a:ea typeface="Calibri" pitchFamily="34" charset="-122"/>
                <a:cs typeface="Calibri" pitchFamily="34" charset="-120"/>
              </a:rPr>
              <a:t>Relative RMSE on two-factor cells; 50 synthetic ledgers per world on the real timetable × calendar (115,872 runs). Worlds: A additive with absorption · B log-scale synergy · C sparse-cell synergy · D effects drift by year. M11/12 = identifiability screen, unpenalised overlaps, censoring, yearly drift, scale chosen by likelihood.</a:t>
            </a:r>
            <a:endParaRPr lang="en-US" sz="950" dirty="0"/>
          </a:p>
        </p:txBody>
      </p:sp>
      <p:sp>
        <p:nvSpPr>
          <p:cNvPr id="10" name="Text 7"/>
          <p:cNvSpPr txBox="1"/>
          <p:nvPr/>
        </p:nvSpPr>
        <p:spPr>
          <a:xfrm>
            <a:off x="7589520" y="1325880"/>
            <a:ext cx="4069080" cy="2834640"/>
          </a:xfrm>
          <a:prstGeom prst="rect">
            <a:avLst/>
          </a:prstGeom>
          <a:noFill/>
          <a:ln/>
        </p:spPr>
        <p:txBody>
          <a:bodyPr wrap="square" lIns="0" tIns="0" rIns="0" bIns="0" rtlCol="0" anchor="t"/>
          <a:lstStyle/>
          <a:p>
            <a:pPr marL="165100" indent="-165100">
              <a:spcAft>
                <a:spcPts val="600"/>
              </a:spcAft>
              <a:buSzPct val="100000"/>
              <a:buChar char="•"/>
            </a:pPr>
            <a:r>
              <a:rPr lang="en-US" sz="1200" b="1" dirty="0">
                <a:solidFill>
                  <a:srgbClr val="4B5563"/>
                </a:solidFill>
                <a:latin typeface="Calibri" pitchFamily="34" charset="0"/>
                <a:ea typeface="Calibri" pitchFamily="34" charset="-122"/>
                <a:cs typeface="Calibri" pitchFamily="34" charset="-120"/>
              </a:rPr>
              <a:t>Forecast scores cannot pick the method: </a:t>
            </a:r>
            <a:r>
              <a:rPr lang="en-US" sz="1200" dirty="0">
                <a:solidFill>
                  <a:srgbClr val="4B5563"/>
                </a:solidFill>
                <a:latin typeface="Calibri" pitchFamily="34" charset="0"/>
                <a:ea typeface="Calibri" pitchFamily="34" charset="-122"/>
                <a:cs typeface="Calibri" pitchFamily="34" charset="-120"/>
              </a:rPr>
              <a:t>CRPS differs by ≤1% across count models, yet effect estimates differ several-fold.</a:t>
            </a:r>
            <a:endParaRPr lang="en-US" sz="1200" dirty="0"/>
          </a:p>
          <a:p>
            <a:pPr marL="165100" indent="-165100">
              <a:spcAft>
                <a:spcPts val="600"/>
              </a:spcAft>
              <a:buSzPct val="100000"/>
              <a:buChar char="•"/>
            </a:pPr>
            <a:r>
              <a:rPr lang="en-US" sz="1200" b="1" dirty="0">
                <a:solidFill>
                  <a:srgbClr val="4B5563"/>
                </a:solidFill>
                <a:latin typeface="Calibri" pitchFamily="34" charset="0"/>
                <a:ea typeface="Calibri" pitchFamily="34" charset="-122"/>
                <a:cs typeface="Calibri" pitchFamily="34" charset="-120"/>
              </a:rPr>
              <a:t>Right scale beats more interactions: </a:t>
            </a:r>
            <a:r>
              <a:rPr lang="en-US" sz="1200" dirty="0">
                <a:solidFill>
                  <a:srgbClr val="4B5563"/>
                </a:solidFill>
                <a:latin typeface="Calibri" pitchFamily="34" charset="0"/>
                <a:ea typeface="Calibri" pitchFamily="34" charset="-122"/>
                <a:cs typeface="Calibri" pitchFamily="34" charset="-120"/>
              </a:rPr>
              <a:t>independent-effect error 0.034 (count scale) vs 0.117 (log scale) in world A.</a:t>
            </a:r>
            <a:endParaRPr lang="en-US" sz="1200" dirty="0"/>
          </a:p>
          <a:p>
            <a:pPr marL="165100" indent="-165100">
              <a:spcAft>
                <a:spcPts val="600"/>
              </a:spcAft>
              <a:buSzPct val="100000"/>
              <a:buChar char="•"/>
            </a:pPr>
            <a:r>
              <a:rPr lang="en-US" sz="1200" b="1" dirty="0">
                <a:solidFill>
                  <a:srgbClr val="4B5563"/>
                </a:solidFill>
                <a:latin typeface="Calibri" pitchFamily="34" charset="0"/>
                <a:ea typeface="Calibri" pitchFamily="34" charset="-122"/>
                <a:cs typeface="Calibri" pitchFamily="34" charset="-120"/>
              </a:rPr>
              <a:t>Censoring removes bias: </a:t>
            </a:r>
            <a:r>
              <a:rPr lang="en-US" sz="1200" dirty="0">
                <a:solidFill>
                  <a:srgbClr val="4B5563"/>
                </a:solidFill>
                <a:latin typeface="Calibri" pitchFamily="34" charset="0"/>
                <a:ea typeface="Calibri" pitchFamily="34" charset="-122"/>
                <a:cs typeface="Calibri" pitchFamily="34" charset="-120"/>
              </a:rPr>
              <a:t>Spring Festival cell −14.2% → −0.8%.</a:t>
            </a:r>
            <a:endParaRPr lang="en-US" sz="1200" dirty="0"/>
          </a:p>
          <a:p>
            <a:pPr marL="165100" indent="-165100">
              <a:spcAft>
                <a:spcPts val="600"/>
              </a:spcAft>
              <a:buSzPct val="100000"/>
              <a:buChar char="•"/>
            </a:pPr>
            <a:r>
              <a:rPr lang="en-US" sz="1200" b="1" dirty="0">
                <a:solidFill>
                  <a:srgbClr val="4B5563"/>
                </a:solidFill>
                <a:latin typeface="Calibri" pitchFamily="34" charset="0"/>
                <a:ea typeface="Calibri" pitchFamily="34" charset="-122"/>
                <a:cs typeface="Calibri" pitchFamily="34" charset="-120"/>
              </a:rPr>
              <a:t>Penalising overlaps hides real absorption: </a:t>
            </a:r>
            <a:r>
              <a:rPr lang="en-US" sz="1200" dirty="0">
                <a:solidFill>
                  <a:srgbClr val="4B5563"/>
                </a:solidFill>
                <a:latin typeface="Calibri" pitchFamily="34" charset="0"/>
                <a:ea typeface="Calibri" pitchFamily="34" charset="-122"/>
                <a:cs typeface="Calibri" pitchFamily="34" charset="-120"/>
              </a:rPr>
              <a:t>combined-effect bias +7.1% vs −0.5% unpenalised.</a:t>
            </a:r>
            <a:endParaRPr lang="en-US" sz="1200" dirty="0"/>
          </a:p>
        </p:txBody>
      </p:sp>
      <p:sp>
        <p:nvSpPr>
          <p:cNvPr id="11" name="Shape 8"/>
          <p:cNvSpPr/>
          <p:nvPr/>
        </p:nvSpPr>
        <p:spPr>
          <a:xfrm>
            <a:off x="7589520" y="4251960"/>
            <a:ext cx="4069080" cy="2011680"/>
          </a:xfrm>
          <a:prstGeom prst="roundRect">
            <a:avLst>
              <a:gd name="adj" fmla="val 3636"/>
            </a:avLst>
          </a:prstGeom>
          <a:solidFill>
            <a:srgbClr val="E3ECF6"/>
          </a:solidFill>
          <a:ln w="12700">
            <a:solidFill>
              <a:srgbClr val="E3ECF6"/>
            </a:solidFill>
            <a:prstDash val="solid"/>
          </a:ln>
        </p:spPr>
      </p:sp>
      <p:sp>
        <p:nvSpPr>
          <p:cNvPr id="12" name="Text 9"/>
          <p:cNvSpPr txBox="1"/>
          <p:nvPr/>
        </p:nvSpPr>
        <p:spPr>
          <a:xfrm>
            <a:off x="7680960" y="4297680"/>
            <a:ext cx="3886200" cy="1920240"/>
          </a:xfrm>
          <a:prstGeom prst="rect">
            <a:avLst/>
          </a:prstGeom>
          <a:noFill/>
          <a:ln/>
        </p:spPr>
        <p:txBody>
          <a:bodyPr wrap="square" lIns="0" tIns="0" rIns="0" bIns="0" rtlCol="0" anchor="t"/>
          <a:lstStyle/>
          <a:p>
            <a:pPr algn="l" indent="0" marL="0">
              <a:buNone/>
            </a:pPr>
            <a:r>
              <a:rPr lang="en-US" sz="1200" b="1" dirty="0">
                <a:solidFill>
                  <a:srgbClr val="1C4E80"/>
                </a:solidFill>
                <a:latin typeface="Calibri" pitchFamily="34" charset="0"/>
                <a:ea typeface="Calibri" pitchFamily="34" charset="-122"/>
                <a:cs typeface="Calibri" pitchFamily="34" charset="-120"/>
              </a:rPr>
              <a:t>Frozen choice (1 Jan 2027): M11/12</a:t>
            </a:r>
            <a:endParaRPr lang="en-US" sz="1200" dirty="0"/>
          </a:p>
          <a:p>
            <a:pPr algn="l" indent="0" marL="0">
              <a:buNone/>
            </a:pPr>
            <a:r>
              <a:rPr lang="en-US" sz="1200" dirty="0">
                <a:solidFill>
                  <a:srgbClr val="1F2937"/>
                </a:solidFill>
                <a:latin typeface="Calibri" pitchFamily="34" charset="0"/>
                <a:ea typeface="Calibri" pitchFamily="34" charset="-122"/>
                <a:cs typeface="Calibri" pitchFamily="34" charset="-120"/>
              </a:rPr>
              <a:t>Best worst case on both criteria (≤0.09 combined, ≤0.05 independent). Intervals widened ×2.3 after backtest; leave-one-world-out coverage ≥0.93. M10, M6 and M2 kept as sensitivity checks. Testing also exposed a worker-direction coding error (slide 24).</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4 · FORECAST</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Forecasting every run 1–7 days ahead — and keeping daily totals honest</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32 / 39</a:t>
            </a:r>
            <a:endParaRPr lang="en-US" sz="850" dirty="0"/>
          </a:p>
        </p:txBody>
      </p:sp>
      <p:sp>
        <p:nvSpPr>
          <p:cNvPr id="6" name="Shape 4"/>
          <p:cNvSpPr/>
          <p:nvPr/>
        </p:nvSpPr>
        <p:spPr>
          <a:xfrm>
            <a:off x="7711135" y="329184"/>
            <a:ext cx="3931920" cy="256032"/>
          </a:xfrm>
          <a:prstGeom prst="roundRect">
            <a:avLst>
              <a:gd name="adj" fmla="val 21429"/>
            </a:avLst>
          </a:prstGeom>
          <a:solidFill>
            <a:srgbClr val="FFFFFF"/>
          </a:solidFill>
          <a:ln w="11430">
            <a:solidFill>
              <a:srgbClr val="7C5CA8"/>
            </a:solidFill>
            <a:prstDash val="solid"/>
          </a:ln>
        </p:spPr>
      </p:sp>
      <p:sp>
        <p:nvSpPr>
          <p:cNvPr id="7" name="Text 5"/>
          <p:cNvSpPr txBox="1"/>
          <p:nvPr/>
        </p:nvSpPr>
        <p:spPr>
          <a:xfrm>
            <a:off x="7711135" y="329184"/>
            <a:ext cx="3931920" cy="256032"/>
          </a:xfrm>
          <a:prstGeom prst="rect">
            <a:avLst/>
          </a:prstGeom>
          <a:noFill/>
          <a:ln/>
        </p:spPr>
        <p:txBody>
          <a:bodyPr wrap="square" lIns="0" tIns="0" rIns="0" bIns="0" rtlCol="0" anchor="ctr"/>
          <a:lstStyle/>
          <a:p>
            <a:pPr algn="ctr" indent="0" marL="0">
              <a:buNone/>
            </a:pPr>
            <a:r>
              <a:rPr lang="en-US" sz="900" b="1" dirty="0">
                <a:solidFill>
                  <a:srgbClr val="6B4A99"/>
                </a:solidFill>
                <a:latin typeface="Calibri" pitchFamily="34" charset="0"/>
                <a:ea typeface="Calibri" pitchFamily="34" charset="-122"/>
                <a:cs typeface="Calibri" pitchFamily="34" charset="-120"/>
              </a:rPr>
              <a:t>SYNTHETIC DATA · tests the method, not Xinhuang ridership</a:t>
            </a:r>
            <a:endParaRPr lang="en-US" sz="900" dirty="0"/>
          </a:p>
        </p:txBody>
      </p:sp>
      <p:sp>
        <p:nvSpPr>
          <p:cNvPr id="8" name="Text 6"/>
          <p:cNvSpPr txBox="1"/>
          <p:nvPr/>
        </p:nvSpPr>
        <p:spPr>
          <a:xfrm>
            <a:off x="548640" y="1325880"/>
            <a:ext cx="58521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HOW A FORECAST IS DRAWN (REPEATED 300 TIMES)</a:t>
            </a:r>
            <a:endParaRPr lang="en-US" sz="1000" dirty="0"/>
          </a:p>
        </p:txBody>
      </p:sp>
      <p:sp>
        <p:nvSpPr>
          <p:cNvPr id="9" name="Shape 7"/>
          <p:cNvSpPr/>
          <p:nvPr/>
        </p:nvSpPr>
        <p:spPr>
          <a:xfrm>
            <a:off x="548640" y="1645920"/>
            <a:ext cx="384048" cy="384048"/>
          </a:xfrm>
          <a:prstGeom prst="roundRect">
            <a:avLst>
              <a:gd name="adj" fmla="val 19048"/>
            </a:avLst>
          </a:prstGeom>
          <a:solidFill>
            <a:srgbClr val="1C4E80"/>
          </a:solidFill>
          <a:ln w="12700">
            <a:solidFill>
              <a:srgbClr val="1C4E80"/>
            </a:solidFill>
            <a:prstDash val="solid"/>
          </a:ln>
        </p:spPr>
      </p:sp>
      <p:sp>
        <p:nvSpPr>
          <p:cNvPr id="10" name="Text 8"/>
          <p:cNvSpPr txBox="1"/>
          <p:nvPr/>
        </p:nvSpPr>
        <p:spPr>
          <a:xfrm>
            <a:off x="640080" y="1691640"/>
            <a:ext cx="2011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097280" y="1700784"/>
            <a:ext cx="5303520" cy="31089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Draw model parameters</a:t>
            </a:r>
            <a:endParaRPr lang="en-US" sz="1200" dirty="0"/>
          </a:p>
        </p:txBody>
      </p:sp>
      <p:sp>
        <p:nvSpPr>
          <p:cNvPr id="12" name="Shape 10"/>
          <p:cNvSpPr/>
          <p:nvPr/>
        </p:nvSpPr>
        <p:spPr>
          <a:xfrm>
            <a:off x="548640" y="2157984"/>
            <a:ext cx="384048" cy="384048"/>
          </a:xfrm>
          <a:prstGeom prst="roundRect">
            <a:avLst>
              <a:gd name="adj" fmla="val 19048"/>
            </a:avLst>
          </a:prstGeom>
          <a:solidFill>
            <a:srgbClr val="1C4E80"/>
          </a:solidFill>
          <a:ln w="12700">
            <a:solidFill>
              <a:srgbClr val="1C4E80"/>
            </a:solidFill>
            <a:prstDash val="solid"/>
          </a:ln>
        </p:spPr>
      </p:sp>
      <p:sp>
        <p:nvSpPr>
          <p:cNvPr id="13" name="Text 11"/>
          <p:cNvSpPr txBox="1"/>
          <p:nvPr/>
        </p:nvSpPr>
        <p:spPr>
          <a:xfrm>
            <a:off x="640080" y="2203704"/>
            <a:ext cx="2011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097280" y="2212848"/>
            <a:ext cx="5303520" cy="31089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Draw one county-wide shock per forecast day</a:t>
            </a:r>
            <a:endParaRPr lang="en-US" sz="1200" dirty="0"/>
          </a:p>
        </p:txBody>
      </p:sp>
      <p:sp>
        <p:nvSpPr>
          <p:cNvPr id="15" name="Shape 13"/>
          <p:cNvSpPr/>
          <p:nvPr/>
        </p:nvSpPr>
        <p:spPr>
          <a:xfrm>
            <a:off x="548640" y="2670048"/>
            <a:ext cx="384048" cy="384048"/>
          </a:xfrm>
          <a:prstGeom prst="roundRect">
            <a:avLst>
              <a:gd name="adj" fmla="val 19048"/>
            </a:avLst>
          </a:prstGeom>
          <a:solidFill>
            <a:srgbClr val="1C4E80"/>
          </a:solidFill>
          <a:ln w="12700">
            <a:solidFill>
              <a:srgbClr val="1C4E80"/>
            </a:solidFill>
            <a:prstDash val="solid"/>
          </a:ln>
        </p:spPr>
      </p:sp>
      <p:sp>
        <p:nvSpPr>
          <p:cNvPr id="16" name="Text 14"/>
          <p:cNvSpPr txBox="1"/>
          <p:nvPr/>
        </p:nvSpPr>
        <p:spPr>
          <a:xfrm>
            <a:off x="640080" y="2715768"/>
            <a:ext cx="2011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097280" y="2724912"/>
            <a:ext cx="5303520" cy="31089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Draw turnover κ per route</a:t>
            </a:r>
            <a:endParaRPr lang="en-US" sz="1200" dirty="0"/>
          </a:p>
        </p:txBody>
      </p:sp>
      <p:sp>
        <p:nvSpPr>
          <p:cNvPr id="18" name="Shape 16"/>
          <p:cNvSpPr/>
          <p:nvPr/>
        </p:nvSpPr>
        <p:spPr>
          <a:xfrm>
            <a:off x="548640" y="3182112"/>
            <a:ext cx="384048" cy="384048"/>
          </a:xfrm>
          <a:prstGeom prst="roundRect">
            <a:avLst>
              <a:gd name="adj" fmla="val 19048"/>
            </a:avLst>
          </a:prstGeom>
          <a:solidFill>
            <a:srgbClr val="1C4E80"/>
          </a:solidFill>
          <a:ln w="12700">
            <a:solidFill>
              <a:srgbClr val="1C4E80"/>
            </a:solidFill>
            <a:prstDash val="solid"/>
          </a:ln>
        </p:spPr>
      </p:sp>
      <p:sp>
        <p:nvSpPr>
          <p:cNvPr id="19" name="Text 17"/>
          <p:cNvSpPr txBox="1"/>
          <p:nvPr/>
        </p:nvSpPr>
        <p:spPr>
          <a:xfrm>
            <a:off x="640080" y="3227832"/>
            <a:ext cx="2011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97280" y="3236976"/>
            <a:ext cx="5303520" cy="31089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Draw each run's latent demand; cap at capacity</a:t>
            </a:r>
            <a:endParaRPr lang="en-US" sz="1200" dirty="0"/>
          </a:p>
        </p:txBody>
      </p:sp>
      <p:sp>
        <p:nvSpPr>
          <p:cNvPr id="21" name="Shape 19"/>
          <p:cNvSpPr/>
          <p:nvPr/>
        </p:nvSpPr>
        <p:spPr>
          <a:xfrm>
            <a:off x="548640" y="3694176"/>
            <a:ext cx="384048" cy="384048"/>
          </a:xfrm>
          <a:prstGeom prst="roundRect">
            <a:avLst>
              <a:gd name="adj" fmla="val 19048"/>
            </a:avLst>
          </a:prstGeom>
          <a:solidFill>
            <a:srgbClr val="1C4E80"/>
          </a:solidFill>
          <a:ln w="12700">
            <a:solidFill>
              <a:srgbClr val="1C4E80"/>
            </a:solidFill>
            <a:prstDash val="solid"/>
          </a:ln>
        </p:spPr>
      </p:sp>
      <p:sp>
        <p:nvSpPr>
          <p:cNvPr id="22" name="Text 20"/>
          <p:cNvSpPr txBox="1"/>
          <p:nvPr/>
        </p:nvSpPr>
        <p:spPr>
          <a:xfrm>
            <a:off x="640080" y="3739896"/>
            <a:ext cx="20116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1097280" y="3749040"/>
            <a:ext cx="5303520" cy="31089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Sum runs within the same draw → daily total</a:t>
            </a:r>
            <a:endParaRPr lang="en-US" sz="1200" dirty="0"/>
          </a:p>
        </p:txBody>
      </p:sp>
      <p:sp>
        <p:nvSpPr>
          <p:cNvPr id="24" name="Text 22"/>
          <p:cNvSpPr txBox="1"/>
          <p:nvPr/>
        </p:nvSpPr>
        <p:spPr>
          <a:xfrm>
            <a:off x="548640" y="4297680"/>
            <a:ext cx="58521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EVALUATION</a:t>
            </a:r>
            <a:endParaRPr lang="en-US" sz="1000" dirty="0"/>
          </a:p>
        </p:txBody>
      </p:sp>
      <p:sp>
        <p:nvSpPr>
          <p:cNvPr id="25" name="Text 23"/>
          <p:cNvSpPr txBox="1"/>
          <p:nvPr/>
        </p:nvSpPr>
        <p:spPr>
          <a:xfrm>
            <a:off x="548640" y="4572000"/>
            <a:ext cx="5852160" cy="1737360"/>
          </a:xfrm>
          <a:prstGeom prst="rect">
            <a:avLst/>
          </a:prstGeom>
          <a:noFill/>
          <a:ln/>
        </p:spPr>
        <p:txBody>
          <a:bodyPr wrap="square" lIns="0" tIns="0" rIns="0" bIns="0" rtlCol="0" anchor="t"/>
          <a:lstStyle/>
          <a:p>
            <a:pPr marL="165100" indent="-165100">
              <a:spcAft>
                <a:spcPts val="400"/>
              </a:spcAft>
              <a:buSzPct val="100000"/>
              <a:buChar char="•"/>
            </a:pPr>
            <a:r>
              <a:rPr lang="en-US" sz="1100" dirty="0">
                <a:solidFill>
                  <a:srgbClr val="4B5563"/>
                </a:solidFill>
                <a:latin typeface="Calibri" pitchFamily="34" charset="0"/>
                <a:ea typeface="Calibri" pitchFamily="34" charset="-122"/>
                <a:cs typeface="Calibri" pitchFamily="34" charset="-120"/>
              </a:rPr>
              <a:t>Rolling origins on exploration data (Jun 2025, Dec 2025, Jun 2026); CRPS, 90% coverage overall and by route, time of day and event; daily-total MAPE.</a:t>
            </a:r>
            <a:endParaRPr lang="en-US" sz="1100" dirty="0"/>
          </a:p>
          <a:p>
            <a:pPr marL="165100" indent="-165100">
              <a:spcAft>
                <a:spcPts val="400"/>
              </a:spcAft>
              <a:buSzPct val="100000"/>
              <a:buChar char="•"/>
            </a:pPr>
            <a:r>
              <a:rPr lang="en-US" sz="1100" dirty="0">
                <a:solidFill>
                  <a:srgbClr val="4B5563"/>
                </a:solidFill>
                <a:latin typeface="Calibri" pitchFamily="34" charset="0"/>
                <a:ea typeface="Calibri" pitchFamily="34" charset="-122"/>
                <a:cs typeface="Calibri" pitchFamily="34" charset="-120"/>
              </a:rPr>
              <a:t>Baselines: seasonal naïve (same weekday and run, past four weeks) and the separate-stage pipeline.</a:t>
            </a:r>
            <a:endParaRPr lang="en-US" sz="1100" dirty="0"/>
          </a:p>
          <a:p>
            <a:pPr marL="165100" indent="-165100">
              <a:spcAft>
                <a:spcPts val="400"/>
              </a:spcAft>
              <a:buSzPct val="100000"/>
              <a:buChar char="•"/>
            </a:pPr>
            <a:r>
              <a:rPr lang="en-US" sz="1100" dirty="0">
                <a:solidFill>
                  <a:srgbClr val="4B5563"/>
                </a:solidFill>
                <a:latin typeface="Calibri" pitchFamily="34" charset="0"/>
                <a:ea typeface="Calibri" pitchFamily="34" charset="-122"/>
                <a:cs typeface="Calibri" pitchFamily="34" charset="-120"/>
              </a:rPr>
              <a:t>One sealed test: the Oct 2026–Feb 2027 ledger (incl. Spring Festival 2027) is opened once, after freezing.</a:t>
            </a:r>
            <a:endParaRPr lang="en-US" sz="1100" dirty="0"/>
          </a:p>
        </p:txBody>
      </p:sp>
      <p:graphicFrame>
        <p:nvGraphicFramePr>
          <p:cNvPr id="26" name="Chart 0" descr=""/>
          <p:cNvGraphicFramePr/>
          <p:nvPr/>
        </p:nvGraphicFramePr>
        <p:xfrm>
          <a:off x="6720840" y="1325880"/>
          <a:ext cx="4937760" cy="379476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6720840" y="5230368"/>
            <a:ext cx="4937760" cy="100584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World A, 8 replicates. Daily intervals average 566 passengers (joint) vs 194 (pipeline): the pipeline's narrower interval is wrong, because runs on the same day share shocks. Run-level CRPS is almost identical (2.82 vs 2.84).</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STEP 5 · PLAN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From forecasts to a fixed-core, flexible-supplement service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33 / 39</a:t>
            </a:r>
            <a:endParaRPr lang="en-US" sz="850" dirty="0"/>
          </a:p>
        </p:txBody>
      </p:sp>
      <p:sp>
        <p:nvSpPr>
          <p:cNvPr id="6" name="Shape 4"/>
          <p:cNvSpPr/>
          <p:nvPr/>
        </p:nvSpPr>
        <p:spPr>
          <a:xfrm>
            <a:off x="7711135" y="329184"/>
            <a:ext cx="3931920" cy="256032"/>
          </a:xfrm>
          <a:prstGeom prst="roundRect">
            <a:avLst>
              <a:gd name="adj" fmla="val 21429"/>
            </a:avLst>
          </a:prstGeom>
          <a:solidFill>
            <a:srgbClr val="FFFFFF"/>
          </a:solidFill>
          <a:ln w="11430">
            <a:solidFill>
              <a:srgbClr val="7C5CA8"/>
            </a:solidFill>
            <a:prstDash val="solid"/>
          </a:ln>
        </p:spPr>
      </p:sp>
      <p:sp>
        <p:nvSpPr>
          <p:cNvPr id="7" name="Text 5"/>
          <p:cNvSpPr txBox="1"/>
          <p:nvPr/>
        </p:nvSpPr>
        <p:spPr>
          <a:xfrm>
            <a:off x="7711135" y="329184"/>
            <a:ext cx="3931920" cy="256032"/>
          </a:xfrm>
          <a:prstGeom prst="rect">
            <a:avLst/>
          </a:prstGeom>
          <a:noFill/>
          <a:ln/>
        </p:spPr>
        <p:txBody>
          <a:bodyPr wrap="square" lIns="0" tIns="0" rIns="0" bIns="0" rtlCol="0" anchor="ctr"/>
          <a:lstStyle/>
          <a:p>
            <a:pPr algn="ctr" indent="0" marL="0">
              <a:buNone/>
            </a:pPr>
            <a:r>
              <a:rPr lang="en-US" sz="900" b="1" dirty="0">
                <a:solidFill>
                  <a:srgbClr val="6B4A99"/>
                </a:solidFill>
                <a:latin typeface="Calibri" pitchFamily="34" charset="0"/>
                <a:ea typeface="Calibri" pitchFamily="34" charset="-122"/>
                <a:cs typeface="Calibri" pitchFamily="34" charset="-120"/>
              </a:rPr>
              <a:t>SYNTHETIC DATA · tests the method, not Xinhuang ridership</a:t>
            </a:r>
            <a:endParaRPr lang="en-US" sz="900" dirty="0"/>
          </a:p>
        </p:txBody>
      </p:sp>
      <p:sp>
        <p:nvSpPr>
          <p:cNvPr id="8" name="Text 6"/>
          <p:cNvSpPr txBox="1"/>
          <p:nvPr/>
        </p:nvSpPr>
        <p:spPr>
          <a:xfrm>
            <a:off x="548640" y="1325880"/>
            <a:ext cx="566928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THREE SERVICE LAYERS (TOP LAYERS VARY DAY BY DAY)</a:t>
            </a:r>
            <a:endParaRPr lang="en-US" sz="1000" dirty="0"/>
          </a:p>
        </p:txBody>
      </p:sp>
      <p:sp>
        <p:nvSpPr>
          <p:cNvPr id="9" name="Shape 7"/>
          <p:cNvSpPr/>
          <p:nvPr/>
        </p:nvSpPr>
        <p:spPr>
          <a:xfrm>
            <a:off x="548640" y="3931920"/>
            <a:ext cx="5669280" cy="1060704"/>
          </a:xfrm>
          <a:prstGeom prst="rect">
            <a:avLst>
              <a:gd name="adj" fmla="val 6897"/>
            </a:avLst>
          </a:prstGeom>
          <a:solidFill>
            <a:srgbClr val="9AA3AD"/>
          </a:solidFill>
          <a:ln w="12700">
            <a:solidFill>
              <a:srgbClr val="9AA3AD"/>
            </a:solidFill>
            <a:prstDash val="solid"/>
          </a:ln>
        </p:spPr>
      </p:sp>
      <p:sp>
        <p:nvSpPr>
          <p:cNvPr id="10" name="Text 8"/>
          <p:cNvSpPr txBox="1"/>
          <p:nvPr/>
        </p:nvSpPr>
        <p:spPr>
          <a:xfrm>
            <a:off x="731520" y="3986784"/>
            <a:ext cx="5303520" cy="9601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Fixed core timetable</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Stable, no booking; guarantees basic service on every route — essential for older riders.</a:t>
            </a:r>
            <a:endParaRPr lang="en-US" sz="1300" dirty="0"/>
          </a:p>
        </p:txBody>
      </p:sp>
      <p:sp>
        <p:nvSpPr>
          <p:cNvPr id="11" name="Shape 9"/>
          <p:cNvSpPr/>
          <p:nvPr/>
        </p:nvSpPr>
        <p:spPr>
          <a:xfrm>
            <a:off x="548640" y="2743200"/>
            <a:ext cx="5669280" cy="1060704"/>
          </a:xfrm>
          <a:prstGeom prst="rect">
            <a:avLst>
              <a:gd name="adj" fmla="val 6897"/>
            </a:avLst>
          </a:prstGeom>
          <a:solidFill>
            <a:srgbClr val="3B6E9A"/>
          </a:solidFill>
          <a:ln w="12700">
            <a:solidFill>
              <a:srgbClr val="3B6E9A"/>
            </a:solidFill>
            <a:prstDash val="solid"/>
          </a:ln>
        </p:spPr>
      </p:sp>
      <p:sp>
        <p:nvSpPr>
          <p:cNvPr id="12" name="Text 10"/>
          <p:cNvSpPr txBox="1"/>
          <p:nvPr/>
        </p:nvSpPr>
        <p:spPr>
          <a:xfrm>
            <a:off x="731520" y="2798064"/>
            <a:ext cx="5303520" cy="9601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Day-ahead reserve</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Buses and drivers held for tomorrow, sized from an upper quantile (e.g., 90%) of the daily-total forecast beyond core capacity.</a:t>
            </a:r>
            <a:endParaRPr lang="en-US" sz="1300" dirty="0"/>
          </a:p>
        </p:txBody>
      </p:sp>
      <p:sp>
        <p:nvSpPr>
          <p:cNvPr id="13" name="Shape 11"/>
          <p:cNvSpPr/>
          <p:nvPr/>
        </p:nvSpPr>
        <p:spPr>
          <a:xfrm>
            <a:off x="548640" y="1554480"/>
            <a:ext cx="5669280" cy="1060704"/>
          </a:xfrm>
          <a:prstGeom prst="rect">
            <a:avLst>
              <a:gd name="adj" fmla="val 6897"/>
            </a:avLst>
          </a:prstGeom>
          <a:solidFill>
            <a:srgbClr val="1C4E80"/>
          </a:solidFill>
          <a:ln w="12700">
            <a:solidFill>
              <a:srgbClr val="1C4E80"/>
            </a:solidFill>
            <a:prstDash val="solid"/>
          </a:ln>
        </p:spPr>
      </p:sp>
      <p:sp>
        <p:nvSpPr>
          <p:cNvPr id="14" name="Text 12"/>
          <p:cNvSpPr txBox="1"/>
          <p:nvPr/>
        </p:nvSpPr>
        <p:spPr>
          <a:xfrm>
            <a:off x="731520" y="1609344"/>
            <a:ext cx="5303520" cy="9601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Forecast-triggered runs</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Add a run next to scheduled run i if Pr(demand &gt; κ × seats) &gt; α — a chance constraint solved on forecast samples.</a:t>
            </a:r>
            <a:endParaRPr lang="en-US" sz="1300" dirty="0"/>
          </a:p>
        </p:txBody>
      </p:sp>
      <p:sp>
        <p:nvSpPr>
          <p:cNvPr id="15" name="Text 13"/>
          <p:cNvSpPr txBox="1"/>
          <p:nvPr/>
        </p:nvSpPr>
        <p:spPr>
          <a:xfrm>
            <a:off x="548640" y="5120640"/>
            <a:ext cx="5669280" cy="219456"/>
          </a:xfrm>
          <a:prstGeom prst="rect">
            <a:avLst/>
          </a:prstGeom>
          <a:noFill/>
          <a:ln/>
        </p:spPr>
        <p:txBody>
          <a:bodyPr wrap="square" lIns="0" tIns="0" rIns="0" bIns="0" rtlCol="0" anchor="t"/>
          <a:lstStyle/>
          <a:p>
            <a:pPr indent="0" marL="0">
              <a:buNone/>
            </a:pPr>
            <a:r>
              <a:rPr lang="en-US" sz="1000" b="1" spc="80" kern="0" dirty="0">
                <a:solidFill>
                  <a:srgbClr val="C2410C"/>
                </a:solidFill>
                <a:latin typeface="Calibri" pitchFamily="34" charset="0"/>
                <a:ea typeface="Calibri" pitchFamily="34" charset="-122"/>
                <a:cs typeface="Calibri" pitchFamily="34" charset="-120"/>
              </a:rPr>
              <a:t>SURVEY INPUTS TO THE PLAN</a:t>
            </a:r>
            <a:endParaRPr lang="en-US" sz="1000" dirty="0"/>
          </a:p>
        </p:txBody>
      </p:sp>
      <p:sp>
        <p:nvSpPr>
          <p:cNvPr id="16" name="Text 14"/>
          <p:cNvSpPr txBox="1"/>
          <p:nvPr/>
        </p:nvSpPr>
        <p:spPr>
          <a:xfrm>
            <a:off x="548640" y="5376672"/>
            <a:ext cx="5669280" cy="868680"/>
          </a:xfrm>
          <a:prstGeom prst="rect">
            <a:avLst/>
          </a:prstGeom>
          <a:noFill/>
          <a:ln/>
        </p:spPr>
        <p:txBody>
          <a:bodyPr wrap="square" lIns="0" tIns="0" rIns="0" bIns="0" rtlCol="0" anchor="t"/>
          <a:lstStyle/>
          <a:p>
            <a:pPr indent="0" marL="0">
              <a:buNone/>
            </a:pPr>
            <a:r>
              <a:rPr lang="en-US" sz="1150" dirty="0">
                <a:solidFill>
                  <a:srgbClr val="4B5563"/>
                </a:solidFill>
                <a:latin typeface="Calibri" pitchFamily="34" charset="0"/>
                <a:ea typeface="Calibri" pitchFamily="34" charset="-122"/>
                <a:cs typeface="Calibri" pitchFamily="34" charset="-120"/>
              </a:rPr>
              <a:t>Preferred departure times (schedule delay) · what denied riders do — wait, switch mode, give up — which weights the cost of denial · how riders learn of extra runs (village WeChat groups, notices, drivers).</a:t>
            </a:r>
            <a:endParaRPr lang="en-US" sz="1150" dirty="0"/>
          </a:p>
        </p:txBody>
      </p:sp>
      <p:graphicFrame>
        <p:nvGraphicFramePr>
          <p:cNvPr id="17" name="Chart 0" descr=""/>
          <p:cNvGraphicFramePr/>
          <p:nvPr/>
        </p:nvGraphicFramePr>
        <p:xfrm>
          <a:off x="6583680" y="1325880"/>
          <a:ext cx="5074920" cy="37490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6583680" y="5166360"/>
            <a:ext cx="5074920" cy="1143000"/>
          </a:xfrm>
          <a:prstGeom prst="rect">
            <a:avLst/>
          </a:prstGeom>
          <a:noFill/>
          <a:ln/>
        </p:spPr>
        <p:txBody>
          <a:bodyPr wrap="square" lIns="0" tIns="0" rIns="0" bIns="0" rtlCol="0" anchor="t"/>
          <a:lstStyle/>
          <a:p>
            <a:pPr indent="0" marL="0">
              <a:buNone/>
            </a:pPr>
            <a:r>
              <a:rPr lang="en-US" sz="1020" dirty="0">
                <a:solidFill>
                  <a:srgbClr val="4B5563"/>
                </a:solidFill>
                <a:latin typeface="Calibri" pitchFamily="34" charset="0"/>
                <a:ea typeface="Calibri" pitchFamily="34" charset="-122"/>
                <a:cs typeface="Calibri" pitchFamily="34" charset="-120"/>
              </a:rPr>
              <a:t>Both approaches lie on nearly the same frontier; at equal α the joint model adds more runs and catches more overloads (α = 0.05: 85% vs 76%). Its real advantage is a trustworthy α and a calibrated reserve. The county chooses α from the cost of an extra run vs. the social cost of a denied rider. Plans are compared with the current timetable and a simple calendar rule.</a:t>
            </a:r>
            <a:endParaRPr lang="en-US" sz="10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PRE-REGISTRATION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Hypotheses and how results will be read — written before the data</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34 / 39</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4846320"/>
                <a:gridCol w="3200400"/>
                <a:gridCol w="3044952"/>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Hypothesis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supported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not supported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6400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H1 (RQ1) Boarding students and weekly workers dominate in-term weekend runs; far villages give up more trips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Design core runs and triggers around these groups; prioritise far villages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Revise rider groups and encodings; unmet demand has other causes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0350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H2 (RQ2) All five factors have positive independent effects, separable at run level</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Group-, direction- and time-specific supplementary rules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Group small or shifted to other modes — explained with surveys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6692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H3 (RQ2) S×R and CY×T overlaps are negative (the same people travel once)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Do not add factor effects on overlap days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Positive: extra capacity needed; ≈0: add effects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0350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H4 (RQ2) Holiday returns grow with holiday length; type effects follow prior importance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Tier holiday supplements by type × length</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Use data-estimated type effects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56692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H5 (RQ3) Run and daily 90% coverage ≈0.90; CRPS beats seasonal naïve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Forecasts usable 1–7 days ahead for both layers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Add route-level shocks; else calendar rules only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64008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H6 (RQ4) At equal extra runs, the two-layer plan denies fewer riders than the current timetable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Recommend fixed core + reserve + triggered runs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Recommend the simple calendar rule; report limited value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
        <p:nvSpPr>
          <p:cNvPr id="7" name="Text 4"/>
          <p:cNvSpPr txBox="1"/>
          <p:nvPr/>
        </p:nvSpPr>
        <p:spPr>
          <a:xfrm>
            <a:off x="548640" y="5440680"/>
            <a:ext cx="11094415" cy="777240"/>
          </a:xfrm>
          <a:prstGeom prst="rect">
            <a:avLst/>
          </a:prstGeom>
          <a:noFill/>
          <a:ln/>
        </p:spPr>
        <p:txBody>
          <a:bodyPr wrap="square" lIns="0" tIns="0" rIns="0" bIns="0" rtlCol="0" anchor="t"/>
          <a:lstStyle/>
          <a:p>
            <a:pPr indent="0" marL="0">
              <a:buNone/>
            </a:pPr>
            <a:r>
              <a:rPr lang="en-US" sz="1150" i="1" dirty="0">
                <a:solidFill>
                  <a:srgbClr val="4B5563"/>
                </a:solidFill>
                <a:latin typeface="Calibri" pitchFamily="34" charset="0"/>
                <a:ea typeface="Calibri" pitchFamily="34" charset="-122"/>
                <a:cs typeface="Calibri" pitchFamily="34" charset="-120"/>
              </a:rPr>
              <a:t>Rules: report null and non-significant results with intervals; distinguish “no effect” (narrow interval around zero) from “not identifiable” (wide interval, low support); if main and sensitivity methods disagree, report both.</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WORK PLAN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Timeline: October 2026 – April 2028</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35 / 39</a:t>
            </a:r>
            <a:endParaRPr lang="en-US" sz="850" dirty="0"/>
          </a:p>
        </p:txBody>
      </p:sp>
      <p:sp>
        <p:nvSpPr>
          <p:cNvPr id="6" name="Text 4"/>
          <p:cNvSpPr txBox="1"/>
          <p:nvPr/>
        </p:nvSpPr>
        <p:spPr>
          <a:xfrm>
            <a:off x="3439656" y="1188720"/>
            <a:ext cx="2286000" cy="219456"/>
          </a:xfrm>
          <a:prstGeom prst="rect">
            <a:avLst/>
          </a:prstGeom>
          <a:noFill/>
          <a:ln/>
        </p:spPr>
        <p:txBody>
          <a:bodyPr wrap="square" lIns="0" tIns="0" rIns="0" bIns="0" rtlCol="0" anchor="t"/>
          <a:lstStyle/>
          <a:p>
            <a:pPr algn="ctr" indent="0" marL="0">
              <a:buNone/>
            </a:pPr>
            <a:r>
              <a:rPr lang="en-US" sz="950" b="1" dirty="0">
                <a:solidFill>
                  <a:srgbClr val="C2410C"/>
                </a:solidFill>
                <a:latin typeface="Calibri" pitchFamily="34" charset="0"/>
                <a:ea typeface="Calibri" pitchFamily="34" charset="-122"/>
                <a:cs typeface="Calibri" pitchFamily="34" charset="-120"/>
              </a:rPr>
              <a:t>1 Jan 2027: methods &amp; rules frozen</a:t>
            </a:r>
            <a:endParaRPr lang="en-US" sz="950" dirty="0"/>
          </a:p>
        </p:txBody>
      </p:sp>
      <p:sp>
        <p:nvSpPr>
          <p:cNvPr id="7" name="Text 5"/>
          <p:cNvSpPr txBox="1"/>
          <p:nvPr/>
        </p:nvSpPr>
        <p:spPr>
          <a:xfrm>
            <a:off x="6054619" y="1188720"/>
            <a:ext cx="2286000" cy="219456"/>
          </a:xfrm>
          <a:prstGeom prst="rect">
            <a:avLst/>
          </a:prstGeom>
          <a:noFill/>
          <a:ln/>
        </p:spPr>
        <p:txBody>
          <a:bodyPr wrap="square" lIns="0" tIns="0" rIns="0" bIns="0" rtlCol="0" anchor="t"/>
          <a:lstStyle/>
          <a:p>
            <a:pPr algn="ctr" indent="0" marL="0">
              <a:buNone/>
            </a:pPr>
            <a:r>
              <a:rPr lang="en-US" sz="950" b="1" dirty="0">
                <a:solidFill>
                  <a:srgbClr val="C2410C"/>
                </a:solidFill>
                <a:latin typeface="Calibri" pitchFamily="34" charset="0"/>
                <a:ea typeface="Calibri" pitchFamily="34" charset="-122"/>
                <a:cs typeface="Calibri" pitchFamily="34" charset="-120"/>
              </a:rPr>
              <a:t>30 Jun 2027: RQ2 results frozen</a:t>
            </a:r>
            <a:endParaRPr lang="en-US" sz="950" dirty="0"/>
          </a:p>
        </p:txBody>
      </p:sp>
      <p:sp>
        <p:nvSpPr>
          <p:cNvPr id="8" name="Text 6"/>
          <p:cNvSpPr txBox="1"/>
          <p:nvPr/>
        </p:nvSpPr>
        <p:spPr>
          <a:xfrm>
            <a:off x="8727692" y="1188720"/>
            <a:ext cx="2286000" cy="219456"/>
          </a:xfrm>
          <a:prstGeom prst="rect">
            <a:avLst/>
          </a:prstGeom>
          <a:noFill/>
          <a:ln/>
        </p:spPr>
        <p:txBody>
          <a:bodyPr wrap="square" lIns="0" tIns="0" rIns="0" bIns="0" rtlCol="0" anchor="t"/>
          <a:lstStyle/>
          <a:p>
            <a:pPr algn="ctr" indent="0" marL="0">
              <a:buNone/>
            </a:pPr>
            <a:r>
              <a:rPr lang="en-US" sz="950" b="1" dirty="0">
                <a:solidFill>
                  <a:srgbClr val="C2410C"/>
                </a:solidFill>
                <a:latin typeface="Calibri" pitchFamily="34" charset="0"/>
                <a:ea typeface="Calibri" pitchFamily="34" charset="-122"/>
                <a:cs typeface="Calibri" pitchFamily="34" charset="-120"/>
              </a:rPr>
              <a:t>31 Dec 2027: analyses complete</a:t>
            </a:r>
            <a:endParaRPr lang="en-US" sz="950" dirty="0"/>
          </a:p>
        </p:txBody>
      </p:sp>
      <p:sp>
        <p:nvSpPr>
          <p:cNvPr id="9" name="Shape 7"/>
          <p:cNvSpPr/>
          <p:nvPr/>
        </p:nvSpPr>
        <p:spPr>
          <a:xfrm>
            <a:off x="3246120" y="1691640"/>
            <a:ext cx="0" cy="4526280"/>
          </a:xfrm>
          <a:prstGeom prst="line">
            <a:avLst/>
          </a:prstGeom>
          <a:noFill/>
          <a:ln w="9525">
            <a:solidFill>
              <a:srgbClr val="E5E7EB"/>
            </a:solidFill>
            <a:prstDash val="solid"/>
          </a:ln>
        </p:spPr>
      </p:sp>
      <p:sp>
        <p:nvSpPr>
          <p:cNvPr id="10" name="Text 8"/>
          <p:cNvSpPr txBox="1"/>
          <p:nvPr/>
        </p:nvSpPr>
        <p:spPr>
          <a:xfrm>
            <a:off x="2788920"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Oct 2026</a:t>
            </a:r>
            <a:endParaRPr lang="en-US" sz="950" dirty="0"/>
          </a:p>
        </p:txBody>
      </p:sp>
      <p:sp>
        <p:nvSpPr>
          <p:cNvPr id="11" name="Shape 9"/>
          <p:cNvSpPr/>
          <p:nvPr/>
        </p:nvSpPr>
        <p:spPr>
          <a:xfrm>
            <a:off x="4582656" y="1691640"/>
            <a:ext cx="0" cy="4526280"/>
          </a:xfrm>
          <a:prstGeom prst="line">
            <a:avLst/>
          </a:prstGeom>
          <a:noFill/>
          <a:ln w="9525">
            <a:solidFill>
              <a:srgbClr val="E5E7EB"/>
            </a:solidFill>
            <a:prstDash val="solid"/>
          </a:ln>
        </p:spPr>
      </p:sp>
      <p:sp>
        <p:nvSpPr>
          <p:cNvPr id="12" name="Text 10"/>
          <p:cNvSpPr txBox="1"/>
          <p:nvPr/>
        </p:nvSpPr>
        <p:spPr>
          <a:xfrm>
            <a:off x="4125456"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Jan 2027</a:t>
            </a:r>
            <a:endParaRPr lang="en-US" sz="950" dirty="0"/>
          </a:p>
        </p:txBody>
      </p:sp>
      <p:sp>
        <p:nvSpPr>
          <p:cNvPr id="13" name="Shape 11"/>
          <p:cNvSpPr/>
          <p:nvPr/>
        </p:nvSpPr>
        <p:spPr>
          <a:xfrm>
            <a:off x="5890138" y="1691640"/>
            <a:ext cx="0" cy="4526280"/>
          </a:xfrm>
          <a:prstGeom prst="line">
            <a:avLst/>
          </a:prstGeom>
          <a:noFill/>
          <a:ln w="9525">
            <a:solidFill>
              <a:srgbClr val="E5E7EB"/>
            </a:solidFill>
            <a:prstDash val="solid"/>
          </a:ln>
        </p:spPr>
      </p:sp>
      <p:sp>
        <p:nvSpPr>
          <p:cNvPr id="14" name="Text 12"/>
          <p:cNvSpPr txBox="1"/>
          <p:nvPr/>
        </p:nvSpPr>
        <p:spPr>
          <a:xfrm>
            <a:off x="5432938"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Apr 2027</a:t>
            </a:r>
            <a:endParaRPr lang="en-US" sz="950" dirty="0"/>
          </a:p>
        </p:txBody>
      </p:sp>
      <p:sp>
        <p:nvSpPr>
          <p:cNvPr id="15" name="Shape 13"/>
          <p:cNvSpPr/>
          <p:nvPr/>
        </p:nvSpPr>
        <p:spPr>
          <a:xfrm>
            <a:off x="7212146" y="1691640"/>
            <a:ext cx="0" cy="4526280"/>
          </a:xfrm>
          <a:prstGeom prst="line">
            <a:avLst/>
          </a:prstGeom>
          <a:noFill/>
          <a:ln w="9525">
            <a:solidFill>
              <a:srgbClr val="E5E7EB"/>
            </a:solidFill>
            <a:prstDash val="solid"/>
          </a:ln>
        </p:spPr>
      </p:sp>
      <p:sp>
        <p:nvSpPr>
          <p:cNvPr id="16" name="Text 14"/>
          <p:cNvSpPr txBox="1"/>
          <p:nvPr/>
        </p:nvSpPr>
        <p:spPr>
          <a:xfrm>
            <a:off x="6754946"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Jul 2027</a:t>
            </a:r>
            <a:endParaRPr lang="en-US" sz="950" dirty="0"/>
          </a:p>
        </p:txBody>
      </p:sp>
      <p:sp>
        <p:nvSpPr>
          <p:cNvPr id="17" name="Shape 15"/>
          <p:cNvSpPr/>
          <p:nvPr/>
        </p:nvSpPr>
        <p:spPr>
          <a:xfrm>
            <a:off x="8548683" y="1691640"/>
            <a:ext cx="0" cy="4526280"/>
          </a:xfrm>
          <a:prstGeom prst="line">
            <a:avLst/>
          </a:prstGeom>
          <a:noFill/>
          <a:ln w="9525">
            <a:solidFill>
              <a:srgbClr val="E5E7EB"/>
            </a:solidFill>
            <a:prstDash val="solid"/>
          </a:ln>
        </p:spPr>
      </p:sp>
      <p:sp>
        <p:nvSpPr>
          <p:cNvPr id="18" name="Text 16"/>
          <p:cNvSpPr txBox="1"/>
          <p:nvPr/>
        </p:nvSpPr>
        <p:spPr>
          <a:xfrm>
            <a:off x="8091483"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Oct 2027</a:t>
            </a:r>
            <a:endParaRPr lang="en-US" sz="950" dirty="0"/>
          </a:p>
        </p:txBody>
      </p:sp>
      <p:sp>
        <p:nvSpPr>
          <p:cNvPr id="19" name="Shape 17"/>
          <p:cNvSpPr/>
          <p:nvPr/>
        </p:nvSpPr>
        <p:spPr>
          <a:xfrm>
            <a:off x="9885219" y="1691640"/>
            <a:ext cx="0" cy="4526280"/>
          </a:xfrm>
          <a:prstGeom prst="line">
            <a:avLst/>
          </a:prstGeom>
          <a:noFill/>
          <a:ln w="9525">
            <a:solidFill>
              <a:srgbClr val="E5E7EB"/>
            </a:solidFill>
            <a:prstDash val="solid"/>
          </a:ln>
        </p:spPr>
      </p:sp>
      <p:sp>
        <p:nvSpPr>
          <p:cNvPr id="20" name="Text 18"/>
          <p:cNvSpPr txBox="1"/>
          <p:nvPr/>
        </p:nvSpPr>
        <p:spPr>
          <a:xfrm>
            <a:off x="9428019"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Jan 2028</a:t>
            </a:r>
            <a:endParaRPr lang="en-US" sz="950" dirty="0"/>
          </a:p>
        </p:txBody>
      </p:sp>
      <p:sp>
        <p:nvSpPr>
          <p:cNvPr id="21" name="Shape 19"/>
          <p:cNvSpPr/>
          <p:nvPr/>
        </p:nvSpPr>
        <p:spPr>
          <a:xfrm>
            <a:off x="11207228" y="1691640"/>
            <a:ext cx="0" cy="4526280"/>
          </a:xfrm>
          <a:prstGeom prst="line">
            <a:avLst/>
          </a:prstGeom>
          <a:noFill/>
          <a:ln w="9525">
            <a:solidFill>
              <a:srgbClr val="E5E7EB"/>
            </a:solidFill>
            <a:prstDash val="solid"/>
          </a:ln>
        </p:spPr>
      </p:sp>
      <p:sp>
        <p:nvSpPr>
          <p:cNvPr id="22" name="Text 20"/>
          <p:cNvSpPr txBox="1"/>
          <p:nvPr/>
        </p:nvSpPr>
        <p:spPr>
          <a:xfrm>
            <a:off x="10750028" y="1444752"/>
            <a:ext cx="914400" cy="219456"/>
          </a:xfrm>
          <a:prstGeom prst="rect">
            <a:avLst/>
          </a:prstGeom>
          <a:noFill/>
          <a:ln/>
        </p:spPr>
        <p:txBody>
          <a:bodyPr wrap="square" lIns="0" tIns="0" rIns="0" bIns="0" rtlCol="0" anchor="t"/>
          <a:lstStyle/>
          <a:p>
            <a:pPr algn="ctr" indent="0" marL="0">
              <a:buNone/>
            </a:pPr>
            <a:r>
              <a:rPr lang="en-US" sz="950" dirty="0">
                <a:solidFill>
                  <a:srgbClr val="8B95A1"/>
                </a:solidFill>
                <a:latin typeface="Calibri" pitchFamily="34" charset="0"/>
                <a:ea typeface="Calibri" pitchFamily="34" charset="-122"/>
                <a:cs typeface="Calibri" pitchFamily="34" charset="-120"/>
              </a:rPr>
              <a:t>Apr 2028</a:t>
            </a:r>
            <a:endParaRPr lang="en-US" sz="950" dirty="0"/>
          </a:p>
        </p:txBody>
      </p:sp>
      <p:sp>
        <p:nvSpPr>
          <p:cNvPr id="23" name="Shape 21"/>
          <p:cNvSpPr/>
          <p:nvPr/>
        </p:nvSpPr>
        <p:spPr>
          <a:xfrm>
            <a:off x="4582656" y="1417320"/>
            <a:ext cx="0" cy="4800600"/>
          </a:xfrm>
          <a:prstGeom prst="line">
            <a:avLst/>
          </a:prstGeom>
          <a:noFill/>
          <a:ln w="15875">
            <a:solidFill>
              <a:srgbClr val="C2410C"/>
            </a:solidFill>
            <a:prstDash val="dash"/>
          </a:ln>
        </p:spPr>
      </p:sp>
      <p:sp>
        <p:nvSpPr>
          <p:cNvPr id="24" name="Shape 22"/>
          <p:cNvSpPr/>
          <p:nvPr/>
        </p:nvSpPr>
        <p:spPr>
          <a:xfrm>
            <a:off x="7197619" y="1417320"/>
            <a:ext cx="0" cy="4800600"/>
          </a:xfrm>
          <a:prstGeom prst="line">
            <a:avLst/>
          </a:prstGeom>
          <a:noFill/>
          <a:ln w="15875">
            <a:solidFill>
              <a:srgbClr val="C2410C"/>
            </a:solidFill>
            <a:prstDash val="dash"/>
          </a:ln>
        </p:spPr>
      </p:sp>
      <p:sp>
        <p:nvSpPr>
          <p:cNvPr id="25" name="Shape 23"/>
          <p:cNvSpPr/>
          <p:nvPr/>
        </p:nvSpPr>
        <p:spPr>
          <a:xfrm>
            <a:off x="9870692" y="1417320"/>
            <a:ext cx="0" cy="4800600"/>
          </a:xfrm>
          <a:prstGeom prst="line">
            <a:avLst/>
          </a:prstGeom>
          <a:noFill/>
          <a:ln w="15875">
            <a:solidFill>
              <a:srgbClr val="C2410C"/>
            </a:solidFill>
            <a:prstDash val="dash"/>
          </a:ln>
        </p:spPr>
      </p:sp>
      <p:sp>
        <p:nvSpPr>
          <p:cNvPr id="26" name="Text 24"/>
          <p:cNvSpPr txBox="1"/>
          <p:nvPr/>
        </p:nvSpPr>
        <p:spPr>
          <a:xfrm>
            <a:off x="548640" y="1783080"/>
            <a:ext cx="2651760" cy="182880"/>
          </a:xfrm>
          <a:prstGeom prst="rect">
            <a:avLst/>
          </a:prstGeom>
          <a:noFill/>
          <a:ln/>
        </p:spPr>
        <p:txBody>
          <a:bodyPr wrap="square" lIns="0" tIns="0" rIns="0" bIns="0" rtlCol="0" anchor="ctr"/>
          <a:lstStyle/>
          <a:p>
            <a:pPr indent="0" marL="0">
              <a:buNone/>
            </a:pPr>
            <a:r>
              <a:rPr lang="en-US" sz="850" b="1" spc="60" kern="0" dirty="0">
                <a:solidFill>
                  <a:srgbClr val="9AA3AD"/>
                </a:solidFill>
                <a:latin typeface="Calibri" pitchFamily="34" charset="0"/>
                <a:ea typeface="Calibri" pitchFamily="34" charset="-122"/>
                <a:cs typeface="Calibri" pitchFamily="34" charset="-120"/>
              </a:rPr>
              <a:t>PREPARATION</a:t>
            </a:r>
            <a:endParaRPr lang="en-US" sz="850" dirty="0"/>
          </a:p>
        </p:txBody>
      </p:sp>
      <p:sp>
        <p:nvSpPr>
          <p:cNvPr id="27" name="Text 25"/>
          <p:cNvSpPr txBox="1"/>
          <p:nvPr/>
        </p:nvSpPr>
        <p:spPr>
          <a:xfrm>
            <a:off x="548640" y="196596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Ethics review, consent forms</a:t>
            </a:r>
            <a:endParaRPr lang="en-US" sz="950" dirty="0"/>
          </a:p>
        </p:txBody>
      </p:sp>
      <p:sp>
        <p:nvSpPr>
          <p:cNvPr id="28" name="Shape 26"/>
          <p:cNvSpPr/>
          <p:nvPr/>
        </p:nvSpPr>
        <p:spPr>
          <a:xfrm>
            <a:off x="3246120" y="1993392"/>
            <a:ext cx="217914" cy="128016"/>
          </a:xfrm>
          <a:prstGeom prst="rect">
            <a:avLst/>
          </a:prstGeom>
          <a:solidFill>
            <a:srgbClr val="9AA3AD"/>
          </a:solidFill>
          <a:ln w="12700">
            <a:solidFill>
              <a:srgbClr val="9AA3AD"/>
            </a:solidFill>
            <a:prstDash val="solid"/>
          </a:ln>
        </p:spPr>
      </p:sp>
      <p:sp>
        <p:nvSpPr>
          <p:cNvPr id="29" name="Text 27"/>
          <p:cNvSpPr txBox="1"/>
          <p:nvPr/>
        </p:nvSpPr>
        <p:spPr>
          <a:xfrm>
            <a:off x="548640" y="214884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Ledger, seats, timetable changes</a:t>
            </a:r>
            <a:endParaRPr lang="en-US" sz="950" dirty="0"/>
          </a:p>
        </p:txBody>
      </p:sp>
      <p:sp>
        <p:nvSpPr>
          <p:cNvPr id="30" name="Shape 28"/>
          <p:cNvSpPr/>
          <p:nvPr/>
        </p:nvSpPr>
        <p:spPr>
          <a:xfrm>
            <a:off x="3246120" y="2176272"/>
            <a:ext cx="450355" cy="128016"/>
          </a:xfrm>
          <a:prstGeom prst="rect">
            <a:avLst/>
          </a:prstGeom>
          <a:solidFill>
            <a:srgbClr val="9AA3AD"/>
          </a:solidFill>
          <a:ln w="12700">
            <a:solidFill>
              <a:srgbClr val="9AA3AD"/>
            </a:solidFill>
            <a:prstDash val="solid"/>
          </a:ln>
        </p:spPr>
      </p:sp>
      <p:sp>
        <p:nvSpPr>
          <p:cNvPr id="31" name="Text 29"/>
          <p:cNvSpPr txBox="1"/>
          <p:nvPr/>
        </p:nvSpPr>
        <p:spPr>
          <a:xfrm>
            <a:off x="548640" y="233172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Calendars, holiday notices, weather archive</a:t>
            </a:r>
            <a:endParaRPr lang="en-US" sz="950" dirty="0"/>
          </a:p>
        </p:txBody>
      </p:sp>
      <p:sp>
        <p:nvSpPr>
          <p:cNvPr id="32" name="Shape 30"/>
          <p:cNvSpPr/>
          <p:nvPr/>
        </p:nvSpPr>
        <p:spPr>
          <a:xfrm>
            <a:off x="3246120" y="2359152"/>
            <a:ext cx="653741" cy="128016"/>
          </a:xfrm>
          <a:prstGeom prst="rect">
            <a:avLst/>
          </a:prstGeom>
          <a:solidFill>
            <a:srgbClr val="9AA3AD"/>
          </a:solidFill>
          <a:ln w="12700">
            <a:solidFill>
              <a:srgbClr val="9AA3AD"/>
            </a:solidFill>
            <a:prstDash val="solid"/>
          </a:ln>
        </p:spPr>
      </p:sp>
      <p:sp>
        <p:nvSpPr>
          <p:cNvPr id="33" name="Text 31"/>
          <p:cNvSpPr txBox="1"/>
          <p:nvPr/>
        </p:nvSpPr>
        <p:spPr>
          <a:xfrm>
            <a:off x="548640" y="251460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Pre-test and enumerator training</a:t>
            </a:r>
            <a:endParaRPr lang="en-US" sz="950" dirty="0"/>
          </a:p>
        </p:txBody>
      </p:sp>
      <p:sp>
        <p:nvSpPr>
          <p:cNvPr id="34" name="Shape 32"/>
          <p:cNvSpPr/>
          <p:nvPr/>
        </p:nvSpPr>
        <p:spPr>
          <a:xfrm>
            <a:off x="3304230" y="2542032"/>
            <a:ext cx="174331" cy="128016"/>
          </a:xfrm>
          <a:prstGeom prst="rect">
            <a:avLst/>
          </a:prstGeom>
          <a:solidFill>
            <a:srgbClr val="9AA3AD"/>
          </a:solidFill>
          <a:ln w="12700">
            <a:solidFill>
              <a:srgbClr val="9AA3AD"/>
            </a:solidFill>
            <a:prstDash val="solid"/>
          </a:ln>
        </p:spPr>
      </p:sp>
      <p:sp>
        <p:nvSpPr>
          <p:cNvPr id="35" name="Text 33"/>
          <p:cNvSpPr txBox="1"/>
          <p:nvPr/>
        </p:nvSpPr>
        <p:spPr>
          <a:xfrm>
            <a:off x="548640" y="269748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Re-draw winter strata when dates published</a:t>
            </a:r>
            <a:endParaRPr lang="en-US" sz="950" dirty="0"/>
          </a:p>
        </p:txBody>
      </p:sp>
      <p:sp>
        <p:nvSpPr>
          <p:cNvPr id="36" name="Shape 34"/>
          <p:cNvSpPr/>
          <p:nvPr/>
        </p:nvSpPr>
        <p:spPr>
          <a:xfrm>
            <a:off x="4132302" y="2724912"/>
            <a:ext cx="290551" cy="128016"/>
          </a:xfrm>
          <a:prstGeom prst="rect">
            <a:avLst/>
          </a:prstGeom>
          <a:solidFill>
            <a:srgbClr val="9AA3AD"/>
          </a:solidFill>
          <a:ln w="12700">
            <a:solidFill>
              <a:srgbClr val="9AA3AD"/>
            </a:solidFill>
            <a:prstDash val="solid"/>
          </a:ln>
        </p:spPr>
      </p:sp>
      <p:sp>
        <p:nvSpPr>
          <p:cNvPr id="37" name="Text 35"/>
          <p:cNvSpPr txBox="1"/>
          <p:nvPr/>
        </p:nvSpPr>
        <p:spPr>
          <a:xfrm>
            <a:off x="548640" y="2926080"/>
            <a:ext cx="2651760" cy="182880"/>
          </a:xfrm>
          <a:prstGeom prst="rect">
            <a:avLst/>
          </a:prstGeom>
          <a:noFill/>
          <a:ln/>
        </p:spPr>
        <p:txBody>
          <a:bodyPr wrap="square" lIns="0" tIns="0" rIns="0" bIns="0" rtlCol="0" anchor="ctr"/>
          <a:lstStyle/>
          <a:p>
            <a:pPr indent="0" marL="0">
              <a:buNone/>
            </a:pPr>
            <a:r>
              <a:rPr lang="en-US" sz="850" b="1" spc="60" kern="0" dirty="0">
                <a:solidFill>
                  <a:srgbClr val="1C4E80"/>
                </a:solidFill>
                <a:latin typeface="Calibri" pitchFamily="34" charset="0"/>
                <a:ea typeface="Calibri" pitchFamily="34" charset="-122"/>
                <a:cs typeface="Calibri" pitchFamily="34" charset="-120"/>
              </a:rPr>
              <a:t>SURVEYS</a:t>
            </a:r>
            <a:endParaRPr lang="en-US" sz="850" dirty="0"/>
          </a:p>
        </p:txBody>
      </p:sp>
      <p:sp>
        <p:nvSpPr>
          <p:cNvPr id="38" name="Text 36"/>
          <p:cNvSpPr txBox="1"/>
          <p:nvPr/>
        </p:nvSpPr>
        <p:spPr>
          <a:xfrm>
            <a:off x="548640" y="310896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Fall-term weekend on-board</a:t>
            </a:r>
            <a:endParaRPr lang="en-US" sz="950" dirty="0"/>
          </a:p>
        </p:txBody>
      </p:sp>
      <p:sp>
        <p:nvSpPr>
          <p:cNvPr id="39" name="Shape 37"/>
          <p:cNvSpPr/>
          <p:nvPr/>
        </p:nvSpPr>
        <p:spPr>
          <a:xfrm>
            <a:off x="3464034" y="3136392"/>
            <a:ext cx="944292" cy="128016"/>
          </a:xfrm>
          <a:prstGeom prst="rect">
            <a:avLst/>
          </a:prstGeom>
          <a:solidFill>
            <a:srgbClr val="1C4E80"/>
          </a:solidFill>
          <a:ln w="12700">
            <a:solidFill>
              <a:srgbClr val="1C4E80"/>
            </a:solidFill>
            <a:prstDash val="solid"/>
          </a:ln>
        </p:spPr>
      </p:sp>
      <p:sp>
        <p:nvSpPr>
          <p:cNvPr id="40" name="Text 38"/>
          <p:cNvSpPr txBox="1"/>
          <p:nvPr/>
        </p:nvSpPr>
        <p:spPr>
          <a:xfrm>
            <a:off x="548640" y="329184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Household (village) survey</a:t>
            </a:r>
            <a:endParaRPr lang="en-US" sz="950" dirty="0"/>
          </a:p>
        </p:txBody>
      </p:sp>
      <p:sp>
        <p:nvSpPr>
          <p:cNvPr id="41" name="Shape 39"/>
          <p:cNvSpPr/>
          <p:nvPr/>
        </p:nvSpPr>
        <p:spPr>
          <a:xfrm>
            <a:off x="3507616" y="3319272"/>
            <a:ext cx="871654" cy="128016"/>
          </a:xfrm>
          <a:prstGeom prst="rect">
            <a:avLst/>
          </a:prstGeom>
          <a:solidFill>
            <a:srgbClr val="1C4E80"/>
          </a:solidFill>
          <a:ln w="12700">
            <a:solidFill>
              <a:srgbClr val="1C4E80"/>
            </a:solidFill>
            <a:prstDash val="solid"/>
          </a:ln>
        </p:spPr>
      </p:sp>
      <p:sp>
        <p:nvSpPr>
          <p:cNvPr id="42" name="Text 40"/>
          <p:cNvSpPr txBox="1"/>
          <p:nvPr/>
        </p:nvSpPr>
        <p:spPr>
          <a:xfrm>
            <a:off x="548640" y="347472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Online survey (around holidays)</a:t>
            </a:r>
            <a:endParaRPr lang="en-US" sz="950" dirty="0"/>
          </a:p>
        </p:txBody>
      </p:sp>
      <p:sp>
        <p:nvSpPr>
          <p:cNvPr id="43" name="Shape 41"/>
          <p:cNvSpPr/>
          <p:nvPr/>
        </p:nvSpPr>
        <p:spPr>
          <a:xfrm>
            <a:off x="4306633" y="3502152"/>
            <a:ext cx="1118623" cy="128016"/>
          </a:xfrm>
          <a:prstGeom prst="rect">
            <a:avLst/>
          </a:prstGeom>
          <a:solidFill>
            <a:srgbClr val="1C4E80"/>
          </a:solidFill>
          <a:ln w="12700">
            <a:solidFill>
              <a:srgbClr val="1C4E80"/>
            </a:solidFill>
            <a:prstDash val="solid"/>
          </a:ln>
        </p:spPr>
      </p:sp>
      <p:sp>
        <p:nvSpPr>
          <p:cNvPr id="44" name="Text 42"/>
          <p:cNvSpPr txBox="1"/>
          <p:nvPr/>
        </p:nvSpPr>
        <p:spPr>
          <a:xfrm>
            <a:off x="548640" y="365760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Winter &amp; Spring Festival on-board</a:t>
            </a:r>
            <a:endParaRPr lang="en-US" sz="950" dirty="0"/>
          </a:p>
        </p:txBody>
      </p:sp>
      <p:sp>
        <p:nvSpPr>
          <p:cNvPr id="45" name="Shape 43"/>
          <p:cNvSpPr/>
          <p:nvPr/>
        </p:nvSpPr>
        <p:spPr>
          <a:xfrm>
            <a:off x="4582656" y="3685032"/>
            <a:ext cx="842599" cy="128016"/>
          </a:xfrm>
          <a:prstGeom prst="rect">
            <a:avLst/>
          </a:prstGeom>
          <a:solidFill>
            <a:srgbClr val="1C4E80"/>
          </a:solidFill>
          <a:ln w="12700">
            <a:solidFill>
              <a:srgbClr val="1C4E80"/>
            </a:solidFill>
            <a:prstDash val="solid"/>
          </a:ln>
        </p:spPr>
      </p:sp>
      <p:sp>
        <p:nvSpPr>
          <p:cNvPr id="46" name="Text 44"/>
          <p:cNvSpPr txBox="1"/>
          <p:nvPr/>
        </p:nvSpPr>
        <p:spPr>
          <a:xfrm>
            <a:off x="548640" y="384048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Summer on-board (redesigned)</a:t>
            </a:r>
            <a:endParaRPr lang="en-US" sz="950" dirty="0"/>
          </a:p>
        </p:txBody>
      </p:sp>
      <p:sp>
        <p:nvSpPr>
          <p:cNvPr id="47" name="Shape 45"/>
          <p:cNvSpPr/>
          <p:nvPr/>
        </p:nvSpPr>
        <p:spPr>
          <a:xfrm>
            <a:off x="7357422" y="3867912"/>
            <a:ext cx="740906" cy="128016"/>
          </a:xfrm>
          <a:prstGeom prst="rect">
            <a:avLst/>
          </a:prstGeom>
          <a:solidFill>
            <a:srgbClr val="1C4E80"/>
          </a:solidFill>
          <a:ln w="12700">
            <a:solidFill>
              <a:srgbClr val="1C4E80"/>
            </a:solidFill>
            <a:prstDash val="solid"/>
          </a:ln>
        </p:spPr>
      </p:sp>
      <p:sp>
        <p:nvSpPr>
          <p:cNvPr id="48" name="Text 46"/>
          <p:cNvSpPr txBox="1"/>
          <p:nvPr/>
        </p:nvSpPr>
        <p:spPr>
          <a:xfrm>
            <a:off x="548640" y="4069080"/>
            <a:ext cx="2651760" cy="182880"/>
          </a:xfrm>
          <a:prstGeom prst="rect">
            <a:avLst/>
          </a:prstGeom>
          <a:noFill/>
          <a:ln/>
        </p:spPr>
        <p:txBody>
          <a:bodyPr wrap="square" lIns="0" tIns="0" rIns="0" bIns="0" rtlCol="0" anchor="ctr"/>
          <a:lstStyle/>
          <a:p>
            <a:pPr indent="0" marL="0">
              <a:buNone/>
            </a:pPr>
            <a:r>
              <a:rPr lang="en-US" sz="850" b="1" spc="60" kern="0" dirty="0">
                <a:solidFill>
                  <a:srgbClr val="D08A3B"/>
                </a:solidFill>
                <a:latin typeface="Calibri" pitchFamily="34" charset="0"/>
                <a:ea typeface="Calibri" pitchFamily="34" charset="-122"/>
                <a:cs typeface="Calibri" pitchFamily="34" charset="-120"/>
              </a:rPr>
              <a:t>ANALYSIS</a:t>
            </a:r>
            <a:endParaRPr lang="en-US" sz="850" dirty="0"/>
          </a:p>
        </p:txBody>
      </p:sp>
      <p:sp>
        <p:nvSpPr>
          <p:cNvPr id="49" name="Text 47"/>
          <p:cNvSpPr txBox="1"/>
          <p:nvPr/>
        </p:nvSpPr>
        <p:spPr>
          <a:xfrm>
            <a:off x="548640" y="425196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Real ledger replaces synthetic; S2–S5 end-to-end</a:t>
            </a:r>
            <a:endParaRPr lang="en-US" sz="950" dirty="0"/>
          </a:p>
        </p:txBody>
      </p:sp>
      <p:sp>
        <p:nvSpPr>
          <p:cNvPr id="50" name="Shape 48"/>
          <p:cNvSpPr/>
          <p:nvPr/>
        </p:nvSpPr>
        <p:spPr>
          <a:xfrm>
            <a:off x="3449506" y="4279392"/>
            <a:ext cx="1118623" cy="128016"/>
          </a:xfrm>
          <a:prstGeom prst="rect">
            <a:avLst/>
          </a:prstGeom>
          <a:solidFill>
            <a:srgbClr val="D08A3B"/>
          </a:solidFill>
          <a:ln w="12700">
            <a:solidFill>
              <a:srgbClr val="D08A3B"/>
            </a:solidFill>
            <a:prstDash val="solid"/>
          </a:ln>
        </p:spPr>
      </p:sp>
      <p:sp>
        <p:nvSpPr>
          <p:cNvPr id="51" name="Text 49"/>
          <p:cNvSpPr txBox="1"/>
          <p:nvPr/>
        </p:nvSpPr>
        <p:spPr>
          <a:xfrm>
            <a:off x="548640" y="443484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S1 rider groups, κ, unmet demand</a:t>
            </a:r>
            <a:endParaRPr lang="en-US" sz="950" dirty="0"/>
          </a:p>
        </p:txBody>
      </p:sp>
      <p:sp>
        <p:nvSpPr>
          <p:cNvPr id="52" name="Shape 50"/>
          <p:cNvSpPr/>
          <p:nvPr/>
        </p:nvSpPr>
        <p:spPr>
          <a:xfrm>
            <a:off x="5439783" y="4462272"/>
            <a:ext cx="871654" cy="128016"/>
          </a:xfrm>
          <a:prstGeom prst="rect">
            <a:avLst/>
          </a:prstGeom>
          <a:solidFill>
            <a:srgbClr val="D08A3B"/>
          </a:solidFill>
          <a:ln w="12700">
            <a:solidFill>
              <a:srgbClr val="D08A3B"/>
            </a:solidFill>
            <a:prstDash val="solid"/>
          </a:ln>
        </p:spPr>
      </p:sp>
      <p:sp>
        <p:nvSpPr>
          <p:cNvPr id="53" name="Text 51"/>
          <p:cNvSpPr txBox="1"/>
          <p:nvPr/>
        </p:nvSpPr>
        <p:spPr>
          <a:xfrm>
            <a:off x="548640" y="461772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S2–S3 calendar effects</a:t>
            </a:r>
            <a:endParaRPr lang="en-US" sz="950" dirty="0"/>
          </a:p>
        </p:txBody>
      </p:sp>
      <p:sp>
        <p:nvSpPr>
          <p:cNvPr id="54" name="Shape 52"/>
          <p:cNvSpPr/>
          <p:nvPr/>
        </p:nvSpPr>
        <p:spPr>
          <a:xfrm>
            <a:off x="5439783" y="4645152"/>
            <a:ext cx="1757836" cy="128016"/>
          </a:xfrm>
          <a:prstGeom prst="rect">
            <a:avLst/>
          </a:prstGeom>
          <a:solidFill>
            <a:srgbClr val="D08A3B"/>
          </a:solidFill>
          <a:ln w="12700">
            <a:solidFill>
              <a:srgbClr val="D08A3B"/>
            </a:solidFill>
            <a:prstDash val="solid"/>
          </a:ln>
        </p:spPr>
      </p:sp>
      <p:sp>
        <p:nvSpPr>
          <p:cNvPr id="55" name="Text 53"/>
          <p:cNvSpPr txBox="1"/>
          <p:nvPr/>
        </p:nvSpPr>
        <p:spPr>
          <a:xfrm>
            <a:off x="548640" y="480060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S4 rolling-origin forecasting</a:t>
            </a:r>
            <a:endParaRPr lang="en-US" sz="950" dirty="0"/>
          </a:p>
        </p:txBody>
      </p:sp>
      <p:sp>
        <p:nvSpPr>
          <p:cNvPr id="56" name="Shape 54"/>
          <p:cNvSpPr/>
          <p:nvPr/>
        </p:nvSpPr>
        <p:spPr>
          <a:xfrm>
            <a:off x="6325965" y="4828032"/>
            <a:ext cx="1772363" cy="128016"/>
          </a:xfrm>
          <a:prstGeom prst="rect">
            <a:avLst/>
          </a:prstGeom>
          <a:solidFill>
            <a:srgbClr val="D08A3B"/>
          </a:solidFill>
          <a:ln w="12700">
            <a:solidFill>
              <a:srgbClr val="D08A3B"/>
            </a:solidFill>
            <a:prstDash val="solid"/>
          </a:ln>
        </p:spPr>
      </p:sp>
      <p:sp>
        <p:nvSpPr>
          <p:cNvPr id="57" name="Text 55"/>
          <p:cNvSpPr txBox="1"/>
          <p:nvPr/>
        </p:nvSpPr>
        <p:spPr>
          <a:xfrm>
            <a:off x="548640" y="498348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S5 supplementary plans, frontier</a:t>
            </a:r>
            <a:endParaRPr lang="en-US" sz="950" dirty="0"/>
          </a:p>
        </p:txBody>
      </p:sp>
      <p:sp>
        <p:nvSpPr>
          <p:cNvPr id="58" name="Shape 56"/>
          <p:cNvSpPr/>
          <p:nvPr/>
        </p:nvSpPr>
        <p:spPr>
          <a:xfrm>
            <a:off x="7212146" y="5010912"/>
            <a:ext cx="1322009" cy="128016"/>
          </a:xfrm>
          <a:prstGeom prst="rect">
            <a:avLst/>
          </a:prstGeom>
          <a:solidFill>
            <a:srgbClr val="D08A3B"/>
          </a:solidFill>
          <a:ln w="12700">
            <a:solidFill>
              <a:srgbClr val="D08A3B"/>
            </a:solidFill>
            <a:prstDash val="solid"/>
          </a:ln>
        </p:spPr>
      </p:sp>
      <p:sp>
        <p:nvSpPr>
          <p:cNvPr id="59" name="Text 57"/>
          <p:cNvSpPr txBox="1"/>
          <p:nvPr/>
        </p:nvSpPr>
        <p:spPr>
          <a:xfrm>
            <a:off x="548640" y="516636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Summer re-check, robustness</a:t>
            </a:r>
            <a:endParaRPr lang="en-US" sz="950" dirty="0"/>
          </a:p>
        </p:txBody>
      </p:sp>
      <p:sp>
        <p:nvSpPr>
          <p:cNvPr id="60" name="Shape 58"/>
          <p:cNvSpPr/>
          <p:nvPr/>
        </p:nvSpPr>
        <p:spPr>
          <a:xfrm>
            <a:off x="8112856" y="5193792"/>
            <a:ext cx="871654" cy="128016"/>
          </a:xfrm>
          <a:prstGeom prst="rect">
            <a:avLst/>
          </a:prstGeom>
          <a:solidFill>
            <a:srgbClr val="D08A3B"/>
          </a:solidFill>
          <a:ln w="12700">
            <a:solidFill>
              <a:srgbClr val="D08A3B"/>
            </a:solidFill>
            <a:prstDash val="solid"/>
          </a:ln>
        </p:spPr>
      </p:sp>
      <p:sp>
        <p:nvSpPr>
          <p:cNvPr id="61" name="Text 59"/>
          <p:cNvSpPr txBox="1"/>
          <p:nvPr/>
        </p:nvSpPr>
        <p:spPr>
          <a:xfrm>
            <a:off x="548640" y="5394960"/>
            <a:ext cx="2651760" cy="182880"/>
          </a:xfrm>
          <a:prstGeom prst="rect">
            <a:avLst/>
          </a:prstGeom>
          <a:noFill/>
          <a:ln/>
        </p:spPr>
        <p:txBody>
          <a:bodyPr wrap="square" lIns="0" tIns="0" rIns="0" bIns="0" rtlCol="0" anchor="ctr"/>
          <a:lstStyle/>
          <a:p>
            <a:pPr indent="0" marL="0">
              <a:buNone/>
            </a:pPr>
            <a:r>
              <a:rPr lang="en-US" sz="850" b="1" spc="60" kern="0" dirty="0">
                <a:solidFill>
                  <a:srgbClr val="3F8F5B"/>
                </a:solidFill>
                <a:latin typeface="Calibri" pitchFamily="34" charset="0"/>
                <a:ea typeface="Calibri" pitchFamily="34" charset="-122"/>
                <a:cs typeface="Calibri" pitchFamily="34" charset="-120"/>
              </a:rPr>
              <a:t>WRITING</a:t>
            </a:r>
            <a:endParaRPr lang="en-US" sz="850" dirty="0"/>
          </a:p>
        </p:txBody>
      </p:sp>
      <p:sp>
        <p:nvSpPr>
          <p:cNvPr id="62" name="Text 60"/>
          <p:cNvSpPr txBox="1"/>
          <p:nvPr/>
        </p:nvSpPr>
        <p:spPr>
          <a:xfrm>
            <a:off x="548640" y="557784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Paper 1 (RQ1–RQ2)</a:t>
            </a:r>
            <a:endParaRPr lang="en-US" sz="950" dirty="0"/>
          </a:p>
        </p:txBody>
      </p:sp>
      <p:sp>
        <p:nvSpPr>
          <p:cNvPr id="63" name="Shape 61"/>
          <p:cNvSpPr/>
          <p:nvPr/>
        </p:nvSpPr>
        <p:spPr>
          <a:xfrm>
            <a:off x="6776319" y="5605272"/>
            <a:ext cx="2208191" cy="128016"/>
          </a:xfrm>
          <a:prstGeom prst="rect">
            <a:avLst/>
          </a:prstGeom>
          <a:solidFill>
            <a:srgbClr val="3F8F5B"/>
          </a:solidFill>
          <a:ln w="12700">
            <a:solidFill>
              <a:srgbClr val="3F8F5B"/>
            </a:solidFill>
            <a:prstDash val="solid"/>
          </a:ln>
        </p:spPr>
      </p:sp>
      <p:sp>
        <p:nvSpPr>
          <p:cNvPr id="64" name="Text 62"/>
          <p:cNvSpPr txBox="1"/>
          <p:nvPr/>
        </p:nvSpPr>
        <p:spPr>
          <a:xfrm>
            <a:off x="548640" y="576072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Paper 2 (RQ3–RQ4)</a:t>
            </a:r>
            <a:endParaRPr lang="en-US" sz="950" dirty="0"/>
          </a:p>
        </p:txBody>
      </p:sp>
      <p:sp>
        <p:nvSpPr>
          <p:cNvPr id="65" name="Shape 63"/>
          <p:cNvSpPr/>
          <p:nvPr/>
        </p:nvSpPr>
        <p:spPr>
          <a:xfrm>
            <a:off x="8112856" y="5788152"/>
            <a:ext cx="2208191" cy="128016"/>
          </a:xfrm>
          <a:prstGeom prst="rect">
            <a:avLst/>
          </a:prstGeom>
          <a:solidFill>
            <a:srgbClr val="3F8F5B"/>
          </a:solidFill>
          <a:ln w="12700">
            <a:solidFill>
              <a:srgbClr val="3F8F5B"/>
            </a:solidFill>
            <a:prstDash val="solid"/>
          </a:ln>
        </p:spPr>
      </p:sp>
      <p:sp>
        <p:nvSpPr>
          <p:cNvPr id="66" name="Text 64"/>
          <p:cNvSpPr txBox="1"/>
          <p:nvPr/>
        </p:nvSpPr>
        <p:spPr>
          <a:xfrm>
            <a:off x="548640" y="5943600"/>
            <a:ext cx="265176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Dissertation</a:t>
            </a:r>
            <a:endParaRPr lang="en-US" sz="950" dirty="0"/>
          </a:p>
        </p:txBody>
      </p:sp>
      <p:sp>
        <p:nvSpPr>
          <p:cNvPr id="67" name="Shape 65"/>
          <p:cNvSpPr/>
          <p:nvPr/>
        </p:nvSpPr>
        <p:spPr>
          <a:xfrm>
            <a:off x="8548683" y="5971032"/>
            <a:ext cx="3079845" cy="128016"/>
          </a:xfrm>
          <a:prstGeom prst="rect">
            <a:avLst/>
          </a:prstGeom>
          <a:solidFill>
            <a:srgbClr val="3F8F5B"/>
          </a:solidFill>
          <a:ln w="12700">
            <a:solidFill>
              <a:srgbClr val="3F8F5B"/>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NEXT STEPS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Immediate next steps (Oct–Dec 2026) and main risks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36 / 39</a:t>
            </a:r>
            <a:endParaRPr lang="en-US" sz="850" dirty="0"/>
          </a:p>
        </p:txBody>
      </p:sp>
      <p:sp>
        <p:nvSpPr>
          <p:cNvPr id="6" name="Text 4"/>
          <p:cNvSpPr txBox="1"/>
          <p:nvPr/>
        </p:nvSpPr>
        <p:spPr>
          <a:xfrm>
            <a:off x="548640" y="1325880"/>
            <a:ext cx="512064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CHECKLIST</a:t>
            </a:r>
            <a:endParaRPr lang="en-US" sz="1000" dirty="0"/>
          </a:p>
        </p:txBody>
      </p:sp>
      <p:sp>
        <p:nvSpPr>
          <p:cNvPr id="7" name="Text 5"/>
          <p:cNvSpPr txBox="1"/>
          <p:nvPr/>
        </p:nvSpPr>
        <p:spPr>
          <a:xfrm>
            <a:off x="548640" y="1600200"/>
            <a:ext cx="5212080" cy="46177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Confirm ledger fields with the county bus station; obtain exploration-period ledger and per-run seat counts; add a “full bus, riders left behind” tick box</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Submit ethics review; prepare consent script and enumerator manual</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Pre-test each instrument on 1–2 routes (20–30 each): comprehension, timing, skip logic</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fall-term weekend on-board wave and the village household survey</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Swap synthetic for real ledger; run S2–S5 end-to-end; confirm the frozen method</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Re-draw winter strata once 2027 holiday dates are published</a:t>
            </a:r>
            <a:endParaRPr lang="en-US" sz="1300" dirty="0"/>
          </a:p>
          <a:p>
            <a:pPr marL="342900" indent="-342900">
              <a:spcAft>
                <a:spcPts val="5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Freeze methods and interpretation rules by 31 Dec 2026 with a time-stamped registration</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080760" y="1325880"/>
          <a:ext cx="5562295" cy="914400"/>
        </p:xfrm>
        <a:graphic>
          <a:graphicData uri="http://schemas.openxmlformats.org/drawingml/2006/table">
            <a:tbl>
              <a:tblPr/>
              <a:tblGrid>
                <a:gridCol w="1691640"/>
                <a:gridCol w="1691640"/>
                <a:gridCol w="2176272"/>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Consequence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Mitigation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Ledger only as daily totals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RQ2–RQ4 cannot be answered per run</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Secure first; else daily model, run level as scenarios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2027 winter dates announced late</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Winter strata drawn on assumed dates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Re-draw with the same seed; non-winter strata unchanged</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Too few enumerators in the Spring Festival peak</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Peak strata under-sampled</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Peak strata first; adjust weights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Poor tally-sheet quality</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κ wrong → censoring and decisions wrong</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Daily balance checks; κ at 10th/90th percentiles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Sealed test disappoints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H5 not supported</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Report by pre-set rules; no re-testing on the same data</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73152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Costs and spare buses unverifiable</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4B5563"/>
                          </a:solidFill>
                          <a:latin typeface="Calibri" pitchFamily="34" charset="0"/>
                          <a:ea typeface="Calibri" pitchFamily="34" charset="-122"/>
                          <a:cs typeface="Calibri" pitchFamily="34" charset="-120"/>
                        </a:rPr>
                        <a:t>S5 plans not implementable</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100" dirty="0">
                          <a:solidFill>
                            <a:srgbClr val="1C4E80"/>
                          </a:solidFill>
                          <a:latin typeface="Calibri" pitchFamily="34" charset="0"/>
                          <a:ea typeface="Calibri" pitchFamily="34" charset="-122"/>
                          <a:cs typeface="Calibri" pitchFamily="34" charset="-120"/>
                        </a:rPr>
                        <a:t>Frontier under two cost scenarios</a:t>
                      </a:r>
                      <a:endParaRPr lang="en-US" sz="110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III · CONTRIBUTIONS</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Expected contributions and outputs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37 / 39</a:t>
            </a:r>
            <a:endParaRPr lang="en-US" sz="850" dirty="0"/>
          </a:p>
        </p:txBody>
      </p:sp>
      <p:sp>
        <p:nvSpPr>
          <p:cNvPr id="6" name="Text 4"/>
          <p:cNvSpPr txBox="1"/>
          <p:nvPr/>
        </p:nvSpPr>
        <p:spPr>
          <a:xfrm>
            <a:off x="548640" y="1371600"/>
            <a:ext cx="3520440" cy="365760"/>
          </a:xfrm>
          <a:prstGeom prst="rect">
            <a:avLst/>
          </a:prstGeom>
          <a:noFill/>
          <a:ln/>
        </p:spPr>
        <p:txBody>
          <a:bodyPr wrap="square" lIns="0" tIns="0" rIns="0" bIns="0" rtlCol="0" anchor="t"/>
          <a:lstStyle/>
          <a:p>
            <a:pPr indent="0" marL="0">
              <a:buNone/>
            </a:pPr>
            <a:r>
              <a:rPr lang="en-US" sz="1900" dirty="0">
                <a:solidFill>
                  <a:srgbClr val="1C4E80"/>
                </a:solidFill>
                <a:latin typeface="Cambria" pitchFamily="34" charset="0"/>
                <a:ea typeface="Cambria" pitchFamily="34" charset="-122"/>
                <a:cs typeface="Cambria" pitchFamily="34" charset="-120"/>
              </a:rPr>
              <a:t>Substantive</a:t>
            </a:r>
            <a:endParaRPr lang="en-US" sz="1900" dirty="0"/>
          </a:p>
        </p:txBody>
      </p:sp>
      <p:sp>
        <p:nvSpPr>
          <p:cNvPr id="7" name="Text 5"/>
          <p:cNvSpPr txBox="1"/>
          <p:nvPr/>
        </p:nvSpPr>
        <p:spPr>
          <a:xfrm>
            <a:off x="548640" y="1874520"/>
            <a:ext cx="3520440" cy="2651760"/>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First run-level evidence on how rural calendar rhythms — boarding-student and worker weekly trips, term surges, holiday returns, Spring Festival — shape county bus demand.</a:t>
            </a:r>
            <a:endParaRPr lang="en-US" sz="1350" dirty="0"/>
          </a:p>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Where and for whom the fixed timetable leaves demand unmet, by village accessibility.</a:t>
            </a:r>
            <a:endParaRPr lang="en-US" sz="1350" dirty="0"/>
          </a:p>
        </p:txBody>
      </p:sp>
      <p:sp>
        <p:nvSpPr>
          <p:cNvPr id="8" name="Text 6"/>
          <p:cNvSpPr txBox="1"/>
          <p:nvPr/>
        </p:nvSpPr>
        <p:spPr>
          <a:xfrm>
            <a:off x="4315968" y="1371600"/>
            <a:ext cx="3520440" cy="365760"/>
          </a:xfrm>
          <a:prstGeom prst="rect">
            <a:avLst/>
          </a:prstGeom>
          <a:noFill/>
          <a:ln/>
        </p:spPr>
        <p:txBody>
          <a:bodyPr wrap="square" lIns="0" tIns="0" rIns="0" bIns="0" rtlCol="0" anchor="t"/>
          <a:lstStyle/>
          <a:p>
            <a:pPr indent="0" marL="0">
              <a:buNone/>
            </a:pPr>
            <a:r>
              <a:rPr lang="en-US" sz="1900" dirty="0">
                <a:solidFill>
                  <a:srgbClr val="1C4E80"/>
                </a:solidFill>
                <a:latin typeface="Cambria" pitchFamily="34" charset="0"/>
                <a:ea typeface="Cambria" pitchFamily="34" charset="-122"/>
                <a:cs typeface="Cambria" pitchFamily="34" charset="-120"/>
              </a:rPr>
              <a:t>Methodological</a:t>
            </a:r>
            <a:endParaRPr lang="en-US" sz="1900" dirty="0"/>
          </a:p>
        </p:txBody>
      </p:sp>
      <p:sp>
        <p:nvSpPr>
          <p:cNvPr id="9" name="Text 7"/>
          <p:cNvSpPr txBox="1"/>
          <p:nvPr/>
        </p:nvSpPr>
        <p:spPr>
          <a:xfrm>
            <a:off x="4315968" y="1874520"/>
            <a:ext cx="3520440" cy="2651760"/>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Identifiability-screened estimation of independent vs. combined effects on the passenger scale, with capacity censoring.</a:t>
            </a:r>
            <a:endParaRPr lang="en-US" sz="1350" dirty="0"/>
          </a:p>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 joint model whose run forecasts add up to calibrated daily totals.</a:t>
            </a:r>
            <a:endParaRPr lang="en-US" sz="1350" dirty="0"/>
          </a:p>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Estimator chosen by synthetic backtest and frozen before testing.</a:t>
            </a:r>
            <a:endParaRPr lang="en-US" sz="1350" dirty="0"/>
          </a:p>
        </p:txBody>
      </p:sp>
      <p:sp>
        <p:nvSpPr>
          <p:cNvPr id="10" name="Text 8"/>
          <p:cNvSpPr txBox="1"/>
          <p:nvPr/>
        </p:nvSpPr>
        <p:spPr>
          <a:xfrm>
            <a:off x="8083296" y="1371600"/>
            <a:ext cx="3520440" cy="365760"/>
          </a:xfrm>
          <a:prstGeom prst="rect">
            <a:avLst/>
          </a:prstGeom>
          <a:noFill/>
          <a:ln/>
        </p:spPr>
        <p:txBody>
          <a:bodyPr wrap="square" lIns="0" tIns="0" rIns="0" bIns="0" rtlCol="0" anchor="t"/>
          <a:lstStyle/>
          <a:p>
            <a:pPr indent="0" marL="0">
              <a:buNone/>
            </a:pPr>
            <a:r>
              <a:rPr lang="en-US" sz="1900" dirty="0">
                <a:solidFill>
                  <a:srgbClr val="1C4E80"/>
                </a:solidFill>
                <a:latin typeface="Cambria" pitchFamily="34" charset="0"/>
                <a:ea typeface="Cambria" pitchFamily="34" charset="-122"/>
                <a:cs typeface="Cambria" pitchFamily="34" charset="-120"/>
              </a:rPr>
              <a:t>Practical</a:t>
            </a:r>
            <a:endParaRPr lang="en-US" sz="1900" dirty="0"/>
          </a:p>
        </p:txBody>
      </p:sp>
      <p:sp>
        <p:nvSpPr>
          <p:cNvPr id="11" name="Text 9"/>
          <p:cNvSpPr txBox="1"/>
          <p:nvPr/>
        </p:nvSpPr>
        <p:spPr>
          <a:xfrm>
            <a:off x="8083296" y="1874520"/>
            <a:ext cx="3520440" cy="2651760"/>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 fixed-core + reserve + forecast-triggered rule with a cost–denial frontier for the county transport bureau.</a:t>
            </a:r>
            <a:endParaRPr lang="en-US" sz="1350" dirty="0"/>
          </a:p>
          <a:p>
            <a:pPr marL="165100" indent="-1651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Reproducible code and data pipeline that other counties can adapt.</a:t>
            </a:r>
            <a:endParaRPr lang="en-US" sz="1350" dirty="0"/>
          </a:p>
        </p:txBody>
      </p:sp>
      <p:sp>
        <p:nvSpPr>
          <p:cNvPr id="12" name="Shape 10"/>
          <p:cNvSpPr/>
          <p:nvPr/>
        </p:nvSpPr>
        <p:spPr>
          <a:xfrm>
            <a:off x="548640" y="4663440"/>
            <a:ext cx="11094415" cy="1600200"/>
          </a:xfrm>
          <a:prstGeom prst="rect">
            <a:avLst/>
          </a:prstGeom>
          <a:solidFill>
            <a:srgbClr val="F3F5F8"/>
          </a:solidFill>
          <a:ln w="12700">
            <a:solidFill>
              <a:srgbClr val="F3F5F8"/>
            </a:solidFill>
            <a:prstDash val="solid"/>
          </a:ln>
        </p:spPr>
      </p:sp>
      <p:sp>
        <p:nvSpPr>
          <p:cNvPr id="13" name="Text 11"/>
          <p:cNvSpPr txBox="1"/>
          <p:nvPr/>
        </p:nvSpPr>
        <p:spPr>
          <a:xfrm>
            <a:off x="731520" y="4773168"/>
            <a:ext cx="457200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PLANNED OUTPUTS</a:t>
            </a:r>
            <a:endParaRPr lang="en-US" sz="1000" dirty="0"/>
          </a:p>
        </p:txBody>
      </p:sp>
      <p:sp>
        <p:nvSpPr>
          <p:cNvPr id="14" name="Text 12"/>
          <p:cNvSpPr txBox="1"/>
          <p:nvPr/>
        </p:nvSpPr>
        <p:spPr>
          <a:xfrm>
            <a:off x="731520" y="5029200"/>
            <a:ext cx="10728655" cy="1188720"/>
          </a:xfrm>
          <a:prstGeom prst="rect">
            <a:avLst/>
          </a:prstGeom>
          <a:noFill/>
          <a:ln/>
        </p:spPr>
        <p:txBody>
          <a:bodyPr wrap="square" lIns="0" tIns="0" rIns="0" bIns="0" rtlCol="0" anchor="t"/>
          <a:lstStyle/>
          <a:p>
            <a:pPr marL="165100" indent="-165100">
              <a:spcAft>
                <a:spcPts val="400"/>
              </a:spcAft>
              <a:buSzPct val="100000"/>
              <a:buChar char="•"/>
            </a:pPr>
            <a:r>
              <a:rPr lang="en-US" sz="1200" b="1" dirty="0">
                <a:solidFill>
                  <a:srgbClr val="4B5563"/>
                </a:solidFill>
                <a:latin typeface="Calibri" pitchFamily="34" charset="0"/>
                <a:ea typeface="Calibri" pitchFamily="34" charset="-122"/>
                <a:cs typeface="Calibri" pitchFamily="34" charset="-120"/>
              </a:rPr>
              <a:t>Paper 1 (RQ1–RQ2): </a:t>
            </a:r>
            <a:r>
              <a:rPr lang="en-US" sz="1200" dirty="0">
                <a:solidFill>
                  <a:srgbClr val="4B5563"/>
                </a:solidFill>
                <a:latin typeface="Calibri" pitchFamily="34" charset="0"/>
                <a:ea typeface="Calibri" pitchFamily="34" charset="-122"/>
                <a:cs typeface="Calibri" pitchFamily="34" charset="-120"/>
              </a:rPr>
              <a:t>independent and overlap effects of calendar rhythms on rural bus runs — Journal of Transport Geography / Travel Behaviour and Society / Transportation Research Part A.</a:t>
            </a:r>
            <a:endParaRPr lang="en-US" sz="1200" dirty="0"/>
          </a:p>
          <a:p>
            <a:pPr marL="165100" indent="-165100">
              <a:spcAft>
                <a:spcPts val="400"/>
              </a:spcAft>
              <a:buSzPct val="100000"/>
              <a:buChar char="•"/>
            </a:pPr>
            <a:r>
              <a:rPr lang="en-US" sz="1200" b="1" dirty="0">
                <a:solidFill>
                  <a:srgbClr val="4B5563"/>
                </a:solidFill>
                <a:latin typeface="Calibri" pitchFamily="34" charset="0"/>
                <a:ea typeface="Calibri" pitchFamily="34" charset="-122"/>
                <a:cs typeface="Calibri" pitchFamily="34" charset="-120"/>
              </a:rPr>
              <a:t>Paper 2 (RQ3–RQ4): </a:t>
            </a:r>
            <a:r>
              <a:rPr lang="en-US" sz="1200" dirty="0">
                <a:solidFill>
                  <a:srgbClr val="4B5563"/>
                </a:solidFill>
                <a:latin typeface="Calibri" pitchFamily="34" charset="0"/>
                <a:ea typeface="Calibri" pitchFamily="34" charset="-122"/>
                <a:cs typeface="Calibri" pitchFamily="34" charset="-120"/>
              </a:rPr>
              <a:t>run-level probabilistic forecasting and chance-constrained supplementary runs — Public Transport / Transportation Research Record / TR Part A.</a:t>
            </a:r>
            <a:endParaRPr lang="en-US" sz="1200" dirty="0"/>
          </a:p>
          <a:p>
            <a:pPr marL="165100" indent="-165100">
              <a:spcAft>
                <a:spcPts val="400"/>
              </a:spcAft>
              <a:buSzPct val="100000"/>
              <a:buChar char="•"/>
            </a:pPr>
            <a:r>
              <a:rPr lang="en-US" sz="1200" b="1" dirty="0">
                <a:solidFill>
                  <a:srgbClr val="4B5563"/>
                </a:solidFill>
                <a:latin typeface="Calibri" pitchFamily="34" charset="0"/>
                <a:ea typeface="Calibri" pitchFamily="34" charset="-122"/>
                <a:cs typeface="Calibri" pitchFamily="34" charset="-120"/>
              </a:rPr>
              <a:t>Dissertation: </a:t>
            </a:r>
            <a:r>
              <a:rPr lang="en-US" sz="1200" dirty="0">
                <a:solidFill>
                  <a:srgbClr val="4B5563"/>
                </a:solidFill>
                <a:latin typeface="Calibri" pitchFamily="34" charset="0"/>
                <a:ea typeface="Calibri" pitchFamily="34" charset="-122"/>
                <a:cs typeface="Calibri" pitchFamily="34" charset="-120"/>
              </a:rPr>
              <a:t>nine chapters, including the full method comparison and failures.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DISCUSSION</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Limitations — and questions I would value your input on</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38 / 39</a:t>
            </a:r>
            <a:endParaRPr lang="en-US" sz="850" dirty="0"/>
          </a:p>
        </p:txBody>
      </p:sp>
      <p:sp>
        <p:nvSpPr>
          <p:cNvPr id="6" name="Text 4"/>
          <p:cNvSpPr txBox="1"/>
          <p:nvPr/>
        </p:nvSpPr>
        <p:spPr>
          <a:xfrm>
            <a:off x="548640" y="1325880"/>
            <a:ext cx="530352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KNOWN LIMITATIONS</a:t>
            </a:r>
            <a:endParaRPr lang="en-US" sz="1000" dirty="0"/>
          </a:p>
        </p:txBody>
      </p:sp>
      <p:sp>
        <p:nvSpPr>
          <p:cNvPr id="7" name="Text 5"/>
          <p:cNvSpPr txBox="1"/>
          <p:nvPr/>
        </p:nvSpPr>
        <p:spPr>
          <a:xfrm>
            <a:off x="548640" y="1645920"/>
            <a:ext cx="5394960" cy="4572000"/>
          </a:xfrm>
          <a:prstGeom prst="rect">
            <a:avLst/>
          </a:prstGeom>
          <a:noFill/>
          <a:ln/>
        </p:spPr>
        <p:txBody>
          <a:bodyPr wrap="square" lIns="0" tIns="0" rIns="0" bIns="0" rtlCol="0" anchor="t"/>
          <a:lstStyle/>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Synthetic results show that the method recovers known truth; they are not findings about Xinhuang.</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Three years of calendar give limited support for some overlaps (W×R: 69 runs); only a longer ledger fixes this.</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Turnover κ from sampled tally sheets propagates into censoring and decisions.</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Unobtainable drivers (industrial shifts, clinic rosters) may leak into weekday or residual terms.</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The sealed test contains one winter and one Spring Festival.</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Chinese literature: the systematic CNKI search is still to be run.</a:t>
            </a:r>
            <a:endParaRPr lang="en-US" sz="1400" dirty="0"/>
          </a:p>
        </p:txBody>
      </p:sp>
      <p:sp>
        <p:nvSpPr>
          <p:cNvPr id="8" name="Shape 6"/>
          <p:cNvSpPr/>
          <p:nvPr/>
        </p:nvSpPr>
        <p:spPr>
          <a:xfrm>
            <a:off x="6263640" y="1261872"/>
            <a:ext cx="5379415" cy="5029200"/>
          </a:xfrm>
          <a:prstGeom prst="rect">
            <a:avLst/>
          </a:prstGeom>
          <a:solidFill>
            <a:srgbClr val="E3ECF6"/>
          </a:solidFill>
          <a:ln w="12700">
            <a:solidFill>
              <a:srgbClr val="E3ECF6"/>
            </a:solidFill>
            <a:prstDash val="solid"/>
          </a:ln>
        </p:spPr>
      </p:sp>
      <p:sp>
        <p:nvSpPr>
          <p:cNvPr id="9" name="Text 7"/>
          <p:cNvSpPr txBox="1"/>
          <p:nvPr/>
        </p:nvSpPr>
        <p:spPr>
          <a:xfrm>
            <a:off x="6446520" y="1389888"/>
            <a:ext cx="4937760" cy="219456"/>
          </a:xfrm>
          <a:prstGeom prst="rect">
            <a:avLst/>
          </a:prstGeom>
          <a:noFill/>
          <a:ln/>
        </p:spPr>
        <p:txBody>
          <a:bodyPr wrap="square" lIns="0" tIns="0" rIns="0" bIns="0" rtlCol="0" anchor="t"/>
          <a:lstStyle/>
          <a:p>
            <a:pPr indent="0" marL="0">
              <a:buNone/>
            </a:pPr>
            <a:r>
              <a:rPr lang="en-US" sz="1000" b="1" spc="80" kern="0" dirty="0">
                <a:solidFill>
                  <a:srgbClr val="1C4E80"/>
                </a:solidFill>
                <a:latin typeface="Calibri" pitchFamily="34" charset="0"/>
                <a:ea typeface="Calibri" pitchFamily="34" charset="-122"/>
                <a:cs typeface="Calibri" pitchFamily="34" charset="-120"/>
              </a:rPr>
              <a:t>QUESTIONS FOR THE AUDIENCE</a:t>
            </a:r>
            <a:endParaRPr lang="en-US" sz="1000" dirty="0"/>
          </a:p>
        </p:txBody>
      </p:sp>
      <p:sp>
        <p:nvSpPr>
          <p:cNvPr id="10" name="Text 8"/>
          <p:cNvSpPr txBox="1"/>
          <p:nvPr/>
        </p:nvSpPr>
        <p:spPr>
          <a:xfrm>
            <a:off x="6446520" y="1737360"/>
            <a:ext cx="502920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Is the passenger (additive) scale the right primary estimand for operators, with the ratio scale as secondary?</a:t>
            </a:r>
            <a:endParaRPr lang="en-US" sz="1500" dirty="0"/>
          </a:p>
          <a:p>
            <a:pPr marL="342900" indent="-342900">
              <a:spcAft>
                <a:spcPts val="9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Is ≥200 runs a sensible identifiability threshold — or should support be judged by interval width?</a:t>
            </a:r>
            <a:endParaRPr lang="en-US" sz="1500" dirty="0"/>
          </a:p>
          <a:p>
            <a:pPr marL="342900" indent="-342900">
              <a:spcAft>
                <a:spcPts val="9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Beyond forecast-triggered extra runs, which supplementary service types (route deviation to far villages, scheduled on-call runs) merit testing in a Chinese mountain county?</a:t>
            </a:r>
            <a:endParaRPr lang="en-US" sz="1500" dirty="0"/>
          </a:p>
          <a:p>
            <a:pPr marL="342900" indent="-342900">
              <a:spcAft>
                <a:spcPts val="900"/>
              </a:spcAft>
              <a:buSzPct val="100000"/>
              <a:buFont typeface="+mj-lt"/>
              <a:buAutoNum type="arabicPeriod" startAt="1"/>
            </a:pPr>
            <a:r>
              <a:rPr lang="en-US" sz="1500" dirty="0">
                <a:solidFill>
                  <a:srgbClr val="1F2937"/>
                </a:solidFill>
                <a:latin typeface="Calibri" pitchFamily="34" charset="0"/>
                <a:ea typeface="Calibri" pitchFamily="34" charset="-122"/>
                <a:cs typeface="Calibri" pitchFamily="34" charset="-120"/>
              </a:rPr>
              <a:t>How can latent demand be validated when denied boardings are only partly recorded?</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46520" y="0"/>
            <a:ext cx="5745175" cy="6858000"/>
          </a:xfrm>
          <a:prstGeom prst="rect">
            <a:avLst/>
          </a:prstGeom>
          <a:solidFill>
            <a:srgbClr val="F3F5F8"/>
          </a:solidFill>
          <a:ln w="12700">
            <a:solidFill>
              <a:srgbClr val="F3F5F8"/>
            </a:solidFill>
            <a:prstDash val="solid"/>
          </a:ln>
        </p:spPr>
      </p:sp>
      <p:pic>
        <p:nvPicPr>
          <p:cNvPr id="3" name="Image 0" descr="Xinhuang County routes">    </p:cNvPr>
          <p:cNvPicPr>
            <a:picLocks noChangeAspect="1"/>
          </p:cNvPicPr>
          <p:nvPr/>
        </p:nvPicPr>
        <p:blipFill>
          <a:blip r:embed="rId1"/>
          <a:stretch>
            <a:fillRect/>
          </a:stretch>
        </p:blipFill>
        <p:spPr>
          <a:xfrm>
            <a:off x="6629400" y="1089168"/>
            <a:ext cx="5349240" cy="4313903"/>
          </a:xfrm>
          <a:prstGeom prst="rect">
            <a:avLst/>
          </a:prstGeom>
        </p:spPr>
      </p:pic>
      <p:sp>
        <p:nvSpPr>
          <p:cNvPr id="4" name="Text 1"/>
          <p:cNvSpPr txBox="1"/>
          <p:nvPr/>
        </p:nvSpPr>
        <p:spPr>
          <a:xfrm>
            <a:off x="548640" y="1371600"/>
            <a:ext cx="5486400" cy="914400"/>
          </a:xfrm>
          <a:prstGeom prst="rect">
            <a:avLst/>
          </a:prstGeom>
          <a:noFill/>
          <a:ln/>
        </p:spPr>
        <p:txBody>
          <a:bodyPr wrap="square" lIns="0" tIns="0" rIns="0" bIns="0" rtlCol="0" anchor="t"/>
          <a:lstStyle/>
          <a:p>
            <a:pPr indent="0" marL="0">
              <a:buNone/>
            </a:pPr>
            <a:r>
              <a:rPr lang="en-US" sz="4000" dirty="0">
                <a:solidFill>
                  <a:srgbClr val="1F2937"/>
                </a:solidFill>
                <a:latin typeface="Cambria" pitchFamily="34" charset="0"/>
                <a:ea typeface="Cambria" pitchFamily="34" charset="-122"/>
                <a:cs typeface="Cambria" pitchFamily="34" charset="-120"/>
              </a:rPr>
              <a:t>Thank you</a:t>
            </a:r>
            <a:endParaRPr lang="en-US" sz="4000" dirty="0"/>
          </a:p>
        </p:txBody>
      </p:sp>
      <p:sp>
        <p:nvSpPr>
          <p:cNvPr id="5" name="Text 2"/>
          <p:cNvSpPr txBox="1"/>
          <p:nvPr/>
        </p:nvSpPr>
        <p:spPr>
          <a:xfrm>
            <a:off x="548640" y="2514600"/>
            <a:ext cx="5486400" cy="2377440"/>
          </a:xfrm>
          <a:prstGeom prst="rect">
            <a:avLst/>
          </a:prstGeom>
          <a:noFill/>
          <a:ln/>
        </p:spPr>
        <p:txBody>
          <a:bodyPr wrap="square" lIns="0" tIns="0" rIns="0" bIns="0" rtlCol="0" anchor="t"/>
          <a:lstStyle/>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Run-level, direction-aware calendar factors separate rider groups that daily totals conflate.</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Overlapping effects are estimated only where the calendar can identify them, on the passenger scale, with censoring.</a:t>
            </a:r>
            <a:endParaRPr lang="en-US" sz="1400" dirty="0"/>
          </a:p>
          <a:p>
            <a:pPr marL="165100" indent="-165100">
              <a:spcAft>
                <a:spcPts val="400"/>
              </a:spcAft>
              <a:buSzPct val="100000"/>
              <a:buChar char="•"/>
            </a:pPr>
            <a:r>
              <a:rPr lang="en-US" sz="1400" dirty="0">
                <a:solidFill>
                  <a:srgbClr val="4B5563"/>
                </a:solidFill>
                <a:latin typeface="Calibri" pitchFamily="34" charset="0"/>
                <a:ea typeface="Calibri" pitchFamily="34" charset="-122"/>
                <a:cs typeface="Calibri" pitchFamily="34" charset="-120"/>
              </a:rPr>
              <a:t>One joint model turns effects into calibrated forecasts and a transparent cost–denial choice for supplementary service.</a:t>
            </a:r>
            <a:endParaRPr lang="en-US" sz="1400" dirty="0"/>
          </a:p>
        </p:txBody>
      </p:sp>
      <p:sp>
        <p:nvSpPr>
          <p:cNvPr id="6" name="Text 3"/>
          <p:cNvSpPr txBox="1"/>
          <p:nvPr/>
        </p:nvSpPr>
        <p:spPr>
          <a:xfrm>
            <a:off x="548640" y="5120640"/>
            <a:ext cx="5394960" cy="731520"/>
          </a:xfrm>
          <a:prstGeom prst="rect">
            <a:avLst/>
          </a:prstGeom>
          <a:noFill/>
          <a:ln/>
        </p:spPr>
        <p:txBody>
          <a:bodyPr wrap="square" lIns="0" tIns="0" rIns="0" bIns="0" rtlCol="0" anchor="t"/>
          <a:lstStyle/>
          <a:p>
            <a:pPr indent="0" marL="0">
              <a:buNone/>
            </a:pPr>
            <a:r>
              <a:rPr lang="en-US" sz="1600" b="1" dirty="0">
                <a:solidFill>
                  <a:srgbClr val="1F2937"/>
                </a:solidFill>
                <a:latin typeface="Calibri" pitchFamily="34" charset="0"/>
                <a:ea typeface="Calibri" pitchFamily="34" charset="-122"/>
                <a:cs typeface="Calibri" pitchFamily="34" charset="-120"/>
              </a:rPr>
              <a:t>Lilac</a:t>
            </a:r>
            <a:endParaRPr lang="en-US" sz="1300" dirty="0"/>
          </a:p>
          <a:p>
            <a:pPr indent="0" marL="0">
              <a:buNone/>
            </a:pPr>
            <a:r>
              <a:rPr lang="en-US" sz="1350" dirty="0">
                <a:solidFill>
                  <a:srgbClr val="4B5563"/>
                </a:solidFill>
                <a:latin typeface="Calibri" pitchFamily="34" charset="0"/>
                <a:ea typeface="Calibri" pitchFamily="34" charset="-122"/>
                <a:cs typeface="Calibri" pitchFamily="34" charset="-120"/>
              </a:rPr>
              <a:t>National University of Singapore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A1 · Questionnaire indicator groups and the questions they serve</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A1</a:t>
            </a:r>
            <a:endParaRPr lang="en-US" sz="8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7680960" cy="914400"/>
        </p:xfrm>
        <a:graphic>
          <a:graphicData uri="http://schemas.openxmlformats.org/drawingml/2006/table">
            <a:tbl>
              <a:tblPr/>
              <a:tblGrid>
                <a:gridCol w="685800"/>
                <a:gridCol w="3840480"/>
                <a:gridCol w="2148840"/>
                <a:gridCol w="100584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Group</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Indicator group</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Serves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Run key and non-response record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Z1–Z4, H0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 RQ2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Trip origin–destination and trip chain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A1, A2, A5, H7, O8</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 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Rider type and periodic rhythm (maps to S, W, T, R/CY)</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Trip purpose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Time constraints and preferred departure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A6, H11, O10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Dependence and alternatives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A8, H8</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Unmet demand</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A9, H6, H9, H10, O9</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 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Service-gap priority (forced choice)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A10, H12, O12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G8</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Demographics and weights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A7, A11–A13, H14, O2, O3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 RQ2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G9</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Household structure and group exposure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H1–H5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Holiday return timing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S15, W15, O4–O7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RQ2, RQ3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G11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Acceptance of extra runs; information channels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A14, H13, O11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47472">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Channel and duplicate responses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O1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dirty="0">
                          <a:solidFill>
                            <a:srgbClr val="1C4E80"/>
                          </a:solidFill>
                          <a:latin typeface="Calibri" pitchFamily="34" charset="0"/>
                          <a:ea typeface="Calibri" pitchFamily="34" charset="-122"/>
                          <a:cs typeface="Calibri" pitchFamily="34" charset="-120"/>
                        </a:rPr>
                        <a:t>RQ1</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bl>
          </a:graphicData>
        </a:graphic>
      </p:graphicFrame>
      <p:sp>
        <p:nvSpPr>
          <p:cNvPr id="7" name="Text 4"/>
          <p:cNvSpPr txBox="1"/>
          <p:nvPr/>
        </p:nvSpPr>
        <p:spPr>
          <a:xfrm>
            <a:off x="8503920" y="1325880"/>
            <a:ext cx="3139135" cy="48463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4B5563"/>
                </a:solidFill>
                <a:latin typeface="Calibri" pitchFamily="34" charset="0"/>
                <a:ea typeface="Calibri" pitchFamily="34" charset="-122"/>
                <a:cs typeface="Calibri" pitchFamily="34" charset="-120"/>
              </a:rPr>
              <a:t>Prefixes: A on-board, H household, O online, S/W summer/winter on-board, Z enumerator record.</a:t>
            </a:r>
            <a:endParaRPr lang="en-US" sz="1150" dirty="0"/>
          </a:p>
          <a:p>
            <a:pPr marL="165100" indent="-165100">
              <a:spcAft>
                <a:spcPts val="400"/>
              </a:spcAft>
              <a:buSzPct val="100000"/>
              <a:buChar char="•"/>
            </a:pPr>
            <a:r>
              <a:rPr lang="en-US" sz="1150" dirty="0">
                <a:solidFill>
                  <a:srgbClr val="4B5563"/>
                </a:solidFill>
                <a:latin typeface="Calibri" pitchFamily="34" charset="0"/>
                <a:ea typeface="Calibri" pitchFamily="34" charset="-122"/>
                <a:cs typeface="Calibri" pitchFamily="34" charset="-120"/>
              </a:rPr>
              <a:t>Not included, with reasons: theory-of-planned-behaviour scales (no RQ needs intentions; behaviour is observed directly), SERVPERF batteries (burden), shift and clinic rosters (unobtainable), waiting time (reflects departure choice on hail-and-ride routes).</a:t>
            </a:r>
            <a:endParaRPr lang="en-US" sz="1150" dirty="0"/>
          </a:p>
          <a:p>
            <a:pPr marL="165100" indent="-165100">
              <a:spcAft>
                <a:spcPts val="400"/>
              </a:spcAft>
              <a:buSzPct val="100000"/>
              <a:buChar char="•"/>
            </a:pPr>
            <a:r>
              <a:rPr lang="en-US" sz="1150" dirty="0">
                <a:solidFill>
                  <a:srgbClr val="4B5563"/>
                </a:solidFill>
                <a:latin typeface="Calibri" pitchFamily="34" charset="0"/>
                <a:ea typeface="Calibri" pitchFamily="34" charset="-122"/>
                <a:cs typeface="Calibri" pitchFamily="34" charset="-120"/>
              </a:rPr>
              <a:t>Reliability and validity without multi-item scales: test–retest κ ≥ 0.6 on A3, A4, A7; inter-coder κ on field-coded items; tally-sheet totals vs. ledger; pre-registered construct checks.</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A2 · On-board sampling strata (runs, days and planned questionnaires)</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A2</a:t>
            </a:r>
            <a:endParaRPr lang="en-US" sz="8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188720"/>
                <a:gridCol w="5029200"/>
                <a:gridCol w="1325880"/>
                <a:gridCol w="777240"/>
                <a:gridCol w="1234440"/>
                <a:gridCol w="1536192"/>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Wave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Stratum</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Runs in stratum</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Days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Sampled runs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Planned questionnaires</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1C4E80"/>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A1 Last school day p.m. · outbound (students home)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A2 Last workday p.m. · inbound (workers to town)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A3 Eve of school week p.m. · inbound (students back)</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A4 Eve of work week p.m. · outbound (workers out)</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330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A5 First rest day a.m. · inbound (workers to town)</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360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Fall 2026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A6 Tue–Thu p.m. · both directions (control)</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1,755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Winter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B1 Spring Festival pre-peak · outbound (going home)</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39</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Winter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B2 Spring Festival post-peak · inbound (returning)</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39</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Winter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B3 New Year holiday first/last days · both</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204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Winter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B4 Weekly-commute windows outside Spring Festival · both</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675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184</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solidFill>
                      <a:srgbClr val="F3F5F8"/>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Winter 2027</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B5 Tue–Thu p.m. · both directions (control)</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943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c>
                  <a:txBody>
                    <a:bodyPr/>
                    <a:lstStyle/>
                    <a:p>
                      <a:pPr algn="r" indent="0" marL="0">
                        <a:buNone/>
                      </a:pPr>
                      <a:r>
                        <a:rPr lang="en-US" sz="1050" dirty="0">
                          <a:solidFill>
                            <a:srgbClr val="1F2937"/>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63500" marR="63500" marT="38100" marB="38100" anchor="ctr">
                    <a:lnL w="7620" cap="flat" cmpd="sng" algn="ctr">
                      <a:solidFill>
                        <a:srgbClr val="D6DBE1"/>
                      </a:solidFill>
                      <a:prstDash val="solid"/>
                      <a:round/>
                      <a:headEnd type="none" w="med" len="med"/>
                      <a:tailEnd type="none" w="med" len="med"/>
                    </a:lnL>
                    <a:lnR w="7620" cap="flat" cmpd="sng" algn="ctr">
                      <a:solidFill>
                        <a:srgbClr val="D6DBE1"/>
                      </a:solidFill>
                      <a:prstDash val="solid"/>
                      <a:round/>
                      <a:headEnd type="none" w="med" len="med"/>
                      <a:tailEnd type="none" w="med" len="med"/>
                    </a:lnR>
                    <a:lnT w="7620" cap="flat" cmpd="sng" algn="ctr">
                      <a:solidFill>
                        <a:srgbClr val="D6DBE1"/>
                      </a:solidFill>
                      <a:prstDash val="solid"/>
                      <a:round/>
                      <a:headEnd type="none" w="med" len="med"/>
                      <a:tailEnd type="none" w="med" len="med"/>
                    </a:lnT>
                    <a:lnB w="7620" cap="flat" cmpd="sng" algn="ctr">
                      <a:solidFill>
                        <a:srgbClr val="D6DBE1"/>
                      </a:solidFill>
                      <a:prstDash val="solid"/>
                      <a:round/>
                      <a:headEnd type="none" w="med" len="med"/>
                      <a:tailEnd type="none" w="med" len="med"/>
                    </a:lnB>
                  </a:tcPr>
                </a:tc>
              </a:tr>
            </a:tbl>
          </a:graphicData>
        </a:graphic>
      </p:graphicFrame>
      <p:sp>
        <p:nvSpPr>
          <p:cNvPr id="7" name="Text 4"/>
          <p:cNvSpPr txBox="1"/>
          <p:nvPr/>
        </p:nvSpPr>
        <p:spPr>
          <a:xfrm>
            <a:off x="548640" y="5486400"/>
            <a:ext cx="11094415" cy="731520"/>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Equal allocation across fall strata (each is a separate check); winter allocation follows research priority (Spring Festival peaks 30% each). About 8 questionnaires per run is an assumption to be checked in the pre-test. 98 of 129 winter runs fall on dates marked unverified and will be re-drawn.</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A3 · References cited on the slides (1 of 3)</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A3</a:t>
            </a:r>
            <a:endParaRPr lang="en-US" sz="850" dirty="0"/>
          </a:p>
        </p:txBody>
      </p:sp>
      <p:sp>
        <p:nvSpPr>
          <p:cNvPr id="6" name="Text 4"/>
          <p:cNvSpPr txBox="1"/>
          <p:nvPr/>
        </p:nvSpPr>
        <p:spPr>
          <a:xfrm>
            <a:off x="54864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Alexandre, T. d. S., Bernardini, F., &amp; Viterbo, J. (2023). Machine learning applied to public transportation by bus: A systematic literature review. Transportation Research Record.</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Angelopoulos, A. N., &amp; Bates, S. (2023). Conformal prediction: A gentle introduction. Foundations and Trends in Machine Learning, 16(4), 494–591.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Arana, P., Cabezudo, S., &amp; Peñalba, M. (2014). Influence of weather conditions on transit ridership: A statistical study using data from smartcards. Transportation Research Part A, 59, 1–12.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Barber, R. F., Candès, E. J., Ramdas, A., &amp; Tibshirani, R. J. (2023). Conformal prediction beyond exchangeability. Annals of Statistics, 51(2).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Berg, J., &amp; Ihlström, J. (2019). The importance of public transport for mobility and everyday activities among rural residents. Social Sciences, 8(2), 58.</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Calabrò, G., Araldo, A., Oh, S., et al. (2023). Adaptive transit design: Optimizing fixed and demand responsive multi-modal transportation via continuous approximation. Transportation Research Part A.</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Ceder, A. (1984). Bus frequency determination using passenger count data. Transportation Research Part A, 18(5–6), 439–453.</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Charnes, A., &amp; Cooper, W. W. (1959). Chance-constrained programming. Management Science, 6(1), 73–79.</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Church, A., Frost, M., &amp; Sullivan, K. (2000). Transport and social exclusion in London. Transport Policy, 7(3), 195–205.</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Croston, J. D. (1972). Forecasting and stock control for intermittent demands. Journal of the Operational Research Society, 23(3), 289–303.</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Currie, G., &amp; Fournier, N. (2020). Why most DRT/micro-transits fail — What the survivors tell us about progress. Research in Transportation Economics, 83, 100895.</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Czado, C., Gneiting, T., &amp; Held, L. (2009). Predictive model assessment for count data. Biometrics, 65(4), 1254–1261.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Deville, J.-C., &amp; Särndal, C.-E. (1992). Calibration estimators in survey sampling. Journal of the American Statistical Association, 87(418), 376–382.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Durán-Micco, J., &amp; Vansteenwegen, P. (2021). A survey on the transit network design and frequency setting problem. Public Transport.</a:t>
            </a:r>
            <a:endParaRPr lang="en-US" sz="940" dirty="0"/>
          </a:p>
        </p:txBody>
      </p:sp>
      <p:sp>
        <p:nvSpPr>
          <p:cNvPr id="7" name="Text 5"/>
          <p:cNvSpPr txBox="1"/>
          <p:nvPr/>
        </p:nvSpPr>
        <p:spPr>
          <a:xfrm>
            <a:off x="621792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Egu, O., &amp; Bonnel, P. (2020). How comparable are origin–destination matrices estimated from automatic fare collection, OD surveys and household travel survey? Transportation Research Part A.</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Espeland, S., &amp; Rowangould, D. (2024). Rural travel burdens in the United States: Unmet need and travel costs. Journal of Transport Geography, 104016.</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Friedman, J. H. (2001). Greedy function approximation: A gradient boosting machine. Annals of Statistics, 29(5), 1189–1232.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Gibbs, I., &amp; Candès, E. J. (2021). Adaptive conformal inference under distribution shift. NeurIPS 34.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Gkiotsalitis, K., Schmidt, M. E., &amp; van der Hurk, E. (2021). Subline frequency setting for autonomous minibusses under demand uncertainty. Transportation Research Part C.</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Gneiting, T., Balabdaoui, F., &amp; Raftery, A. E. (2007). Probabilistic forecasts, calibration and sharpness. JRSS Series B, 69(2), 243–268.</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Gneiting, T., &amp; Raftery, A. E. (2007). Strictly proper scoring rules, prediction, and estimation. JASA, 102(477), 359–378.</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Guo, Z., Wilson, N. H. M., &amp; Rahbee, A. B. (2007). Impact of weather on transit ridership in Chicago, Illinois. Transportation Research Record, 2034.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Hadas, Y., &amp; Shnaiderman, M. (2012). Public-transit frequency setting using minimum-cost approach with stochastic demand and travel time. Transportation Research Part B, 46(8), 1068–1084.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Han, Y., Wang, C., Ren, Y., et al. (2019). Short-term prediction of bus passenger flow based on a hybrid optimized LSTM network. ISPRS Int. J. Geo-Information, 8(9), 366.</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Hewamalage, H., Ackermann, K., &amp; Bergmeir, C. (2022). Forecast evaluation for data scientists: Common pitfalls and best practices. Data Mining and Knowledge Discovery.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Hoerl, A. E., &amp; Kennard, R. W. (1970). Ridge regression: Biased estimation for nonorthogonal problems. Technometrics, 12(1), 55–67.</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Hong, X., Liang, P., &amp; Zhu, H. (2024). The impact of road environments on rural periodic market travel satisfaction. Frontiers in Public Health.</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Huang, J. W., Liu, X., &amp; Zhao, P. (2019). Interactions between bus, metro, and taxi use before and after the Chinese Spring Festival. ISPRS Int. J. Geo-Information, 8(10), 445.</a:t>
            </a:r>
            <a:endParaRPr lang="en-US" sz="94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A4 · References cited on the slides (2 of 3)</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A4</a:t>
            </a:r>
            <a:endParaRPr lang="en-US" sz="850" dirty="0"/>
          </a:p>
        </p:txBody>
      </p:sp>
      <p:sp>
        <p:nvSpPr>
          <p:cNvPr id="6" name="Text 4"/>
          <p:cNvSpPr txBox="1"/>
          <p:nvPr/>
        </p:nvSpPr>
        <p:spPr>
          <a:xfrm>
            <a:off x="54864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Jang, T. Y. (2005). Count data models for trip generation. Journal of Transportation Engineering, 131(6), 444–450.</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Jittrapirom, P., van Neerven, W., Martens, K., et al. (2019). The Dutch elderly's preferences toward a smart demand-responsive transport service. Research in Transportation Business &amp; Management.</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Kashfi, S. A., Bunker, J. M., &amp; Yiğitcanlar, T. (2015). Understanding the effects of complex seasonality on suburban daily transit ridership. Journal of Transport Geography.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Kashfi, S. A., Bunker, J. M., &amp; Yiğitcanlar, T. (2016). Modelling and analysing effects of complex seasonality and weather on an area's daily transit ridership rate. Journal of Transport Geography.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Ke, G., Meng, Q., Finley, T., et al. (2017). LightGBM: A highly efficient gradient boosting decision tree. NeurIPS 30, 3146–3154.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Kieu, L. M., Bhaskar, A., &amp; Chung, E. (2014). Transit passenger segmentation using travel regularity mined from smart card transactions data. QUT ePrints.</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Kleywegt, A. J., Shapiro, A., &amp; Homem-de-Mello, T. (2002). The sample average approximation method for stochastic discrete optimization. SIAM Journal on Optimization, 12(2), 479–502.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Knierim, L., &amp; Schlüter, J. (2021). The attitude of potentially less mobile people towards demand responsive transport in a rural area in central Germany. Journal of Transport Geography.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Kolenikov, S. (2014). Calibrating survey data using iterative proportional fitting (raking). The Stata Journal, 14(1), 22–59.</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Krosnick, J. A. (1991). Response strategies for coping with the cognitive demands of attitude measures in surveys. Applied Cognitive Psychology, 5(3), 213–236.</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Kuhnimhof, T., Chlond, B., &amp; Zumkeller, D. (2006). Nonresponse, selectivity, and data quality in travel surveys. Transportation Research Record, 1972, 29–37.</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Laws, R., Enoch, M., Ison, S., et al. (2009). Demand responsive transport: A review of schemes in England and Wales. Journal of Public Transportation, 12(1).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Lei, J., G'Sell, M., Rinaldo, A., et al. (2017). Distribution-free predictive inference for regression. JASA, 113(523), 1094–1111.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Li, G., Peng, L., Li, X., et al. (2019). Short-term passenger flow prediction at urban bus stops based on LSTM [in Chinese]. Journal of Highway and Transportation Research and Development, 36(2), 128–135.</a:t>
            </a:r>
            <a:endParaRPr lang="en-US" sz="940" dirty="0"/>
          </a:p>
        </p:txBody>
      </p:sp>
      <p:sp>
        <p:nvSpPr>
          <p:cNvPr id="7" name="Text 5"/>
          <p:cNvSpPr txBox="1"/>
          <p:nvPr/>
        </p:nvSpPr>
        <p:spPr>
          <a:xfrm>
            <a:off x="621792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Li, J., Ye, Q., Deng, X., et al. (2016). Spatial-temporal analysis on Spring Festival travel rush in China based on multisource big data. Sustainability, 8(11), 1184.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Liu, J., Shi, W., &amp; Chen, P. (2020). Exploring travel patterns during the holiday season — Shenzhen Metro during the Chinese Spring Festival. ISPRS Int. J. Geo-Information, 9(11), 651.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Liyanage, S., Abduljabbar, R., Dia, H., et al. (2022). AI-based neural network models for bus passenger demand forecasting using smart card data. Journal of Urban Management.</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Lou, Y., Caruana, R., Gehrke, J., &amp; Hooker, G. (2013). Accurate intelligible models with pairwise interactions. Proc. 19th ACM SIGKDD, 623–631.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Lucas, K. (2012). Transport and social exclusion: Where are we now? Transport Policy, 20, 105–113.</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Ma, C., Ai, Q., &amp; Zhang, J. (2018). Estimation model of bus cross-section passenger flow under incomplete information [in Chinese]. Journal of Highway and Transportation Research and Development, 35(5), 121–127.</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Mageean, J., &amp; Nelson, J. D. (2003). The evaluation of demand responsive transport services in Europe. Journal of Transport Geography, 11(4).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Makridakis, S., Spiliotis, E., &amp; Assimakopoulos, V. (2019). The M4 Competition: 100,000 time series and 61 forecasting methods. International Journal of Forecasting.</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Mauz, E., Hoffmann, R., Houben, R., et al. (2018). Mode equivalence of health indicators between data collection modes and mixed-mode survey designs. Journal of Medical Internet Research.</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Newell, G. F. (1971). Dispatching policies for a transportation route. Transportation Science, 5(1), 91–105.</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Newmark, G. L. (2014). Conducting visitor travel surveys: A transit agency perspective. Journal of Public Transportation, 17(4).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Nourbakhsh, S. M., &amp; Ouyang, Y. (2011). A structured flexible transit system for low demand areas. Transportation Research Part B.</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Painter, K. M., Jessup, E., Gossard, M. H., et al. (2007). Demand forecasting for rural transit. Transportation Research Record, 1997, 35–40.</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Petropoulos, F., Nikolopoulos, K., Spithourakis, G. P., et al. (2013). Empirical heuristics for improving intermittent demand forecasting. Industrial Management &amp; Data Systems.</a:t>
            </a:r>
            <a:endParaRPr lang="en-US" sz="9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8686800" cy="237744"/>
          </a:xfrm>
          <a:prstGeom prst="rect">
            <a:avLst/>
          </a:prstGeom>
          <a:noFill/>
          <a:ln/>
        </p:spPr>
        <p:txBody>
          <a:bodyPr wrap="square" lIns="0" tIns="0" rIns="0" bIns="0" rtlCol="0" anchor="t"/>
          <a:lstStyle/>
          <a:p>
            <a:pPr indent="0" marL="0">
              <a:buNone/>
            </a:pPr>
            <a:r>
              <a:rPr lang="en-US" sz="1000" b="1" spc="120" kern="0" dirty="0">
                <a:solidFill>
                  <a:srgbClr val="1C4E80"/>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548640"/>
            <a:ext cx="11094415" cy="566928"/>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Cambria" pitchFamily="34" charset="0"/>
                <a:ea typeface="Cambria" pitchFamily="34" charset="-122"/>
                <a:cs typeface="Cambria" pitchFamily="34" charset="-120"/>
              </a:rPr>
              <a:t>A5 · References cited on the slides (3 of 3)</a:t>
            </a:r>
            <a:endParaRPr lang="en-US" sz="2500" dirty="0"/>
          </a:p>
        </p:txBody>
      </p:sp>
      <p:sp>
        <p:nvSpPr>
          <p:cNvPr id="4" name="Text 2"/>
          <p:cNvSpPr txBox="1"/>
          <p:nvPr/>
        </p:nvSpPr>
        <p:spPr>
          <a:xfrm>
            <a:off x="548640" y="6473952"/>
            <a:ext cx="8229600" cy="219456"/>
          </a:xfrm>
          <a:prstGeom prst="rect">
            <a:avLst/>
          </a:prstGeom>
          <a:noFill/>
          <a:ln/>
        </p:spPr>
        <p:txBody>
          <a:bodyPr wrap="square" lIns="0" tIns="0" rIns="0" bIns="0" rtlCol="0" anchor="t"/>
          <a:lstStyle/>
          <a:p>
            <a:pPr indent="0" marL="0">
              <a:buNone/>
            </a:pPr>
            <a:r>
              <a:rPr lang="en-US" sz="850" dirty="0">
                <a:solidFill>
                  <a:srgbClr val="8B95A1"/>
                </a:solidFill>
                <a:latin typeface="Calibri" pitchFamily="34" charset="0"/>
                <a:ea typeface="Calibri" pitchFamily="34" charset="-122"/>
                <a:cs typeface="Calibri" pitchFamily="34" charset="-120"/>
              </a:rPr>
              <a:t>Lilac · National University of Singapore · Urban–rural public transport in Xinhuang County</a:t>
            </a:r>
            <a:endParaRPr lang="en-US" sz="850" dirty="0"/>
          </a:p>
        </p:txBody>
      </p:sp>
      <p:sp>
        <p:nvSpPr>
          <p:cNvPr id="5" name="Text 3"/>
          <p:cNvSpPr txBox="1"/>
          <p:nvPr/>
        </p:nvSpPr>
        <p:spPr>
          <a:xfrm>
            <a:off x="10271455" y="6473952"/>
            <a:ext cx="1371600" cy="219456"/>
          </a:xfrm>
          <a:prstGeom prst="rect">
            <a:avLst/>
          </a:prstGeom>
          <a:noFill/>
          <a:ln/>
        </p:spPr>
        <p:txBody>
          <a:bodyPr wrap="square" lIns="0" tIns="0" rIns="0" bIns="0" rtlCol="0" anchor="t"/>
          <a:lstStyle/>
          <a:p>
            <a:pPr algn="r" indent="0" marL="0">
              <a:buNone/>
            </a:pPr>
            <a:r>
              <a:rPr lang="en-US" sz="850" dirty="0">
                <a:solidFill>
                  <a:srgbClr val="8B95A1"/>
                </a:solidFill>
                <a:latin typeface="Calibri" pitchFamily="34" charset="0"/>
                <a:ea typeface="Calibri" pitchFamily="34" charset="-122"/>
                <a:cs typeface="Calibri" pitchFamily="34" charset="-120"/>
              </a:rPr>
              <a:t>A5</a:t>
            </a:r>
            <a:endParaRPr lang="en-US" sz="850" dirty="0"/>
          </a:p>
        </p:txBody>
      </p:sp>
      <p:sp>
        <p:nvSpPr>
          <p:cNvPr id="6" name="Text 4"/>
          <p:cNvSpPr txBox="1"/>
          <p:nvPr/>
        </p:nvSpPr>
        <p:spPr>
          <a:xfrm>
            <a:off x="54864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Pucher, J., &amp; Renne, J. L. (2005). Rural mobility and mode choice: Evidence from the 2001 National Household Travel Survey. Transportation, 32.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Rigby, R. A., &amp; Stasinopoulos, D. M. (2005). Generalized additive models for location, scale and shape. JRSS Series C, 54(3), 507–554.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Romano, Y., Patterson, E., &amp; Candès, E. J. (2019). Conformalized quantile regression. NeurIPS 32, 3538–3548.</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Salinas, D., Flunkert, V., &amp; Gasthaus, J. (2019). DeepAR: Probabilistic forecasting with autoregressive recurrent networks. International Journal of Forecasting.</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Schasché, S. E., Sposato, R. G., &amp; Hampl, N. (2022). The dilemma of demand-responsive transport services in rural areas. Transport Policy.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Schaub, M., &amp; Abadi, F. (2011). Integrated population models: A novel analysis framework for deeper insights into population dynamics. Journal of Ornithology, 152(S1), 227–237.</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Schönfelder, S., &amp; Axhausen, K. W. (2010). Urban rhythms and travel behaviour: Spatial and temporal phenomena of daily travel. Ashgate.</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Singhal, A., Kamga, C., &amp; Yazici, A. (2014). Impact of weather on urban transit ridership. Transportation Research Part A.</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Sörensen, L., Bossert, A., Jokinen, J.-P., et al. (2020). How much flexibility does rural public transport need? Transport Policy.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Stopher, P. R., &amp; Greaves, S. P. (2007). Household travel surveys: Where are we going? Transportation Research Part A, 41(5), 367–381.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Stover, V. W., &amp; McCormack, E. D. (2012). The impact of weather on bus ridership in Pierce County, Washington. Journal of Public Transportation, 15(1).</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Transportation Research Board (2013). Methods for forecasting demand and quantifying need for rural passenger transportation (TCRP Report 161). National Academies Press.</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VanderWeele, T. J., &amp; Knol, M. J. (2014). A tutorial on interaction. Epidemiologic Methods, 3(1), 33–72.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Vansteenwegen, P., Melis, L., Aktaş, D., et al. (2022). A survey on demand-responsive public bus systems. Transportation Research Part C.</a:t>
            </a:r>
            <a:endParaRPr lang="en-US" sz="940" dirty="0"/>
          </a:p>
        </p:txBody>
      </p:sp>
      <p:sp>
        <p:nvSpPr>
          <p:cNvPr id="7" name="Text 5"/>
          <p:cNvSpPr txBox="1"/>
          <p:nvPr/>
        </p:nvSpPr>
        <p:spPr>
          <a:xfrm>
            <a:off x="6217920" y="1298448"/>
            <a:ext cx="5440680" cy="5029200"/>
          </a:xfrm>
          <a:prstGeom prst="rect">
            <a:avLst/>
          </a:prstGeom>
          <a:noFill/>
          <a:ln/>
        </p:spPr>
        <p:txBody>
          <a:bodyPr wrap="square" lIns="0" tIns="0" rIns="0" bIns="0" rtlCol="0" anchor="t"/>
          <a:lstStyle/>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Wang, X., Liu, C., Mao, W., et al. (2014). Tracing the largest seasonal migration on Earth. arXiv:1411.0983.</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Weatherford, L. R., &amp; Pölt, S. (2002). Better unconstraining of airline demand data in revenue management systems. Journal of Revenue and Pricing Management, 1(3), 234–254.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Wei, M. (2021). How does the weather affect public transit ridership? A model with weather-passenger variations. Journal of Transport Geography, 103242.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Wei, M., &amp; Liu, X. (2022). How wet is too wet? Modelling the influence of weather condition on urban transit ridership. Travel Behaviour and Society.</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Wickramasuriya, S. L., Athanasopoulos, G., &amp; Hyndman, R. J. (2019). Optimal forecast reconciliation for hierarchical and grouped time series through trace minimization. JASA, 114(526), 804–819.</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Xia, D., Ma, J., &amp; Sharif Azadeh, S. (2023). Data-driven distributionally robust timetabling and dynamic-capacity allocation for automated bus systems with modular vehicles. Transportation Research Part C.</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Xie, Z., Liu, X., Wu, J., et al. (2018). Passenger flow forecasting model based on bus IC-card data [in Chinese]. Journal of Guangdong University of Technology, 35(1), 16–22.</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Yang, H., &amp; Cherry, C. (2016). Use characteristics and demographics of rural transit riders: A case study in Tennessee. Transportation Planning and Technology, 40(2), 213–227.</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Zhang, J., Chen, F., &amp; Shen, Q. (2019). Cluster-based LSTM network for short-term passenger flow forecasting in urban rail transit. IEEE Access.</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Zhao, J., Sun, S., &amp; Cats, O. (2021). Joint optimisation of regular and demand-responsive transit services. Transportmetrica A.</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Zhao, Z., Wei, Y., Pang, R., et al. (2017). Spatiotemporal and structural characteristics of interprovincial population flow during the Spring Festival travel rush in China [in Chinese]. Progress in Geography, 36(8), 952–964.</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Zhao, Z., Zhao, S., Han, Z., et al. (2022). Impact of COVID-19 on festival inter-city travel in China [in Chinese]. Human Geography, 37(2), 141–149.</a:t>
            </a:r>
            <a:endParaRPr lang="en-US" sz="940" dirty="0"/>
          </a:p>
          <a:p>
            <a:pPr indent="0" marL="0">
              <a:lnSpc>
                <a:spcPct val="95000"/>
              </a:lnSpc>
              <a:spcAft>
                <a:spcPts val="400"/>
              </a:spcAft>
              <a:buNone/>
            </a:pPr>
            <a:r>
              <a:rPr lang="en-US" sz="940" dirty="0">
                <a:solidFill>
                  <a:srgbClr val="4B5563"/>
                </a:solidFill>
                <a:latin typeface="Calibri" pitchFamily="34" charset="0"/>
                <a:ea typeface="Calibri" pitchFamily="34" charset="-122"/>
                <a:cs typeface="Calibri" pitchFamily="34" charset="-120"/>
              </a:rPr>
              <a:t>Zhou, T., Huang, B., Liu, X., et al. (2020). Spatiotemporal exploration of Chinese Spring Festival population flow patterns and their determinants. ISPRS Int. J. Geo-Information, 9(11), 670.</a:t>
            </a:r>
            <a:endParaRPr lang="en-US" sz="9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National University of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on Urban–Rural Public Transport in Xinhuang County</dc:title>
  <dc:subject>Research design and next steps (work in progress)</dc:subject>
  <dc:creator>Lilac</dc:creator>
  <cp:lastModifiedBy>Lilac</cp:lastModifiedBy>
  <cp:revision>1</cp:revision>
  <dcterms:created xsi:type="dcterms:W3CDTF">2026-09-28T09:06:52Z</dcterms:created>
  <dcterms:modified xsi:type="dcterms:W3CDTF">2026-09-28T09:06:52Z</dcterms:modified>
</cp:coreProperties>
</file>