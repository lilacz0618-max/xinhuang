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各位老师好。我汇报的题目是县域城乡公交的供需匹配与半柔性配置。先说明一点：今天所有数字都来自模拟系统，用来检验方法是否算得对，不是新晃的实际结论。</a:t>
            </a:r>
          </a:p>
          <a:p/>
          <a:p>
            <a:r>
              <a:t>完整要点：</a:t>
            </a:r>
          </a:p>
          <a:p>
            <a:r>
              <a:t>1. 研究进展汇报（第二轮修订稿）</a:t>
            </a:r>
          </a:p>
          <a:p>
            <a:r>
              <a:t>2. 汇报人：［姓名］　　导师：［姓名］</a:t>
            </a:r>
          </a:p>
          <a:p>
            <a:r>
              <a:t>3. ［学院／专业］　　2026 年［月］</a:t>
            </a:r>
          </a:p>
          <a:p>
            <a:r>
              <a:t>4. 说明：汇报中的定量结果均来自已知真值的模拟系统（SYNTHETIC），用于检验研究路径，不代表新晃的实际结论。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如果只记一页，就记这一页：四个问题首尾相接，前两个弄清需求，后两个安排供给。右下角是模拟检验得到的初步发现。</a:t>
            </a:r>
          </a:p>
          <a:p/>
          <a:p>
            <a:r>
              <a:t>完整要点：</a:t>
            </a:r>
          </a:p>
          <a:p>
            <a:r>
              <a:t>1. 通俗地说：车站现在靠经验决定“哪天加车”，本研究要把这件事变成有数据、有方法、能检验的流程。</a:t>
            </a:r>
          </a:p>
          <a:p>
            <a:r>
              <a:t>2. 现象：平日不少班次乘客很少；春运和节假日一些班次坐满，后面的人上不了车。时刻表一年只调一两次，节点日靠调度员凭经验临时加班。</a:t>
            </a:r>
          </a:p>
          <a:p>
            <a:r>
              <a:t>3. 第一步（RQ1）：时段、星期、校历、节假日、春运、集日、天气、季节，各自对客流影响多大？</a:t>
            </a:r>
          </a:p>
          <a:p>
            <a:r>
              <a:t>4. 第二步（RQ2）：坐满的班次，真实想坐车的有多少？明天每班大约多少人、有多大可能坐满？</a:t>
            </a:r>
          </a:p>
          <a:p>
            <a:r>
              <a:t>5. 第三步（RQ3）：固定班车只按稳定规律排，每条线每天发多少班、几点发？</a:t>
            </a:r>
          </a:p>
          <a:p>
            <a:r>
              <a:t>6. 第四步（RQ4）：4 辆机动车前一天晚上按预测派到哪条线、哪个半天？</a:t>
            </a:r>
          </a:p>
          <a:p>
            <a:r>
              <a:t>7. 目前发现（模拟数据）：班次之间的差异 83.5% 由“一天中的时段”解释；日期之间的差异主要来自春运和节假日，集日和天气较小；优化固定层使社会成本降低 13.8%，加柔性层再降 0.5 个百分点，收益集中在春运和节假日边沿。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第一个“为什么”是政策和现实：政策已经要求按客流规律安排班次，但县里缺少可操作的方法。</a:t>
            </a:r>
          </a:p>
          <a:p/>
          <a:p>
            <a:r>
              <a:t>完整要点：</a:t>
            </a:r>
          </a:p>
          <a:p>
            <a:r>
              <a:t>1. 通俗地说：村里通了车还不够，车要在老人看病、学生返校、春节返乡的那个时间点上有座位。</a:t>
            </a:r>
          </a:p>
          <a:p>
            <a:r>
              <a:t>2. 政策：2011 年起推进城乡道路客运一体化[1]；2024 年农村道路客运运营服务指南要求按客流规律灵活安排班次，鼓励预约响应[2]。</a:t>
            </a:r>
          </a:p>
          <a:p>
            <a:r>
              <a:t>3. 山区现实：交通劣势与相对贫困存在可测的关联[3]；医疗等公共服务的可达性受交通条件明显限制[4]。</a:t>
            </a:r>
          </a:p>
          <a:p>
            <a:r>
              <a:t>4. 理论：缺少公交使农村居民难以到达就业、医疗和教育机会，属于社会排斥问题[5,6]；城乡交通融合已成为地理学研究议题[7]。</a:t>
            </a:r>
          </a:p>
          <a:p>
            <a:r>
              <a:t>5. 乘客：农村公交乘客的使用特征与人群构成不同于城市[8]，班次时刻直接决定他们能否出行。</a:t>
            </a:r>
          </a:p>
          <a:p>
            <a:r>
              <a:t>6. 研究对象：湖南省新晃侗族自治县（武陵山区），县汽车站发出的 7 条城乡公交线路。</a:t>
            </a:r>
          </a:p>
          <a:p/>
          <a:p>
            <a:r>
              <a:t>本页文献：</a:t>
            </a:r>
          </a:p>
          <a:p>
            <a:r>
              <a:t>[1] 交通运输部. 关于积极推进城乡道路客运一体化发展的意见: 交运发〔2011〕490号[EB/OL]. (2011-09-13)[2026-09-30]. https://www.gov.cn/zwgk/2011-09/22/content_1953581.htm.</a:t>
            </a:r>
          </a:p>
          <a:p>
            <a: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r>
              <a:t>[3] 宫玉茹, 胡昊宇, 王列, 等. 社会排斥视角下山区农村交通劣势与相对贫困的关系研究——以贵州省黄平县为例[J]. 地理科学进展, 2026, 45(4): 838-852. DOI: 10.18306/dlkxjz.2026.04.012.</a:t>
            </a:r>
          </a:p>
          <a:p>
            <a:r>
              <a:t>[4] 邓丽, 邵景安, 郭跃, 等. 基于改进的两步移动搜索法的山区医疗服务空间可达性——以重庆市石柱县为例[J]. 地理科学进展, 2015, 34(6): 716-725. DOI: 10.18306/dlkxjz.2015.06.007.</a:t>
            </a:r>
          </a:p>
          <a:p>
            <a:r>
              <a:t>[5] Farrington J, Farrington C. Rural accessibility, social inclusion and social justice: towards conceptualisation[J]. Journal of Transport Geography, 2005, 13(1): 1-12. DOI: 10.1016/j.jtrangeo.2004.10.002.</a:t>
            </a:r>
          </a:p>
          <a:p>
            <a:r>
              <a:t>[6] Lucas K. Transport and social exclusion: Where are we now?[J]. Transport Policy, 2012, 20: 105-113. DOI: 10.1016/j.tranpol.2012.01.013.</a:t>
            </a:r>
          </a:p>
          <a:p>
            <a:r>
              <a:t>[7] 王姣娥, 何宛芩, 黄洁, 等. 中国城乡交通融合的理论内涵与空间格局[J]. 地理学报, 2026, 81(4): 966-985. DOI: 10.11821/dlxb202604003.</a:t>
            </a:r>
          </a:p>
          <a:p>
            <a:r>
              <a:t>[8] Hongtai Yang, Christopher Cherry. Use characteristics and demographics of rural transit riders: a case study in Tennessee[J]. Transportation Planning and Technology, 2016, 40(2): 213-227. DOI: 10.1080/03081060.2016.1266168.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三个难题对应后面的三个模型。注意每个难题都有一个具体后果，这就是研究的现实必要性。</a:t>
            </a:r>
          </a:p>
          <a:p/>
          <a:p>
            <a:r>
              <a:t>完整要点：</a:t>
            </a:r>
          </a:p>
          <a:p>
            <a:r>
              <a:t>1. 通俗地说：不知道客流听谁的、台账数字不完全可信、固定班和机动车各管什么没分清。</a:t>
            </a:r>
          </a:p>
          <a:p>
            <a:r>
              <a:t>2. 难题一（权重）：各类节律对客流的相对影响有多大，缺少定量证据。地方经验常把赶集日看成主要因素，这一判断来自以定期集市为中心的农村研究传统[9]，但没有用班次数据检验过。后果：固定时刻表按什么规律编制没有依据。</a:t>
            </a:r>
          </a:p>
          <a:p>
            <a:r>
              <a:t>3. 难题二（删失）：班次坐满后，台账记录的是座位数，不是想坐车的人数，真实需求只知道“不低于记录值”。后果：把记录当需求，会系统低估节点日的需求和应加的运力。</a:t>
            </a:r>
          </a:p>
          <a:p>
            <a:r>
              <a:t>4. 难题三（分工）：固定时刻表一年调一两次，节点日加班凭经验。后果：按节点日编表，平日大量空驶；按平日编表，节点日大量滞留。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研究意义分三层。重点是第三层：成果最后落到县里能用的流程上。</a:t>
            </a:r>
          </a:p>
          <a:p/>
          <a:p>
            <a:r>
              <a:t>完整要点：</a:t>
            </a:r>
          </a:p>
          <a:p>
            <a:r>
              <a:t>1. 通俗地说：理论上回答“时间怎样影响出行”，方法上回答“哪种算法算得准”，实践上给县里一套能照做的流程。</a:t>
            </a:r>
          </a:p>
          <a:p>
            <a:r>
              <a:t>2. 理论意义：时间地理学指出人的活动受能力、组合和权威约束[10]，可达性有时间维度[11,12]；公交可达性在一天之内随时刻表波动[13,14]。本研究把这些思想和周期市场理论[9]转化为可估计的客流因子权重。</a:t>
            </a:r>
          </a:p>
          <a:p>
            <a:r>
              <a:t>3. 方法意义：在已知真值的模拟系统中，比较多种权重方法、预测方法与排班策略，并事先预注册方法与评价指标[15]，检验方法能否在删失和节律叠加时识别出真实结构。</a:t>
            </a:r>
          </a:p>
          <a:p>
            <a:r>
              <a:t>4. 实践意义：给出县级运营单位可以照着执行的流程——数据采集表、问卷、计算代码、时刻表编制方法、次日柔性排班规则；真实数据到位后按同一流程重算即可。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[10] Hägerstrand T. What about people in Regional Science?[J]. Papers of the Regional Science Association, 1970, 24(1): 6-21. DOI: 10.1007/bf01936872.</a:t>
            </a:r>
          </a:p>
          <a:p>
            <a:r>
              <a:t>[11] Kwan M P. Space‐Time and Integral Measures of Individual Accessibility: A Comparative Analysis Using a Point‐based Framework[J]. Geographical Analysis, 1998, 30(3): 191-216. DOI: 10.1111/j.1538-4632.1998.tb00396.x.</a:t>
            </a:r>
          </a:p>
          <a:p>
            <a:r>
              <a:t>[12] Neutens T, Schwanen T, Witlox F. The Prism of Everyday Life: Towards a New Research Agenda for Time Geography[J]. Transport Reviews, 2010, 31(1): 25-47. DOI: 10.1080/01441647.2010.484153.</a:t>
            </a:r>
          </a:p>
          <a:p>
            <a:r>
              <a:t>[13] Farber S, Morang MZ, Widener MJ. Temporal variability in transit-based accessibility to supermarkets[J]. Applied Geography, 2014, 53: 149-159. DOI: 10.1016/j.apgeog.2014.06.012.</a:t>
            </a:r>
          </a:p>
          <a:p>
            <a:r>
              <a:t>[14] Boisjoly G, El-Geneidy A. Daily fluctuations in transit and job availability: A comparative assessment of time-sensitive accessibility measures[J]. Journal of Transport Geography, 2016, 52: 73-81. DOI: 10.1016/j.jtrangeo.2016.03.004.</a:t>
            </a:r>
          </a:p>
          <a:p>
            <a:r>
              <a:t>[15] Nosek BA, Ebersole CR, DeHaven AC, et al. The preregistration revolution[J]. Proceedings of the National Academy of Sciences, 2018, 115(11): 2600-2606. DOI: 10.1073/pnas.1708274114.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这一页是一条连贯的逻辑链，不是几个孤立的方向。每一环最后都落到一个缺口上。</a:t>
            </a:r>
          </a:p>
          <a:p/>
          <a:p>
            <a:r>
              <a:t>完整要点：</a:t>
            </a:r>
          </a:p>
          <a:p>
            <a:r>
              <a:t>1. 通俗地说：前人已经解决了很多环节，但没有人把“节律—删失—预测—排班”在县域城乡公交里连起来做。</a:t>
            </a:r>
          </a:p>
          <a:p>
            <a:r>
              <a:t>2. 需求的时间结构：个人出行在日与日之间既有习惯也有变异[16]；集市被视为农村社会结构的单元[9]。→ 缺口①：多重节律的相对权重没有被同时估计。</a:t>
            </a:r>
          </a:p>
          <a:p>
            <a:r>
              <a:t>3. 权重识别：熵权法、灰色关联按离散程度或形状相似赋权[17]；特征相关时 SHAP 的分配受依赖结构影响[18]；Shapley 分解可加且对相关稳健[19]。→ 缺口②：没有方法同时做到按节律分组、对相关稳健、对删失敏感。</a:t>
            </a:r>
          </a:p>
          <a:p>
            <a:r>
              <a:t>4. 删失还原：航空和铁路收益管理早已研究售罄后的需求还原[20,21]。→ 缺口③：未用于县域城乡公交。</a:t>
            </a:r>
          </a:p>
          <a:p>
            <a:r>
              <a:t>5. 客流预测：国内研究集中于城市大客流深度学习[22]；计划型交通的班次级预测需专门考虑[23]。→ 缺口④：缺少班次级、删失感知、带可靠区间的次日预测。</a:t>
            </a:r>
          </a:p>
          <a:p>
            <a:r>
              <a:t>6. 供给优化：时刻表方法多面向城市高频线路[24]，城乡线路频率研究刚起步[25]；需求响应项目多因成本或客流不足停办[26]；半柔性保留固定骨架[27]；“先预测后优化”忽略预测误差[28]。→ 缺口⑤：固定层与柔性层缺少以预测为纽带的协同设计。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[16] Pas E, Koppelman F. An examination of the determinants of day-to-day variability in individuals' urban travel behavior[J]. Transportation, 1987, 14(1). DOI: 10.1007/bf00172463.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[19] Lipovetsky S, Conklin M. Analysis of regression in game theory approach[J]. Applied Stochastic Models in Business and Industry, 2001, 17(4): 319-330. DOI: 10.1002/asmb.446.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四个问题各配一到两个可检验的假设，后面每个结果页都会回到这些假设。</a:t>
            </a:r>
          </a:p>
          <a:p/>
          <a:p>
            <a:r>
              <a:t>完整要点：</a:t>
            </a:r>
          </a:p>
          <a:p>
            <a:r>
              <a:t>1. 通俗地说：先弄清“有多少人、什么时候坐”，再决定“派多少车、什么时候派”。</a:t>
            </a:r>
          </a:p>
          <a:p>
            <a:r>
              <a:t>2. RQ1 节律权重：八个因子族对班次客流的相对影响各有多大？集日是否是主要因素？——H1 班次层日内时段最大，日层春运和节假日最大，集日和天气较小；H2 熵权法、灰色关联的排序与真实排序明显不一致。</a:t>
            </a:r>
          </a:p>
          <a:p>
            <a:r>
              <a:t>3. RQ2 删失与预测：存在满载删失时，什么模型能给出班次级次日预测，并在春运、节假日和天气事件日保持可靠区间？——H3 考虑删失的模型在满载班次上偏差更小；H4 全局共形区间在高需求情景覆盖不足，Mondrian 区间接近名义覆盖。</a:t>
            </a:r>
          </a:p>
          <a:p>
            <a:r>
              <a:t>4. RQ3 固定层：只承担稳定节律的固定时刻表如何编制？——H5 能减少总班次并降低社会成本。</a:t>
            </a:r>
          </a:p>
          <a:p>
            <a:r>
              <a:t>5. RQ4 柔性层：少量机动车按次日预测指派，能降多少社会成本？收益在哪些日期？——H6 收益集中在春运和节假日边沿，普通日接近零。</a:t>
            </a:r>
          </a:p>
          <a:p>
            <a:r>
              <a:t>6. 成果：论文一（RQ1—RQ2）删失感知的多重节律识别与概率预测；论文二（RQ3—RQ4）预测驱动的县域城乡公交半柔性配置。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这一页回答“为什么需要这些数据”。每一行都写了缺了会怎样，说明没有一项数据是可有可无的。</a:t>
            </a:r>
          </a:p>
          <a:p/>
          <a:p>
            <a:r>
              <a:t>完整要点：</a:t>
            </a:r>
          </a:p>
          <a:p>
            <a:r>
              <a:t>1. 通俗地说：班次人数是“考题”，日历和天气是“解题线索”，时刻表和座位数是“判卷标准”，问卷用来补“没车时段”的需求。</a:t>
            </a:r>
          </a:p>
          <a:p>
            <a:r>
              <a:t>2. 天气对公交客流的影响因地区和人群而异[29,30]，因此只作对照因子，不作核心因素。</a:t>
            </a:r>
          </a:p>
          <a:p>
            <a:r>
              <a:t>3. 数据｜用来做什么｜服务｜缺了会怎样</a:t>
            </a:r>
          </a:p>
          <a:p>
            <a:r>
              <a:t>4. 逐班次全程登乘人数（对接中，目前为模拟值）｜因变量；满载标记用于识别删失｜RQ1—RQ4｜没有可估计的对象</a:t>
            </a:r>
          </a:p>
          <a:p>
            <a:r>
              <a:t>5. 县汽车站逐日台账（2024-06-01 至 2026-07-27）｜全县客流总量锚点，核对模拟与真实总量｜模拟检验｜无法判断模拟是否可信</a:t>
            </a:r>
          </a:p>
          <a:p>
            <a:r>
              <a:t>6. 7 条线路双向现行时刻表、配车与座位数（座位数目前为假设值）｜确定每班容量，判断哪些班次删失；现行方案作对照｜RQ2—RQ4｜分不出满载班次，也无法比较新旧方案</a:t>
            </a:r>
          </a:p>
          <a:p>
            <a:r>
              <a:t>7. 法定节假日与调休、农历、春运、校历、住校生离返校日｜构造节律因子族｜RQ1—RQ3｜无法区分是哪种节律造成客流变化</a:t>
            </a:r>
          </a:p>
          <a:p>
            <a:r>
              <a:t>8. 逐日天气实况与提前 1 天的预报存档｜对照因子；检验期一律用预报值｜RQ1、RQ2、RQ4｜用实况会把未来信息带进预测</a:t>
            </a:r>
          </a:p>
          <a:p>
            <a:r>
              <a:t>9. 跟车、入户、线上问卷（未成年人由家长回答）｜乘客构成；期望出发时刻用于把班次需求分摊到 15 分钟时段｜RQ3｜无法推算目前无车时段的需求</a:t>
            </a:r>
          </a:p>
          <a:p>
            <a:r>
              <a:t>10. 行政村点位与人口栅格｜入户抽样与可达性分类｜调查设计｜样本覆盖不了不同可达性的村</a:t>
            </a:r>
          </a:p>
          <a:p/>
          <a:p>
            <a:r>
              <a:t>本页文献：</a:t>
            </a:r>
          </a:p>
          <a:p>
            <a: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  <a:p>
            <a:r>
              <a:t>[30] Li J, Cao J. The impact of weather on public bus ridership: empirical findings from Chenzhou, China[J]. Public Transport, 2024, 17(2): 591-610. DOI: 10.1007/s12469-024-00374-7.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这一页说明变量取舍的原则：可靠优先。集日和天气保留，但只作对照。</a:t>
            </a:r>
          </a:p>
          <a:p/>
          <a:p>
            <a:r>
              <a:t>完整要点：</a:t>
            </a:r>
          </a:p>
          <a:p>
            <a:r>
              <a:t>1. 通俗地说：拿不到可靠数据的因素宁可不放，也不用猜测的数字凑模型。</a:t>
            </a:r>
          </a:p>
          <a:p>
            <a:r>
              <a:t>2. 不纳入模型：工业园区班次与倒班安排、医院门诊排班、外出务工人员个人返乡日期。它们无法可靠获取，其影响会通过节假日、春运和周节律间接体现。</a:t>
            </a:r>
          </a:p>
          <a:p>
            <a:r>
              <a:t>3. 集日只作对照：各乡镇集期需逐乡核实，目前的集期表属于待确认信息；集市对城乡公交的影响可能被高估，需要用数据检验[9]。</a:t>
            </a:r>
          </a:p>
          <a:p>
            <a:r>
              <a:t>4. 天气只作对照：检验期一律用提前一天的预报值，而不是事后实况，保证预测在实际运营中可以复现[29]。</a:t>
            </a:r>
          </a:p>
          <a:p>
            <a:r>
              <a:t>5. 观测口径：每趟班次只有全程总登乘人数，没有分站点上下客和 OD，所以全部模型都以“班次”为分析单位，不做 OD 推算。</a:t>
            </a:r>
          </a:p>
          <a:p>
            <a:r>
              <a:t>6. 所有问卷中，未成年人由家长回答。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请先记住“删失”这个词。后面的术语都在右边的表里，有一句话解释。</a:t>
            </a:r>
          </a:p>
          <a:p/>
          <a:p>
            <a:r>
              <a:t>完整要点：</a:t>
            </a:r>
          </a:p>
          <a:p>
            <a:r>
              <a:t>1. 通俗地说：一辆 19 座的车（示意）来了 25 个人，只上去 19 个，台账写 19；我们只知道真实需求“至少 19”。</a:t>
            </a:r>
          </a:p>
          <a:p>
            <a:r>
              <a:t>2. 为什么重要：节点日恰恰是满载最多、规划最关心的日子；把记录当需求，会低估应加的运力。</a:t>
            </a:r>
          </a:p>
          <a:p>
            <a:r>
              <a:t>3. 怎么处理：模型里满载班次不再当作“正好等于 c 人”，而是“不少于 c 人”，即用 P(Y* ≥ c) 计入似然；这一思路来自航空收益管理的需求还原[20,21]。</a:t>
            </a:r>
          </a:p>
          <a:p>
            <a:r>
              <a:t>4. 术语｜一句话解释</a:t>
            </a:r>
          </a:p>
          <a:p>
            <a:r>
              <a:t>5. 删失｜记录值被座位数截住，真实需求只知道不低于记录值</a:t>
            </a:r>
          </a:p>
          <a:p>
            <a:r>
              <a:t>6. 负二项回归｜描述“非负整数、波动大于均值”的计数，如每班人数[31]</a:t>
            </a:r>
          </a:p>
          <a:p>
            <a:r>
              <a:t>7. Shapley 分解｜把模型的解释力公平地分给各因子族，各份相加等于总数</a:t>
            </a:r>
          </a:p>
          <a:p>
            <a:r>
              <a:t>8. 共形预测区间｜在很弱的假设下保证“90% 区间大约 90% 次能罩住真值”[32]</a:t>
            </a:r>
          </a:p>
          <a:p>
            <a:r>
              <a:t>9. Mondrian 共形｜按春运、节假日、普通日等情景分别校准区间</a:t>
            </a:r>
          </a:p>
          <a:p>
            <a:r>
              <a:t>10. WAPE｜总绝对误差 ÷ 总客流，越小越准</a:t>
            </a:r>
          </a:p>
          <a:p>
            <a:r>
              <a:t>11. DM 检验｜判断两种方法的误差差异是否显著[33]</a:t>
            </a:r>
          </a:p>
          <a:p>
            <a:r>
              <a:t>12. 社会成本｜运营成本 + 乘客等待时间价值 + 没坐上车的损失</a:t>
            </a:r>
          </a:p>
          <a:p>
            <a:r>
              <a:t>13. SAA｜用若干需求情景的平均成本近似期望成本[34]</a:t>
            </a:r>
          </a:p>
          <a:p>
            <a:r>
              <a:t>14. 信息价值｜预测兑现了“完美预知”收益的多少比例[35]</a:t>
            </a:r>
          </a:p>
          <a:p/>
          <a:p>
            <a:r>
              <a:t>本页文献：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r>
              <a:t>[33] Diebold FX, Mariano RS. Comparing Predictive Accuracy[J]. Journal of Business &amp; Economic Statistics, 1995, 13(3): 253-263. DOI: 10.1080/07350015.1995.10524599.</a:t>
            </a:r>
          </a:p>
          <a:p>
            <a: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这张路线图用 PPT 原生形状重画，箭头上写的是传递的东西。</a:t>
            </a:r>
          </a:p>
          <a:p/>
          <a:p>
            <a:r>
              <a:t>完整要点：</a:t>
            </a:r>
          </a:p>
          <a:p>
            <a:r>
              <a:t>1. 通俗地说：先算“谁影响客流”，再算“明天多少人”，再排“固定班”，最后派“机动车”。</a:t>
            </a:r>
          </a:p>
          <a:p>
            <a:r>
              <a:t>2. 删失负二项同时服务 RQ1 的权重识别和 RQ2 的预测结构项；RQ2 的预测分布驱动 RQ4；RQ3 只承担稳定节律。</a:t>
            </a:r>
          </a:p>
          <a:p>
            <a:r>
              <a:t>3. 预注册：计算前写下主方法、对照方法、检验期和评价指标[15]；检验期 2026-01-01 至 2026-09-30，2026-10-01 以后的台账作为封存检验期，本轮不读取。</a:t>
            </a:r>
          </a:p>
          <a:p>
            <a:r>
              <a:t>4. 训练与检验按时间顺序切分，避免把未来信息泄露给模型[36,37]。</a:t>
            </a:r>
          </a:p>
          <a:p>
            <a:r>
              <a:t>5. 计算中四处偏离预注册（改进预测方法、最少服务规则、柔性层随机规划求解方式、增加反应式对照），均在正文标注“偏离预注册”并说明理由。</a:t>
            </a:r>
          </a:p>
          <a:p>
            <a:r>
              <a:t>6. 数据：班次人数、日历校历、天气预报、时刻表、问卷</a:t>
            </a:r>
          </a:p>
          <a:p>
            <a:r>
              <a:t>7. 模型一 RQ1：删失负二项 + 因子族 Shapley → 节律权重、潜在需求</a:t>
            </a:r>
          </a:p>
          <a:p>
            <a:r>
              <a:t>8. 模型二 RQ2：结构项 + LightGBM 残差 + Mondrian 共形 → 次日每班预测分布</a:t>
            </a:r>
          </a:p>
          <a:p>
            <a:r>
              <a:t>9. 模型三 RQ3：6 层场景整数规划 → 固定时刻表</a:t>
            </a:r>
          </a:p>
          <a:p>
            <a:r>
              <a:t>10. 模型四 RQ4：次日贪心指派 + 信息价值 → 机动车派车单</a:t>
            </a:r>
          </a:p>
          <a:p>
            <a:r>
              <a:t>11. 评价：社会成本、服务率、等待时间、满载率</a:t>
            </a:r>
          </a:p>
          <a:p/>
          <a:p>
            <a:r>
              <a:t>本页文献：</a:t>
            </a:r>
          </a:p>
          <a:p>
            <a:r>
              <a:t>[15] Nosek BA, Ebersole CR, DeHaven AC, et al. The preregistration revolution[J]. Proceedings of the National Academy of Sciences, 2018, 115(11): 2600-2606. DOI: 10.1073/pnas.1708274114.</a:t>
            </a:r>
          </a:p>
          <a:p>
            <a: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r>
              <a:t>[37] Kapoor S, Narayanan A. Leakage and the reproducibility crisis in machine-learning-based science[J]. Patterns, 2023, 4(9): 100804. DOI: 10.1016/j.patter.2023.100804.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模拟不是为了得出新晃的结论，而是为了先确认方法本身没有错。</a:t>
            </a:r>
          </a:p>
          <a:p/>
          <a:p>
            <a:r>
              <a:t>完整要点：</a:t>
            </a:r>
          </a:p>
          <a:p>
            <a:r>
              <a:t>1. 通俗地说：就像先用有标准答案的模拟卷练习，确认解题方法对了，再去做真题。</a:t>
            </a:r>
          </a:p>
          <a:p>
            <a:r>
              <a:t>2. 为什么要模拟：真实数据中看不到潜在需求，无法判断权重是否识别正确、删失是否还原到位；模拟系统为每个班次保留真值（潜在需求、乘客构成、未满足人数）。</a:t>
            </a:r>
          </a:p>
          <a:p>
            <a:r>
              <a:t>3. 规模：852 天，116127 个班次观测；满载删失班次占 3.0%；调度员临时加班 255 次；四套模拟问卷共 808 份。</a:t>
            </a:r>
          </a:p>
          <a:p>
            <a:r>
              <a:t>4. 模拟用真实的时刻表、日历校历与天气驱动，并与真实县站台账核对总量。</a:t>
            </a:r>
          </a:p>
          <a:p>
            <a:r>
              <a:t>5. 真实数据到位后：跳过模拟步骤，按同一流程重算。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这是全场最关键的一页，回答“为什么选这些模型”。每一行从左读到右：问题、常用方法、它的不足、我们的选择、怎么检验。</a:t>
            </a:r>
          </a:p>
          <a:p/>
          <a:p>
            <a:r>
              <a:t>完整要点：</a:t>
            </a:r>
          </a:p>
          <a:p>
            <a:r>
              <a:t>1. 通俗地说：不是“用了最新的算法”，而是“常用方法回答不了这个问题，所以换成能回答的方法”。</a:t>
            </a:r>
          </a:p>
          <a:p>
            <a:r>
              <a:t>2. 问题｜常用方法｜常用方法的不足｜本研究选用｜怎么检验</a:t>
            </a:r>
          </a:p>
          <a:p>
            <a:r>
              <a:t>3. RQ1 各节律占多大比重｜熵权法、灰色关联、逐特征 SHAP｜衡量变化幅度或形状相似，不是对客流的解释力[17]；相关特征使 SHAP 分散[18]；都忽略删失｜删失负二项 + 因子族 Shapley 分解｜与模拟真值权重比误差和秩相关</a:t>
            </a:r>
          </a:p>
          <a:p>
            <a:r>
              <a:t>4. RQ2 明天每班多少人｜季节朴素、历史均值、城市客流深度学习｜小计数下深度学习优势不明显[23]；点预测答不了坐满概率；全局区间在高需求时覆盖不足｜删失负二项结构项 + LightGBM 残差 + Mondrian 共形｜时间顺序回测、DM 检验、分情景覆盖率</a:t>
            </a:r>
          </a:p>
          <a:p>
            <a:r>
              <a:t>5. RQ3 固定班车怎么排｜按客流计数定频率、代表日确定性时刻表｜多面向城市高频线路，把需求当成一个代表日的确定值[24]｜6 层场景整数规划，社会成本最小｜与现行时刻表比社会成本、服务率、等待</a:t>
            </a:r>
          </a:p>
          <a:p>
            <a:r>
              <a:t>6. RQ4 机动车何时派到哪｜实时预约需求响应、看到满载再加开｜老人和学生预约难[38]，长线少车当天调车来不及；项目常因成本停办[26]；先预测后优化忽略误差[28]｜次日按预测贪心指派 + SAA 对照 + 信息价值｜与反应式、SAA、完美预知比较</a:t>
            </a:r>
          </a:p>
          <a:p/>
          <a:p>
            <a:r>
              <a:t>本页文献：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  <a:p>
            <a: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模型页都按四块讲：问题、为什么选、和别的方法比、怎么证明。</a:t>
            </a:r>
          </a:p>
          <a:p/>
          <a:p>
            <a:r>
              <a:t>完整要点：</a:t>
            </a:r>
          </a:p>
          <a:p>
            <a:r>
              <a:t>1. 通俗地说：先把“坐满的班次”还原成真实需求，再看每类节律各“贡献”了多少客流变化。</a:t>
            </a:r>
          </a:p>
          <a:p>
            <a:r>
              <a:t>2. 公式：log μ = 线路×方向基线 + 时段 + 周节律 + 校历 + 节假日 + 春运 + 集日 + 天气 + 季节；φk = Σ［|S|!(K−|S|−1)!/K!］·［R²(S∪{k}) − R²(S)］，K = 8</a:t>
            </a:r>
          </a:p>
          <a:p>
            <a:r>
              <a:t>3. 要回答的问题：时段、周节律、校历、节假日、春运、集日、天气、季节八个因子族，各解释了多少客流变化？集日是否是主要因素？</a:t>
            </a:r>
          </a:p>
          <a:p>
            <a:r>
              <a:t>4. 为什么选这个方法：客流是非负整数且方差大于均值，用负二项描述[31]；满载班次只知 Y* ≥ c，似然贡献改为 P(Y* ≥ c)，借用需求还原[20]；Shapley 分解把 R² 在所有排列上平均分配，可加、对相关稳健[19,39]，并可按因子族分组。三条要求同时满足。</a:t>
            </a:r>
          </a:p>
          <a:p>
            <a:r>
              <a:t>5. 和其他方法比：熵权法衡量变量自身变化幅度，少见而幅度大的变量（如极端天气）会得到很高权重[17]；灰色关联看序列形状相似，不区分相关与因果；逐特征 SHAP 在特征相关时分配受依赖结构影响[18]，变量重要性还常被误读为因果效应[40]。</a:t>
            </a:r>
          </a:p>
          <a:p>
            <a:r>
              <a:t>6. 怎么证明它有效：在已知真值的模拟系统中，与真值权重比平均绝对误差和秩相关；班次层与日层分别估计；以连续 7 天为块做自助法给出 95% 区间；对照方法：熵权法、灰色关联、LightGBM-SHAP、忽略删失的朴素负二项。</a:t>
            </a:r>
          </a:p>
          <a:p/>
          <a:p>
            <a:r>
              <a:t>本页文献：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[19] Lipovetsky S, Conklin M. Analysis of regression in game theory approach[J]. Applied Stochastic Models in Business and Industry, 2001, 17(4): 319-330. DOI: 10.1002/asmb.446.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r>
              <a:t>[39] Grömping U. Estimators of Relative Importance in Linear Regression Based on Variance Decomposition[J]. The American Statistician, 2007, 61(2): 139-147. DOI: 10.1198/000313007x188252.</a:t>
            </a:r>
          </a:p>
          <a:p>
            <a:r>
              <a:t>[40] Brathwaite T, Walker J L. Causal inference in travel demand modeling (and the lack thereof)[J]. Journal of Choice Modelling, 2017, 26: 1-18. DOI: 10.1016/j.jocm.2017.12.001.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这里要主动说明一个不利于主方法的结果：朴素负二项的权重误差并不比主方法差。所以我们不把“权重更准”当卖点。</a:t>
            </a:r>
          </a:p>
          <a:p/>
          <a:p>
            <a:r>
              <a:t>完整要点：</a:t>
            </a:r>
          </a:p>
          <a:p>
            <a:r>
              <a:t>1. 通俗地说：排班首先要排对“一天中的哪几个钟点发车”；春运和节假日决定哪几天要加车；集日没有想象中重要。</a:t>
            </a:r>
          </a:p>
          <a:p>
            <a:r>
              <a:t>2. 班次层：时段族权重 83.5%（95% 区间 79.1%—85.9%），模拟真值 85.8%。</a:t>
            </a:r>
          </a:p>
          <a:p>
            <a:r>
              <a:t>3. 日层：春运 36.7%、节假日 29.1%；集日 4.5%、天气 3.8%。</a:t>
            </a:r>
          </a:p>
          <a:p>
            <a:r>
              <a:t>4. 与真值权重的平均绝对误差（百分点）：删失负二项 0.6，灰色关联 9.0，SHAP 10.2，熵权法 10.7；秩相关：熵权法 0.36，灰色关联 0.29（H1、H2 支持）。</a:t>
            </a:r>
          </a:p>
          <a:p>
            <a:r>
              <a:t>5. 诚实说明：忽略删失的朴素负二项误差为 0.5，与主方法相近——满载班次只占 3.0% 时，删失对“权重排序”影响不大。删失的影响在“需求水平”：3368 个满载班次上，观测人数比期望需求高 22.4%。删失模型的价值主要体现在 RQ2 的满载班次预测上。</a:t>
            </a:r>
          </a:p>
          <a:p>
            <a:r>
              <a:t>6. 含义：集日不宜作为排班的核心依据，需用真实数据复核[9]。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这一页解释为什么不是直接用深度学习：县域班次的人数太少，大模型的优势出不来，而且它给不出可靠区间。</a:t>
            </a:r>
          </a:p>
          <a:p/>
          <a:p>
            <a:r>
              <a:t>完整要点：</a:t>
            </a:r>
          </a:p>
          <a:p>
            <a:r>
              <a:t>1. 通俗地说：先用统计模型给出“规律部分”，再用机器学习补“规律没抓住的部分”，最后给出“大概率落在哪个范围”。</a:t>
            </a:r>
          </a:p>
          <a:p>
            <a:r>
              <a:t>2. 要回答的问题：存在满载删失时，怎样给出班次级的次日预测，并在春运、节假日和天气事件日保持可靠的预测区间？</a:t>
            </a:r>
          </a:p>
          <a:p>
            <a:r>
              <a:t>3. 为什么选这个方法：一班只有几人到几十人，小计数波动大，班次级预测要考虑计划型交通的特点[23]；负二项结构项可解释、能处理删失；LightGBM 学习非线性残差[41]，删失班次目标用 E[Y* | Y* ≥ c] 插补；好的预测分布要在校准前提下尽量集中[42]；共形预测在弱假设下有覆盖率保证[43,32]，按 5 个情景分别校准（Mondrian）解决全局区间在高需求时覆盖不足。</a:t>
            </a:r>
          </a:p>
          <a:p>
            <a:r>
              <a:t>4. 和其他方法比：季节朴素、历史均值代表经验做法；朴素负二项、删失负二项代表纯统计模型；LightGBM（泊松）代表忽略删失的纯机器学习；城市客流的深度学习[22]面向每 15 分钟成百上千人的大计数，不适合小计数班次。</a:t>
            </a:r>
          </a:p>
          <a:p>
            <a:r>
              <a:t>5. 怎么证明它有效：按时间顺序滚动回测，不随机切分[36]；MAE、RMSE、WAPE 与平均偏差[44]；DM 检验判断差异是否显著[33]；计数预测的专门评价[45]；区间看覆盖率与平均宽度。改进方法（偏离预注册）：删失感知 LightGBM，用 EM 迭代插补，单独报告。</a:t>
            </a:r>
          </a:p>
          <a:p/>
          <a:p>
            <a:r>
              <a:t>本页文献：</a:t>
            </a:r>
          </a:p>
          <a:p>
            <a: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r>
              <a:t>[33] Diebold FX, Mariano RS. Comparing Predictive Accuracy[J]. Journal of Business &amp; Economic Statistics, 1995, 13(3): 253-263. DOI: 10.1080/07350015.1995.10524599.</a:t>
            </a:r>
          </a:p>
          <a:p>
            <a: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r>
              <a:t>[41] Friedman JH. Greedy function approximation: A gradient boosting machine[J]. The Annals of Statistics, 2001, 29(5): 1189-1232. DOI: 10.1214/aos/1013203451.</a:t>
            </a:r>
          </a:p>
          <a:p>
            <a:r>
              <a:t>[42] Tilmann Gneiting, Fadoua Balabdaoui, Adrian E. Raftery. Probabilistic Forecasts, Calibration and Sharpness[J]. Journal of the Royal Statistical Society Series B (Statistical Methodology), 2007, 69(2): 243-268. DOI: 10.1111/j.1467-9868.2007.00587.x.</a:t>
            </a:r>
          </a:p>
          <a:p>
            <a:r>
              <a:t>[43] Jing Lei, Max G’Sell, Alessandro Rinaldo, et al. Distribution-Free Predictive Inference for Regression[J]. Journal of the American Statistical Association, 2017, 113(523): 1094-1111. DOI: 10.1080/01621459.2017.1307116.</a:t>
            </a:r>
          </a:p>
          <a:p>
            <a:r>
              <a:t>[44] Hyndman RJ, Koehler AB. Another look at measures of forecast accuracy[J]. International Journal of Forecasting, 2006, 22(4): 679-688. DOI: 10.1016/j.ijforecast.2006.03.001.</a:t>
            </a:r>
          </a:p>
          <a:p>
            <a:r>
              <a:t>[45] Czado C, Gneiting T, Held L. Predictive Model Assessment for Count Data[J]. Biometrics, 2009, 65(4): 1254-1261. DOI: 10.1111/j.1541-0420.2009.01191.x.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标题已经改成如实的说法：总体上和 LightGBM 打平，优势在满载班次和高需求情景。</a:t>
            </a:r>
          </a:p>
          <a:p/>
          <a:p>
            <a:r>
              <a:t>完整要点：</a:t>
            </a:r>
          </a:p>
          <a:p>
            <a:r>
              <a:t>1. 通俗地说：平常日子各方法差不多准；真正拉开差距的是“坐满的那几班”和“春运那几天”。</a:t>
            </a:r>
          </a:p>
          <a:p>
            <a:r>
              <a:t>2. 总体 WAPE：主方法 42.1%，季节朴素 57.9%，历史均值 46.9%，删失负二项 51.1%，LightGBM（泊松）40.0%，改进方法 41.1%。</a:t>
            </a:r>
          </a:p>
          <a:p>
            <a:r>
              <a:t>3. 诚实说明：LightGBM（泊松）的总体 WAPE 略低于主方法，但差异不显著（DM 检验 p = 0.067）；主方法显著优于季节朴素、历史均值和两种负二项。</a:t>
            </a:r>
          </a:p>
          <a:p>
            <a:r>
              <a:t>4. 满载删失班次：忽略删失的 LightGBM 平均低估 18.6 人，主方法 9.3 人（H3 支持）；改进方法在删失班次上的 MAE 最低（15.67，主方法 17.41）。</a:t>
            </a:r>
          </a:p>
          <a:p>
            <a:r>
              <a:t>5. 90% 区间：春运核心期 Mondrian 覆盖率 92.1%，全局区间 87.6%；Mondrian 在各情景为 90.0%—92.2%（H4 支持）。</a:t>
            </a:r>
          </a:p>
          <a:p>
            <a:r>
              <a:t>6. 使用建议：两种方法并行运行，点预测采用改进方法，区间采用主方法。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固定层的关键是“只管稳定节律”，不规则节律留给柔性层。</a:t>
            </a:r>
          </a:p>
          <a:p/>
          <a:p>
            <a:r>
              <a:t>完整要点：</a:t>
            </a:r>
          </a:p>
          <a:p>
            <a:r>
              <a:t>1. 通俗地说：一张固定时刻表要同时照顾上学日、周末和假期，所以把这几类日子一起放进模型里排。</a:t>
            </a:r>
          </a:p>
          <a:p>
            <a:r>
              <a:t>2. 要回答的问题：只承担稳定节律的固定时刻表应如何编制？各线路每天固定发多少班、几点发？</a:t>
            </a:r>
          </a:p>
          <a:p>
            <a:r>
              <a:t>3. 为什么选这个方法：县域线路低频、长线，客流随节律大幅波动：按节点日编表平日空驶，按平日编表节点日滞留，所以固定层只排日内时段、周节律和学期/假期交替；6 个层按天数加权，一张表兼顾多类日子；社会成本把运营成本和乘客等待成本合在一起[46]；班次记录不含时段内分布，用问卷的期望出发时刻分摊到 15 分钟。</a:t>
            </a:r>
          </a:p>
          <a:p>
            <a:r>
              <a:t>4. 和其他方法比：按客流计数确定发车频率[47]、单线最优发车[48]、时刻表综述[24]和鲁棒时刻表[49]多以城市高频线路、代表日确定需求为对象；国内多车型发车时刻联合优化[50]和城乡一体化线路频率优化[25]没有处理多重节律与删失。</a:t>
            </a:r>
          </a:p>
          <a:p>
            <a:r>
              <a:t>5. 怎么证明它有效：与现行时刻表在同一组需求实现下比较车次、车公里、服务率、等待、满载率和社会成本；做未满足惩罚、单程成本、时间价值的敏感性分析。约束：容量、车辆平衡、驾驶时长、最少服务（偏离预注册：以现行首末班为界）、整数；用开源求解器 HiGHS 求解。</a:t>
            </a:r>
          </a:p>
          <a:p/>
          <a:p>
            <a:r>
              <a:t>本页文献：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r>
              <a:t>[46] Hadas Y, Shnaiderman M. Public-transit frequency setting using minimum-cost approach with stochastic demand and travel time[J]. Transportation Research Part B Methodological, 2012, 46(8): 1068-1084. DOI: 10.1016/j.trb.2012.02.010.</a:t>
            </a:r>
          </a:p>
          <a:p>
            <a:r>
              <a:t>[47] Ceder A. Bus frequency determination using passenger count data[J]. Transportation Research Part A: General, 1984, 18(5-6): 439-453. DOI: 10.1016/0191-2607(84)90019-0.</a:t>
            </a:r>
          </a:p>
          <a:p>
            <a:r>
              <a:t>[48] Newell G F. Dispatching Policies for a Transportation Route[J]. Transportation Science, 1971, 5(1): 91-105. DOI: 10.1287/trsc.5.1.91.</a:t>
            </a:r>
          </a:p>
          <a:p>
            <a:r>
              <a:t>[49] Gkiotsalitis K, Alesiani F. Robust timetable optimization for bus lines subject to resource and regulatory constraints[J]. Transportation Research Part E: Logistics and Transportation Review, 2019, 128: 30-51. DOI: 10.1016/j.tre.2019.05.016.</a:t>
            </a:r>
          </a:p>
          <a:p>
            <a:r>
              <a:t>[50] 王晓伟，吴松屿，曹恺，等. 多车型混编公交车队发车时刻及车型联合优化[J]. 中国公路学报, 2024, 37(6): 253-266. DOI: 10.19721/j.cnki.1001-7372.2024.06.021.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固定层的收益最大，但要主动讲代价：等待和满载都略有增加，这也是下一步柔性层要弥补的。</a:t>
            </a:r>
          </a:p>
          <a:p/>
          <a:p>
            <a:r>
              <a:t>完整要点：</a:t>
            </a:r>
          </a:p>
          <a:p>
            <a:r>
              <a:t>1. 通俗地说：把空跑的班次挪到需要的时段，总车次少了，坐上车的人反而多了一点，但平均要多等一会儿。</a:t>
            </a:r>
          </a:p>
          <a:p>
            <a:r>
              <a:t>2. 车次 36803 → 28648 班（减少 22.2%），车公里减少 24.9%，服务率 81.6% → 83.8%，社会成本降低 13.8%（H5 支持）。</a:t>
            </a:r>
          </a:p>
          <a:p>
            <a:r>
              <a:t>3. 诚实说明（代价）：人均等待时间增加 2.5 分钟，满载班次率 3.0% → 4.8%。</a:t>
            </a:r>
          </a:p>
          <a:p>
            <a:r>
              <a:t>4. 对照：现行时刻表加调度员临时加班，社会成本只降低 0.3%。</a:t>
            </a:r>
          </a:p>
          <a:p>
            <a:r>
              <a:t>5. 敏感性：未满足惩罚提高到 60 元时降幅 20.2%（车次 35143）；时间价值翻倍时降幅 12.8%。</a:t>
            </a:r>
          </a:p>
          <a:p>
            <a:r>
              <a:t>6. 运营建议：正式方案中把“服务率不低于现行”作为一条硬约束。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为什么是“前一天”而不是“实时预约”，是这一页的重点。</a:t>
            </a:r>
          </a:p>
          <a:p/>
          <a:p>
            <a:r>
              <a:t>完整要点：</a:t>
            </a:r>
          </a:p>
          <a:p>
            <a:r>
              <a:t>1. 通俗地说：不让乘客自己预约，而是车站前一晚看预测，把机动车提前排到明天最挤的线路。</a:t>
            </a:r>
          </a:p>
          <a:p>
            <a:r>
              <a:t>2. 要回答的问题：少量机动车按次日预测指派，能降低多少社会成本？收益集中在哪些日期？预测再改进还值多少？</a:t>
            </a:r>
          </a:p>
          <a:p>
            <a:r>
              <a:t>3. 为什么选这个方法：县域乘客以老人和学生为主，数字鸿沟使预约困难[38]；线路长、车辆少，当天临时调车来不及，所以改为“次日柔性”；大量需求响应项目因成本过高或客流不足停办[26]，柔性只用在不规则节律的日子；半柔性是“固定骨架 + 有限柔性”[27,51]，农村需要多少柔性本身要量化[52]；基于预测需求的柔性调度刚刚起步[53]。</a:t>
            </a:r>
          </a:p>
          <a:p>
            <a:r>
              <a:t>4. 和其他方法比：实时预约的需求响应公交（国内农村已有调度研究[54]）；反应式现场加开（不用预测）；样本平均近似随机规划把不确定性带入决策[34]（偏离预注册）；“先预测后优化”忽略预测误差[28]。</a:t>
            </a:r>
          </a:p>
          <a:p>
            <a:r>
              <a:t>5. 怎么证明它有效：8 个方案在同一组需求实现和停班时段下比较；信息价值 =（主方案降幅 − 固定层降幅）÷（完美预知降幅 − 固定层降幅）[35]。柔性层：4 辆 19 座车，上午 6:00—12:30、下午 12:30—18:30 两个半日，按“车辆—半日”逐次贪心指派。</a:t>
            </a:r>
          </a:p>
          <a:p/>
          <a:p>
            <a:r>
              <a:t>本页文献：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  <a:p>
            <a: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  <a:p>
            <a: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  <a:p>
            <a:r>
              <a:t>[51] Mishra S, Mehran B, Sahu PK. Assessment of delivery models for semi-flexible transit operation in low-demand conditions[J]. Transport Policy, 2020, 99: 275-287. DOI: 10.1016/j.tranpol.2020.09.004.</a:t>
            </a:r>
          </a:p>
          <a:p>
            <a:r>
              <a:t>[52] Sörensen L, Bossert A, Jokinen JP, et al. How much flexibility does rural public transport need? - Implications from a fully flexible DRT system[J]. Transport Policy, 2021, 100: 5-20. DOI: 10.1016/j.tranpol.2020.09.005.</a:t>
            </a:r>
          </a:p>
          <a:p>
            <a:r>
              <a:t>[53] Jin M, Pang M. Dispatching of Flex-Route Transit Based on Forecasted Demand Probabilities Using DeepAR and Bayesian Inference[J]. Journal of Transportation Engineering, Part A: Systems, 2025, 151(8): 04025060. DOI: 10.1061/jtepbs.teeng-9074.</a:t>
            </a:r>
          </a:p>
          <a:p>
            <a:r>
              <a:t>[54] 姜晓红，李家伟，严亚丹，等. 考虑动态换乘的农村需求响应公交双向联合调度[J]. 中国公路学报, 2026, 39(8): 422-437. DOI: 10.19721/j.cnki.1001-7372.2026.08.027.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这一页的不利结果要讲清：天气日按预测派车会变差；反应式在节假日边沿表现更好。这些都会在真实数据中复核。</a:t>
            </a:r>
          </a:p>
          <a:p/>
          <a:p>
            <a:r>
              <a:t>完整要点：</a:t>
            </a:r>
          </a:p>
          <a:p>
            <a:r>
              <a:t>1. 通俗地说：机动车该在春节前后和长假前后用，平常日子和天气不好的日子派出去反而浪费。</a:t>
            </a:r>
          </a:p>
          <a:p>
            <a:r>
              <a:t>2. 主方案社会成本降低 14.3%，比只优化固定层多 0.5 个百分点；节假日边沿多 3.4、春运核心期多 2.1、普通日 -0.2 个百分点（H6 支持）。</a:t>
            </a:r>
          </a:p>
          <a:p>
            <a:r>
              <a:t>3. 诚实说明：天气事件日主方案相对固定层的增益为 -1.4 个百分点（反而变差），因为天气日的预测误差最大；反应式现场加开整体增益 0.0，节假日边沿 4.3（高于主方案），普通日 -1.1；随机规划（SAA）整体增益 -0.3。</a:t>
            </a:r>
          </a:p>
          <a:p>
            <a:r>
              <a:t>4. 直接在现行时刻表上加柔性层：车次增至 41279，社会成本只降低 2.7%——必须先优化固定层。</a:t>
            </a:r>
          </a:p>
          <a:p>
            <a:r>
              <a:t>5. 信息价值：主方案兑现了完美预知收益的 29.0%，改进预测方案 35.1%；完美预知上界降幅 15.4%。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三项创新分别对应对象、方法和应用。</a:t>
            </a:r>
          </a:p>
          <a:p/>
          <a:p>
            <a:r>
              <a:t>完整要点：</a:t>
            </a:r>
          </a:p>
          <a:p>
            <a:r>
              <a:t>1. 通俗地说：新在“对象”（县域多重节律）、新在“方法链”（删失—分解—区间）、新在“配置”（固定层 + 次日柔性层）。</a:t>
            </a:r>
          </a:p>
          <a:p>
            <a:r>
              <a:t>2. 创新一（研究对象）：在县域尺度上同时估计八个因子族的权重，为“集日是否重要”等地方经验提供可检验的定量证据。已有研究多只看单一节律。</a:t>
            </a:r>
          </a:p>
          <a:p>
            <a:r>
              <a:t>3. 创新二（方法）：把收益管理中的删失需求还原[20]引入城乡公交，构建“删失负二项—因子族 Shapley 分解—按情景 Mondrian 共形”的分析链条，并在已知真值的模拟系统中与熵权法、灰色关联和 SHAP 比较。</a:t>
            </a:r>
          </a:p>
          <a:p>
            <a:r>
              <a:t>4. 创新三（应用）：提出“固定层承担稳定节律、次日柔性层承担不规则节律”的半柔性配置[27]，用信息价值量化预测改进的边际收益，形成县级运营单位可操作的排班流程。</a:t>
            </a:r>
          </a:p>
          <a:p>
            <a:r>
              <a:t>5. 论文一（RQ1—RQ2）：删失感知的多重节律识别与班次级概率预测；论文二（RQ3—RQ4）：预测驱动的县域城乡公交半柔性配置；学位论文：四个研究问题合成一篇完整的中文学位论文。</a:t>
            </a:r>
          </a:p>
          <a:p/>
          <a:p>
            <a:r>
              <a:t>本页文献：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最后是进度和局限。局限部分如实列出。</a:t>
            </a:r>
          </a:p>
          <a:p/>
          <a:p>
            <a:r>
              <a:t>完整要点：</a:t>
            </a:r>
          </a:p>
          <a:p>
            <a:r>
              <a:t>1. 通俗地说：“方法”已经在模拟卷上验证过，接下来要做“真题”。</a:t>
            </a:r>
          </a:p>
          <a:p>
            <a:r>
              <a:t>2. 已完成：文献综述；研究问题、假设与预注册；模拟系统、四个模型的全部代码与回测；四份研究文档；暑期跟车调查的现场工作。</a:t>
            </a:r>
          </a:p>
          <a:p>
            <a:r>
              <a:t>3. 进行中：暑期跟车原始问卷录入；与运营单位对接逐班次台账。［请汇报人按实际情况确认］</a:t>
            </a:r>
          </a:p>
          <a:p>
            <a:r>
              <a:t>4. 待开展：寒假与春运跟车调查；行政村入户调查；线上问卷；用真实数据替换模拟数据并重算全部结果。</a:t>
            </a:r>
          </a:p>
          <a:p>
            <a:r>
              <a:t>5. 待确认事项：各乡镇集期；天气阈值；线路运行时间与配车、各车型核定座位数（目前为假设值）。</a:t>
            </a:r>
          </a:p>
          <a:p>
            <a:r>
              <a:t>6. 研究局限：结果全部来自模拟数据；只有全程总登乘人数，无站点上下客和 OD；训练期只含两个春运；两处偏离预注册的方案未计算预注册版本；集期与天气阈值待核实。</a:t>
            </a:r>
          </a:p>
          <a:p>
            <a:r>
              <a:t>7. 时间安排：第 1—2 月 文献综述与数据对接 → 第 3 月 暑期跟车问卷与集期核实 → 第 4—5 月 RQ1、RQ2 与论文一初稿 → 第 6—7 月 寒假（春运）跟车、入户与网络问卷 → 第 8—9 月 RQ3、RQ4 与论文二初稿 → 第 10—12 月 学位论文撰写、修改与答辩。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参考文献总表；各页已在页脚列出简要著录，讲稿备注中有完整著录。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参考文献总表；各页已在页脚列出简要著录，讲稿备注中有完整著录。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377440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2000"/>
              </a:lnSpc>
              <a:spcAft>
                <a:spcPts val="34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多重出行节律下武陵山区县域城乡公交的</a:t>
            </a:r>
          </a:p>
          <a:p>
            <a:pPr algn="l">
              <a:lnSpc>
                <a:spcPct val="112000"/>
              </a:lnSpc>
              <a:spcAft>
                <a:spcPts val="34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供需匹配与半柔性配置优化研究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——以新晃侗族自治县为例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93008"/>
            <a:ext cx="1097280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研究进展汇报（第二轮修订稿）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汇报人：［姓名］　　导师：［姓名］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［学院／专业］　　2026 年［月］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897880"/>
            <a:ext cx="1036929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说明：汇报中的定量结果均来自已知真值的模拟系统（SYNTHETIC），用于检验研究路径，不代表新晃的实际结论。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一页读懂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一页读懂本研究：先算清客流由什么决定，再决定固定班车怎么排、机动车哪天加派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车站现在靠经验决定“哪天加车”，本研究要把这件事变成有数据、有方法、能检验的流程。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1143000" cy="749808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3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现象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847088"/>
            <a:ext cx="10085832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847088"/>
            <a:ext cx="990295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平日不少班次乘客很少；春运和节假日一些班次坐满，后面的人上不了车。时刻表一年只调一两次，节点日靠调度员凭经验临时加班。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43200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743200"/>
            <a:ext cx="16002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743200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第一步（RQ1）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743200"/>
            <a:ext cx="6885432" cy="512064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743200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时段、星期、校历、节假日、春运、集日、天气、季节，各自对客流影响多大？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264408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57200" y="3401568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401568"/>
            <a:ext cx="16002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01568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第二步（RQ2）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401568"/>
            <a:ext cx="6885432" cy="512064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401568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坐满的班次，真实想坐车的有多少？明天每班大约多少人、有多大可能坐满？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922776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4059936"/>
            <a:ext cx="512064" cy="51206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059936"/>
            <a:ext cx="1600200" cy="5120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059936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第三步（RQ3）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4059936"/>
            <a:ext cx="6885432" cy="51206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059936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固定班车只按稳定规律排，每条线每天发多少班、几点发？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4581144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57200" y="4718304"/>
            <a:ext cx="512064" cy="51206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4718304"/>
            <a:ext cx="1600200" cy="5120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718304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第四步（RQ4）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718304"/>
            <a:ext cx="6885432" cy="51206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4718304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4 辆机动车前一天晚上按预测派到哪条线、哪个半天？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0072" y="2743200"/>
            <a:ext cx="2011679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0072" y="2743200"/>
            <a:ext cx="2011679" cy="11704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需求是什么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0072" y="4059936"/>
            <a:ext cx="2011679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4059936"/>
            <a:ext cx="2011679" cy="11704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供给怎么配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13248"/>
            <a:ext cx="1143000" cy="9143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13248"/>
            <a:ext cx="1143000" cy="91439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目前发现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（模拟数据）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5413248"/>
            <a:ext cx="10085832" cy="914399"/>
          </a:xfrm>
          <a:prstGeom prst="rect">
            <a:avLst/>
          </a:prstGeom>
          <a:solidFill>
            <a:srgbClr val="F1F4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55648" y="5413248"/>
            <a:ext cx="9866376" cy="91439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班次之间的差异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83.5%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由“一天中的时段”解释；日期之间的差异主要来自春运和节假日，集日和天气较小；优化固定层使社会成本降低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13.8%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，加柔性层再降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0.5 个百分点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，收益集中在春运和节假日边沿。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为什么要做（一）：县域城乡公交的重点正在从“通不通车”转向“什么时候有车”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村里通了车还不够，车要在老人看病、学生返校、春节返乡的那个时间点上有座位。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12179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039612"/>
            <a:ext cx="11274552" cy="33375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交通运输部, 2011, 交运发〔2011〕490号；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交通运输部办公厅, 2024, 农村道路客运运营服务指南（试行）；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宫玉茹等, 2026, 地理科学进展；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邓丽等, 2015, 地理科学进展；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Farrington et al., 2005,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Lucas, 2012,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王姣娥等, 2026, 地理学报；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Yang et al., 2016, Transportation Planning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22976" cy="21689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234440" cy="216897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1143000" cy="216897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47088"/>
            <a:ext cx="4151376" cy="216897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2011 年起推进城乡道路客运一体化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；2024 年农村道路客运运营服务指南要求按客流规律灵活安排班次，鼓励预约响应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44074"/>
            <a:ext cx="5522976" cy="180409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44074"/>
            <a:ext cx="1234440" cy="180409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44074"/>
            <a:ext cx="1143000" cy="180409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山区现实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44074"/>
            <a:ext cx="4151376" cy="180409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交通劣势与相对贫困存在可测的关联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；医疗等公共服务的可达性受交通条件明显限制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847088"/>
            <a:ext cx="5522976" cy="147102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847088"/>
            <a:ext cx="1234440" cy="1471023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47088"/>
            <a:ext cx="1143000" cy="1471023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1847088"/>
            <a:ext cx="4151376" cy="1471023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缺少公交使农村居民难以到达就业、医疗和教育机会，属于社会排斥问题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[5,6]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；城乡交通融合已成为地理学研究议题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[7]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3446127"/>
            <a:ext cx="5522976" cy="120886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446127"/>
            <a:ext cx="1234440" cy="1208861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46127"/>
            <a:ext cx="1143000" cy="120886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乘客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446127"/>
            <a:ext cx="4151376" cy="120886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农村公交乘客的使用特征与人群构成不同于城市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，班次时刻直接决定他们能否出行。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4783004"/>
            <a:ext cx="5522976" cy="116516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4783004"/>
            <a:ext cx="1234440" cy="1165167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783004"/>
            <a:ext cx="1143000" cy="11651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83004"/>
            <a:ext cx="4151376" cy="11651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湖南省新晃侗族自治县（武陵山区），县汽车站发出的 7 条城乡公交线路。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为什么要做（二）：现行做法留下三个难题，每一个都会直接导致多派车或少派车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4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不知道客流听谁的、台账数字不完全可信、固定班和机动车各管什么没分清。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3605784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难题一（权重）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各类节律对客流的相对影响有多大，缺少定量证据。地方经验常把赶集日看成主要因素，这一判断来自以定期集市为中心的农村研究传统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，但没有用班次数据检验过。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76266"/>
            <a:ext cx="3386328" cy="810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后果：固定时刻表按什么规律编制没有依据。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1584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1584" y="1847088"/>
            <a:ext cx="3605784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744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难题二（删失）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8744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班次坐满后，台账记录的是座位数，不是想坐车的人数，真实需求只知道“不低于记录值”。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1312" y="5176266"/>
            <a:ext cx="3386328" cy="8107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6176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后果：把记录当需求，会系统低估节点日的需求和应加的运力。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5968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5968" y="1847088"/>
            <a:ext cx="3605784" cy="731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3128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难题三（分工）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8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固定时刻表一年调一两次，节点日加班凭经验。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5695" y="5176266"/>
            <a:ext cx="3386328" cy="81076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560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后果：按节点日编表，平日大量空驶；按平日编表，节点日大量滞留。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研究意义：把“节律”变成可估计的权重，并把权重、预测与排班放进同一条可检验的链条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5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理论上回答“时间怎样影响出行”，方法上回答“哪种算法算得准”，实践上给县里一套能照做的流程。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12179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039612"/>
            <a:ext cx="11274552" cy="33375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Hägerstrand, 1970, Papers of the Regional Science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Kwan, 1998, Geographical Analysis；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Neutens et al., 2010, Transport Reviews；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Farber et al., 2014, Applied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Boisjoly et al., 2016,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Nosek et al., 2018, Proceedings of the National Academy of Sciences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463040" cy="126949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47088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847088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时间地理学指出人的活动受能力、组合和权威约束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，可达性有时间维度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[11,12]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；公交可达性在一天之内随时刻表波动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[13,14]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。本研究把这些思想和周期市场理论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转化为可估计的客流因子权重。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2883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62883"/>
            <a:ext cx="1463040" cy="12694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62883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262883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在已知真值的模拟系统中，比较多种权重方法、预测方法与排班策略，并事先预注册方法与评价指标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，检验方法能否在删失和节律叠加时识别出真实结构。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78679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78679"/>
            <a:ext cx="1463040" cy="1269491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78679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78679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给出县级运营单位可以照着执行的流程——数据采集表、问卷、计算代码、时刻表编制方法、次日柔性排班规则；真实数据到位后按同一流程重算即可。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二、文献与缺口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文献脉络：从“需求有节律”一路推到“供给要分层”，每一步都留下一个本研究要补的缺口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前人已经解决了很多环节，但没有人把“节律—删失—预测—排班”在县域城乡公交里连起来做。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38291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665724"/>
            <a:ext cx="11274552" cy="7076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[16]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Pas et al., 1987, Transportation；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Lipovetsky et al., 2001, Applied Stochastic Models in Business and Industry；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[21]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2012, Advances in Operations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赵建东等, 2021, 交通运输工程学报；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Liu et al., 2025, Journal of Advanced Transportation；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457200" y="1847088"/>
            <a:ext cx="1463040" cy="660034"/>
          </a:xfrm>
          <a:prstGeom prst="homePlat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需求的时间结构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847088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847088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个人出行在日与日之间既有习惯也有变异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；集市被视为农村社会结构的单元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72983" y="2177105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57031" y="1847088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847088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缺口①：多重节律的相对权重没有被同时估计。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2511694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598562"/>
            <a:ext cx="1463040" cy="6600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98562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权重识别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598562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2598562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熵权法、灰色关联按离散程度或形状相似赋权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；特征相关时 SHAP 的分配受依赖结构影响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；Shapley 分解可加且对相关稳健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72983" y="2928579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1" y="2598562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2598562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缺口②：没有方法同时做到按节律分组、对相关稳健、对删失敏感。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3263168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" y="3350036"/>
            <a:ext cx="1463040" cy="47166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50036"/>
            <a:ext cx="1371600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删失还原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350036"/>
            <a:ext cx="5879592" cy="47166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3350036"/>
            <a:ext cx="5788152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航空和铁路收益管理早已研究售罄后的需求还原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[20,21]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72983" y="3585870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57031" y="3350036"/>
            <a:ext cx="3429000" cy="471667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3350036"/>
            <a:ext cx="3319272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缺口③：未用于县域城乡公交。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88720" y="3826276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7200" y="3913144"/>
            <a:ext cx="1463040" cy="6600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13144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客流预测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3913144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3913144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国内研究集中于城市大客流深度学习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；计划型交通的班次级预测需专门考虑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72983" y="4243161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57031" y="3913144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3913144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缺口④：缺少班次级、删失感知、带可靠区间的次日预测。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88720" y="4577750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57200" y="4664618"/>
            <a:ext cx="1463040" cy="9096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664618"/>
            <a:ext cx="1371600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供给优化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4664618"/>
            <a:ext cx="5879592" cy="909665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5960" y="4664618"/>
            <a:ext cx="5788152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时刻表方法多面向城市高频线路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，城乡线路频率研究刚起步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；需求响应项目多因成本或客流不足停办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；半柔性保留固定骨架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；“先预测后优化”忽略预测误差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72983" y="5119451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57031" y="4664618"/>
            <a:ext cx="3429000" cy="909665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1896" y="4664618"/>
            <a:ext cx="3319272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缺口⑤：固定层与柔性层缺少以预测为纽带的协同设计。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三、问题与路线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四个研究问题与六个假设：前两个回答“需求是什么”，后两个回答“供给怎么配”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7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先弄清“有多少人、什么时候坐”，再决定“派多少车、什么时候派”。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28800"/>
            <a:ext cx="4617720" cy="3474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873752" cy="3474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假设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160020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节律权重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176272"/>
            <a:ext cx="4617720" cy="7315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2176272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八个因子族对班次客流的相对影响各有多大？集日是否是主要因素？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76272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2176272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H1 班次层日内时段最大，日层春运和节假日最大，集日和天气较小；H2 熵权法、灰色关联的排序与真实排序明显不一致。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80944"/>
            <a:ext cx="160020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80944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删失与预测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980944"/>
            <a:ext cx="4617720" cy="7315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1992" y="2980944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存在满载删失时，什么模型能给出班次级次日预测，并在春运、节假日和天气事件日保持可靠区间？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980944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980944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H3 考虑删失的模型在满载班次上偏差更小；H4 全局共形区间在高需求情景覆盖不足，Mondrian 区间接近名义覆盖。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85615"/>
            <a:ext cx="160020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85615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RQ3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固定层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785615"/>
            <a:ext cx="4617720" cy="7315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2" y="3785615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只承担稳定节律的固定时刻表如何编制？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785615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785615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H5 能减少总班次并降低社会成本。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90288"/>
            <a:ext cx="160020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0288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RQ4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柔性层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590288"/>
            <a:ext cx="4617720" cy="7315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" y="4590288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少量机动车按次日预测指派，能降多少社会成本？收益在哪些日期？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590288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4590288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H6 收益集中在春运和节假日边沿，普通日接近零。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58968"/>
            <a:ext cx="160020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58968"/>
            <a:ext cx="16002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成果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5458968"/>
            <a:ext cx="4745736" cy="86868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5458968"/>
            <a:ext cx="4562856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论文一（RQ1—RQ2）删失感知的多重节律识别与概率预测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016" y="5458968"/>
            <a:ext cx="4745736" cy="868680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5458968"/>
            <a:ext cx="4562856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论文二（RQ3—RQ4）预测驱动的县域城乡公交半柔性配置。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为什么需要这些数据：每类数据对应一个研究问题，缺了它，对应的模型就算不出来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8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班次人数是“考题”，日历和天气是“解题线索”，时刻表和座位数是“判卷标准”，问卷用来补“没车时段”的需求。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2007, Transportation Research Record: Journal of the Transportation Research Board；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 et al., 2024, Public Transport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47088"/>
          <a:ext cx="11274552" cy="3662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337560"/>
                <a:gridCol w="1828800"/>
                <a:gridCol w="3090672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数据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用来做什么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服务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缺了会怎样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逐班次全程登乘人数（对接中，目前为模拟值）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因变量；满载标记用于识别删失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RQ1—RQ4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没有可估计的对象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县汽车站逐日台账（2024-06-01 至 2026-07-27）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全县客流总量锚点，核对模拟与真实总量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模拟检验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无法判断模拟是否可信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7 条线路双向现行时刻表、配车与座位数（座位数目前为假设值）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确定每班容量，判断哪些班次删失；现行方案作对照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RQ2—RQ4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分不出满载班次，也无法比较新旧方案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法定节假日与调休、农历、春运、校历、住校生离返校日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构造节律因子族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RQ1—RQ3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无法区分是哪种节律造成客流变化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逐日天气实况与提前 1 天的预报存档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对照因子；检验期一律用预报值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RQ1、RQ2、RQ4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用实况会把未来信息带进预测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跟车、入户、线上问卷（未成年人由家长回答）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乘客构成；期望出发时刻用于把班次需求分摊到 15 分钟时段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RQ3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无法推算目前无车时段的需求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行政村点位与人口栅格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入户抽样与可达性分类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调查设计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样本覆盖不了不同可达性的村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92013"/>
            <a:ext cx="64008" cy="34117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692013"/>
            <a:ext cx="11164824" cy="3411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天气对公交客流的影响因地区和人群而异</a:t>
            </a:r>
            <a:r>
              <a:rPr sz="1400" b="0" i="0" baseline="3000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[29,30]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，因此只作对照因子，不作核心因素。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只用能够可靠获取的变量：三类因素不进模型，集日与天气只作对照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9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拿不到可靠数据的因素宁可不放，也不用猜测的数字凑模型。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2007, Transportation Research Record: Journal of the Transportation Research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22976" cy="163997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234440" cy="163997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1143000" cy="163997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不纳入模型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47088"/>
            <a:ext cx="4151376" cy="163997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工业园区班次与倒班安排、医院门诊排班、外出务工人员个人返乡日期。它们无法可靠获取，其影响会通过节假日、春运和周节律间接体现。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5078"/>
            <a:ext cx="5522976" cy="150331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5078"/>
            <a:ext cx="1234440" cy="150331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5078"/>
            <a:ext cx="1143000" cy="15033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观测口径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15078"/>
            <a:ext cx="4151376" cy="15033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每趟班次只有全程总登乘人数，没有分站点上下客和 OD，所以全部模型都以“班次”为分析单位，不做 OD 推算。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46404"/>
            <a:ext cx="5522976" cy="850357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46404"/>
            <a:ext cx="5340096" cy="85035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所有问卷中，未成年人由家长回答。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847088"/>
            <a:ext cx="5522976" cy="217044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847088"/>
            <a:ext cx="1234440" cy="2170447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847088"/>
            <a:ext cx="1143000" cy="217044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集日只作对照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1847088"/>
            <a:ext cx="4151376" cy="217044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各乡镇集期需逐乡核实，目前的集期表属于待确认信息；集市对城乡公交的影响可能被高估，需要用数据检验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145551"/>
            <a:ext cx="5522976" cy="195121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4145551"/>
            <a:ext cx="1234440" cy="195121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4145551"/>
            <a:ext cx="1143000" cy="19512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天气只作对照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4145551"/>
            <a:ext cx="4151376" cy="19512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检验期一律用提前一天的预报值，而不是事后实况，保证预测在实际运营中可以复现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“删失”是什么：车坐满了，台账上的数字就不再等于想坐车的人数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10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一辆 19 座的车（示意）来了 25 个人，只上去 19 个，台账写 19；我们只知道真实需求“至少 19”。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2012, Advances in Operations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Hausman et al., 1984, Econometrica；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Angelopoulos et al., 2023, Foundations and Trends® in Machine Learning；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Diebold et al., 1995, Journal of Business &amp; Economic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Kleywegt et al., 2002, SIAM Journal on Optimization；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Jackson et al., 2019, Journal of the American Statistical Association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3063240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2167128"/>
            <a:ext cx="73152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347472" cy="34747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3657600"/>
            <a:ext cx="347472" cy="34747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3444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3736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3444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3736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028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3444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3736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4028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3444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3736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4028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7763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2277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8055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2569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8347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2861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7763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92277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8055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2569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8347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2861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041648"/>
            <a:ext cx="5074920" cy="420624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41648"/>
            <a:ext cx="5074920" cy="42062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台账记 19，真实需求≥19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72000"/>
            <a:ext cx="507492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为什么重要：节点日恰恰是满载最多、规划最关心的日子；把记录当需求，会低估应加的运力。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31261"/>
            <a:ext cx="507492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怎么处理：模型里满载班次不再当作“正好等于 c 人”，而是“不少于 c 人”，即用 P(Y* ≥ c) 计入似然；这一思路来自航空收益管理的需求还原</a:t>
            </a:r>
            <a:r>
              <a:rPr sz="11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[20,21]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06440" y="1847088"/>
          <a:ext cx="5925312" cy="381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07992"/>
              </a:tblGrid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术语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一句话解释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删失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记录值被座位数截住，真实需求只知道不低于记录值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负二项回归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描述“非负整数、波动大于均值”的计数，如每班人数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[31]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Shapley 分解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把模型的解释力公平地分给各因子族，各份相加等于总数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60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共形预测区间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在很弱的假设下保证“90% 区间大约 90% 次能罩住真值”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[32]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Mondrian 共形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按春运、节假日、普通日等情景分别校准区间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WAPE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总绝对误差 ÷ 总客流，越小越准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DM 检验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判断两种方法的误差差异是否显著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[33]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社会成本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运营成本 + 乘客等待时间价值 + 没坐上车的损失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SAA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用若干需求情景的平均成本近似期望成本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[34]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信息价值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预测兑现了“完美预知”收益的多少比例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[35]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三、问题与路线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技术路线：四个模型首尾相接，上一步的输出就是下一步的输入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11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先算“谁影响客流”，再算“明天多少人”，再排“固定班”，最后派“机动车”。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Nosek et al., 2018, Proceedings of the National Academy of Sciences；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Roberts et al., 2017, Ecography；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Kapoor et al., 2023,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1665732" cy="18288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665732" cy="43891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班次人数、日历校历、天气预报、时刻表、问卷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50363" y="2761488"/>
            <a:ext cx="201169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78964" y="1847088"/>
            <a:ext cx="1665732" cy="182880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8964" y="1847088"/>
            <a:ext cx="1665732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3828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模型一 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3828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 + 因子族 Shapley → 节律权重、潜在需求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72128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00728" y="1847088"/>
            <a:ext cx="1665732" cy="182880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0728" y="1847088"/>
            <a:ext cx="1665732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5591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模型二 RQ2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5591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结构项 + LightGBM 残差 + Mondrian 共形 → 次日每班预测分布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3892" y="2761488"/>
            <a:ext cx="201167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22492" y="1847088"/>
            <a:ext cx="1665732" cy="18288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847088"/>
            <a:ext cx="1665732" cy="43891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7355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模型三 RQ3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7355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6 层场景整数规划 → 固定时刻表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15656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144256" y="1847088"/>
            <a:ext cx="1665732" cy="18288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44256" y="1847088"/>
            <a:ext cx="1665732" cy="43891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9120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模型四 RQ4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9120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次日贪心指派 + 信息价值 → 机动车派车单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37420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066020" y="1847088"/>
            <a:ext cx="1665732" cy="18288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66020" y="1847088"/>
            <a:ext cx="1665732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20884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评价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0884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社会成本、服务率、等待时间、满载率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2686" y="3749039"/>
            <a:ext cx="18288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1829" y="3904487"/>
            <a:ext cx="1921764" cy="182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133594" y="3758183"/>
            <a:ext cx="0" cy="155448"/>
          </a:xfrm>
          <a:prstGeom prst="line">
            <a:avLst/>
          </a:prstGeom>
          <a:ln w="190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24450" y="3749039"/>
            <a:ext cx="18288" cy="16459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33594" y="3904487"/>
            <a:ext cx="3843527" cy="1828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8977122" y="3758183"/>
            <a:ext cx="0" cy="155448"/>
          </a:xfrm>
          <a:prstGeom prst="line">
            <a:avLst/>
          </a:prstGeom>
          <a:ln w="19050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4069079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删失负二项同时服务 RQ1 的权重识别和 RQ2 的预测结构项；RQ2 的预测分布驱动 RQ4；RQ3 只承担稳定节律。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63329"/>
            <a:ext cx="11274552" cy="6270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预注册：计算前写下主方法、对照方法、检验期和评价指标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；检验期 2026-01-01 至 2026-09-30，2026-10-01 以后的台账作为封存检验期，本轮不读取。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207692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训练与检验按时间顺序切分，避免把未来信息泄露给模型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[36,37]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01941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计算中四处偏离预注册（改进预测方法、最少服务规则、柔性层随机规划求解方式、增加反应式对照），均在正文标注“偏离预注册”并说明理由。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为什么先用模拟：真实台账看不到“没坐上车的人”，只有在知道答案的系统里才能检查方法算没算对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就像先用有标准答案的模拟卷练习，确认解题方法对了，再去做真题。</a:t>
            </a:r>
          </a:p>
        </p:txBody>
      </p:sp>
      <p:pic>
        <p:nvPicPr>
          <p:cNvPr id="10" name="Picture 9" descr="图_模拟数据核对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7083723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35423"/>
            <a:ext cx="7083723" cy="23774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图：模拟数据核对_a（模拟数据，SYNTHETIC）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809244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为什么要模拟：真实数据中看不到潜在需求，无法判断权重是否识别正确、删失是否还原到位；模拟系统为每个班次保留真值（潜在需求、乘客构成、未满足人数）。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84965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规模：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852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天，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116127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个班次观测；满载删失班次占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；调度员临时加班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255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次；四套模拟问卷共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808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20207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模拟用真实的时刻表、日历校历与天气驱动，并与真实县站台账核对总量。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55448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真实数据到位后：跳过模拟步骤，按同一流程重算。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8470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8470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836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852天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408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模拟天数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7614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7614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7980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116127个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552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班次观测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3675887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3675887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712463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169663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满载删失班次占比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45902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45902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6268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255次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0840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调度员临时加班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55046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3960" y="55046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55412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808份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9984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四套模拟问卷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模型选择总览：每个问题先看常用方法哪里不够，再说明本研究为什么选现在的方法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不是“用了最新的算法”，而是“常用方法回答不了这个问题，所以换成能回答的方法”。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Velaga et al., 2012, Journal of Transport Geography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47088"/>
          <a:ext cx="11274552" cy="3486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103120"/>
                <a:gridCol w="3154680"/>
                <a:gridCol w="2331720"/>
                <a:gridCol w="1993392"/>
              </a:tblGrid>
              <a:tr h="343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问题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常用方法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常用方法的不足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本研究选用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怎么检验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RQ1 各节律占多大比重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熵权法、灰色关联、逐特征 SHAP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衡量变化幅度或形状相似，不是对客流的解释力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[17]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；相关特征使 SHAP 分散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[18]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；都忽略删失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删失负二项 + 因子族 Shapley 分解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与模拟真值权重比误差和秩相关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RQ2 明天每班多少人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季节朴素、历史均值、城市客流深度学习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小计数下深度学习优势不明显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[23]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；点预测答不了坐满概率；全局区间在高需求时覆盖不足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删失负二项结构项 + LightGBM 残差 + Mondrian 共形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时间顺序回测、DM 检验、分情景覆盖率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963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RQ3 固定班车怎么排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按客流计数定频率、代表日确定性时刻表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多面向城市高频线路，把需求当成一个代表日的确定值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[24]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6 层场景整数规划，社会成本最小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与现行时刻表比社会成本、服务率、等待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RQ4 机动车何时派到哪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实时预约需求响应、看到满载再加开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老人和学生预约难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[38]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，长线少车当天调车来不及；项目常因成本停办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[26]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；先预测后优化忽略误差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[28]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次日按预测贪心指派 + SAA 对照 + 信息价值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与反应式、SAA、完美预知比较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模型一（RQ1）：先用删失负二项还原需求，再用因子族 Shapley 分解给八类节律分配权重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14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先把“坐满的班次”还原成真实需求，再看每类节律各“贡献”了多少客流变化。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Lipovetsky et al., 2001, Applied Stochastic Models in Business and Industry；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Hausman et al., 1984, Econometrica；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Grömping, 2007, The American Statistician；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Brathwaite et al., 2017, Journal of Choice Modelling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8229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822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847088"/>
            <a:ext cx="10405872" cy="4572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47088"/>
            <a:ext cx="10222992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log μ = 线路×方向基线 + 时段 + 周节律 + 校历 + 节假日 + 春运 + 集日 + 天气 + 季节；φk = Σ［|S|!(K−|S|−1)!/K!］·［R²(S∪{k}) − R²(S)］，K =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5573268" cy="1583055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9572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798064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时段、周节律、校历、节假日、春运、集日、天气、季节八个因子族，各解释了多少客流变化？集日是否是主要因素？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8483" y="2395728"/>
            <a:ext cx="5573268" cy="1583055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8483" y="239572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9923" y="239572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2798064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客流是非负整数且方差大于均值，用负二项描述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；满载班次只知 Y* ≥ c，似然贡献改为 P(Y* ≥ c)，借用需求还原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；Shapley 分解把 R² 在所有排列上平均分配，可加、对相关稳健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[19,39]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，并可按因子族分组。三条要求同时满足。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06799"/>
            <a:ext cx="5573268" cy="1583055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06799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06799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509135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熵权法衡量变量自身变化幅度，少见而幅度大的变量（如极端天气）会得到很高权重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；灰色关联看序列形状相似，不区分相关与因果；逐特征 SHAP 在特征相关时分配受依赖结构影响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，变量重要性还常被误读为因果效应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[40]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8483" y="4106799"/>
            <a:ext cx="5573268" cy="1583055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8483" y="4106799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9923" y="4106799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6" y="4509135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在已知真值的模拟系统中，与真值权重比平均绝对误差和秩相关；班次层与日层分别估计；以连续 7 天为块做自助法给出 95% 区间；对照方法：熵权法、灰色关联、LightGBM-SHAP、忽略删失的朴素负二项。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RQ1 结果：班次层由日内时段主导，日层由春运和节假日主导，集日与天气权重较小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15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排班首先要排对“一天中的哪几个钟点发车”；春运和节假日决定哪几天要加车；集日没有想象中重要。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1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</a:t>
            </a:r>
          </a:p>
        </p:txBody>
      </p:sp>
      <p:pic>
        <p:nvPicPr>
          <p:cNvPr id="12" name="Picture 11" descr="图_影响因子权重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5305157" cy="30801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945534"/>
            <a:ext cx="5305157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图：影响因子权重_a（模拟数据，SYNTHETIC）</a:t>
            </a:r>
          </a:p>
        </p:txBody>
      </p:sp>
      <p:pic>
        <p:nvPicPr>
          <p:cNvPr id="14" name="Picture 13" descr="图_影响因子权重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517" y="1847088"/>
            <a:ext cx="1827162" cy="36644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9517" y="5529834"/>
            <a:ext cx="1827162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图：影响因子权重_d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（模拟数据，SYNTHETIC）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4708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班次层：时段族权重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83.5%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（95% 区间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79.1%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），模拟真值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85.8%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3172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日层：春运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36.7%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、节假日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；集日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4.5%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、天气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3.8%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16368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与真值权重的平均绝对误差（百分点）：删失负二项 0.6，灰色关联 9.0，SHAP 10.2，熵权法 10.7；秩相关：熵权法 0.36，灰色关联 0.29（H1、H2 支持）。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113657"/>
            <a:ext cx="3730752" cy="1264412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4141089"/>
            <a:ext cx="3584448" cy="12095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诚实说明：忽略删失的朴素负二项误差为 0.5，与主方法相近——满载班次只占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时，删失对“权重排序”影响不大。删失的影响在“需求水平”：3368 个满载班次上，观测人数比期望需求高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22.4%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。删失模型的价值主要体现在 RQ2 的满载班次预测上。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49110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含义：集日不宜作为排班的核心依据，需用真实数据复核</a:t>
            </a:r>
            <a:r>
              <a:rPr sz="11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模型二（RQ2）：删失负二项给出结构，LightGBM 修正残差，Mondrian 共形给出分情景的可靠区间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先用统计模型给出“规律部分”，再用机器学习补“规律没抓住的部分”，最后给出“大概率落在哪个范围”。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赵建东等, 2021, 交通运输工程学报；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Angelopoulos et al., 2023, Foundations and Trends® in Machine Learning；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Diebold et al., 1995, Journal of Business &amp; Economic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Roberts et al., 2017, Ecography；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Friedman, 2001, The Annals of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Gneiting et al., 2007, Journal of the Royal Statistical Society Series B (Statistical Methodology)；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Lei et al., 2017, Journal of the American Statistical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Hyndman et al., 2006, International Journal of Forecasting；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Czado et al., 2009, Biometrics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219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327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存在满载删失时，怎样给出班次级的次日预测，并在春运、节假日和天气事件日保持可靠的预测区间？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219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327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一班只有几人到几十人，小计数波动大，班次级预测要考虑计划型交通的特点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；负二项结构项可解释、能处理删失；LightGBM 学习非线性残差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[41]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，删失班次目标用 E[Y* | Y* ≥ c] 插补；好的预测分布要在校准前提下尽量集中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；共形预测在弱假设下有覆盖率保证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[43,32]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，按 5 个情景分别校准（Mondrian）解决全局区间在高需求时覆盖不足。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7294"/>
            <a:ext cx="5573268" cy="1732559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57294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7294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59630"/>
            <a:ext cx="5426964" cy="1293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季节朴素、历史均值代表经验做法；朴素负二项、删失负二项代表纯统计模型；LightGBM（泊松）代表忽略删失的纯机器学习；城市客流的深度学习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面向每 15 分钟成百上千人的大计数，不适合小计数班次。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57294"/>
            <a:ext cx="5573268" cy="1732559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57294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57294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59630"/>
            <a:ext cx="5426964" cy="1293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按时间顺序滚动回测，不随机切分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；MAE、RMSE、WAPE 与平均偏差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[44]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；DM 检验判断差异是否显著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；计数预测的专门评价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[45]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；区间看覆盖率与平均宽度。改进方法（偏离预注册）：删失感知 LightGBM，用 EM 迭代插补，单独报告。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RQ2 结果：总体精度与 LightGBM 相当，优势在满载班次——低估减半，高需求情景的区间更可靠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17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平常日子各方法差不多准；真正拉开差距的是“坐满的那几班”和“春运那几天”。</a:t>
            </a:r>
          </a:p>
        </p:txBody>
      </p:sp>
      <p:pic>
        <p:nvPicPr>
          <p:cNvPr id="10" name="Picture 9" descr="图_客流预测回测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642812" cy="289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756265"/>
            <a:ext cx="3642812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图：客流预测回测_b（模拟数据，SYNTHETIC）</a:t>
            </a:r>
          </a:p>
        </p:txBody>
      </p:sp>
      <p:pic>
        <p:nvPicPr>
          <p:cNvPr id="12" name="Picture 11" descr="图_客流预测回测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172" y="1847088"/>
            <a:ext cx="3489507" cy="28908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7172" y="4756265"/>
            <a:ext cx="3489507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图：客流预测回测_c（模拟数据，SYNTHETIC）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47088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总体 WAPE：主方法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42.1%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，季节朴素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57.9%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，历史均值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46.9%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，删失负二项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51.1%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，LightGBM（泊松）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40.0%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，改进方法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41.1%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760539"/>
            <a:ext cx="3730752" cy="839114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787971"/>
            <a:ext cx="3584448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诚实说明：LightGBM（泊松）的总体 WAPE 略低于主方法，但差异不显著（DM 检验 p = 0.067）；主方法显著优于季节朴素、历史均值和两种负二项。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728854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满载删失班次：忽略删失的 LightGBM 平均低估 18.6 人，主方法 9.3 人（H3 支持）；改进方法在删失班次上的 MAE 最低（15.67，主方法 17.41）。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42305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90% 区间：春运核心期 Mondrian 覆盖率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92.1%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，全局区间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87.6%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；Mondrian 在各情景为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90.0%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92.2%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（H4 支持）。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555756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使用建议：两种方法并行运行，点预测采用改进方法，区间采用主方法。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模型三（RQ3）：固定时刻表只管稳定节律，用 6 个需求层的场景整数规划使社会成本最小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18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一张固定时刻表要同时照顾上学日、周末和假期，所以把这几类日子一起放进模型里排。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Liu et al., 2025, Journal of Advanced Transportation；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Hadas et al., 2012, Transportation Research Part B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Ceder, 1984, Transportation Research Part A: General；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Newell, 1971, Transportation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Gkiotsalitis et al., 2019, Transportation Research Part E: Logistics and Transportation Review；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王晓伟等, 2024, 中国公路学报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681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只承担稳定节律的固定时刻表应如何编制？各线路每天固定发多少班、几点发？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6813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县域线路低频、长线，客流随节律大幅波动：按节点日编表平日空驶，按平日编表节点日滞留，所以固定层只排日内时段、周节律和学期/假期交替；6 个层按天数加权，一张表兼顾多类日子；社会成本把运营成本和乘客等待成本合在一起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；班次记录不含时段内分布，用问卷的期望出发时刻分摊到 15 分钟。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1917"/>
            <a:ext cx="5573268" cy="1727936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1917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按客流计数确定发车频率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、单线最优发车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、时刻表综述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和鲁棒时刻表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多以城市高频线路、代表日确定需求为对象；国内多车型发车时刻联合优化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[50]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和城乡一体化线路频率优化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没有处理多重节律与删失。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61917"/>
            <a:ext cx="5573268" cy="1727936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61917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与现行时刻表在同一组需求实现下比较车次、车公里、服务率、等待、满载率和社会成本；做未满足惩罚、单程成本、时间价值的敏感性分析。约束：容量、车辆平衡、驾驶时长、最少服务（偏离预注册：以现行首末班为界）、整数；用开源求解器 HiGHS 求解。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RQ3 结果：固定层减少约两成车次并降低社会成本，代价是等待略增、满载略多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19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把空跑的班次挪到需要的时段，总车次少了，坐上车的人反而多了一点，但平均要多等一会儿。</a:t>
            </a:r>
          </a:p>
        </p:txBody>
      </p:sp>
      <p:pic>
        <p:nvPicPr>
          <p:cNvPr id="10" name="Picture 9" descr="图_时刻表与柔性排班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488185" cy="3188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053502"/>
            <a:ext cx="3488185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图：时刻表与柔性排班_a（模拟数据，SYNTHETIC）</a:t>
            </a:r>
          </a:p>
        </p:txBody>
      </p:sp>
      <p:pic>
        <p:nvPicPr>
          <p:cNvPr id="12" name="Picture 11" descr="图_时刻表与柔性排班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545" y="1847088"/>
            <a:ext cx="3644134" cy="3188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2545" y="5053502"/>
            <a:ext cx="3644134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图：时刻表与柔性排班_b（模拟数据，SYNTHETIC）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999" y="1847088"/>
            <a:ext cx="3730752" cy="89519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车次 36803 → 28648 班（减少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22.2%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），车公里减少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24.9%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，服务率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81.6%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→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，社会成本降低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13.8%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（H5 支持）。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999" y="2870191"/>
            <a:ext cx="3730752" cy="700430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1" y="2897623"/>
            <a:ext cx="3584448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诚实说明（代价）：人均等待时间增加 2.5 分钟，满载班次率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→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3698528"/>
            <a:ext cx="3730752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对照：现行时刻表加调度员临时加班，社会成本只降低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0.3%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4472001"/>
            <a:ext cx="3730752" cy="89519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敏感性：未满足惩罚提高到 60 元时降幅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20.2%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（车次 35143）；时间价值翻倍时降幅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12.8%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5495105"/>
            <a:ext cx="3730752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运营建议：正式方案中把“服务率不低于现行”作为一条硬约束。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模型四（RQ4）：在固定骨架上，前一天晚上按预测把 4 辆机动车派到最可能拥挤的线路和时段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20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不让乘客自己预约，而是车站前一晚看预测，把机动车提前排到明天最挤的线路。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Kleywegt et al., 2002, SIAM Journal on Optimization；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Jackson et al., 2019, Journal of the American Statistical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Velaga et al., 2012,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Mishra et al., 2020,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Sörensen et al., 2021,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Jin et al., 2025, Journal of Transportation Engineering, Part A: Systems；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姜晓红等, 2026, 中国公路学报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681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少量机动车按次日预测指派，能降低多少社会成本？收益集中在哪些日期？预测再改进还值多少？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6813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县域乘客以老人和学生为主，数字鸿沟使预约困难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；线路长、车辆少，当天临时调车来不及，所以改为“次日柔性”；大量需求响应项目因成本过高或客流不足停办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，柔性只用在不规则节律的日子；半柔性是“固定骨架 + 有限柔性”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[27,51]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，农村需要多少柔性本身要量化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[52]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；基于预测需求的柔性调度刚刚起步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[53]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1917"/>
            <a:ext cx="5573268" cy="1727936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1917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实时预约的需求响应公交（国内农村已有调度研究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）；反应式现场加开（不用预测）；样本平均近似随机规划把不确定性带入决策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（偏离预注册）；“先预测后优化”忽略预测误差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61917"/>
            <a:ext cx="5573268" cy="1727936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61917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8 个方案在同一组需求实现和停班时段下比较；信息价值 =（主方案降幅 − 固定层降幅）÷（完美预知降幅 − 固定层降幅）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。柔性层：4 辆 19 座车，上午 6:00—12:30、下午 12:30—18:30 两个半日，按“车辆—半日”逐次贪心指派。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RQ4 结果：柔性层只在春运和节假日边沿明显有效，天气事件日和普通日不宜按预测派车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21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机动车该在春节前后和长假前后用，平常日子和天气不好的日子派出去反而浪费。</a:t>
            </a:r>
          </a:p>
        </p:txBody>
      </p:sp>
      <p:pic>
        <p:nvPicPr>
          <p:cNvPr id="10" name="Picture 9" descr="图_时刻表与柔性排班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621727" cy="32388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104204"/>
            <a:ext cx="3621727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图：时刻表与柔性排班_c（模拟数据，SYNTHETIC）</a:t>
            </a:r>
          </a:p>
        </p:txBody>
      </p:sp>
      <p:pic>
        <p:nvPicPr>
          <p:cNvPr id="12" name="Picture 11" descr="图_时刻表与柔性排班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87" y="1847088"/>
            <a:ext cx="3510592" cy="32388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16087" y="5104204"/>
            <a:ext cx="3510592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图：时刻表与柔性排班_d（模拟数据，SYNTHETIC）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47088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主方案社会成本降低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14.3%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，比只优化固定层多 0.5 个百分点；节假日边沿多 3.4、春运核心期多 2.1、普通日 -0.2 个百分点（H6 支持）。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37042"/>
            <a:ext cx="3730752" cy="1403096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864474"/>
            <a:ext cx="3584448" cy="1348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诚实说明：天气事件日主方案相对固定层的增益为 -1.4 个百分点（反而变差），因为天气日的预测误差最大；反应式现场加开整体增益 0.0，节假日边沿 4.3（高于主方案），普通日 -1.1；随机规划（SAA）整体增益 -0.3。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362632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直接在现行时刻表上加柔性层：车次增至 41279，社会成本只降低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2.7%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——必须先优化固定层。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352587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信息价值：主方案兑现了完美预知收益的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29.0%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，改进预测方案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35.1%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；完美预知上界降幅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15.4%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六、创新与进度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三项可能的创新，对应一篇学位论文和两篇期刊论文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新在“对象”（县域多重节律）、新在“方法链”（删失—分解—区间）、新在“配置”（固定层 + 次日柔性层）。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3605784" cy="27889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3605784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创新一（研究对象）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在县域尺度上同时估计八个因子族的权重，为“集日是否重要”等地方经验提供可检验的定量证据。已有研究多只看单一节律。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1584" y="1847088"/>
            <a:ext cx="3605784" cy="2788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1584" y="1847088"/>
            <a:ext cx="3605784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6448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创新二（方法）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6448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把收益管理中的删失需求还原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引入城乡公交，构建“删失负二项—因子族 Shapley 分解—按情景 Mondrian 共形”的分析链条，并在已知真值的模拟系统中与熵权法、灰色关联和 SHAP 比较。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5968" y="1847088"/>
            <a:ext cx="3605784" cy="27889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5968" y="1847088"/>
            <a:ext cx="3605784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0832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创新三（应用）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0832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提出“固定层承担稳定节律、次日柔性层承担不规则节律”的半柔性配置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，用信息价值量化预测改进的边际收益，形成县级运营单位可操作的排班流程。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91456"/>
            <a:ext cx="2743200" cy="365760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成果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48072"/>
            <a:ext cx="3666744" cy="948689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论文一（RQ1—RQ2）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删失感知的多重节律识别与班次级概率预测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4" y="5148072"/>
            <a:ext cx="3666744" cy="948689"/>
          </a:xfrm>
          <a:prstGeom prst="rect">
            <a:avLst/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2544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论文二（RQ3—RQ4）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预测驱动的县域城乡公交半柔性配置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5148072"/>
            <a:ext cx="3666744" cy="948689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学位论文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四个研究问题合成一篇完整的中文学位论文。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六、创新与进度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研究框架、代码与模拟检验已完成，下一步是接入真实数据并完成三轮调查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“方法”已经在模拟卷上验证过，接下来要做“真题”。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1188720" cy="731520"/>
          </a:xfrm>
          <a:prstGeom prst="rect">
            <a:avLst/>
          </a:prstGeom>
          <a:solidFill>
            <a:srgbClr val="5A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已完成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184708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184708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文献综述；研究问题、假设与预注册；模拟系统、四个模型的全部代码与回测；四份研究文档；暑期跟车调查的现场工作。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1188720" cy="73152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进行中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67004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5648" y="267004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暑期跟车原始问卷录入；与运营单位对接逐班次台账。［请汇报人按实际情况确认］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1188720" cy="73152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待开展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349300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5648" y="349300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寒假与春运跟车调查；行政村入户调查；线上问卷；用真实数据替换模拟数据并重算全部结果。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15968"/>
            <a:ext cx="118872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1596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待确认事项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431596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431596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各乡镇集期；天气阈值；线路运行时间与配车、各车型核定座位数（目前为假设值）。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847088"/>
            <a:ext cx="4370831" cy="32004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847088"/>
            <a:ext cx="4370831" cy="41148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5784" y="1847088"/>
            <a:ext cx="4261103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2304288"/>
            <a:ext cx="4261103" cy="2715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结果全部来自模拟数据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只有全程总登乘人数，无站点上下客和 OD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训练期只含两个春运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两处偏离预注册的方案未计算预注册版本</a:t>
            </a:r>
          </a:p>
          <a:p>
            <a:pPr algn="l" marL="186690" indent="-186690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集期与天气阈值待核实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30368"/>
            <a:ext cx="1097280" cy="274320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时间安排</a:t>
            </a:r>
          </a:p>
        </p:txBody>
      </p:sp>
      <p:sp>
        <p:nvSpPr>
          <p:cNvPr id="30" name="Pentagon 29"/>
          <p:cNvSpPr/>
          <p:nvPr/>
        </p:nvSpPr>
        <p:spPr>
          <a:xfrm>
            <a:off x="457200" y="5522976"/>
            <a:ext cx="1833372" cy="804671"/>
          </a:xfrm>
          <a:prstGeom prst="homePlat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2345436" y="5522976"/>
            <a:ext cx="1833372" cy="804671"/>
          </a:xfrm>
          <a:prstGeom prst="chevron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4233672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Chevron 32"/>
          <p:cNvSpPr/>
          <p:nvPr/>
        </p:nvSpPr>
        <p:spPr>
          <a:xfrm>
            <a:off x="6121908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8010144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9898380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1—2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文献综述与数据对接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8316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3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暑期跟车问卷与集期核实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4—5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RQ1、RQ2 与论文一初稿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4788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6—7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寒假（春运）跟车、入户与网络问卷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8—9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RQ3、RQ4 与论文二初稿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1259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10—12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学位论文撰写、修改与答辩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参考文献（GB/T 7714—2015，按首次引用顺序）（1/2）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 交通运输部. 关于积极推进城乡道路客运一体化发展的意见: 交运发〔2011〕490号[EB/OL]. (2011-09-13)[2026-09-30]. https://www.gov.cn/zwgk/2011-09/22/content_1953581.htm.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 宫玉茹, 胡昊宇, 王列, 等. 社会排斥视角下山区农村交通劣势与相对贫困的关系研究——以贵州省黄平县为例[J]. 地理科学进展, 2026, 45(4): 838-852. DOI: 10.18306/dlkxjz.2026.04.012.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 邓丽, 邵景安, 郭跃, 等. 基于改进的两步移动搜索法的山区医疗服务空间可达性——以重庆市石柱县为例[J]. 地理科学进展, 2015, 34(6): 716-725. DOI: 10.18306/dlkxjz.2015.06.007.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[5] Farrington J, Farrington C. Rural accessibility, social inclusion and social justice: towards conceptualisation[J]. Journal of Transport Geography, 2005, 13(1): 1-12. DOI: 10.1016/j.jtrangeo.2004.10.002.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[6] Lucas K. Transport and social exclusion: Where are we now?[J]. Transport Policy, 2012, 20: 105-113. DOI: 10.1016/j.tranpol.2012.01.013.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[7] 王姣娥, 何宛芩, 黄洁, 等. 中国城乡交通融合的理论内涵与空间格局[J]. 地理学报, 2026, 81(4): 966-985. DOI: 10.11821/dlxb202604003.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 Hongtai Yang, Christopher Cherry. Use characteristics and demographics of rural transit riders: a case study in Tennessee[J]. Transportation Planning and Technology, 2016, 40(2): 213-227. DOI: 10.1080/03081060.2016.1266168.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 Skinner G W. Marketing and Social Structure in Rural China, Part I[J]. The Journal of Asian Studies, 1964, 24(1): 3-43. DOI: 10.2307/2050412.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[10] Hägerstrand T. What about people in Regional Science?[J]. Papers of the Regional Science Association, 1970, 24(1): 6-21. DOI: 10.1007/bf01936872.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[11] Kwan M P. Space‐Time and Integral Measures of Individual Accessibility: A Comparative Analysis Using a Point‐based Framework[J]. Geographical Analysis, 1998, 30(3): 191-216. DOI: 10.1111/j.1538-4632.1998.tb00396.x.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[12] Neutens T, Schwanen T, Witlox F. The Prism of Everyday Life: Towards a New Research Agenda for Time Geography[J]. Transport Reviews, 2010, 31(1): 25-47. DOI: 10.1080/01441647.2010.484153.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[13] Farber S, Morang MZ, Widener MJ. Temporal variability in transit-based accessibility to supermarkets[J]. Applied Geography, 2014, 53: 149-159. DOI: 10.1016/j.apgeog.2014.06.012.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[14] Boisjoly G, El-Geneidy A. Daily fluctuations in transit and job availability: A comparative assessment of time-sensitive accessibility measures[J]. Journal of Transport Geography, 2016, 52: 73-81. DOI: 10.1016/j.jtrangeo.2016.03.004.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5624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 Nosek BA, Ebersole CR, DeHaven AC, et al. The preregistration revolution[J]. Proceedings of the National Academy of Sciences, 2018, 115(11): 2600-2606. DOI: 10.1073/pnas.1708274114.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 Pas E, Koppelman F. An examination of the determinants of day-to-day variability in individuals' urban travel behavior[J]. Transportation, 1987, 14(1). DOI: 10.1007/bf00172463.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[19] Lipovetsky S, Conklin M. Analysis of regression in game theory approach[J]. Applied Stochastic Models in Business and Industry, 2001, 17(4): 319-330. DOI: 10.1002/asmb.446.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参考文献（GB/T 7714—2015，按首次引用顺序）（2/2）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 Elmachtoub A N, Grigas P. Smart “Predict, then Optimize”[J]. Management Science, 2022, 68(1): 9-26. DOI: 10.1287/mnsc.2020.3922.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[30] Li J, Cao J. The impact of weather on public bus ridership: empirical findings from Chenzhou, China[J]. Public Transport, 2024, 17(2): 591-610. DOI: 10.1007/s12469-024-00374-7.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 Diebold FX, Mariano RS. Comparing Predictive Accuracy[J]. Journal of Business &amp; Economic Statistics, 1995, 13(3): 253-263. DOI: 10.1080/07350015.1995.10524599.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[37] Kapoor S, Narayanan A. Leakage and the reproducibility crisis in machine-learning-based science[J]. Patterns, 2023, 4(9): 100804. DOI: 10.1016/j.patter.2023.100804.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[39] Grömping U. Estimators of Relative Importance in Linear Regression Based on Variance Decomposition[J]. The American Statistician, 2007, 61(2): 139-147. DOI: 10.1198/000313007x188252.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[40] Brathwaite T, Walker J L. Causal inference in travel demand modeling (and the lack thereof)[J]. Journal of Choice Modelling, 2017, 26: 1-18. DOI: 10.1016/j.jocm.2017.12.001.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[41] Friedman JH. Greedy function approximation: A gradient boosting machine[J]. The Annals of Statistics, 2001, 29(5): 1189-1232. DOI: 10.1214/aos/1013203451.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5624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[42] Tilmann Gneiting, Fadoua Balabdaoui, Adrian E. Raftery. Probabilistic Forecasts, Calibration and Sharpness[J]. Journal of the Royal Statistical Society Series B (Statistical Methodology), 2007, 69(2): 243-268. DOI: 10.1111/j.1467-9868.2007.00587.x.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[43] Jing Lei, Max G’Sell, Alessandro Rinaldo, et al. Distribution-Free Predictive Inference for Regression[J]. Journal of the American Statistical Association, 2017, 113(523): 1094-1111. DOI: 10.1080/01621459.2017.1307116.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[44] Hyndman RJ, Koehler AB. Another look at measures of forecast accuracy[J]. International Journal of Forecasting, 2006, 22(4): 679-688. DOI: 10.1016/j.ijforecast.2006.03.001.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[45] Czado C, Gneiting T, Held L. Predictive Model Assessment for Count Data[J]. Biometrics, 2009, 65(4): 1254-1261. DOI: 10.1111/j.1541-0420.2009.01191.x.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[46] Hadas Y, Shnaiderman M. Public-transit frequency setting using minimum-cost approach with stochastic demand and travel time[J]. Transportation Research Part B Methodological, 2012, 46(8): 1068-1084. DOI: 10.1016/j.trb.2012.02.010.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 Ceder A. Bus frequency determination using passenger count data[J]. Transportation Research Part A: General, 1984, 18(5-6): 439-453. DOI: 10.1016/0191-2607(84)90019-0.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 Newell G F. Dispatching Policies for a Transportation Route[J]. Transportation Science, 1971, 5(1): 91-105. DOI: 10.1287/trsc.5.1.91.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 Gkiotsalitis K, Alesiani F. Robust timetable optimization for bus lines subject to resource and regulatory constraints[J]. Transportation Research Part E: Logistics and Transportation Review, 2019, 128: 30-51. DOI: 10.1016/j.tre.2019.05.016.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[50] 王晓伟，吴松屿，曹恺，等. 多车型混编公交车队发车时刻及车型联合优化[J]. 中国公路学报, 2024, 37(6): 253-266. DOI: 10.19721/j.cnki.1001-7372.2024.06.021.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[51] Mishra S, Mehran B, Sahu PK. Assessment of delivery models for semi-flexible transit operation in low-demand conditions[J]. Transport Policy, 2020, 99: 275-287. DOI: 10.1016/j.tranpol.2020.09.004.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[52] Sörensen L, Bossert A, Jokinen JP, et al. How much flexibility does rural public transport need? - Implications from a fully flexible DRT system[J]. Transport Policy, 2021, 100: 5-20. DOI: 10.1016/j.tranpol.2020.09.005.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[53] Jin M, Pang M. Dispatching of Flex-Route Transit Based on Forecasted Demand Probabilities Using DeepAR and Bayesian Inference[J]. Journal of Transportation Engineering, Part A: Systems, 2025, 151(8): 04025060. DOI: 10.1061/jtepbs.teeng-9074.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[54] 姜晓红，李家伟，严亚丹，等. 考虑动态换乘的农村需求响应公交双向联合调度[J]. 中国公路学报, 2026, 39(8): 422-437. DOI: 10.19721/j.cnki.1001-7372.2026.08.027.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